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odec Pro Ultra-Bold" charset="1" panose="00000700000000000000"/>
      <p:regular r:id="rId21"/>
    </p:embeddedFont>
    <p:embeddedFont>
      <p:font typeface="Codec Pro" charset="1" panose="00000500000000000000"/>
      <p:regular r:id="rId22"/>
    </p:embeddedFont>
    <p:embeddedFont>
      <p:font typeface="Helvetica World Bold" charset="1" panose="020B0800040000020004"/>
      <p:regular r:id="rId23"/>
    </p:embeddedFont>
    <p:embeddedFont>
      <p:font typeface="Open Sans Bold" charset="1" panose="020B0806030504020204"/>
      <p:regular r:id="rId24"/>
    </p:embeddedFont>
    <p:embeddedFont>
      <p:font typeface="Helvetica World" charset="1" panose="020B0500040000020004"/>
      <p:regular r:id="rId25"/>
    </p:embeddedFont>
    <p:embeddedFont>
      <p:font typeface="DM Sans Bold" charset="1" panose="00000000000000000000"/>
      <p:regular r:id="rId26"/>
    </p:embeddedFont>
    <p:embeddedFont>
      <p:font typeface="Canva Sans" charset="1" panose="020B0503030501040103"/>
      <p:regular r:id="rId27"/>
    </p:embeddedFont>
    <p:embeddedFont>
      <p:font typeface="Calibri (MS) Bold" charset="1" panose="020F070203040403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4.png" Type="http://schemas.openxmlformats.org/officeDocument/2006/relationships/image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13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3.jpeg" Type="http://schemas.openxmlformats.org/officeDocument/2006/relationships/image"/><Relationship Id="rId5" Target="../media/image3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196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77129" y="295964"/>
            <a:ext cx="2099969" cy="948923"/>
          </a:xfrm>
          <a:custGeom>
            <a:avLst/>
            <a:gdLst/>
            <a:ahLst/>
            <a:cxnLst/>
            <a:rect r="r" b="b" t="t" l="l"/>
            <a:pathLst>
              <a:path h="948923" w="2099969">
                <a:moveTo>
                  <a:pt x="0" y="0"/>
                </a:moveTo>
                <a:lnTo>
                  <a:pt x="2099968" y="0"/>
                </a:lnTo>
                <a:lnTo>
                  <a:pt x="2099968" y="948923"/>
                </a:lnTo>
                <a:lnTo>
                  <a:pt x="0" y="94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52000" y="355473"/>
            <a:ext cx="829905" cy="829905"/>
          </a:xfrm>
          <a:custGeom>
            <a:avLst/>
            <a:gdLst/>
            <a:ahLst/>
            <a:cxnLst/>
            <a:rect r="r" b="b" t="t" l="l"/>
            <a:pathLst>
              <a:path h="829905" w="829905">
                <a:moveTo>
                  <a:pt x="0" y="0"/>
                </a:moveTo>
                <a:lnTo>
                  <a:pt x="829905" y="0"/>
                </a:lnTo>
                <a:lnTo>
                  <a:pt x="829905" y="829905"/>
                </a:lnTo>
                <a:lnTo>
                  <a:pt x="0" y="8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27227" y="3458496"/>
            <a:ext cx="3599886" cy="3599886"/>
          </a:xfrm>
          <a:custGeom>
            <a:avLst/>
            <a:gdLst/>
            <a:ahLst/>
            <a:cxnLst/>
            <a:rect r="r" b="b" t="t" l="l"/>
            <a:pathLst>
              <a:path h="3599886" w="3599886">
                <a:moveTo>
                  <a:pt x="0" y="0"/>
                </a:moveTo>
                <a:lnTo>
                  <a:pt x="3599886" y="0"/>
                </a:lnTo>
                <a:lnTo>
                  <a:pt x="3599886" y="3599886"/>
                </a:lnTo>
                <a:lnTo>
                  <a:pt x="0" y="3599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912189"/>
            <a:ext cx="11105332" cy="226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45"/>
              </a:lnSpc>
              <a:spcBef>
                <a:spcPct val="0"/>
              </a:spcBef>
            </a:pPr>
            <a:r>
              <a:rPr lang="en-US" b="true" sz="12175" spc="-608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Siaga Padang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8225" y="6735948"/>
            <a:ext cx="10436822" cy="222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Tim AkuSukaProject — GEMASTIK XIX </a:t>
            </a:r>
          </a:p>
          <a:p>
            <a:pPr algn="l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Divisi VIII Pengembangan Perangkat Lunak</a:t>
            </a:r>
          </a:p>
          <a:p>
            <a:pPr algn="l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Mikail Samyth Habibillah, Muhammad Habib, Sheva Ramadhan</a:t>
            </a:r>
          </a:p>
          <a:p>
            <a:pPr algn="l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Dosen Pembimbing: Nisa Dwi Angresti, S.Si., M.Kom. </a:t>
            </a:r>
          </a:p>
          <a:p>
            <a:pPr algn="l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Universitas Andalas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6029" y="8863899"/>
            <a:ext cx="1274721" cy="47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8090" y="3851398"/>
            <a:ext cx="12983572" cy="180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8"/>
              </a:lnSpc>
              <a:spcBef>
                <a:spcPct val="0"/>
              </a:spcBef>
            </a:pPr>
            <a:r>
              <a:rPr lang="en-US" sz="4963" spc="-2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Sistem Navigasi Evakuasi Tsunami Luring Berbasis Pemodelan Pergerakan Kolektif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5205" y="525633"/>
            <a:ext cx="3380502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AKUSUKAPROJECT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222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5711" y="950181"/>
            <a:ext cx="565977" cy="565977"/>
          </a:xfrm>
          <a:custGeom>
            <a:avLst/>
            <a:gdLst/>
            <a:ahLst/>
            <a:cxnLst/>
            <a:rect r="r" b="b" t="t" l="l"/>
            <a:pathLst>
              <a:path h="565977" w="565977">
                <a:moveTo>
                  <a:pt x="0" y="0"/>
                </a:moveTo>
                <a:lnTo>
                  <a:pt x="565978" y="0"/>
                </a:lnTo>
                <a:lnTo>
                  <a:pt x="565978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11286" y="2763698"/>
            <a:ext cx="9460178" cy="4759603"/>
            <a:chOff x="0" y="0"/>
            <a:chExt cx="2491570" cy="12535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91570" cy="1253558"/>
            </a:xfrm>
            <a:custGeom>
              <a:avLst/>
              <a:gdLst/>
              <a:ahLst/>
              <a:cxnLst/>
              <a:rect r="r" b="b" t="t" l="l"/>
              <a:pathLst>
                <a:path h="1253558" w="2491570">
                  <a:moveTo>
                    <a:pt x="41737" y="0"/>
                  </a:moveTo>
                  <a:lnTo>
                    <a:pt x="2449833" y="0"/>
                  </a:lnTo>
                  <a:cubicBezTo>
                    <a:pt x="2472883" y="0"/>
                    <a:pt x="2491570" y="18686"/>
                    <a:pt x="2491570" y="41737"/>
                  </a:cubicBezTo>
                  <a:lnTo>
                    <a:pt x="2491570" y="1211821"/>
                  </a:lnTo>
                  <a:cubicBezTo>
                    <a:pt x="2491570" y="1234872"/>
                    <a:pt x="2472883" y="1253558"/>
                    <a:pt x="2449833" y="1253558"/>
                  </a:cubicBezTo>
                  <a:lnTo>
                    <a:pt x="41737" y="1253558"/>
                  </a:lnTo>
                  <a:cubicBezTo>
                    <a:pt x="30668" y="1253558"/>
                    <a:pt x="20052" y="1249161"/>
                    <a:pt x="12224" y="1241334"/>
                  </a:cubicBezTo>
                  <a:cubicBezTo>
                    <a:pt x="4397" y="1233506"/>
                    <a:pt x="0" y="1222890"/>
                    <a:pt x="0" y="1211821"/>
                  </a:cubicBezTo>
                  <a:lnTo>
                    <a:pt x="0" y="41737"/>
                  </a:lnTo>
                  <a:cubicBezTo>
                    <a:pt x="0" y="30668"/>
                    <a:pt x="4397" y="20052"/>
                    <a:pt x="12224" y="12224"/>
                  </a:cubicBezTo>
                  <a:cubicBezTo>
                    <a:pt x="20052" y="4397"/>
                    <a:pt x="30668" y="0"/>
                    <a:pt x="41737" y="0"/>
                  </a:cubicBez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491570" cy="124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421887" y="47388"/>
            <a:ext cx="7770009" cy="191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b="true" sz="8113" spc="-38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TSUNAMI AWARENESS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15081" y="244487"/>
            <a:ext cx="3800722" cy="128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b="true" sz="3200" spc="-6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UNDE</a:t>
            </a:r>
            <a:r>
              <a:rPr lang="en-US" b="true" sz="3200" spc="-6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RSTANDING, PREPARING, AND STAYING SAFE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4943" y="1047750"/>
            <a:ext cx="953333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01934" y="3819857"/>
            <a:ext cx="5867068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Latar Belakang</a:t>
            </a:r>
          </a:p>
        </p:txBody>
      </p: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3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9369" y="1204989"/>
            <a:ext cx="11127097" cy="104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b="true" sz="4383" spc="-21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TSUNAMI DAPAT TIBA KURANG DARI 30 MENIT SETELAH GEMPA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58905" y="2609589"/>
            <a:ext cx="4822663" cy="11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SK</a:t>
            </a:r>
            <a:r>
              <a:rPr lang="en-US" sz="2699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ENARIO GEMPA MEGATHRUST MENTAWAI–SIBERUT (BMKG)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50051" y="4647083"/>
            <a:ext cx="4296230" cy="11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699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ERKIRAAN TINGGI TSUNAMI DI PESISIR KOTA PADANG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50051" y="6597513"/>
            <a:ext cx="4636863" cy="11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</a:t>
            </a:r>
            <a:r>
              <a:rPr lang="en-US" sz="2699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ILAYAH TERANCAM, 242.750 JIWA TERPAPAR (KRB)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50051" y="8541530"/>
            <a:ext cx="4296230" cy="11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JIWA</a:t>
            </a:r>
            <a:r>
              <a:rPr lang="en-US" sz="2699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KELOMPOK UMUR RENTAN DAN 637 PENYANDANG DISABILITAS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77283" y="2065429"/>
            <a:ext cx="311500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999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</a:t>
            </a:r>
            <a:r>
              <a:rPr lang="en-US" b="true" sz="2999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8,9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50051" y="4018434"/>
            <a:ext cx="253519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999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&gt;</a:t>
            </a:r>
            <a:r>
              <a:rPr lang="en-US" b="true" sz="2999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10 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50051" y="6024398"/>
            <a:ext cx="404830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999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</a:t>
            </a:r>
            <a:r>
              <a:rPr lang="en-US" b="true" sz="2999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KEC · 55 KEL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68430" y="7993878"/>
            <a:ext cx="637506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999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77.014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2009791" y="3848791"/>
            <a:ext cx="6193245" cy="0"/>
          </a:xfrm>
          <a:prstGeom prst="line">
            <a:avLst/>
          </a:prstGeom>
          <a:ln cap="flat" w="9525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2068430" y="5905335"/>
            <a:ext cx="6193245" cy="0"/>
          </a:xfrm>
          <a:prstGeom prst="line">
            <a:avLst/>
          </a:prstGeom>
          <a:ln cap="flat" w="9525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2009791" y="7874815"/>
            <a:ext cx="6193245" cy="0"/>
          </a:xfrm>
          <a:prstGeom prst="line">
            <a:avLst/>
          </a:prstGeom>
          <a:ln cap="flat" w="9525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3114626" y="9253538"/>
            <a:ext cx="6193245" cy="0"/>
          </a:xfrm>
          <a:prstGeom prst="line">
            <a:avLst/>
          </a:prstGeom>
          <a:ln cap="flat" w="9525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918971" y="2781450"/>
            <a:ext cx="10287000" cy="5678424"/>
            <a:chOff x="0" y="0"/>
            <a:chExt cx="13716000" cy="7571232"/>
          </a:xfrm>
        </p:grpSpPr>
        <p:sp>
          <p:nvSpPr>
            <p:cNvPr name="Freeform 16" id="16" descr="C:\Users\Lenovo\AppData\Local\Temp\claude\c--gemastik\520da942-8140-47c0-a16f-9bde4b92cbe5\scratchpad\deck\aset\zona.png"/>
            <p:cNvSpPr/>
            <p:nvPr/>
          </p:nvSpPr>
          <p:spPr>
            <a:xfrm flipH="false" flipV="false" rot="0">
              <a:off x="0" y="0"/>
              <a:ext cx="13716000" cy="7571232"/>
            </a:xfrm>
            <a:custGeom>
              <a:avLst/>
              <a:gdLst/>
              <a:ahLst/>
              <a:cxnLst/>
              <a:rect r="r" b="b" t="t" l="l"/>
              <a:pathLst>
                <a:path h="7571232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7571232"/>
                  </a:lnTo>
                  <a:lnTo>
                    <a:pt x="0" y="7571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55213" y="450562"/>
            <a:ext cx="953333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35982" y="352993"/>
            <a:ext cx="565977" cy="565977"/>
          </a:xfrm>
          <a:custGeom>
            <a:avLst/>
            <a:gdLst/>
            <a:ahLst/>
            <a:cxnLst/>
            <a:rect r="r" b="b" t="t" l="l"/>
            <a:pathLst>
              <a:path h="565977" w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2348" y="747865"/>
            <a:ext cx="10286823" cy="116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b="true" sz="4858" spc="-233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</a:t>
            </a:r>
            <a:r>
              <a:rPr lang="en-US" b="true" sz="4858" spc="-233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AMI MENGUBAH PETA MENJADI ARAHAN YANG LANGSUNG DIIKUTI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6622" y="2571093"/>
            <a:ext cx="4576334" cy="6800069"/>
            <a:chOff x="0" y="0"/>
            <a:chExt cx="6101778" cy="9066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01715" cy="9066657"/>
            </a:xfrm>
            <a:custGeom>
              <a:avLst/>
              <a:gdLst/>
              <a:ahLst/>
              <a:cxnLst/>
              <a:rect r="r" b="b" t="t" l="l"/>
              <a:pathLst>
                <a:path h="9066657" w="6101715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lnTo>
                    <a:pt x="5369560" y="0"/>
                  </a:lnTo>
                  <a:cubicBezTo>
                    <a:pt x="5773928" y="0"/>
                    <a:pt x="6101715" y="327787"/>
                    <a:pt x="6101715" y="732155"/>
                  </a:cubicBezTo>
                  <a:lnTo>
                    <a:pt x="6101715" y="8334502"/>
                  </a:lnTo>
                  <a:cubicBezTo>
                    <a:pt x="6101715" y="8738870"/>
                    <a:pt x="5773928" y="9066657"/>
                    <a:pt x="5369560" y="9066657"/>
                  </a:cubicBezTo>
                  <a:lnTo>
                    <a:pt x="732155" y="9066657"/>
                  </a:lnTo>
                  <a:cubicBezTo>
                    <a:pt x="327787" y="9066784"/>
                    <a:pt x="0" y="8738870"/>
                    <a:pt x="0" y="8334502"/>
                  </a:cubicBezTo>
                  <a:close/>
                </a:path>
              </a:pathLst>
            </a:custGeom>
            <a:solidFill>
              <a:srgbClr val="00A8EF"/>
            </a:solidFill>
            <a:ln w="19065" cap="sq">
              <a:solidFill>
                <a:srgbClr val="DCE6EE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125588" y="2882608"/>
            <a:ext cx="387093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sz="2551" b="true">
                <a:solidFill>
                  <a:srgbClr val="EB6B63"/>
                </a:solidFill>
                <a:latin typeface="DM Sans Bold"/>
                <a:ea typeface="DM Sans Bold"/>
                <a:cs typeface="DM Sans Bold"/>
                <a:sym typeface="DM Sans Bold"/>
              </a:rPr>
              <a:t>SEBELUM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4937" y="3404225"/>
            <a:ext cx="3199695" cy="4571000"/>
            <a:chOff x="0" y="0"/>
            <a:chExt cx="4266260" cy="6094666"/>
          </a:xfrm>
        </p:grpSpPr>
        <p:sp>
          <p:nvSpPr>
            <p:cNvPr name="Freeform 7" id="7" descr="image4_slide.jpg"/>
            <p:cNvSpPr/>
            <p:nvPr/>
          </p:nvSpPr>
          <p:spPr>
            <a:xfrm flipH="false" flipV="false" rot="0">
              <a:off x="0" y="0"/>
              <a:ext cx="4266311" cy="6094603"/>
            </a:xfrm>
            <a:custGeom>
              <a:avLst/>
              <a:gdLst/>
              <a:ahLst/>
              <a:cxnLst/>
              <a:rect r="r" b="b" t="t" l="l"/>
              <a:pathLst>
                <a:path h="6094603" w="4266311">
                  <a:moveTo>
                    <a:pt x="0" y="0"/>
                  </a:moveTo>
                  <a:lnTo>
                    <a:pt x="4266311" y="0"/>
                  </a:lnTo>
                  <a:lnTo>
                    <a:pt x="4266311" y="6094603"/>
                  </a:lnTo>
                  <a:lnTo>
                    <a:pt x="0" y="6094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37729" y="8432711"/>
            <a:ext cx="4474121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b="true" sz="225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Cari posisi · orientasikan peta</a:t>
            </a:r>
          </a:p>
          <a:p>
            <a:pPr algn="ctr">
              <a:lnSpc>
                <a:spcPts val="2702"/>
              </a:lnSpc>
            </a:pPr>
            <a:r>
              <a:rPr lang="en-US" b="true" sz="225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· tentukan tujuan sendiri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85984" y="5161245"/>
            <a:ext cx="83891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 b="true">
                <a:solidFill>
                  <a:srgbClr val="00A8EF"/>
                </a:solidFill>
                <a:latin typeface="DM Sans Bold"/>
                <a:ea typeface="DM Sans Bold"/>
                <a:cs typeface="DM Sans Bold"/>
                <a:sym typeface="DM Sans Bold"/>
              </a:rPr>
              <a:t>→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369196" y="2580627"/>
            <a:ext cx="5518137" cy="6781000"/>
            <a:chOff x="0" y="0"/>
            <a:chExt cx="7357516" cy="9041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57491" cy="9041385"/>
            </a:xfrm>
            <a:custGeom>
              <a:avLst/>
              <a:gdLst/>
              <a:ahLst/>
              <a:cxnLst/>
              <a:rect r="r" b="b" t="t" l="l"/>
              <a:pathLst>
                <a:path h="9041385" w="7357491">
                  <a:moveTo>
                    <a:pt x="0" y="882904"/>
                  </a:moveTo>
                  <a:cubicBezTo>
                    <a:pt x="0" y="395351"/>
                    <a:pt x="395351" y="0"/>
                    <a:pt x="882904" y="0"/>
                  </a:cubicBezTo>
                  <a:lnTo>
                    <a:pt x="6474587" y="0"/>
                  </a:lnTo>
                  <a:cubicBezTo>
                    <a:pt x="6962140" y="0"/>
                    <a:pt x="7357491" y="395351"/>
                    <a:pt x="7357491" y="882904"/>
                  </a:cubicBezTo>
                  <a:lnTo>
                    <a:pt x="7357491" y="8158480"/>
                  </a:lnTo>
                  <a:cubicBezTo>
                    <a:pt x="7357491" y="8646033"/>
                    <a:pt x="6962140" y="9041385"/>
                    <a:pt x="6474587" y="9041385"/>
                  </a:cubicBezTo>
                  <a:lnTo>
                    <a:pt x="882904" y="9041385"/>
                  </a:lnTo>
                  <a:cubicBezTo>
                    <a:pt x="395351" y="9041384"/>
                    <a:pt x="0" y="8646033"/>
                    <a:pt x="0" y="8158480"/>
                  </a:cubicBezTo>
                  <a:close/>
                </a:path>
              </a:pathLst>
            </a:custGeom>
            <a:solidFill>
              <a:srgbClr val="DCE6E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796730" y="2869140"/>
            <a:ext cx="469453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sz="2551" b="true">
                <a:solidFill>
                  <a:srgbClr val="00A8EF"/>
                </a:solidFill>
                <a:latin typeface="DM Sans Bold"/>
                <a:ea typeface="DM Sans Bold"/>
                <a:cs typeface="DM Sans Bold"/>
                <a:sym typeface="DM Sans Bold"/>
              </a:rPr>
              <a:t>YANG KAMI BANGUN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31873" y="3625363"/>
            <a:ext cx="517217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4"/>
              </a:lnSpc>
            </a:pPr>
            <a:r>
              <a:rPr lang="en-US" sz="4353" b="true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Siaga Padang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83952" y="4657811"/>
            <a:ext cx="5320097" cy="68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2"/>
              </a:lnSpc>
            </a:pPr>
            <a:r>
              <a:rPr lang="en-US" sz="2285" b="true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Aplikasi Android yang membawa jalur</a:t>
            </a:r>
          </a:p>
          <a:p>
            <a:pPr algn="ctr">
              <a:lnSpc>
                <a:spcPts val="2742"/>
              </a:lnSpc>
            </a:pPr>
            <a:r>
              <a:rPr lang="en-US" sz="2285" b="true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evakuasi ke dalam ponsel.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66828" y="5756670"/>
            <a:ext cx="375159" cy="375159"/>
            <a:chOff x="0" y="0"/>
            <a:chExt cx="420954" cy="4209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1005" cy="421005"/>
            </a:xfrm>
            <a:custGeom>
              <a:avLst/>
              <a:gdLst/>
              <a:ahLst/>
              <a:cxnLst/>
              <a:rect r="r" b="b" t="t" l="l"/>
              <a:pathLst>
                <a:path h="421005" w="421005">
                  <a:moveTo>
                    <a:pt x="0" y="210439"/>
                  </a:moveTo>
                  <a:cubicBezTo>
                    <a:pt x="0" y="94234"/>
                    <a:pt x="94234" y="0"/>
                    <a:pt x="210439" y="0"/>
                  </a:cubicBezTo>
                  <a:cubicBezTo>
                    <a:pt x="326644" y="0"/>
                    <a:pt x="421005" y="94234"/>
                    <a:pt x="421005" y="210439"/>
                  </a:cubicBezTo>
                  <a:cubicBezTo>
                    <a:pt x="421005" y="326644"/>
                    <a:pt x="326771" y="421005"/>
                    <a:pt x="210439" y="421005"/>
                  </a:cubicBezTo>
                  <a:cubicBezTo>
                    <a:pt x="94107" y="421005"/>
                    <a:pt x="0" y="326771"/>
                    <a:pt x="0" y="210439"/>
                  </a:cubicBezTo>
                  <a:close/>
                </a:path>
              </a:pathLst>
            </a:custGeom>
            <a:solidFill>
              <a:srgbClr val="00A8E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719179" y="5796074"/>
            <a:ext cx="70457" cy="24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6"/>
              </a:lnSpc>
            </a:pPr>
            <a:r>
              <a:rPr lang="en-US" sz="160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70347" y="5733564"/>
            <a:ext cx="4550825" cy="34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2318" b="true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Membaca posisi pengguna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66828" y="6555917"/>
            <a:ext cx="375159" cy="375159"/>
            <a:chOff x="0" y="0"/>
            <a:chExt cx="420954" cy="4209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1005" cy="421005"/>
            </a:xfrm>
            <a:custGeom>
              <a:avLst/>
              <a:gdLst/>
              <a:ahLst/>
              <a:cxnLst/>
              <a:rect r="r" b="b" t="t" l="l"/>
              <a:pathLst>
                <a:path h="421005" w="421005">
                  <a:moveTo>
                    <a:pt x="0" y="210439"/>
                  </a:moveTo>
                  <a:cubicBezTo>
                    <a:pt x="0" y="94234"/>
                    <a:pt x="94234" y="0"/>
                    <a:pt x="210439" y="0"/>
                  </a:cubicBezTo>
                  <a:cubicBezTo>
                    <a:pt x="326644" y="0"/>
                    <a:pt x="421005" y="94234"/>
                    <a:pt x="421005" y="210439"/>
                  </a:cubicBezTo>
                  <a:cubicBezTo>
                    <a:pt x="421005" y="326644"/>
                    <a:pt x="326771" y="421005"/>
                    <a:pt x="210439" y="421005"/>
                  </a:cubicBezTo>
                  <a:cubicBezTo>
                    <a:pt x="94107" y="421005"/>
                    <a:pt x="0" y="326771"/>
                    <a:pt x="0" y="210439"/>
                  </a:cubicBezTo>
                  <a:close/>
                </a:path>
              </a:pathLst>
            </a:custGeom>
            <a:solidFill>
              <a:srgbClr val="28BE99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96189" y="6595322"/>
            <a:ext cx="116438" cy="24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6"/>
              </a:lnSpc>
            </a:pPr>
            <a:r>
              <a:rPr lang="en-US" sz="160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70347" y="6532823"/>
            <a:ext cx="4550825" cy="34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2318" b="true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Memilih tujuan yang terjangkau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66828" y="7355164"/>
            <a:ext cx="375159" cy="375159"/>
            <a:chOff x="0" y="0"/>
            <a:chExt cx="420954" cy="4209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1005" cy="421005"/>
            </a:xfrm>
            <a:custGeom>
              <a:avLst/>
              <a:gdLst/>
              <a:ahLst/>
              <a:cxnLst/>
              <a:rect r="r" b="b" t="t" l="l"/>
              <a:pathLst>
                <a:path h="421005" w="421005">
                  <a:moveTo>
                    <a:pt x="0" y="210439"/>
                  </a:moveTo>
                  <a:cubicBezTo>
                    <a:pt x="0" y="94234"/>
                    <a:pt x="94234" y="0"/>
                    <a:pt x="210439" y="0"/>
                  </a:cubicBezTo>
                  <a:cubicBezTo>
                    <a:pt x="326644" y="0"/>
                    <a:pt x="421005" y="94234"/>
                    <a:pt x="421005" y="210439"/>
                  </a:cubicBezTo>
                  <a:cubicBezTo>
                    <a:pt x="421005" y="326644"/>
                    <a:pt x="326771" y="421005"/>
                    <a:pt x="210439" y="421005"/>
                  </a:cubicBezTo>
                  <a:cubicBezTo>
                    <a:pt x="94107" y="421005"/>
                    <a:pt x="0" y="326771"/>
                    <a:pt x="0" y="210439"/>
                  </a:cubicBezTo>
                  <a:close/>
                </a:path>
              </a:pathLst>
            </a:custGeom>
            <a:solidFill>
              <a:srgbClr val="EB6B6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693642" y="7394569"/>
            <a:ext cx="121531" cy="24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6"/>
              </a:lnSpc>
            </a:pPr>
            <a:r>
              <a:rPr lang="en-US" sz="160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70347" y="7332070"/>
            <a:ext cx="4550825" cy="34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2318" b="true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Mengikuti aturan BPBD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566828" y="8154412"/>
            <a:ext cx="375159" cy="375159"/>
            <a:chOff x="0" y="0"/>
            <a:chExt cx="420954" cy="42095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1005" cy="421005"/>
            </a:xfrm>
            <a:custGeom>
              <a:avLst/>
              <a:gdLst/>
              <a:ahLst/>
              <a:cxnLst/>
              <a:rect r="r" b="b" t="t" l="l"/>
              <a:pathLst>
                <a:path h="421005" w="421005">
                  <a:moveTo>
                    <a:pt x="0" y="210439"/>
                  </a:moveTo>
                  <a:cubicBezTo>
                    <a:pt x="0" y="94234"/>
                    <a:pt x="94234" y="0"/>
                    <a:pt x="210439" y="0"/>
                  </a:cubicBezTo>
                  <a:cubicBezTo>
                    <a:pt x="326644" y="0"/>
                    <a:pt x="421005" y="94234"/>
                    <a:pt x="421005" y="210439"/>
                  </a:cubicBezTo>
                  <a:cubicBezTo>
                    <a:pt x="421005" y="326644"/>
                    <a:pt x="326771" y="421005"/>
                    <a:pt x="210439" y="421005"/>
                  </a:cubicBezTo>
                  <a:cubicBezTo>
                    <a:pt x="94107" y="421005"/>
                    <a:pt x="0" y="326771"/>
                    <a:pt x="0" y="210439"/>
                  </a:cubicBezTo>
                  <a:close/>
                </a:path>
              </a:pathLst>
            </a:custGeom>
            <a:solidFill>
              <a:srgbClr val="9175C9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689044" y="8193827"/>
            <a:ext cx="130727" cy="24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6"/>
              </a:lnSpc>
            </a:pPr>
            <a:r>
              <a:rPr lang="en-US" sz="160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70347" y="8131317"/>
            <a:ext cx="4550825" cy="6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2318" b="true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Tetap memberi arah tanpa internet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15933" y="5189663"/>
            <a:ext cx="83891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 b="true">
                <a:solidFill>
                  <a:srgbClr val="00A8EF"/>
                </a:solidFill>
                <a:latin typeface="DM Sans Bold"/>
                <a:ea typeface="DM Sans Bold"/>
                <a:cs typeface="DM Sans Bold"/>
                <a:sym typeface="DM Sans Bold"/>
              </a:rPr>
              <a:t>→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916843" y="2580627"/>
            <a:ext cx="4557274" cy="6781000"/>
            <a:chOff x="0" y="0"/>
            <a:chExt cx="6076366" cy="90413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76315" cy="9041257"/>
            </a:xfrm>
            <a:custGeom>
              <a:avLst/>
              <a:gdLst/>
              <a:ahLst/>
              <a:cxnLst/>
              <a:rect r="r" b="b" t="t" l="l"/>
              <a:pathLst>
                <a:path h="9041257" w="6076315">
                  <a:moveTo>
                    <a:pt x="0" y="729107"/>
                  </a:moveTo>
                  <a:cubicBezTo>
                    <a:pt x="0" y="326517"/>
                    <a:pt x="326517" y="0"/>
                    <a:pt x="729107" y="0"/>
                  </a:cubicBezTo>
                  <a:lnTo>
                    <a:pt x="5347208" y="0"/>
                  </a:lnTo>
                  <a:cubicBezTo>
                    <a:pt x="5749925" y="0"/>
                    <a:pt x="6076315" y="326517"/>
                    <a:pt x="6076315" y="729107"/>
                  </a:cubicBezTo>
                  <a:lnTo>
                    <a:pt x="6076315" y="8312150"/>
                  </a:lnTo>
                  <a:cubicBezTo>
                    <a:pt x="6076315" y="8714867"/>
                    <a:pt x="5749798" y="9041257"/>
                    <a:pt x="5347208" y="9041257"/>
                  </a:cubicBezTo>
                  <a:lnTo>
                    <a:pt x="729107" y="9041257"/>
                  </a:lnTo>
                  <a:cubicBezTo>
                    <a:pt x="326517" y="9041384"/>
                    <a:pt x="0" y="8714867"/>
                    <a:pt x="0" y="8312150"/>
                  </a:cubicBezTo>
                  <a:close/>
                </a:path>
              </a:pathLst>
            </a:custGeom>
            <a:solidFill>
              <a:srgbClr val="14365D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246284" y="2882608"/>
            <a:ext cx="38983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sz="2551" b="true">
                <a:solidFill>
                  <a:srgbClr val="5ED6F3"/>
                </a:solidFill>
                <a:latin typeface="DM Sans Bold"/>
                <a:ea typeface="DM Sans Bold"/>
                <a:cs typeface="DM Sans Bold"/>
                <a:sym typeface="DM Sans Bold"/>
              </a:rPr>
              <a:t>DENGAN SIAGA PADANG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124803" y="3419094"/>
            <a:ext cx="2222369" cy="4784258"/>
            <a:chOff x="0" y="0"/>
            <a:chExt cx="2855163" cy="6146521"/>
          </a:xfrm>
        </p:grpSpPr>
        <p:sp>
          <p:nvSpPr>
            <p:cNvPr name="Freeform 36" id="36" descr="image15.png"/>
            <p:cNvSpPr/>
            <p:nvPr/>
          </p:nvSpPr>
          <p:spPr>
            <a:xfrm flipH="false" flipV="false" rot="0">
              <a:off x="0" y="0"/>
              <a:ext cx="2855214" cy="6146546"/>
            </a:xfrm>
            <a:custGeom>
              <a:avLst/>
              <a:gdLst/>
              <a:ahLst/>
              <a:cxnLst/>
              <a:rect r="r" b="b" t="t" l="l"/>
              <a:pathLst>
                <a:path h="6146546" w="2855214">
                  <a:moveTo>
                    <a:pt x="0" y="0"/>
                  </a:moveTo>
                  <a:lnTo>
                    <a:pt x="2855214" y="0"/>
                  </a:lnTo>
                  <a:lnTo>
                    <a:pt x="2855214" y="6146546"/>
                  </a:lnTo>
                  <a:lnTo>
                    <a:pt x="0" y="6146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3308054" y="8304124"/>
            <a:ext cx="377485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Arah, jalur, tujuan, dan</a:t>
            </a:r>
          </a:p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waktu tempuh tampil dari posisi saat itu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55213" y="450562"/>
            <a:ext cx="953333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635982" y="352993"/>
            <a:ext cx="565977" cy="565977"/>
          </a:xfrm>
          <a:custGeom>
            <a:avLst/>
            <a:gdLst/>
            <a:ahLst/>
            <a:cxnLst/>
            <a:rect r="r" b="b" t="t" l="l"/>
            <a:pathLst>
              <a:path h="565977" w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99607" y="2297646"/>
            <a:ext cx="8778909" cy="229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6"/>
              </a:lnSpc>
            </a:pPr>
            <a:r>
              <a:rPr lang="en-US" b="true" sz="9726" spc="-466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RECOG</a:t>
            </a:r>
            <a:r>
              <a:rPr lang="en-US" b="true" sz="9726" spc="-466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NISING A TSUNAMI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299607" y="1028700"/>
            <a:ext cx="360297" cy="410276"/>
          </a:xfrm>
          <a:custGeom>
            <a:avLst/>
            <a:gdLst/>
            <a:ahLst/>
            <a:cxnLst/>
            <a:rect r="r" b="b" t="t" l="l"/>
            <a:pathLst>
              <a:path h="410276" w="360297">
                <a:moveTo>
                  <a:pt x="0" y="0"/>
                </a:moveTo>
                <a:lnTo>
                  <a:pt x="360297" y="0"/>
                </a:lnTo>
                <a:lnTo>
                  <a:pt x="360297" y="410276"/>
                </a:lnTo>
                <a:lnTo>
                  <a:pt x="0" y="41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17229" y="6092346"/>
            <a:ext cx="2773988" cy="96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</a:t>
            </a: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OF THE MOST IMPORTANT NATURAL WARNING SIGNS IS A SUDDEN AND DRAMATIC WITHDRAWAL OF WATER FROM THE SHORELINE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17229" y="8297545"/>
            <a:ext cx="2920111" cy="96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SOME WITN</a:t>
            </a: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ESSES IN TSUNAMI-AFFECTED COASTAL AREAS HAVE REPORTED AN UNUSUAL ROARING OR RUMBLING SOUND APPROACHING FROM THE OCEAN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60268" y="6092346"/>
            <a:ext cx="2817825" cy="96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STRONG COASTA</a:t>
            </a: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 EARTHQUAKE, ESPECIALLY ONE LASTING OVER 20 SECONDS OR MAKING IT HARD TO STAND, MAY SIGNAL A TSUNAMI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60268" y="8297545"/>
            <a:ext cx="3153908" cy="77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OFFICIAL TSUNAMI A</a:t>
            </a: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LERTS ARE ISSUED BY AUTHORITIES AFTER MAJOR EARTHQUAKES AND SHARED THROUGH MULTIPLE CHANNELS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17229" y="5455662"/>
            <a:ext cx="2773988" cy="21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UNU</a:t>
            </a: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SUAL OCEAN BEHAVIOUR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17229" y="7660861"/>
            <a:ext cx="2385643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UNU</a:t>
            </a: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SUAL SOUNDS FROM THE OCEAN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60268" y="5455662"/>
            <a:ext cx="2181070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STRONG OR UNU</a:t>
            </a: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SUAL EARTHQUAKES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60268" y="7660861"/>
            <a:ext cx="2181070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OFFICIAL WARNING SY</a:t>
            </a: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STEMS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317229" y="7352340"/>
            <a:ext cx="6996948" cy="0"/>
          </a:xfrm>
          <a:prstGeom prst="line">
            <a:avLst/>
          </a:prstGeom>
          <a:ln cap="flat" w="9525">
            <a:solidFill>
              <a:srgbClr val="052593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222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5711" y="950181"/>
            <a:ext cx="565977" cy="565977"/>
          </a:xfrm>
          <a:custGeom>
            <a:avLst/>
            <a:gdLst/>
            <a:ahLst/>
            <a:cxnLst/>
            <a:rect r="r" b="b" t="t" l="l"/>
            <a:pathLst>
              <a:path h="565977" w="565977">
                <a:moveTo>
                  <a:pt x="0" y="0"/>
                </a:moveTo>
                <a:lnTo>
                  <a:pt x="565978" y="0"/>
                </a:lnTo>
                <a:lnTo>
                  <a:pt x="565978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5015" y="2168669"/>
            <a:ext cx="16484285" cy="7057334"/>
          </a:xfrm>
          <a:custGeom>
            <a:avLst/>
            <a:gdLst/>
            <a:ahLst/>
            <a:cxnLst/>
            <a:rect r="r" b="b" t="t" l="l"/>
            <a:pathLst>
              <a:path h="7057334" w="16484285">
                <a:moveTo>
                  <a:pt x="0" y="0"/>
                </a:moveTo>
                <a:lnTo>
                  <a:pt x="16484285" y="0"/>
                </a:lnTo>
                <a:lnTo>
                  <a:pt x="16484285" y="7057335"/>
                </a:lnTo>
                <a:lnTo>
                  <a:pt x="0" y="7057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21887" y="47388"/>
            <a:ext cx="7770009" cy="191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b="true" sz="8113" spc="-38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TSUNAMI AWARENESS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15081" y="244487"/>
            <a:ext cx="3800722" cy="128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b="true" sz="3200" spc="-6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UNDE</a:t>
            </a:r>
            <a:r>
              <a:rPr lang="en-US" b="true" sz="3200" spc="-6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RSTANDING, PREPARING, AND STAYING SAFE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4943" y="1047750"/>
            <a:ext cx="953333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3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89178" y="1009048"/>
            <a:ext cx="15084348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5000" spc="-24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</a:t>
            </a:r>
            <a:r>
              <a:rPr lang="en-US" b="true" sz="5000" spc="-24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AVIGASI LURING DI LAPANGAN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19698" y="2401336"/>
            <a:ext cx="17374832" cy="7327048"/>
            <a:chOff x="0" y="0"/>
            <a:chExt cx="4576087" cy="19297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76087" cy="1929757"/>
            </a:xfrm>
            <a:custGeom>
              <a:avLst/>
              <a:gdLst/>
              <a:ahLst/>
              <a:cxnLst/>
              <a:rect r="r" b="b" t="t" l="l"/>
              <a:pathLst>
                <a:path h="1929757" w="4576087">
                  <a:moveTo>
                    <a:pt x="22725" y="0"/>
                  </a:moveTo>
                  <a:lnTo>
                    <a:pt x="4553363" y="0"/>
                  </a:lnTo>
                  <a:cubicBezTo>
                    <a:pt x="4559390" y="0"/>
                    <a:pt x="4565170" y="2394"/>
                    <a:pt x="4569432" y="6656"/>
                  </a:cubicBezTo>
                  <a:cubicBezTo>
                    <a:pt x="4573693" y="10918"/>
                    <a:pt x="4576087" y="16698"/>
                    <a:pt x="4576087" y="22725"/>
                  </a:cubicBezTo>
                  <a:lnTo>
                    <a:pt x="4576087" y="1907033"/>
                  </a:lnTo>
                  <a:cubicBezTo>
                    <a:pt x="4576087" y="1913060"/>
                    <a:pt x="4573693" y="1918840"/>
                    <a:pt x="4569432" y="1923101"/>
                  </a:cubicBezTo>
                  <a:cubicBezTo>
                    <a:pt x="4565170" y="1927363"/>
                    <a:pt x="4559390" y="1929757"/>
                    <a:pt x="4553363" y="1929757"/>
                  </a:cubicBezTo>
                  <a:lnTo>
                    <a:pt x="22725" y="1929757"/>
                  </a:lnTo>
                  <a:cubicBezTo>
                    <a:pt x="16698" y="1929757"/>
                    <a:pt x="10918" y="1927363"/>
                    <a:pt x="6656" y="1923101"/>
                  </a:cubicBezTo>
                  <a:cubicBezTo>
                    <a:pt x="2394" y="1918840"/>
                    <a:pt x="0" y="1913060"/>
                    <a:pt x="0" y="1907033"/>
                  </a:cubicBezTo>
                  <a:lnTo>
                    <a:pt x="0" y="22725"/>
                  </a:lnTo>
                  <a:cubicBezTo>
                    <a:pt x="0" y="16698"/>
                    <a:pt x="2394" y="10918"/>
                    <a:pt x="6656" y="6656"/>
                  </a:cubicBezTo>
                  <a:cubicBezTo>
                    <a:pt x="10918" y="2394"/>
                    <a:pt x="16698" y="0"/>
                    <a:pt x="227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55000"/>
                  </a:srgbClr>
                </a:gs>
                <a:gs pos="100000">
                  <a:srgbClr val="94B9FF">
                    <a:alpha val="55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4576087" cy="1920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12502" y="1083237"/>
            <a:ext cx="16641623" cy="1165860"/>
            <a:chOff x="0" y="0"/>
            <a:chExt cx="22188830" cy="1554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218883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251919"/>
            <a:ext cx="2331720" cy="5019675"/>
            <a:chOff x="0" y="0"/>
            <a:chExt cx="3108960" cy="6692900"/>
          </a:xfrm>
        </p:grpSpPr>
        <p:sp>
          <p:nvSpPr>
            <p:cNvPr name="Freeform 10" id="10" descr="C:\Users\Lenovo\AppData\Local\Temp\claude\c--gemastik\520da942-8140-47c0-a16f-9bde4b92cbe5\scratchpad\deck\aset\evakuasi.png"/>
            <p:cNvSpPr/>
            <p:nvPr/>
          </p:nvSpPr>
          <p:spPr>
            <a:xfrm flipH="false" flipV="false" rot="0">
              <a:off x="0" y="0"/>
              <a:ext cx="3108960" cy="6692900"/>
            </a:xfrm>
            <a:custGeom>
              <a:avLst/>
              <a:gdLst/>
              <a:ahLst/>
              <a:cxnLst/>
              <a:rect r="r" b="b" t="t" l="l"/>
              <a:pathLst>
                <a:path h="66929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692900"/>
                  </a:lnTo>
                  <a:lnTo>
                    <a:pt x="0" y="669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34740" y="3298677"/>
            <a:ext cx="2331720" cy="4926168"/>
            <a:chOff x="0" y="0"/>
            <a:chExt cx="3108960" cy="6568224"/>
          </a:xfrm>
        </p:grpSpPr>
        <p:sp>
          <p:nvSpPr>
            <p:cNvPr name="Freeform 12" id="12" descr="C:\Users\Lenovo\AppData\Local\Temp\claude\c--gemastik\520da942-8140-47c0-a16f-9bde4b92cbe5\scratchpad\deck\aset\putar_balik.png"/>
            <p:cNvSpPr/>
            <p:nvPr/>
          </p:nvSpPr>
          <p:spPr>
            <a:xfrm flipH="false" flipV="false" rot="0">
              <a:off x="0" y="0"/>
              <a:ext cx="3108960" cy="6568186"/>
            </a:xfrm>
            <a:custGeom>
              <a:avLst/>
              <a:gdLst/>
              <a:ahLst/>
              <a:cxnLst/>
              <a:rect r="r" b="b" t="t" l="l"/>
              <a:pathLst>
                <a:path h="656818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568186"/>
                  </a:lnTo>
                  <a:lnTo>
                    <a:pt x="0" y="6568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240780" y="3298677"/>
            <a:ext cx="2331720" cy="4926168"/>
            <a:chOff x="0" y="0"/>
            <a:chExt cx="3108960" cy="6568224"/>
          </a:xfrm>
        </p:grpSpPr>
        <p:sp>
          <p:nvSpPr>
            <p:cNvPr name="Freeform 14" id="14" descr="C:\Users\Lenovo\AppData\Local\Temp\claude\c--gemastik\520da942-8140-47c0-a16f-9bde4b92cbe5\scratchpad\deck\aset\zona_hijau.png"/>
            <p:cNvSpPr/>
            <p:nvPr/>
          </p:nvSpPr>
          <p:spPr>
            <a:xfrm flipH="false" flipV="false" rot="0">
              <a:off x="0" y="0"/>
              <a:ext cx="3108960" cy="6568186"/>
            </a:xfrm>
            <a:custGeom>
              <a:avLst/>
              <a:gdLst/>
              <a:ahLst/>
              <a:cxnLst/>
              <a:rect r="r" b="b" t="t" l="l"/>
              <a:pathLst>
                <a:path h="656818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568186"/>
                  </a:lnTo>
                  <a:lnTo>
                    <a:pt x="0" y="6568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11615" y="2597551"/>
            <a:ext cx="910590" cy="910590"/>
            <a:chOff x="0" y="0"/>
            <a:chExt cx="1214120" cy="1214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4120" cy="1214120"/>
            </a:xfrm>
            <a:custGeom>
              <a:avLst/>
              <a:gdLst/>
              <a:ahLst/>
              <a:cxnLst/>
              <a:rect r="r" b="b" t="t" l="l"/>
              <a:pathLst>
                <a:path h="1214120" w="1214120">
                  <a:moveTo>
                    <a:pt x="0" y="607060"/>
                  </a:moveTo>
                  <a:cubicBezTo>
                    <a:pt x="0" y="271780"/>
                    <a:pt x="271780" y="0"/>
                    <a:pt x="607060" y="0"/>
                  </a:cubicBezTo>
                  <a:cubicBezTo>
                    <a:pt x="942340" y="0"/>
                    <a:pt x="1214120" y="271780"/>
                    <a:pt x="1214120" y="607060"/>
                  </a:cubicBezTo>
                  <a:cubicBezTo>
                    <a:pt x="1214120" y="942340"/>
                    <a:pt x="942340" y="1214120"/>
                    <a:pt x="607060" y="1214120"/>
                  </a:cubicBezTo>
                  <a:cubicBezTo>
                    <a:pt x="271780" y="1214120"/>
                    <a:pt x="0" y="942340"/>
                    <a:pt x="0" y="607060"/>
                  </a:cubicBezTo>
                  <a:close/>
                </a:path>
              </a:pathLst>
            </a:custGeom>
            <a:solidFill>
              <a:srgbClr val="14365D"/>
            </a:solidFill>
            <a:ln w="19050" cap="sq">
              <a:solidFill>
                <a:srgbClr val="14365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44025" y="2829961"/>
            <a:ext cx="445770" cy="445770"/>
            <a:chOff x="0" y="0"/>
            <a:chExt cx="594360" cy="59436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594360" cy="594360"/>
            </a:xfrm>
            <a:custGeom>
              <a:avLst/>
              <a:gdLst/>
              <a:ahLst/>
              <a:cxnLst/>
              <a:rect r="r" b="b" t="t" l="l"/>
              <a:pathLst>
                <a:path h="594360" w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11615" y="3969151"/>
            <a:ext cx="910590" cy="910590"/>
            <a:chOff x="0" y="0"/>
            <a:chExt cx="1214120" cy="1214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4120" cy="1214120"/>
            </a:xfrm>
            <a:custGeom>
              <a:avLst/>
              <a:gdLst/>
              <a:ahLst/>
              <a:cxnLst/>
              <a:rect r="r" b="b" t="t" l="l"/>
              <a:pathLst>
                <a:path h="1214120" w="1214120">
                  <a:moveTo>
                    <a:pt x="0" y="607060"/>
                  </a:moveTo>
                  <a:cubicBezTo>
                    <a:pt x="0" y="271780"/>
                    <a:pt x="271780" y="0"/>
                    <a:pt x="607060" y="0"/>
                  </a:cubicBezTo>
                  <a:cubicBezTo>
                    <a:pt x="942340" y="0"/>
                    <a:pt x="1214120" y="271780"/>
                    <a:pt x="1214120" y="607060"/>
                  </a:cubicBezTo>
                  <a:cubicBezTo>
                    <a:pt x="1214120" y="942340"/>
                    <a:pt x="942340" y="1214120"/>
                    <a:pt x="607060" y="1214120"/>
                  </a:cubicBezTo>
                  <a:cubicBezTo>
                    <a:pt x="271780" y="1214120"/>
                    <a:pt x="0" y="942340"/>
                    <a:pt x="0" y="607060"/>
                  </a:cubicBezTo>
                  <a:close/>
                </a:path>
              </a:pathLst>
            </a:custGeom>
            <a:solidFill>
              <a:srgbClr val="14365D"/>
            </a:solidFill>
            <a:ln w="19050" cap="sq">
              <a:solidFill>
                <a:srgbClr val="14365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44025" y="4201561"/>
            <a:ext cx="445770" cy="445770"/>
            <a:chOff x="0" y="0"/>
            <a:chExt cx="594360" cy="59436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94360" cy="594360"/>
            </a:xfrm>
            <a:custGeom>
              <a:avLst/>
              <a:gdLst/>
              <a:ahLst/>
              <a:cxnLst/>
              <a:rect r="r" b="b" t="t" l="l"/>
              <a:pathLst>
                <a:path h="594360" w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11615" y="5340751"/>
            <a:ext cx="910590" cy="910590"/>
            <a:chOff x="0" y="0"/>
            <a:chExt cx="1214120" cy="1214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4120" cy="1214120"/>
            </a:xfrm>
            <a:custGeom>
              <a:avLst/>
              <a:gdLst/>
              <a:ahLst/>
              <a:cxnLst/>
              <a:rect r="r" b="b" t="t" l="l"/>
              <a:pathLst>
                <a:path h="1214120" w="1214120">
                  <a:moveTo>
                    <a:pt x="0" y="607060"/>
                  </a:moveTo>
                  <a:cubicBezTo>
                    <a:pt x="0" y="271780"/>
                    <a:pt x="271780" y="0"/>
                    <a:pt x="607060" y="0"/>
                  </a:cubicBezTo>
                  <a:cubicBezTo>
                    <a:pt x="942340" y="0"/>
                    <a:pt x="1214120" y="271780"/>
                    <a:pt x="1214120" y="607060"/>
                  </a:cubicBezTo>
                  <a:cubicBezTo>
                    <a:pt x="1214120" y="942340"/>
                    <a:pt x="942340" y="1214120"/>
                    <a:pt x="607060" y="1214120"/>
                  </a:cubicBezTo>
                  <a:cubicBezTo>
                    <a:pt x="271780" y="1214120"/>
                    <a:pt x="0" y="942340"/>
                    <a:pt x="0" y="607060"/>
                  </a:cubicBezTo>
                  <a:close/>
                </a:path>
              </a:pathLst>
            </a:custGeom>
            <a:solidFill>
              <a:srgbClr val="14365D"/>
            </a:solidFill>
            <a:ln w="19050" cap="sq">
              <a:solidFill>
                <a:srgbClr val="14365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344025" y="5573161"/>
            <a:ext cx="445770" cy="445770"/>
            <a:chOff x="0" y="0"/>
            <a:chExt cx="594360" cy="59436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94360" cy="594360"/>
            </a:xfrm>
            <a:custGeom>
              <a:avLst/>
              <a:gdLst/>
              <a:ahLst/>
              <a:cxnLst/>
              <a:rect r="r" b="b" t="t" l="l"/>
              <a:pathLst>
                <a:path h="594360" w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11615" y="6712351"/>
            <a:ext cx="910590" cy="910590"/>
            <a:chOff x="0" y="0"/>
            <a:chExt cx="1214120" cy="1214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14120" cy="1214120"/>
            </a:xfrm>
            <a:custGeom>
              <a:avLst/>
              <a:gdLst/>
              <a:ahLst/>
              <a:cxnLst/>
              <a:rect r="r" b="b" t="t" l="l"/>
              <a:pathLst>
                <a:path h="1214120" w="1214120">
                  <a:moveTo>
                    <a:pt x="0" y="607060"/>
                  </a:moveTo>
                  <a:cubicBezTo>
                    <a:pt x="0" y="271780"/>
                    <a:pt x="271780" y="0"/>
                    <a:pt x="607060" y="0"/>
                  </a:cubicBezTo>
                  <a:cubicBezTo>
                    <a:pt x="942340" y="0"/>
                    <a:pt x="1214120" y="271780"/>
                    <a:pt x="1214120" y="607060"/>
                  </a:cubicBezTo>
                  <a:cubicBezTo>
                    <a:pt x="1214120" y="942340"/>
                    <a:pt x="942340" y="1214120"/>
                    <a:pt x="607060" y="1214120"/>
                  </a:cubicBezTo>
                  <a:cubicBezTo>
                    <a:pt x="271780" y="1214120"/>
                    <a:pt x="0" y="942340"/>
                    <a:pt x="0" y="607060"/>
                  </a:cubicBezTo>
                  <a:close/>
                </a:path>
              </a:pathLst>
            </a:custGeom>
            <a:solidFill>
              <a:srgbClr val="14365D"/>
            </a:solidFill>
            <a:ln w="19050" cap="sq">
              <a:solidFill>
                <a:srgbClr val="14365D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344025" y="6944761"/>
            <a:ext cx="445770" cy="445770"/>
            <a:chOff x="0" y="0"/>
            <a:chExt cx="594360" cy="59436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594360" cy="594360"/>
            </a:xfrm>
            <a:custGeom>
              <a:avLst/>
              <a:gdLst/>
              <a:ahLst/>
              <a:cxnLst/>
              <a:rect r="r" b="b" t="t" l="l"/>
              <a:pathLst>
                <a:path h="594360" w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11615" y="8083951"/>
            <a:ext cx="910590" cy="910590"/>
            <a:chOff x="0" y="0"/>
            <a:chExt cx="1214120" cy="1214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4120" cy="1214120"/>
            </a:xfrm>
            <a:custGeom>
              <a:avLst/>
              <a:gdLst/>
              <a:ahLst/>
              <a:cxnLst/>
              <a:rect r="r" b="b" t="t" l="l"/>
              <a:pathLst>
                <a:path h="1214120" w="1214120">
                  <a:moveTo>
                    <a:pt x="0" y="607060"/>
                  </a:moveTo>
                  <a:cubicBezTo>
                    <a:pt x="0" y="271780"/>
                    <a:pt x="271780" y="0"/>
                    <a:pt x="607060" y="0"/>
                  </a:cubicBezTo>
                  <a:cubicBezTo>
                    <a:pt x="942340" y="0"/>
                    <a:pt x="1214120" y="271780"/>
                    <a:pt x="1214120" y="607060"/>
                  </a:cubicBezTo>
                  <a:cubicBezTo>
                    <a:pt x="1214120" y="942340"/>
                    <a:pt x="942340" y="1214120"/>
                    <a:pt x="607060" y="1214120"/>
                  </a:cubicBezTo>
                  <a:cubicBezTo>
                    <a:pt x="271780" y="1214120"/>
                    <a:pt x="0" y="942340"/>
                    <a:pt x="0" y="607060"/>
                  </a:cubicBezTo>
                  <a:close/>
                </a:path>
              </a:pathLst>
            </a:custGeom>
            <a:solidFill>
              <a:srgbClr val="2E8B57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344025" y="8316361"/>
            <a:ext cx="445770" cy="445770"/>
            <a:chOff x="0" y="0"/>
            <a:chExt cx="594360" cy="59436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594360" cy="594360"/>
            </a:xfrm>
            <a:custGeom>
              <a:avLst/>
              <a:gdLst/>
              <a:ahLst/>
              <a:cxnLst/>
              <a:rect r="r" b="b" t="t" l="l"/>
              <a:pathLst>
                <a:path h="594360" w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28700" y="8994541"/>
            <a:ext cx="23317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Masuk jalan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34740" y="8994541"/>
            <a:ext cx="23317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Putar balik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240780" y="8994541"/>
            <a:ext cx="23317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Tiba di zona hijau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55580" y="2607076"/>
            <a:ext cx="731062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Panah mengikuti arah hadap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55580" y="3196864"/>
            <a:ext cx="731062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Belum menghadap jalur: "Ke kiri", "Ke kanan", atau "Putar balik".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55580" y="3978676"/>
            <a:ext cx="731062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Petunjuk belok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355580" y="4568464"/>
            <a:ext cx="731062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Arah dicek tiap 12 m; &lt; 28° bukan belokan; tampil saat belokan ≤ 50 m.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355580" y="5350276"/>
            <a:ext cx="731062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Masuk jalan di sini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55580" y="5940064"/>
            <a:ext cx="731062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Lebih dari 18 m dari jalur: garis putus-putus ke titik masuk terdekat.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55580" y="6721876"/>
            <a:ext cx="731062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Jalur dibaca ulang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355580" y="7311664"/>
            <a:ext cx="731062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Bila ≥ 40 m dari jalur lama pada tiga pembacaan; kembali dipilih bila menghemat ≥ 1 menit.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55580" y="8093476"/>
            <a:ext cx="731062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Kedatangan otomatis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355580" y="8683264"/>
            <a:ext cx="731062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Tiga pembacaan ≤ 20 m dari tujuan, ketelitian ≤ 35 m; lalu tawaran lanjut ke TEA.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64943" y="465041"/>
            <a:ext cx="953333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745711" y="367473"/>
            <a:ext cx="565977" cy="565977"/>
          </a:xfrm>
          <a:custGeom>
            <a:avLst/>
            <a:gdLst/>
            <a:ahLst/>
            <a:cxnLst/>
            <a:rect r="r" b="b" t="t" l="l"/>
            <a:pathLst>
              <a:path h="565977" w="565977">
                <a:moveTo>
                  <a:pt x="0" y="0"/>
                </a:moveTo>
                <a:lnTo>
                  <a:pt x="565978" y="0"/>
                </a:lnTo>
                <a:lnTo>
                  <a:pt x="565978" y="565977"/>
                </a:lnTo>
                <a:lnTo>
                  <a:pt x="0" y="5659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67185" y="508622"/>
            <a:ext cx="11305869" cy="124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7"/>
              </a:lnSpc>
            </a:pPr>
            <a:r>
              <a:rPr lang="en-US" b="true" sz="5214" spc="-250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ALUR APLIKASI DARI WI</a:t>
            </a:r>
            <a:r>
              <a:rPr lang="en-US" b="true" sz="5214" spc="-250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DGET SAMPAI KEDATANGAN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43578" y="2001939"/>
            <a:ext cx="17353083" cy="7696771"/>
            <a:chOff x="0" y="0"/>
            <a:chExt cx="4570359" cy="20271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70359" cy="2027133"/>
            </a:xfrm>
            <a:custGeom>
              <a:avLst/>
              <a:gdLst/>
              <a:ahLst/>
              <a:cxnLst/>
              <a:rect r="r" b="b" t="t" l="l"/>
              <a:pathLst>
                <a:path h="2027133" w="4570359">
                  <a:moveTo>
                    <a:pt x="22753" y="0"/>
                  </a:moveTo>
                  <a:lnTo>
                    <a:pt x="4547606" y="0"/>
                  </a:lnTo>
                  <a:cubicBezTo>
                    <a:pt x="4560172" y="0"/>
                    <a:pt x="4570359" y="10187"/>
                    <a:pt x="4570359" y="22753"/>
                  </a:cubicBezTo>
                  <a:lnTo>
                    <a:pt x="4570359" y="2004380"/>
                  </a:lnTo>
                  <a:cubicBezTo>
                    <a:pt x="4570359" y="2016946"/>
                    <a:pt x="4560172" y="2027133"/>
                    <a:pt x="4547606" y="2027133"/>
                  </a:cubicBezTo>
                  <a:lnTo>
                    <a:pt x="22753" y="2027133"/>
                  </a:lnTo>
                  <a:cubicBezTo>
                    <a:pt x="10187" y="2027133"/>
                    <a:pt x="0" y="2016946"/>
                    <a:pt x="0" y="2004380"/>
                  </a:cubicBezTo>
                  <a:lnTo>
                    <a:pt x="0" y="22753"/>
                  </a:lnTo>
                  <a:cubicBezTo>
                    <a:pt x="0" y="10187"/>
                    <a:pt x="10187" y="0"/>
                    <a:pt x="2275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55000"/>
                  </a:srgbClr>
                </a:gs>
                <a:gs pos="100000">
                  <a:srgbClr val="004AAD">
                    <a:alpha val="55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4570359" cy="2017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31755"/>
            <a:ext cx="2743200" cy="1663360"/>
            <a:chOff x="0" y="0"/>
            <a:chExt cx="3657600" cy="2217814"/>
          </a:xfrm>
        </p:grpSpPr>
        <p:sp>
          <p:nvSpPr>
            <p:cNvPr name="Freeform 7" id="7" descr="C:\Users\Lenovo\AppData\Local\Temp\claude\c--gemastik\520da942-8140-47c0-a16f-9bde4b92cbe5\scratchpad\deck\aset\widget.png"/>
            <p:cNvSpPr/>
            <p:nvPr/>
          </p:nvSpPr>
          <p:spPr>
            <a:xfrm flipH="false" flipV="false" rot="0">
              <a:off x="0" y="0"/>
              <a:ext cx="3657600" cy="2217801"/>
            </a:xfrm>
            <a:custGeom>
              <a:avLst/>
              <a:gdLst/>
              <a:ahLst/>
              <a:cxnLst/>
              <a:rect r="r" b="b" t="t" l="l"/>
              <a:pathLst>
                <a:path h="221780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217801"/>
                  </a:lnTo>
                  <a:lnTo>
                    <a:pt x="0" y="2217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4519740"/>
            <a:ext cx="27432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Widget 4×2: status zona, tujuan, jarak, tombol Evakuasi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095589" y="2731755"/>
            <a:ext cx="2468880" cy="5314950"/>
            <a:chOff x="0" y="0"/>
            <a:chExt cx="3291840" cy="7086600"/>
          </a:xfrm>
        </p:grpSpPr>
        <p:sp>
          <p:nvSpPr>
            <p:cNvPr name="Freeform 10" id="10" descr="C:\Users\Lenovo\AppData\Local\Temp\claude\c--gemastik\520da942-8140-47c0-a16f-9bde4b92cbe5\scratchpad\deck\aset\beranda.png"/>
            <p:cNvSpPr/>
            <p:nvPr/>
          </p:nvSpPr>
          <p:spPr>
            <a:xfrm flipH="false" flipV="false" rot="0">
              <a:off x="0" y="0"/>
              <a:ext cx="3291840" cy="7086600"/>
            </a:xfrm>
            <a:custGeom>
              <a:avLst/>
              <a:gdLst/>
              <a:ahLst/>
              <a:cxnLst/>
              <a:rect r="r" b="b" t="t" l="l"/>
              <a:pathLst>
                <a:path h="70866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086600"/>
                  </a:lnTo>
                  <a:lnTo>
                    <a:pt x="0" y="708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095589" y="8608680"/>
            <a:ext cx="24688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Beranda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38789" y="2731755"/>
            <a:ext cx="2468880" cy="5314950"/>
            <a:chOff x="0" y="0"/>
            <a:chExt cx="3291840" cy="7086600"/>
          </a:xfrm>
        </p:grpSpPr>
        <p:sp>
          <p:nvSpPr>
            <p:cNvPr name="Freeform 13" id="13" descr="C:\Users\Lenovo\AppData\Local\Temp\claude\c--gemastik\520da942-8140-47c0-a16f-9bde4b92cbe5\scratchpad\deck\aset\evakuasi.png"/>
            <p:cNvSpPr/>
            <p:nvPr/>
          </p:nvSpPr>
          <p:spPr>
            <a:xfrm flipH="false" flipV="false" rot="0">
              <a:off x="0" y="0"/>
              <a:ext cx="3291840" cy="7086600"/>
            </a:xfrm>
            <a:custGeom>
              <a:avLst/>
              <a:gdLst/>
              <a:ahLst/>
              <a:cxnLst/>
              <a:rect r="r" b="b" t="t" l="l"/>
              <a:pathLst>
                <a:path h="70866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086600"/>
                  </a:lnTo>
                  <a:lnTo>
                    <a:pt x="0" y="708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38789" y="8608680"/>
            <a:ext cx="24688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Arahan, mode pesawat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81989" y="2731755"/>
            <a:ext cx="2468880" cy="5314950"/>
            <a:chOff x="0" y="0"/>
            <a:chExt cx="3291840" cy="7086600"/>
          </a:xfrm>
        </p:grpSpPr>
        <p:sp>
          <p:nvSpPr>
            <p:cNvPr name="Freeform 16" id="16" descr="C:\Users\Lenovo\AppData\Local\Temp\claude\c--gemastik\520da942-8140-47c0-a16f-9bde4b92cbe5\scratchpad\deck\aset\rincian_tes.png"/>
            <p:cNvSpPr/>
            <p:nvPr/>
          </p:nvSpPr>
          <p:spPr>
            <a:xfrm flipH="false" flipV="false" rot="0">
              <a:off x="0" y="0"/>
              <a:ext cx="3291840" cy="7086600"/>
            </a:xfrm>
            <a:custGeom>
              <a:avLst/>
              <a:gdLst/>
              <a:ahLst/>
              <a:cxnLst/>
              <a:rect r="r" b="b" t="t" l="l"/>
              <a:pathLst>
                <a:path h="70866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086600"/>
                  </a:lnTo>
                  <a:lnTo>
                    <a:pt x="0" y="708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81989" y="8608680"/>
            <a:ext cx="24688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Rincian TES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325189" y="2731755"/>
            <a:ext cx="2468880" cy="5314950"/>
            <a:chOff x="0" y="0"/>
            <a:chExt cx="3291840" cy="7086600"/>
          </a:xfrm>
        </p:grpSpPr>
        <p:sp>
          <p:nvSpPr>
            <p:cNvPr name="Freeform 19" id="19" descr="C:\Users\Lenovo\AppData\Local\Temp\claude\c--gemastik\520da942-8140-47c0-a16f-9bde4b92cbe5\scratchpad\deck\aset\peringatan.png"/>
            <p:cNvSpPr/>
            <p:nvPr/>
          </p:nvSpPr>
          <p:spPr>
            <a:xfrm flipH="false" flipV="false" rot="0">
              <a:off x="0" y="0"/>
              <a:ext cx="3291840" cy="7086600"/>
            </a:xfrm>
            <a:custGeom>
              <a:avLst/>
              <a:gdLst/>
              <a:ahLst/>
              <a:cxnLst/>
              <a:rect r="r" b="b" t="t" l="l"/>
              <a:pathLst>
                <a:path h="70866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086600"/>
                  </a:lnTo>
                  <a:lnTo>
                    <a:pt x="0" y="708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25189" y="8608680"/>
            <a:ext cx="24688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Peringatan latihan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068389" y="2731755"/>
            <a:ext cx="2468880" cy="5314950"/>
            <a:chOff x="0" y="0"/>
            <a:chExt cx="3291840" cy="7086600"/>
          </a:xfrm>
        </p:grpSpPr>
        <p:sp>
          <p:nvSpPr>
            <p:cNvPr name="Freeform 22" id="22" descr="C:\Users\Lenovo\AppData\Local\Temp\claude\c--gemastik\520da942-8140-47c0-a16f-9bde4b92cbe5\scratchpad\deck\aset\kedatangan.png"/>
            <p:cNvSpPr/>
            <p:nvPr/>
          </p:nvSpPr>
          <p:spPr>
            <a:xfrm flipH="false" flipV="false" rot="0">
              <a:off x="0" y="0"/>
              <a:ext cx="3291840" cy="7086600"/>
            </a:xfrm>
            <a:custGeom>
              <a:avLst/>
              <a:gdLst/>
              <a:ahLst/>
              <a:cxnLst/>
              <a:rect r="r" b="b" t="t" l="l"/>
              <a:pathLst>
                <a:path h="70866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086600"/>
                  </a:lnTo>
                  <a:lnTo>
                    <a:pt x="0" y="708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068389" y="8608680"/>
            <a:ext cx="24688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Kedatangan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5213" y="450562"/>
            <a:ext cx="953333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35982" y="352993"/>
            <a:ext cx="565977" cy="565977"/>
          </a:xfrm>
          <a:custGeom>
            <a:avLst/>
            <a:gdLst/>
            <a:ahLst/>
            <a:cxnLst/>
            <a:rect r="r" b="b" t="t" l="l"/>
            <a:pathLst>
              <a:path h="565977" w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58893" y="853649"/>
            <a:ext cx="12172709" cy="91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b="true" sz="3825" spc="-183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WEB DASHBOARD</a:t>
            </a:r>
            <a:r>
              <a:rPr lang="en-US" b="true" sz="3825" spc="-183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RUANG KENDALI SIAGA PADANG (RKSP)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524675" y="2136534"/>
            <a:ext cx="6052399" cy="2905151"/>
            <a:chOff x="0" y="0"/>
            <a:chExt cx="7223760" cy="3467405"/>
          </a:xfrm>
        </p:grpSpPr>
        <p:sp>
          <p:nvSpPr>
            <p:cNvPr name="Freeform 4" id="4" descr="C:\Users\Lenovo\AppData\Local\Temp\claude\c--gemastik\520da942-8140-47c0-a16f-9bde4b92cbe5\scratchpad\deck\aset\rksp_dashboard.png"/>
            <p:cNvSpPr/>
            <p:nvPr/>
          </p:nvSpPr>
          <p:spPr>
            <a:xfrm flipH="false" flipV="false" rot="0">
              <a:off x="0" y="0"/>
              <a:ext cx="7223760" cy="3467354"/>
            </a:xfrm>
            <a:custGeom>
              <a:avLst/>
              <a:gdLst/>
              <a:ahLst/>
              <a:cxnLst/>
              <a:rect r="r" b="b" t="t" l="l"/>
              <a:pathLst>
                <a:path h="346735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467354"/>
                  </a:lnTo>
                  <a:lnTo>
                    <a:pt x="0" y="3467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524675" y="5159876"/>
            <a:ext cx="60523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b="true" sz="2010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730299" y="2129810"/>
            <a:ext cx="6052399" cy="2918601"/>
            <a:chOff x="0" y="0"/>
            <a:chExt cx="7223760" cy="3483458"/>
          </a:xfrm>
        </p:grpSpPr>
        <p:sp>
          <p:nvSpPr>
            <p:cNvPr name="Freeform 7" id="7" descr="C:\Users\Lenovo\AppData\Local\Temp\claude\c--gemastik\520da942-8140-47c0-a16f-9bde4b92cbe5\scratchpad\deck\aset\rksp_latihan.png"/>
            <p:cNvSpPr/>
            <p:nvPr/>
          </p:nvSpPr>
          <p:spPr>
            <a:xfrm flipH="false" flipV="false" rot="0">
              <a:off x="0" y="0"/>
              <a:ext cx="7223760" cy="3483483"/>
            </a:xfrm>
            <a:custGeom>
              <a:avLst/>
              <a:gdLst/>
              <a:ahLst/>
              <a:cxnLst/>
              <a:rect r="r" b="b" t="t" l="l"/>
              <a:pathLst>
                <a:path h="3483483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483483"/>
                  </a:lnTo>
                  <a:lnTo>
                    <a:pt x="0" y="3483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730299" y="5159876"/>
            <a:ext cx="60523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b="true" sz="2010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Kirim peringatan latihan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524675" y="6043779"/>
            <a:ext cx="6052399" cy="2905151"/>
            <a:chOff x="0" y="0"/>
            <a:chExt cx="7223760" cy="3467405"/>
          </a:xfrm>
        </p:grpSpPr>
        <p:sp>
          <p:nvSpPr>
            <p:cNvPr name="Freeform 10" id="10" descr="C:\Users\Lenovo\AppData\Local\Temp\claude\c--gemastik\520da942-8140-47c0-a16f-9bde4b92cbe5\scratchpad\deck\aset\rksp_rekap.png"/>
            <p:cNvSpPr/>
            <p:nvPr/>
          </p:nvSpPr>
          <p:spPr>
            <a:xfrm flipH="false" flipV="false" rot="0">
              <a:off x="0" y="0"/>
              <a:ext cx="7223760" cy="3467354"/>
            </a:xfrm>
            <a:custGeom>
              <a:avLst/>
              <a:gdLst/>
              <a:ahLst/>
              <a:cxnLst/>
              <a:rect r="r" b="b" t="t" l="l"/>
              <a:pathLst>
                <a:path h="346735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467354"/>
                  </a:lnTo>
                  <a:lnTo>
                    <a:pt x="0" y="3467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524675" y="9067120"/>
            <a:ext cx="60523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b="true" sz="2010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Rekap lapor selamat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730299" y="6055548"/>
            <a:ext cx="6052399" cy="2881614"/>
            <a:chOff x="0" y="0"/>
            <a:chExt cx="7223760" cy="3439312"/>
          </a:xfrm>
        </p:grpSpPr>
        <p:sp>
          <p:nvSpPr>
            <p:cNvPr name="Freeform 13" id="13" descr="C:\Users\Lenovo\AppData\Local\Temp\claude\c--gemastik\520da942-8140-47c0-a16f-9bde4b92cbe5\scratchpad\deck\aset\rksp_kendala.png"/>
            <p:cNvSpPr/>
            <p:nvPr/>
          </p:nvSpPr>
          <p:spPr>
            <a:xfrm flipH="false" flipV="false" rot="0">
              <a:off x="0" y="0"/>
              <a:ext cx="7223760" cy="3439287"/>
            </a:xfrm>
            <a:custGeom>
              <a:avLst/>
              <a:gdLst/>
              <a:ahLst/>
              <a:cxnLst/>
              <a:rect r="r" b="b" t="t" l="l"/>
              <a:pathLst>
                <a:path h="3439287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439287"/>
                  </a:lnTo>
                  <a:lnTo>
                    <a:pt x="0" y="3439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730299" y="9067120"/>
            <a:ext cx="60523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b="true" sz="2010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Laporan kendala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5982" y="2399620"/>
            <a:ext cx="4491443" cy="685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435" indent="-257718" lvl="1">
              <a:lnSpc>
                <a:spcPts val="3417"/>
              </a:lnSpc>
              <a:buFont typeface="Arial"/>
              <a:buChar char="•"/>
            </a:pPr>
            <a:r>
              <a:rPr lang="en-US" sz="2848">
                <a:solidFill>
                  <a:srgbClr val="052593"/>
                </a:solidFill>
                <a:latin typeface="Canva Sans"/>
                <a:ea typeface="Canva Sans"/>
                <a:cs typeface="Canva Sans"/>
                <a:sym typeface="Canva Sans"/>
              </a:rPr>
              <a:t>Layanan: versi data, daftar tempat, informasi BMKG, lapor selamat, laporan jalan</a:t>
            </a:r>
          </a:p>
          <a:p>
            <a:pPr algn="l" marL="515435" indent="-257718" lvl="1">
              <a:lnSpc>
                <a:spcPts val="3417"/>
              </a:lnSpc>
              <a:buFont typeface="Arial"/>
              <a:buChar char="•"/>
            </a:pPr>
            <a:r>
              <a:rPr lang="en-US" sz="2848">
                <a:solidFill>
                  <a:srgbClr val="052593"/>
                </a:solidFill>
                <a:latin typeface="Canva Sans"/>
                <a:ea typeface="Canva Sans"/>
                <a:cs typeface="Canva Sans"/>
                <a:sym typeface="Canva Sans"/>
              </a:rPr>
              <a:t>Laporan jalan terkonfirmasi bila 3 ponsel melaporkan ruas yang sama dalam 15 menit, ≤ 50 m</a:t>
            </a:r>
          </a:p>
          <a:p>
            <a:pPr algn="l" marL="515435" indent="-257718" lvl="1">
              <a:lnSpc>
                <a:spcPts val="3417"/>
              </a:lnSpc>
              <a:buFont typeface="Arial"/>
              <a:buChar char="•"/>
            </a:pPr>
            <a:r>
              <a:rPr lang="en-US" sz="2848">
                <a:solidFill>
                  <a:srgbClr val="052593"/>
                </a:solidFill>
                <a:latin typeface="Canva Sans"/>
                <a:ea typeface="Canva Sans"/>
                <a:cs typeface="Canva Sans"/>
                <a:sym typeface="Canva Sans"/>
              </a:rPr>
              <a:t>Peringatan latihan berlabel LATIHAN; info gempa terasa dari BMKG</a:t>
            </a:r>
          </a:p>
          <a:p>
            <a:pPr algn="l" marL="515435" indent="-257718" lvl="1">
              <a:lnSpc>
                <a:spcPts val="3417"/>
              </a:lnSpc>
              <a:buFont typeface="Arial"/>
              <a:buChar char="•"/>
            </a:pPr>
            <a:r>
              <a:rPr lang="en-US" sz="2848">
                <a:solidFill>
                  <a:srgbClr val="052593"/>
                </a:solidFill>
                <a:latin typeface="Canva Sans"/>
                <a:ea typeface="Canva Sans"/>
                <a:cs typeface="Canva Sans"/>
                <a:sym typeface="Canva Sans"/>
              </a:rPr>
              <a:t>Dashboard masih prototipe yang dioperasikan tim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5213" y="450562"/>
            <a:ext cx="953333" cy="3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35982" y="352993"/>
            <a:ext cx="565977" cy="565977"/>
          </a:xfrm>
          <a:custGeom>
            <a:avLst/>
            <a:gdLst/>
            <a:ahLst/>
            <a:cxnLst/>
            <a:rect r="r" b="b" t="t" l="l"/>
            <a:pathLst>
              <a:path h="565977" w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2674" y="6770445"/>
            <a:ext cx="4506379" cy="2487855"/>
            <a:chOff x="0" y="0"/>
            <a:chExt cx="1186865" cy="6552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6865" cy="655238"/>
            </a:xfrm>
            <a:custGeom>
              <a:avLst/>
              <a:gdLst/>
              <a:ahLst/>
              <a:cxnLst/>
              <a:rect r="r" b="b" t="t" l="l"/>
              <a:pathLst>
                <a:path h="655238" w="1186865">
                  <a:moveTo>
                    <a:pt x="0" y="0"/>
                  </a:moveTo>
                  <a:lnTo>
                    <a:pt x="1186865" y="0"/>
                  </a:lnTo>
                  <a:lnTo>
                    <a:pt x="1186865" y="655238"/>
                  </a:lnTo>
                  <a:lnTo>
                    <a:pt x="0" y="655238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186865" cy="636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7881" y="1042352"/>
            <a:ext cx="7985587" cy="213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1"/>
              </a:lnSpc>
            </a:pPr>
            <a:r>
              <a:rPr lang="en-US" b="true" sz="9040" spc="-43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WARNING SYSTEM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816580" y="1028700"/>
            <a:ext cx="360297" cy="410276"/>
          </a:xfrm>
          <a:custGeom>
            <a:avLst/>
            <a:gdLst/>
            <a:ahLst/>
            <a:cxnLst/>
            <a:rect r="r" b="b" t="t" l="l"/>
            <a:pathLst>
              <a:path h="410276" w="360297">
                <a:moveTo>
                  <a:pt x="0" y="0"/>
                </a:moveTo>
                <a:lnTo>
                  <a:pt x="360297" y="0"/>
                </a:lnTo>
                <a:lnTo>
                  <a:pt x="360297" y="410276"/>
                </a:lnTo>
                <a:lnTo>
                  <a:pt x="0" y="41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352822" y="1047750"/>
            <a:ext cx="1323056" cy="39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</a:t>
            </a: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RTH ACADEMY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06824" y="1957894"/>
            <a:ext cx="5908365" cy="7300406"/>
            <a:chOff x="0" y="0"/>
            <a:chExt cx="2532150" cy="31287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32150" cy="3128737"/>
            </a:xfrm>
            <a:custGeom>
              <a:avLst/>
              <a:gdLst/>
              <a:ahLst/>
              <a:cxnLst/>
              <a:rect r="r" b="b" t="t" l="l"/>
              <a:pathLst>
                <a:path h="3128737" w="2532150">
                  <a:moveTo>
                    <a:pt x="0" y="0"/>
                  </a:moveTo>
                  <a:lnTo>
                    <a:pt x="2532150" y="0"/>
                  </a:lnTo>
                  <a:lnTo>
                    <a:pt x="2532150" y="3128737"/>
                  </a:lnTo>
                  <a:lnTo>
                    <a:pt x="0" y="3128737"/>
                  </a:lnTo>
                  <a:close/>
                </a:path>
              </a:pathLst>
            </a:custGeom>
            <a:blipFill>
              <a:blip r:embed="rId4"/>
              <a:stretch>
                <a:fillRect l="0" t="-10736" r="0" b="-1073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4049850"/>
            <a:ext cx="2516913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SUNAMI WARNINGS BEGIN WITH SEISMIC MONITORING NETWORKS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71817"/>
            <a:ext cx="2633999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EGIONAL WARNING CENTRES ASSESS TSUNAMI THREATS AND ISSUE ALERTS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297830"/>
            <a:ext cx="2633999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</a:t>
            </a: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ARNINGS END ONLY AFTER AUTHORITIES CONFIRM THE DANGER HAS PASSED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2674" y="4049850"/>
            <a:ext cx="286760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ART BUOYS DETECT TSUNAMI WAVES IN THE OPEN OCEAN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62674" y="5671817"/>
            <a:ext cx="2867608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ATIONAL AGENCIES DELIVER TSUNAMI WARNINGS THROUGH MULTIPLE CHANNELS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531989"/>
            <a:ext cx="2078731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SEISMIC DETECTION — THE FIRST SIGNAL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153956"/>
            <a:ext cx="2633999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WARNING CENTRE ASSESSMENT AND ISSUANCE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779970"/>
            <a:ext cx="2195630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ALL-CLEAR — AN OFFICIAL PROCESS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62674" y="3531989"/>
            <a:ext cx="2736285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OCEAN SENSOR CONFIRMATION — DART BUOYS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22509" y="7070762"/>
            <a:ext cx="3700698" cy="190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b="true" sz="1599" spc="-31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MODERN TSUNAMI EARLY WARNING SYSTEMS COMBINE REAL-TIME SEISMIC MONITORING, OCEAN SENSORS, AND MULTI-CHANNEL PUBLIC COMMUNICATION TO PROVIDE</a:t>
            </a:r>
            <a:r>
              <a:rPr lang="en-US" b="true" sz="1599" spc="-31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THE MAXIMUM POSSIBLE LEAD TIME BETWEEN A GENERATING EVENT AND WAVE ARRIVAL AT SHORE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62674" y="5153956"/>
            <a:ext cx="2984695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NATIONAL ALERT DISSEMINATION — MULTIPLE CHANNELS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3891"/>
            <a:ext cx="10967984" cy="213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2"/>
              </a:lnSpc>
            </a:pPr>
            <a:r>
              <a:rPr lang="en-US" b="true" sz="9041" spc="-433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MOST IMPORTA</a:t>
            </a:r>
            <a:r>
              <a:rPr lang="en-US" b="true" sz="9041" spc="-433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NT ACTION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360297" cy="410276"/>
          </a:xfrm>
          <a:custGeom>
            <a:avLst/>
            <a:gdLst/>
            <a:ahLst/>
            <a:cxnLst/>
            <a:rect r="r" b="b" t="t" l="l"/>
            <a:pathLst>
              <a:path h="410276" w="360297">
                <a:moveTo>
                  <a:pt x="0" y="0"/>
                </a:moveTo>
                <a:lnTo>
                  <a:pt x="360297" y="0"/>
                </a:lnTo>
                <a:lnTo>
                  <a:pt x="360297" y="410276"/>
                </a:lnTo>
                <a:lnTo>
                  <a:pt x="0" y="41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4943" y="1047750"/>
            <a:ext cx="1323056" cy="39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NORTH ACADEMY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4537521"/>
            <a:ext cx="4868957" cy="4720779"/>
            <a:chOff x="0" y="0"/>
            <a:chExt cx="1608503" cy="15595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8503" cy="1559552"/>
            </a:xfrm>
            <a:custGeom>
              <a:avLst/>
              <a:gdLst/>
              <a:ahLst/>
              <a:cxnLst/>
              <a:rect r="r" b="b" t="t" l="l"/>
              <a:pathLst>
                <a:path h="1559552" w="1608503">
                  <a:moveTo>
                    <a:pt x="0" y="0"/>
                  </a:moveTo>
                  <a:lnTo>
                    <a:pt x="1608503" y="0"/>
                  </a:lnTo>
                  <a:lnTo>
                    <a:pt x="1608503" y="1559552"/>
                  </a:lnTo>
                  <a:lnTo>
                    <a:pt x="0" y="1559552"/>
                  </a:lnTo>
                  <a:close/>
                </a:path>
              </a:pathLst>
            </a:custGeom>
            <a:blipFill>
              <a:blip r:embed="rId4"/>
              <a:stretch>
                <a:fillRect l="-11225" t="-28438" r="0" b="-2470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649109" y="1028700"/>
            <a:ext cx="4610191" cy="5465256"/>
            <a:chOff x="0" y="0"/>
            <a:chExt cx="1508121" cy="17878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8122" cy="1787837"/>
            </a:xfrm>
            <a:custGeom>
              <a:avLst/>
              <a:gdLst/>
              <a:ahLst/>
              <a:cxnLst/>
              <a:rect r="r" b="b" t="t" l="l"/>
              <a:pathLst>
                <a:path h="1787837" w="1508122">
                  <a:moveTo>
                    <a:pt x="0" y="0"/>
                  </a:moveTo>
                  <a:lnTo>
                    <a:pt x="1508122" y="0"/>
                  </a:lnTo>
                  <a:lnTo>
                    <a:pt x="1508122" y="1787837"/>
                  </a:lnTo>
                  <a:lnTo>
                    <a:pt x="0" y="1787837"/>
                  </a:lnTo>
                  <a:close/>
                </a:path>
              </a:pathLst>
            </a:custGeom>
            <a:blipFill>
              <a:blip r:embed="rId5"/>
              <a:stretch>
                <a:fillRect l="-52697" t="-9625" r="-53546" b="-628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327817" y="4556571"/>
            <a:ext cx="4560902" cy="193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b="true" sz="1799" spc="-35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</a:t>
            </a:r>
            <a:r>
              <a:rPr lang="en-US" b="true" sz="1799" spc="-35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TIME TO LEARN YOUR EVACUATION ROUTE IS NOT WHEN A WARNING HAS BEEN ISSUED. BY THEN, THE ROAD MAY BE CROWDED, YOUR PHONE MAY BE UNRELIABLE, AND THE MINUTES AVAILABLE FOR REACHING SAFETY HAVE ALREADY BEGUN COUNTING DOWN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27817" y="6907435"/>
            <a:ext cx="3709723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COMMUNITIES THAT HAVE CONDUCTED</a:t>
            </a: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REGULAR EVACUATION DRILLS — IN SCHOOLS, WORKPLACES, AND RESIDENTIAL AREAS — CONSISTENTLY DEMONSTRATE FASTER AND MORE ORDERLY MOVEMENT TO SAFETY THAN THOSE RELYING ON UNTRAINED RESPONSE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4497" y="6907435"/>
            <a:ext cx="3709723" cy="115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PRACTICAL ACTIONS THAT MAKE THE DIFF</a:t>
            </a: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ERENCE ARE SIMPLE AND CAN BE COMPLETED IN A SINGLE AFTERNOON: IDENTIFY WHETHER YOUR HOME, SCHOOL, OR WORKPLACE IS WITHIN A MAPPED TSUNAMI INUNDATION ZONE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215355"/>
            <a:ext cx="10499238" cy="229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6"/>
              </a:lnSpc>
            </a:pPr>
            <a:r>
              <a:rPr lang="en-US" b="true" sz="9726" spc="-466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UNDERSTA</a:t>
            </a:r>
            <a:r>
              <a:rPr lang="en-US" b="true" sz="9726" spc="-466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NDING RISK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660507" y="1028700"/>
            <a:ext cx="5598793" cy="8229600"/>
            <a:chOff x="0" y="0"/>
            <a:chExt cx="1474579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4579" cy="2167467"/>
            </a:xfrm>
            <a:custGeom>
              <a:avLst/>
              <a:gdLst/>
              <a:ahLst/>
              <a:cxnLst/>
              <a:rect r="r" b="b" t="t" l="l"/>
              <a:pathLst>
                <a:path h="2167467" w="1474579">
                  <a:moveTo>
                    <a:pt x="0" y="0"/>
                  </a:moveTo>
                  <a:lnTo>
                    <a:pt x="1474579" y="0"/>
                  </a:lnTo>
                  <a:lnTo>
                    <a:pt x="1474579" y="2167467"/>
                  </a:lnTo>
                  <a:lnTo>
                    <a:pt x="0" y="2167467"/>
                  </a:lnTo>
                  <a:close/>
                </a:path>
              </a:pathLst>
            </a:custGeom>
            <a:ln w="9525" cap="sq">
              <a:solidFill>
                <a:srgbClr val="052593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1474579" cy="2148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049511" y="1361285"/>
            <a:ext cx="4868957" cy="5554655"/>
            <a:chOff x="0" y="0"/>
            <a:chExt cx="1608503" cy="18350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8503" cy="1835030"/>
            </a:xfrm>
            <a:custGeom>
              <a:avLst/>
              <a:gdLst/>
              <a:ahLst/>
              <a:cxnLst/>
              <a:rect r="r" b="b" t="t" l="l"/>
              <a:pathLst>
                <a:path h="1835030" w="1608503">
                  <a:moveTo>
                    <a:pt x="0" y="0"/>
                  </a:moveTo>
                  <a:lnTo>
                    <a:pt x="1608503" y="0"/>
                  </a:lnTo>
                  <a:lnTo>
                    <a:pt x="1608503" y="1835030"/>
                  </a:lnTo>
                  <a:lnTo>
                    <a:pt x="0" y="1835030"/>
                  </a:lnTo>
                  <a:close/>
                </a:path>
              </a:pathLst>
            </a:custGeom>
            <a:blipFill>
              <a:blip r:embed="rId2"/>
              <a:stretch>
                <a:fillRect l="0" t="-2746" r="0" b="-274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049511" y="7263503"/>
            <a:ext cx="4896985" cy="1661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b="true" sz="1799" spc="-35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</a:t>
            </a:r>
            <a:r>
              <a:rPr lang="en-US" b="true" sz="1799" spc="-35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OT ALL COASTAL AREAS FACE EQUAL TSUNAMI RISK — UNDERSTANDING INUNDATION ZONES, LOCAL GEOGRAPHY, AND THE DIFFERENCE BETWEEN NEAR-FIELD AND FAR-FIELD EVENTS IS ESSENTIAL FOR INFORMED PREPAREDNESS PLANNING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01214" y="1449007"/>
            <a:ext cx="3093882" cy="96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TSUNAMI INUNDATION ZON</a:t>
            </a: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 ARE AREAS IDENTIFIED BY SCIENTIFIC MODELLING AS POTENTIALLY BEING REACHED BY TSUNAMI WAVES UNDER DEFINED SCENARIOS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29891" y="3430853"/>
            <a:ext cx="3285966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CRITICAL DISTINCTION FOR COMMUNITY</a:t>
            </a: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PREPAREDNESS IS BETWEEN NEAR-FIELD TSUNAMIS (GENERATED BY AN EARTHQUAKE SOURCE CLOSE TO THE COASTLINE) AND FAR-FIELD TSUNAMIS (GENERATED AT A DISTANT SOURCE)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29891" y="1449007"/>
            <a:ext cx="3093882" cy="77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SHAPE OF A COASTLINE AND</a:t>
            </a: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THE PROFILE OF THE SEAFLOOR BOTH INFLUENCE HOW TSUNAMI WAVES BEHAVE ON ARRIVAL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01214" y="3430853"/>
            <a:ext cx="2954865" cy="115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ELEVATION IS</a:t>
            </a: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THE MOST STRAIGHTFORWARD PROTECTIVE FACTOR IN TSUNAMI PREPAREDNESS. AREAS ABOVE THE MAPPED MAXIMUM INUNDATION ELEVATION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01214" y="1038225"/>
            <a:ext cx="1933839" cy="21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INUND</a:t>
            </a: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ATION ZONES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29891" y="3020071"/>
            <a:ext cx="3553555" cy="21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NEAR-FIELD VERSUS F</a:t>
            </a: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AR-FIELD EVENTS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29891" y="1038225"/>
            <a:ext cx="4019087" cy="21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COASTAL GEOGRAPHY AND AMPLIFIC</a:t>
            </a: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01214" y="3020071"/>
            <a:ext cx="2437774" cy="21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ROLE OF ELEV</a:t>
            </a:r>
            <a:r>
              <a:rPr lang="en-US" b="true" sz="1400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6256980"/>
            <a:ext cx="360297" cy="410276"/>
          </a:xfrm>
          <a:custGeom>
            <a:avLst/>
            <a:gdLst/>
            <a:ahLst/>
            <a:cxnLst/>
            <a:rect r="r" b="b" t="t" l="l"/>
            <a:pathLst>
              <a:path h="410276" w="360297">
                <a:moveTo>
                  <a:pt x="0" y="0"/>
                </a:moveTo>
                <a:lnTo>
                  <a:pt x="360297" y="0"/>
                </a:lnTo>
                <a:lnTo>
                  <a:pt x="360297" y="410276"/>
                </a:lnTo>
                <a:lnTo>
                  <a:pt x="0" y="41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64943" y="6276030"/>
            <a:ext cx="1323056" cy="39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NORTH ACADEMY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2401214" y="5377446"/>
            <a:ext cx="8320774" cy="0"/>
          </a:xfrm>
          <a:prstGeom prst="line">
            <a:avLst/>
          </a:prstGeom>
          <a:ln cap="flat" w="9525">
            <a:solidFill>
              <a:srgbClr val="052593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7881" y="6554615"/>
            <a:ext cx="8631549" cy="293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5"/>
              </a:lnSpc>
            </a:pPr>
            <a:r>
              <a:rPr lang="en-US" b="true" sz="8430" spc="-40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COMMUNITY</a:t>
            </a:r>
            <a:r>
              <a:rPr lang="en-US" b="true" sz="8430" spc="-40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AND HOUSEHOLD PREPAREDNESS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8570729" cy="4114800"/>
            <a:chOff x="0" y="0"/>
            <a:chExt cx="3673160" cy="17634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73160" cy="1763481"/>
            </a:xfrm>
            <a:custGeom>
              <a:avLst/>
              <a:gdLst/>
              <a:ahLst/>
              <a:cxnLst/>
              <a:rect r="r" b="b" t="t" l="l"/>
              <a:pathLst>
                <a:path h="1763481" w="3673160">
                  <a:moveTo>
                    <a:pt x="0" y="0"/>
                  </a:moveTo>
                  <a:lnTo>
                    <a:pt x="3673160" y="0"/>
                  </a:lnTo>
                  <a:lnTo>
                    <a:pt x="3673160" y="1763481"/>
                  </a:lnTo>
                  <a:lnTo>
                    <a:pt x="0" y="1763481"/>
                  </a:lnTo>
                  <a:close/>
                </a:path>
              </a:pathLst>
            </a:custGeom>
            <a:blipFill>
              <a:blip r:embed="rId2"/>
              <a:stretch>
                <a:fillRect l="0" t="-8522" r="0" b="-4769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28611" y="1028700"/>
            <a:ext cx="5930689" cy="7738101"/>
            <a:chOff x="0" y="0"/>
            <a:chExt cx="1561992" cy="20380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1992" cy="2038018"/>
            </a:xfrm>
            <a:custGeom>
              <a:avLst/>
              <a:gdLst/>
              <a:ahLst/>
              <a:cxnLst/>
              <a:rect r="r" b="b" t="t" l="l"/>
              <a:pathLst>
                <a:path h="2038018" w="1561992">
                  <a:moveTo>
                    <a:pt x="0" y="0"/>
                  </a:moveTo>
                  <a:lnTo>
                    <a:pt x="1561992" y="0"/>
                  </a:lnTo>
                  <a:lnTo>
                    <a:pt x="1561992" y="2038018"/>
                  </a:lnTo>
                  <a:lnTo>
                    <a:pt x="0" y="2038018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561992" cy="2018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704577" y="1449232"/>
            <a:ext cx="2240947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OBTAIN AND</a:t>
            </a: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STUDY THE INUNDATION ZONE MAP FOR YOUR COMMUNITY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04577" y="2712772"/>
            <a:ext cx="2240947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MAINTAIN A</a:t>
            </a: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HOUSEHOLD EMERGENCY KIT CONTAINING AT MINIMUM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04577" y="4176645"/>
            <a:ext cx="2363830" cy="77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ESTABLISH A CLEAR PLAN FOR HOW ALL</a:t>
            </a: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HOUSEHOLD MEMBERS WILL RESPOND TO A WARNING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04577" y="5670800"/>
            <a:ext cx="2240947" cy="115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ENSURE THAT ALL</a:t>
            </a: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HOUSEHOLD MEMBERS HAVE ENABLED EMERGENCY ALERT SYSTEMS ON THEIR MOBILE PHONES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04577" y="7545955"/>
            <a:ext cx="2363830" cy="77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TAKE PART IN</a:t>
            </a: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SCHEDULED COMMUNITY EVACUATION EXERCISES WHENEVER THEY ARE OFFERED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40909" y="1411132"/>
            <a:ext cx="1753944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KNOW YOUR ZONE AND YOUR ROUTE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40909" y="2674672"/>
            <a:ext cx="1753944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PREPARE AN EMERGENCY KIT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40909" y="4138545"/>
            <a:ext cx="2011981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CREATE AND PRACTISE A HOUSEHOLD PLAN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40909" y="5632700"/>
            <a:ext cx="2011981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REGISTER FOR OFFICIAL ALERTS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40909" y="7507855"/>
            <a:ext cx="2011981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PARTICIPATE IN COMMUNITY DRILLS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1640909" y="2347067"/>
            <a:ext cx="5304615" cy="0"/>
          </a:xfrm>
          <a:prstGeom prst="line">
            <a:avLst/>
          </a:prstGeom>
          <a:ln cap="flat" w="9525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1640909" y="3649715"/>
            <a:ext cx="5304615" cy="0"/>
          </a:xfrm>
          <a:prstGeom prst="line">
            <a:avLst/>
          </a:prstGeom>
          <a:ln cap="flat" w="9525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1640909" y="5304088"/>
            <a:ext cx="5304615" cy="0"/>
          </a:xfrm>
          <a:prstGeom prst="line">
            <a:avLst/>
          </a:prstGeom>
          <a:ln cap="flat" w="9525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1640909" y="7179243"/>
            <a:ext cx="5304615" cy="0"/>
          </a:xfrm>
          <a:prstGeom prst="line">
            <a:avLst/>
          </a:prstGeom>
          <a:ln cap="flat" w="9525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028700" y="5477232"/>
            <a:ext cx="360297" cy="410276"/>
          </a:xfrm>
          <a:custGeom>
            <a:avLst/>
            <a:gdLst/>
            <a:ahLst/>
            <a:cxnLst/>
            <a:rect r="r" b="b" t="t" l="l"/>
            <a:pathLst>
              <a:path h="410276" w="360297">
                <a:moveTo>
                  <a:pt x="0" y="0"/>
                </a:moveTo>
                <a:lnTo>
                  <a:pt x="360297" y="0"/>
                </a:lnTo>
                <a:lnTo>
                  <a:pt x="360297" y="410276"/>
                </a:lnTo>
                <a:lnTo>
                  <a:pt x="0" y="41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64943" y="5496282"/>
            <a:ext cx="1323056" cy="39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</a:t>
            </a: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RTH ACADEMY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544405"/>
            <a:ext cx="5184085" cy="2852774"/>
            <a:chOff x="0" y="0"/>
            <a:chExt cx="1365356" cy="7513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5356" cy="751348"/>
            </a:xfrm>
            <a:custGeom>
              <a:avLst/>
              <a:gdLst/>
              <a:ahLst/>
              <a:cxnLst/>
              <a:rect r="r" b="b" t="t" l="l"/>
              <a:pathLst>
                <a:path h="751348" w="1365356">
                  <a:moveTo>
                    <a:pt x="0" y="0"/>
                  </a:moveTo>
                  <a:lnTo>
                    <a:pt x="1365356" y="0"/>
                  </a:lnTo>
                  <a:lnTo>
                    <a:pt x="1365356" y="751348"/>
                  </a:lnTo>
                  <a:lnTo>
                    <a:pt x="0" y="751348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365356" cy="732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7881" y="1039907"/>
            <a:ext cx="9398817" cy="319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9"/>
              </a:lnSpc>
            </a:pPr>
            <a:r>
              <a:rPr lang="en-US" b="true" sz="9179" spc="-44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PREPAREDNESS IS A COMMUNITY</a:t>
            </a:r>
            <a:r>
              <a:rPr lang="en-US" b="true" sz="9179" spc="-44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PRACTICE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816580" y="1028700"/>
            <a:ext cx="360297" cy="410276"/>
          </a:xfrm>
          <a:custGeom>
            <a:avLst/>
            <a:gdLst/>
            <a:ahLst/>
            <a:cxnLst/>
            <a:rect r="r" b="b" t="t" l="l"/>
            <a:pathLst>
              <a:path h="410276" w="360297">
                <a:moveTo>
                  <a:pt x="0" y="0"/>
                </a:moveTo>
                <a:lnTo>
                  <a:pt x="360297" y="0"/>
                </a:lnTo>
                <a:lnTo>
                  <a:pt x="360297" y="410276"/>
                </a:lnTo>
                <a:lnTo>
                  <a:pt x="0" y="41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352822" y="1047750"/>
            <a:ext cx="1323056" cy="39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</a:t>
            </a: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RTH ACADEMY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0" y="3865864"/>
            <a:ext cx="8115300" cy="5392436"/>
            <a:chOff x="0" y="0"/>
            <a:chExt cx="3477977" cy="23110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77976" cy="2311038"/>
            </a:xfrm>
            <a:custGeom>
              <a:avLst/>
              <a:gdLst/>
              <a:ahLst/>
              <a:cxnLst/>
              <a:rect r="r" b="b" t="t" l="l"/>
              <a:pathLst>
                <a:path h="2311038" w="3477976">
                  <a:moveTo>
                    <a:pt x="0" y="0"/>
                  </a:moveTo>
                  <a:lnTo>
                    <a:pt x="3477976" y="0"/>
                  </a:lnTo>
                  <a:lnTo>
                    <a:pt x="3477976" y="2311038"/>
                  </a:lnTo>
                  <a:lnTo>
                    <a:pt x="0" y="2311038"/>
                  </a:lnTo>
                  <a:close/>
                </a:path>
              </a:pathLst>
            </a:custGeom>
            <a:blipFill>
              <a:blip r:embed="rId4"/>
              <a:stretch>
                <a:fillRect l="0" t="-164" r="0" b="-16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82956" y="4888158"/>
            <a:ext cx="4048240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b="true" sz="1799" spc="-35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TSUNAMI PREPAREDNESS IS MOST EFFECTIVE WHEN IT IS A SHARED COMMUNITY PRACTICE — BUILT THROUGH EDUCATION, REGULAR DRILLS, ACCESSIBLE INFORMATION, AND THE COLLECTIVE COMMITMENT TO KNOWING</a:t>
            </a:r>
            <a:r>
              <a:rPr lang="en-US" b="true" sz="1799" spc="-35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WHAT TO DO BEFORE ANY EVENT OCCURS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6708" y="8181253"/>
            <a:ext cx="1323056" cy="2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+123-456-7890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96708" y="8615680"/>
            <a:ext cx="1987269" cy="2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@REALLYGREATSITE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96708" y="9051290"/>
            <a:ext cx="2957980" cy="2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HELLO@REALLYGREATSITE.COM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96634" y="2204942"/>
            <a:ext cx="10386683" cy="210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4"/>
              </a:lnSpc>
            </a:pPr>
            <a:r>
              <a:rPr lang="en-US" b="true" sz="8865" spc="-425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TSUNAMI SCIENCE IN NUMBERS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96634" y="5828162"/>
            <a:ext cx="3561228" cy="3430138"/>
            <a:chOff x="0" y="0"/>
            <a:chExt cx="937937" cy="9034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7937" cy="903411"/>
            </a:xfrm>
            <a:custGeom>
              <a:avLst/>
              <a:gdLst/>
              <a:ahLst/>
              <a:cxnLst/>
              <a:rect r="r" b="b" t="t" l="l"/>
              <a:pathLst>
                <a:path h="903411" w="937937">
                  <a:moveTo>
                    <a:pt x="0" y="0"/>
                  </a:moveTo>
                  <a:lnTo>
                    <a:pt x="937937" y="0"/>
                  </a:lnTo>
                  <a:lnTo>
                    <a:pt x="937937" y="903411"/>
                  </a:lnTo>
                  <a:lnTo>
                    <a:pt x="0" y="903411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937937" cy="884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19058" y="5828162"/>
            <a:ext cx="3644253" cy="3430138"/>
            <a:chOff x="0" y="0"/>
            <a:chExt cx="959803" cy="9034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9803" cy="903411"/>
            </a:xfrm>
            <a:custGeom>
              <a:avLst/>
              <a:gdLst/>
              <a:ahLst/>
              <a:cxnLst/>
              <a:rect r="r" b="b" t="t" l="l"/>
              <a:pathLst>
                <a:path h="903411" w="959803">
                  <a:moveTo>
                    <a:pt x="0" y="0"/>
                  </a:moveTo>
                  <a:lnTo>
                    <a:pt x="959803" y="0"/>
                  </a:lnTo>
                  <a:lnTo>
                    <a:pt x="959803" y="903411"/>
                  </a:lnTo>
                  <a:lnTo>
                    <a:pt x="0" y="903411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959803" cy="884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25261" y="5828162"/>
            <a:ext cx="3616690" cy="3430138"/>
            <a:chOff x="0" y="0"/>
            <a:chExt cx="952544" cy="9034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2544" cy="903411"/>
            </a:xfrm>
            <a:custGeom>
              <a:avLst/>
              <a:gdLst/>
              <a:ahLst/>
              <a:cxnLst/>
              <a:rect r="r" b="b" t="t" l="l"/>
              <a:pathLst>
                <a:path h="903411" w="952544">
                  <a:moveTo>
                    <a:pt x="0" y="0"/>
                  </a:moveTo>
                  <a:lnTo>
                    <a:pt x="952544" y="0"/>
                  </a:lnTo>
                  <a:lnTo>
                    <a:pt x="952544" y="903411"/>
                  </a:lnTo>
                  <a:lnTo>
                    <a:pt x="0" y="903411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952544" cy="884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03901" y="5828162"/>
            <a:ext cx="3587465" cy="3430138"/>
            <a:chOff x="0" y="0"/>
            <a:chExt cx="944847" cy="9034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4847" cy="903411"/>
            </a:xfrm>
            <a:custGeom>
              <a:avLst/>
              <a:gdLst/>
              <a:ahLst/>
              <a:cxnLst/>
              <a:rect r="r" b="b" t="t" l="l"/>
              <a:pathLst>
                <a:path h="903411" w="944847">
                  <a:moveTo>
                    <a:pt x="0" y="0"/>
                  </a:moveTo>
                  <a:lnTo>
                    <a:pt x="944847" y="0"/>
                  </a:lnTo>
                  <a:lnTo>
                    <a:pt x="944847" y="903411"/>
                  </a:lnTo>
                  <a:lnTo>
                    <a:pt x="0" y="903411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944847" cy="884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31840" y="6132814"/>
            <a:ext cx="2992561" cy="78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b="true" sz="4999" spc="-9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800 KM/H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54264" y="6132814"/>
            <a:ext cx="2434534" cy="78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b="true" sz="4999" spc="-9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~80%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60467" y="6132814"/>
            <a:ext cx="2520547" cy="78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b="true" sz="4999" spc="-9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 7.0+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37276" y="6132814"/>
            <a:ext cx="2667996" cy="78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b="true" sz="4999" spc="-9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30 MIN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31840" y="7775422"/>
            <a:ext cx="2657355" cy="105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APPROXIMATE SPEED OF</a:t>
            </a:r>
            <a:r>
              <a:rPr lang="en-US" b="true" sz="1400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 TSUNAMI WAVE IN DEEP OCEAN WATER — SIMILAR TO A COMMERCIAL AIRCRAFT AT CRUISING SPEED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54264" y="7670647"/>
            <a:ext cx="2975672" cy="126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OF</a:t>
            </a:r>
            <a:r>
              <a:rPr lang="en-US" b="true" sz="1400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ALL TSUNAMIS THAT ORIGINATE IN THE PACIFIC OCEAN — THE REGION KNOWN AS THE RING OF FIRE, WHERE MOST OF THE WORLD'S SUBDUCTION ZONES ARE LOCATED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60467" y="7670647"/>
            <a:ext cx="2951113" cy="105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</a:t>
            </a:r>
            <a:r>
              <a:rPr lang="en-US" b="true" sz="1400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ARTHQUAKE MAGNITUDE THRESHOLD THAT MAY GENERATE A TSUNAMI — TRIGGERING IMMEDIATE ASSESSMENT BY WARNING CENTRES WORLDWIDE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39106" y="7670647"/>
            <a:ext cx="2971778" cy="126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400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TYPIC</a:t>
            </a:r>
            <a:r>
              <a:rPr lang="en-US" b="true" sz="1400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 MINIMUM EVACUATION TARGET TIME FOR COASTAL COMMUNITIES IN HIGH-RISK ZONES — THE PLANNING STANDARD USED BY EMERGENCY MANAGEMENT AGENCIES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96634" y="1028700"/>
            <a:ext cx="360297" cy="410276"/>
          </a:xfrm>
          <a:custGeom>
            <a:avLst/>
            <a:gdLst/>
            <a:ahLst/>
            <a:cxnLst/>
            <a:rect r="r" b="b" t="t" l="l"/>
            <a:pathLst>
              <a:path h="410276" w="360297">
                <a:moveTo>
                  <a:pt x="0" y="0"/>
                </a:moveTo>
                <a:lnTo>
                  <a:pt x="360297" y="0"/>
                </a:lnTo>
                <a:lnTo>
                  <a:pt x="360297" y="410276"/>
                </a:lnTo>
                <a:lnTo>
                  <a:pt x="0" y="41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932877" y="1047750"/>
            <a:ext cx="1323056" cy="39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</a:t>
            </a: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RTH ACADEMY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52463" y="1028700"/>
            <a:ext cx="4538902" cy="4388452"/>
            <a:chOff x="0" y="0"/>
            <a:chExt cx="1945239" cy="1880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45239" cy="1880760"/>
            </a:xfrm>
            <a:custGeom>
              <a:avLst/>
              <a:gdLst/>
              <a:ahLst/>
              <a:cxnLst/>
              <a:rect r="r" b="b" t="t" l="l"/>
              <a:pathLst>
                <a:path h="1880760" w="1945239">
                  <a:moveTo>
                    <a:pt x="0" y="0"/>
                  </a:moveTo>
                  <a:lnTo>
                    <a:pt x="1945239" y="0"/>
                  </a:lnTo>
                  <a:lnTo>
                    <a:pt x="1945239" y="1880760"/>
                  </a:lnTo>
                  <a:lnTo>
                    <a:pt x="0" y="1880760"/>
                  </a:lnTo>
                  <a:close/>
                </a:path>
              </a:pathLst>
            </a:custGeom>
            <a:blipFill>
              <a:blip r:embed="rId4"/>
              <a:stretch>
                <a:fillRect l="-36046" t="0" r="-36046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DAHZQ-zi9fw</dc:identifier>
  <dcterms:modified xsi:type="dcterms:W3CDTF">2011-08-01T06:04:30Z</dcterms:modified>
  <cp:revision>1</cp:revision>
  <dc:title>PPT GEMASTIK</dc:title>
</cp:coreProperties>
</file>