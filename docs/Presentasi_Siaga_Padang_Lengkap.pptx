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charts/chart2.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dan Masalah" id="{6ab82910-2db8-1f84-73ed-fdb9d72e1727}">
          <p14:sldIdLst>
            <p14:sldId id="256"/>
            <p14:sldId id="257"/>
            <p14:sldId id="258"/>
            <p14:sldId id="259"/>
            <p14:sldId id="260"/>
            <p14:sldId id="261"/>
            <p14:sldId id="262"/>
            <p14:sldId id="263"/>
            <p14:sldId id="264"/>
          </p14:sldIdLst>
        </p14:section>
        <p14:section name="Solusi dan Metode" id="{e0558d68-d2f9-ce10-7c32-bc123ebd9a2c}">
          <p14:sldIdLst>
            <p14:sldId id="265"/>
            <p14:sldId id="266"/>
            <p14:sldId id="267"/>
            <p14:sldId id="268"/>
            <p14:sldId id="269"/>
            <p14:sldId id="270"/>
            <p14:sldId id="271"/>
            <p14:sldId id="272"/>
            <p14:sldId id="273"/>
            <p14:sldId id="274"/>
            <p14:sldId id="275"/>
            <p14:sldId id="276"/>
            <p14:sldId id="277"/>
          </p14:sldIdLst>
        </p14:section>
        <p14:section name="Implementasi dan Hasil" id="{f16401ea-fb47-d2f4-c57f-75cf6a246360}">
          <p14:sldIdLst>
            <p14:sldId id="278"/>
            <p14:sldId id="279"/>
            <p14:sldId id="280"/>
            <p14:sldId id="281"/>
            <p14:sldId id="282"/>
            <p14:sldId id="283"/>
            <p14:sldId id="284"/>
            <p14:sldId id="285"/>
          </p14:sldIdLst>
        </p14:section>
        <p14:section name="Dampak dan Penutup" id="{1c14c427-6754-d831-2137-0c4913c70210}">
          <p14:sldIdLst>
            <p14:sldId id="286"/>
            <p14:sldId id="287"/>
            <p14:sldId id="288"/>
            <p14:sldId id="289"/>
          </p14:sldIdLst>
        </p14:section>
        <p14:section name="Lampiran Tanya Jawab" id="{ff5a2e6b-7a6f-5b3c-987e-329be23a10f8}">
          <p14:sldIdLst>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365D"/>
                </a:solidFill>
                <a:latin typeface="+mj-lt"/>
              </a:defRPr>
            </a:pPr>
            <a:r>
              <a:rPr sz="1400" b="0" i="0" u="none" strike="noStrike">
                <a:solidFill>
                  <a:srgbClr val="14365D"/>
                </a:solidFill>
                <a:latin typeface="+mj-lt"/>
              </a:rPr>
              <a:t>Kelompok penduduk zona merah (313.862 jiwa, batas 15 menit)</a:t>
            </a:r>
          </a:p>
        </c:rich>
      </c:tx>
      <c:layout/>
      <c:overlay val="0"/>
    </c:title>
    <c:autoTitleDeleted val="0"/>
    <c:plotArea>
      <c:layout/>
      <c:barChart>
        <c:barDir val="bar"/>
        <c:grouping val="clustered"/>
        <c:varyColors val="0"/>
        <c:ser>
          <c:idx val="0"/>
          <c:order val="0"/>
          <c:tx>
            <c:strRef>
              <c:f>Sheet1!$B$1</c:f>
              <c:strCache>
                <c:ptCount val="1"/>
                <c:pt idx="0">
                  <c:v>Jiwa</c:v>
                </c:pt>
              </c:strCache>
            </c:strRef>
          </c:tx>
          <c:spPr>
            <a:solidFill>
              <a:srgbClr val="14365D"/>
            </a:solidFill>
            <a:effectLst/>
          </c:spPr>
          <c:invertIfNegative val="0"/>
          <c:dLbls>
            <c:numFmt formatCode="#,##0"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cat>
            <c:multiLvlStrRef>
              <c:f>Sheet1!$A$2:$A$6</c:f>
              <c:multiLvlStrCache>
                <c:ptCount val="5"/>
                <c:lvl>
                  <c:pt idx="0">
                    <c:v>Dibagi menurut daya tampung</c:v>
                  </c:pt>
                  <c:pt idx="1">
                    <c:v>Keluar zona (TEA/zona hijau)</c:v>
                  </c:pt>
                  <c:pt idx="2">
                    <c:v>Tidak ada TES yang sempat</c:v>
                  </c:pt>
                  <c:pt idx="3">
                    <c:v>Hanya TES tanpa angka daya tampung</c:v>
                  </c:pt>
                  <c:pt idx="4">
                    <c:v>Tanpa TES yang lolos aturan arah</c:v>
                  </c:pt>
                </c:lvl>
              </c:multiLvlStrCache>
            </c:multiLvlStrRef>
          </c:cat>
          <c:val>
            <c:numRef>
              <c:f>Sheet1!$B$2:$B$6</c:f>
              <c:numCache>
                <c:formatCode>General</c:formatCode>
                <c:ptCount val="5"/>
                <c:pt idx="0">
                  <c:v>89158</c:v>
                </c:pt>
                <c:pt idx="1">
                  <c:v>95094</c:v>
                </c:pt>
                <c:pt idx="2">
                  <c:v>95184</c:v>
                </c:pt>
                <c:pt idx="3">
                  <c:v>15976</c:v>
                </c:pt>
                <c:pt idx="4">
                  <c:v>18451</c:v>
                </c:pt>
              </c:numCache>
            </c:numRef>
          </c:val>
        </c:ser>
        <c:dLbls>
          <c:numFmt formatCode="#,##0"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433"/>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DDE2E8"/>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100" b="0" i="0" u="none" strike="noStrike">
                <a:solidFill>
                  <a:srgbClr val="5D66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365D"/>
                </a:solidFill>
                <a:latin typeface="+mj-lt"/>
              </a:defRPr>
            </a:pPr>
            <a:r>
              <a:rPr sz="1400" b="0" i="0" u="none" strike="noStrike">
                <a:solidFill>
                  <a:srgbClr val="14365D"/>
                </a:solidFill>
                <a:latin typeface="+mj-lt"/>
              </a:rPr>
              <a:t>Waktu pemrosesan setelah koordinat diterima (ms), 20 koordinat</a:t>
            </a:r>
          </a:p>
        </c:rich>
      </c:tx>
      <c:layout/>
      <c:overlay val="0"/>
    </c:title>
    <c:autoTitleDeleted val="0"/>
    <c:plotArea>
      <c:layout/>
      <c:barChart>
        <c:barDir val="bar"/>
        <c:grouping val="clustered"/>
        <c:varyColors val="0"/>
        <c:ser>
          <c:idx val="0"/>
          <c:order val="0"/>
          <c:tx>
            <c:strRef>
              <c:f>Sheet1!$B$1</c:f>
              <c:strCache>
                <c:ptCount val="1"/>
                <c:pt idx="0">
                  <c:v>Median</c:v>
                </c:pt>
              </c:strCache>
            </c:strRef>
          </c:tx>
          <c:spPr>
            <a:solidFill>
              <a:srgbClr val="14365D"/>
            </a:solidFill>
            <a:effectLst/>
          </c:spPr>
          <c:invertIfNegative val="0"/>
          <c:dLbls>
            <c:numFmt formatCode="#,##0"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cat>
            <c:multiLvlStrRef>
              <c:f>Sheet1!$A$2:$A$8</c:f>
              <c:multiLvlStrCache>
                <c:ptCount val="7"/>
                <c:lvl>
                  <c:pt idx="0">
                    <c:v>Infinix X6855</c:v>
                  </c:pt>
                  <c:pt idx="1">
                    <c:v>Galaxy A15</c:v>
                  </c:pt>
                  <c:pt idx="2">
                    <c:v>POCO F5</c:v>
                  </c:pt>
                  <c:pt idx="3">
                    <c:v>Galaxy A55</c:v>
                  </c:pt>
                  <c:pt idx="4">
                    <c:v>Infinix GT 20 Pro</c:v>
                  </c:pt>
                  <c:pt idx="5">
                    <c:v>POCO F7</c:v>
                  </c:pt>
                  <c:pt idx="6">
                    <c:v>Xiaomi 15</c:v>
                  </c:pt>
                </c:lvl>
              </c:multiLvlStrCache>
            </c:multiLvlStrRef>
          </c:cat>
          <c:val>
            <c:numRef>
              <c:f>Sheet1!$B$2:$B$8</c:f>
              <c:numCache>
                <c:formatCode>General</c:formatCode>
                <c:ptCount val="7"/>
                <c:pt idx="0">
                  <c:v>706</c:v>
                </c:pt>
                <c:pt idx="1">
                  <c:v>454</c:v>
                </c:pt>
                <c:pt idx="2">
                  <c:v>354</c:v>
                </c:pt>
                <c:pt idx="3">
                  <c:v>271</c:v>
                </c:pt>
                <c:pt idx="4">
                  <c:v>240</c:v>
                </c:pt>
                <c:pt idx="5">
                  <c:v>222</c:v>
                </c:pt>
                <c:pt idx="6">
                  <c:v>152</c:v>
                </c:pt>
              </c:numCache>
            </c:numRef>
          </c:val>
        </c:ser>
        <c:ser>
          <c:idx val="1"/>
          <c:order val="1"/>
          <c:tx>
            <c:strRef>
              <c:f>Sheet1!$C$1</c:f>
              <c:strCache>
                <c:ptCount val="1"/>
                <c:pt idx="0">
                  <c:v>Maksimum</c:v>
                </c:pt>
              </c:strCache>
            </c:strRef>
          </c:tx>
          <c:spPr>
            <a:solidFill>
              <a:srgbClr val="F5B700"/>
            </a:solidFill>
            <a:effectLst/>
          </c:spPr>
          <c:invertIfNegative val="0"/>
          <c:dLbls>
            <c:numFmt formatCode="#,##0"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cat>
            <c:multiLvlStrRef>
              <c:f>Sheet1!$A$2:$A$8</c:f>
              <c:multiLvlStrCache>
                <c:ptCount val="7"/>
                <c:lvl>
                  <c:pt idx="0">
                    <c:v>Infinix X6855</c:v>
                  </c:pt>
                  <c:pt idx="1">
                    <c:v>Galaxy A15</c:v>
                  </c:pt>
                  <c:pt idx="2">
                    <c:v>POCO F5</c:v>
                  </c:pt>
                  <c:pt idx="3">
                    <c:v>Galaxy A55</c:v>
                  </c:pt>
                  <c:pt idx="4">
                    <c:v>Infinix GT 20 Pro</c:v>
                  </c:pt>
                  <c:pt idx="5">
                    <c:v>POCO F7</c:v>
                  </c:pt>
                  <c:pt idx="6">
                    <c:v>Xiaomi 15</c:v>
                  </c:pt>
                </c:lvl>
              </c:multiLvlStrCache>
            </c:multiLvlStrRef>
          </c:cat>
          <c:val>
            <c:numRef>
              <c:f>Sheet1!$C$2:$C$8</c:f>
              <c:numCache>
                <c:formatCode>General</c:formatCode>
                <c:ptCount val="7"/>
                <c:pt idx="0">
                  <c:v>884</c:v>
                </c:pt>
                <c:pt idx="1">
                  <c:v>624</c:v>
                </c:pt>
                <c:pt idx="2">
                  <c:v>447</c:v>
                </c:pt>
                <c:pt idx="3">
                  <c:v>351</c:v>
                </c:pt>
                <c:pt idx="4">
                  <c:v>294</c:v>
                </c:pt>
                <c:pt idx="5">
                  <c:v>269</c:v>
                </c:pt>
                <c:pt idx="6">
                  <c:v>225</c:v>
                </c:pt>
              </c:numCache>
            </c:numRef>
          </c:val>
        </c:ser>
        <c:dLbls>
          <c:numFmt formatCode="#,##0"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433"/>
                </a:solidFill>
                <a:latin typeface="+mn-lt"/>
              </a:defRPr>
            </a:pPr>
            <a:endParaRPr lang="en-US"/>
          </a:p>
        </c:txPr>
        <c:crossAx val="2094734552"/>
        <c:crosses val="autoZero"/>
        <c:auto val="1"/>
        <c:lblAlgn val="ctr"/>
        <c:noMultiLvlLbl val="1"/>
      </c:catAx>
      <c:valAx>
        <c:axId val="2094734552"/>
        <c:scaling>
          <c:orientation val="minMax"/>
          <c:max val="1000"/>
          <c:min val="0"/>
        </c:scaling>
        <c:delete val="0"/>
        <c:axPos val="b"/>
        <c:majorGridlines>
          <c:spPr>
            <a:ln w="6350" cap="flat">
              <a:solidFill>
                <a:srgbClr val="DDE2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D6670"/>
                </a:solidFill>
                <a:latin typeface="+mn-lt"/>
              </a:defRPr>
            </a:pPr>
            <a:endParaRPr lang="en-US"/>
          </a:p>
        </c:txPr>
        <c:crossAx val="2094734554"/>
        <c:crosses val="autoZero"/>
        <c:crossBetween val="between"/>
        <c:majorUnit val="200"/>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365D"/>
                </a:solidFill>
                <a:latin typeface="+mj-lt"/>
              </a:defRPr>
            </a:pPr>
            <a:r>
              <a:rPr sz="1400" b="0" i="0" u="none" strike="noStrike">
                <a:solidFill>
                  <a:srgbClr val="14365D"/>
                </a:solidFill>
                <a:latin typeface="+mj-lt"/>
              </a:rPr>
              <a:t>Penduduk dengan tujuan dalam 15 menit (%)</a:t>
            </a:r>
          </a:p>
        </c:rich>
      </c:tx>
      <c:layout/>
      <c:overlay val="0"/>
    </c:title>
    <c:autoTitleDeleted val="0"/>
    <c:plotArea>
      <c:layout/>
      <c:barChart>
        <c:barDir val="col"/>
        <c:grouping val="clustered"/>
        <c:varyColors val="0"/>
        <c:ser>
          <c:idx val="0"/>
          <c:order val="0"/>
          <c:tx>
            <c:strRef>
              <c:f>Sheet1!$B$1</c:f>
              <c:strCache>
                <c:ptCount val="1"/>
                <c:pt idx="0">
                  <c:v>Tujuan ≤ 15 menit (%)</c:v>
                </c:pt>
              </c:strCache>
            </c:strRef>
          </c:tx>
          <c:spPr>
            <a:solidFill>
              <a:srgbClr val="2E8B57"/>
            </a:solidFill>
            <a:effectLst/>
          </c:spPr>
          <c:invertIfNegative val="0"/>
          <c:dLbls>
            <c:numFmt formatCode="0.0"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cat>
            <c:multiLvlStrRef>
              <c:f>Sheet1!$A$2:$A$4</c:f>
              <c:multiLvlStrCache>
                <c:ptCount val="3"/>
                <c:lvl>
                  <c:pt idx="0">
                    <c:v>Tujuan tercepat</c:v>
                  </c:pt>
                  <c:pt idx="1">
                    <c:v>Zona hijau dahulu, lalu TES terjauh dari pantai</c:v>
                  </c:pt>
                  <c:pt idx="2">
                    <c:v>Aturan Siaga Padang dengan pembagian TES</c:v>
                  </c:pt>
                </c:lvl>
              </c:multiLvlStrCache>
            </c:multiLvlStrRef>
          </c:cat>
          <c:val>
            <c:numRef>
              <c:f>Sheet1!$B$2:$B$4</c:f>
              <c:numCache>
                <c:formatCode>General</c:formatCode>
                <c:ptCount val="3"/>
                <c:pt idx="0">
                  <c:v>61.2</c:v>
                </c:pt>
                <c:pt idx="1">
                  <c:v>61.2</c:v>
                </c:pt>
                <c:pt idx="2">
                  <c:v>69.1</c:v>
                </c:pt>
              </c:numCache>
            </c:numRef>
          </c:val>
        </c:ser>
        <c:dLbls>
          <c:numFmt formatCode="0.0"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433"/>
                </a:solidFill>
                <a:latin typeface="+mn-lt"/>
              </a:defRPr>
            </a:pPr>
            <a:endParaRPr lang="en-US"/>
          </a:p>
        </c:txPr>
        <c:crossAx val="2094734552"/>
        <c:crosses val="autoZero"/>
        <c:auto val="1"/>
        <c:lblAlgn val="ctr"/>
        <c:noMultiLvlLbl val="1"/>
      </c:catAx>
      <c:valAx>
        <c:axId val="2094734552"/>
        <c:scaling>
          <c:orientation val="minMax"/>
          <c:max val="80"/>
          <c:min val="0"/>
        </c:scaling>
        <c:delete val="0"/>
        <c:axPos val="l"/>
        <c:majorGridlines>
          <c:spPr>
            <a:ln w="6350" cap="flat">
              <a:solidFill>
                <a:srgbClr val="DDE2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D66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365D"/>
                </a:solidFill>
                <a:latin typeface="+mj-lt"/>
              </a:defRPr>
            </a:pPr>
            <a:r>
              <a:rPr sz="1400" b="0" i="0" u="none" strike="noStrike">
                <a:solidFill>
                  <a:srgbClr val="14365D"/>
                </a:solidFill>
                <a:latin typeface="+mj-lt"/>
              </a:rPr>
              <a:t>Total kelebihan beban TES (jiwa)</a:t>
            </a:r>
          </a:p>
        </c:rich>
      </c:tx>
      <c:layout/>
      <c:overlay val="0"/>
    </c:title>
    <c:autoTitleDeleted val="0"/>
    <c:plotArea>
      <c:layout/>
      <c:barChart>
        <c:barDir val="col"/>
        <c:grouping val="clustered"/>
        <c:varyColors val="0"/>
        <c:ser>
          <c:idx val="0"/>
          <c:order val="0"/>
          <c:tx>
            <c:strRef>
              <c:f>Sheet1!$B$1</c:f>
              <c:strCache>
                <c:ptCount val="1"/>
                <c:pt idx="0">
                  <c:v>Kelebihan beban (jiwa)</c:v>
                </c:pt>
              </c:strCache>
            </c:strRef>
          </c:tx>
          <c:spPr>
            <a:solidFill>
              <a:srgbClr val="14365D"/>
            </a:solidFill>
            <a:effectLst/>
          </c:spPr>
          <c:invertIfNegative val="0"/>
          <c:dLbls>
            <c:numFmt formatCode="#,##0"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cat>
            <c:multiLvlStrRef>
              <c:f>Sheet1!$A$2:$A$4</c:f>
              <c:multiLvlStrCache>
                <c:ptCount val="3"/>
                <c:lvl>
                  <c:pt idx="0">
                    <c:v>Tujuan tercepat</c:v>
                  </c:pt>
                  <c:pt idx="1">
                    <c:v>Zona hijau dahulu, lalu TES terjauh dari pantai</c:v>
                  </c:pt>
                  <c:pt idx="2">
                    <c:v>Aturan Siaga Padang dengan pembagian TES</c:v>
                  </c:pt>
                </c:lvl>
              </c:multiLvlStrCache>
            </c:multiLvlStrRef>
          </c:cat>
          <c:val>
            <c:numRef>
              <c:f>Sheet1!$B$2:$B$4</c:f>
              <c:numCache>
                <c:formatCode>General</c:formatCode>
                <c:ptCount val="3"/>
                <c:pt idx="0">
                  <c:v>58363</c:v>
                </c:pt>
                <c:pt idx="1">
                  <c:v>53470</c:v>
                </c:pt>
                <c:pt idx="2">
                  <c:v>44264</c:v>
                </c:pt>
              </c:numCache>
            </c:numRef>
          </c:val>
        </c:ser>
        <c:dLbls>
          <c:numFmt formatCode="#,##0"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433"/>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DDE2E8"/>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D66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Perkenalkan tim dan judul. Siaga Padang menunjukkan arah evakuasi tsunami dari posisi pengguna, tanpa internet, mengikuti aturan BPBD Kota Padang.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Empat angka ini merangkum presentasi: besarnya ancaman, kecepatan arahan, kemudahan dipahami, dan dampak bagi perencanaan BPBD.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BMKG menyebut segmen Mentawai–Siberut sebagai celah seismik. Magnitudo 8,9 adalah skenario, bukan batas minimum gempa pemicu tsunami.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Peta resmi membantu warga mengenal rencana sebelum kejadian. Siaga Padang melengkapinya dengan arahan yang dimulai dari posisi ponsel.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Pengujian awal di lingkungan Masjid Al Hakim (zona merah). Uji tahap kedua dengan 25 peserta di empat lokasi; pertanyaan pengetahuan diajukan sebelum peserta mencoba aplikasi.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Informasi resmi BMKG diterima saat internet tersedia, tetapi navigasi tidak bergantung padanya.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Keempat aturan diterapkan saat jalur dihitung, bukan saat darurat.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Setiap sistem membantu dengan cara berbeda; Siaga Padang menggabungkan arahan dari posisi, jalur luring, dan aturan evakuasi setempat.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umum: aplikasi navigasi evakuasi tsunami yang memberi arahan luring dari posisi pengguna, sesuai aturan evakuasi setempat, untuk seluruh zona merah Kota Padang.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Kelima keunggulan ini menjadi kerangka seluruh bagian solusi.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Bila posisi belum berada di jalur, garis putus-putus menunjukkan arah ke titik terdekat pada jalur.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F-13 pembagian tujuan menurut daya tampung dibaca dari tb_route_shares; F-14 analisis sebaran tujuan disajikan sebagai bahan BPBD.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Catatan juri dan wawancara BPBD setelah babak penyisihan dipakai untuk memperbaiki aturan evakuasi dan data wilayah.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 5.4–5.5, 6.1, Gambar 5.2. Pemisahan luring dan daring adalah inti rancangan.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167 TES punya angka daya tampung (155.980 jiwa). Koordinat 14 TES memakai OpenStreetMap sambil menunggu konfirmasi BPBD.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tempuh di basis data dihitung pada 1,2 m/s lalu disesuaikan aplikasi ke 0,894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Perkiraan waktu tetap dihitung dari panjang jalur sebenarnya, bukan dari biaya penyesuaian.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Sebaran penduduk dipakai untuk menilai aturan pemilihan tujuan dan membangun porsi daya tampung.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Pemodelan pergerakan kolektif di sini adalah perhitungan pembagian penduduk menurut waktu tempuh dan daya tampung, bukan simulasi pergerakan dari waktu ke waktu.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 5.7.3, Tabel 5.7; M II-D. Kartu arahan menjelaskan alasannya, misalnya "Masih sempat keluar zona merah".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Arahan ke TEA dari zona hijau hanya ditawarkan bila seluruh jalurnya tetap di zona hijau dan tidak memakai hitung mundur.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Bila kondisi lapangan berbeda dari data, petugas dan rambu didahulukan.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Bila memungkinkan, tunjukkan demo langsung dalam mode pesawat.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Pengingat zona memakai geofence 500 m sehingga GPS tidak perlu dibaca terus-menerus.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Rekap lapor selamat menunjukkan jumlah orang yang dilaporkan tiba, bukan jumlah orang yang masih berada di tempat.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Panduan PANDUAN_PEMBARUAN_DATA.md disiapkan untuk petugas yang bukan pemrogram.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Huruf 200%, tampilan terbesar, mode senyap, dan TalkBack juga diperiksa pada ponsel.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kelompok mahasiswa UNP tidak dihitung karena peserta dapat mendengar jawaban sebelumnya.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Yang dinilai adalah besarnya kelebihan beban, bukan hanya jumlah TES yang terlampaui.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Warna dan bentuk penanda membedakan rasio beban sehingga tetap terbaca dalam cetak hitam-putih.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Kecepatan pemrosesan diukur terpisah sebagai indikator kinerja teknis.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Setelah dipasang, aplikasi dapat digunakan tanpa membuat akun.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Batasan disampaikan sebagai ruang lingkup versi saat ini, masing-masing dengan arah pengembangan.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Tutup dengan pesan utama dan buka sesi tanya jawab.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JUDUL">
    <p:bg>
      <p:bgPr>
        <a:solidFill>
          <a:srgbClr val="14365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412480" cy="1737360"/>
          </a:xfrm>
          <a:prstGeom prst="rect">
            <a:avLst/>
          </a:prstGeom>
          <a:noFill/>
          <a:ln/>
        </p:spPr>
        <p:txBody>
          <a:bodyPr wrap="square" rtlCol="0"/>
          <a:lstStyle>
            <a:lvl1pPr algn="l" indent="0" marL="0">
              <a:buNone/>
              <a:defRPr lang="en-US" sz="4400" b="1" dirty="0">
                <a:solidFill>
                  <a:srgbClr val="FFFFFF"/>
                </a:solidFill>
                <a:latin typeface="Arial" pitchFamily="34" charset="0"/>
                <a:ea typeface="Arial" pitchFamily="34" charset="-122"/>
                <a:cs typeface="Arial" pitchFamily="34" charset="-120"/>
              </a:defRPr>
            </a:lvl1pPr>
          </a:lstStyle>
          <a:p>
            <a:pPr algn="l" indent="0" marL="0">
              <a:buNone/>
            </a:pPr>
            <a:endParaRPr lang="en-US" sz="4400" dirty="0"/>
          </a:p>
        </p:txBody>
      </p:sp>
      <p:sp>
        <p:nvSpPr>
          <p:cNvPr id="3" name="Text 0"/>
          <p:cNvSpPr/>
          <p:nvPr>
            <p:ph idx="101" type="body" hasCustomPrompt="1"/>
          </p:nvPr>
        </p:nvSpPr>
        <p:spPr>
          <a:xfrm>
            <a:off x="548640" y="3703320"/>
            <a:ext cx="8412480" cy="91440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KSI">
    <p:bg>
      <p:bgPr>
        <a:solidFill>
          <a:srgbClr val="14365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468880"/>
            <a:ext cx="8412480" cy="1005840"/>
          </a:xfrm>
          <a:prstGeom prst="rect">
            <a:avLst/>
          </a:prstGeom>
          <a:noFill/>
          <a:ln/>
        </p:spPr>
        <p:txBody>
          <a:bodyPr wrap="square" rtlCol="0"/>
          <a:lstStyle>
            <a:lvl1pPr algn="l" indent="0" marL="0">
              <a:buNone/>
              <a:defRPr lang="en-US" sz="4000" b="1" dirty="0">
                <a:solidFill>
                  <a:srgbClr val="FFFFFF"/>
                </a:solidFill>
                <a:latin typeface="Arial" pitchFamily="34" charset="0"/>
                <a:ea typeface="Arial" pitchFamily="34" charset="-122"/>
                <a:cs typeface="Arial" pitchFamily="34" charset="-120"/>
              </a:defRPr>
            </a:lvl1pPr>
          </a:lstStyle>
          <a:p>
            <a:pPr algn="l" indent="0" marL="0">
              <a:buNone/>
            </a:pPr>
            <a:endParaRPr lang="en-US" sz="4000" dirty="0"/>
          </a:p>
        </p:txBody>
      </p:sp>
      <p:sp>
        <p:nvSpPr>
          <p:cNvPr id="3" name="Text 0"/>
          <p:cNvSpPr/>
          <p:nvPr>
            <p:ph idx="101" type="body" hasCustomPrompt="1"/>
          </p:nvPr>
        </p:nvSpPr>
        <p:spPr>
          <a:xfrm>
            <a:off x="548640" y="3566160"/>
            <a:ext cx="8412480" cy="914400"/>
          </a:xfrm>
          <a:prstGeom prst="rect">
            <a:avLst/>
          </a:prstGeom>
          <a:noFill/>
          <a:ln/>
        </p:spPr>
        <p:txBody>
          <a:bodyPr wrap="square" rtlCol="0"/>
          <a:lstStyle>
            <a:lvl1pPr algn="l" indent="0" marL="0">
              <a:buNone/>
              <a:defRPr lang="en-US" sz="1800" dirty="0">
                <a:solidFill>
                  <a:srgbClr val="CADCFC"/>
                </a:solidFill>
                <a:latin typeface="Calibri" pitchFamily="34" charset="0"/>
                <a:ea typeface="Calibri" pitchFamily="34" charset="-122"/>
                <a:cs typeface="Calibri" pitchFamily="34" charset="-120"/>
              </a:defRPr>
            </a:lvl1pPr>
          </a:lstStyle>
          <a:p>
            <a:pPr algn="l" indent="0" marL="0">
              <a:buNone/>
            </a:pPr>
            <a:endParaRPr lang="en-US" sz="18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ONTEN">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3000" b="1" dirty="0">
                <a:solidFill>
                  <a:srgbClr val="14365D"/>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3"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rgbClr val="7C8590"/>
                </a:solidFill>
                <a:latin typeface="Calibri" pitchFamily="34" charset="0"/>
                <a:ea typeface="Calibri" pitchFamily="34" charset="-122"/>
                <a:cs typeface="Calibri" pitchFamily="34" charset="-120"/>
              </a:rPr>
              <a:t>Siaga Padang  ·  GEMASTIK 2026  ·  Universitas Andalas</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ADANGAN">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3000" b="1" dirty="0">
                <a:solidFill>
                  <a:srgbClr val="14365D"/>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3"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rgbClr val="7C8590"/>
                </a:solidFill>
                <a:latin typeface="Calibri" pitchFamily="34" charset="0"/>
                <a:ea typeface="Calibri" pitchFamily="34" charset="-122"/>
                <a:cs typeface="Calibri" pitchFamily="34" charset="-120"/>
              </a:rPr>
              <a:t>Lampiran tanya jawab  ·  Siaga Padang</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4.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4.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4.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slideLayout" Target="../slideLayouts/slideLayout4.xml"/><Relationship Id="rId10"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4.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4.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4.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4.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4.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slideLayout" Target="../slideLayouts/slideLayout4.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4.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slideLayout" Target="../slideLayouts/slideLayout5.xml"/><Relationship Id="rId8"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5.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slideLayout" Target="../slideLayouts/slideLayout5.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slideLayout" Target="../slideLayouts/slideLayout5.xml"/><Relationship Id="rId7"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slideLayout" Target="../slideLayouts/slideLayout5.xml"/><Relationship Id="rId6"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image" Target="../media/image-48-4.png"/><Relationship Id="rId5" Type="http://schemas.openxmlformats.org/officeDocument/2006/relationships/image" Target="../media/image-48-5.png"/><Relationship Id="rId6" Type="http://schemas.openxmlformats.org/officeDocument/2006/relationships/slideLayout" Target="../slideLayouts/slideLayout5.xml"/><Relationship Id="rId7"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image" Target="../media/image-50-5.png"/><Relationship Id="rId6" Type="http://schemas.openxmlformats.org/officeDocument/2006/relationships/image" Target="../media/image-50-6.png"/><Relationship Id="rId7" Type="http://schemas.openxmlformats.org/officeDocument/2006/relationships/slideLayout" Target="../slideLayouts/slideLayout5.xml"/><Relationship Id="rId8"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image" Target="../media/image-52-3.png"/><Relationship Id="rId4" Type="http://schemas.openxmlformats.org/officeDocument/2006/relationships/image" Target="../media/image-52-4.png"/><Relationship Id="rId5" Type="http://schemas.openxmlformats.org/officeDocument/2006/relationships/image" Target="../media/image-52-5.png"/><Relationship Id="rId6" Type="http://schemas.openxmlformats.org/officeDocument/2006/relationships/slideLayout" Target="../slideLayouts/slideLayout5.xml"/><Relationship Id="rId7"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image" Target="../media/image-54-4.png"/><Relationship Id="rId5" Type="http://schemas.openxmlformats.org/officeDocument/2006/relationships/image" Target="../media/image-54-5.png"/><Relationship Id="rId6" Type="http://schemas.openxmlformats.org/officeDocument/2006/relationships/slideLayout" Target="../slideLayouts/slideLayout5.xml"/><Relationship Id="rId7"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image" Target="../media/image-58-3.png"/><Relationship Id="rId4" Type="http://schemas.openxmlformats.org/officeDocument/2006/relationships/image" Target="../media/image-58-4.png"/><Relationship Id="rId5" Type="http://schemas.openxmlformats.org/officeDocument/2006/relationships/image" Target="../media/image-58-5.png"/><Relationship Id="rId6" Type="http://schemas.openxmlformats.org/officeDocument/2006/relationships/slideLayout" Target="../slideLayouts/slideLayout5.xml"/><Relationship Id="rId7"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412480" cy="1737360"/>
          </a:xfrm>
          <a:prstGeom prst="rect">
            <a:avLst/>
          </a:prstGeom>
          <a:noFill/>
          <a:ln/>
        </p:spPr>
        <p:txBody>
          <a:bodyPr wrap="square" lIns="0" tIns="0" rIns="0" bIns="0" rtlCol="0" anchor="b"/>
          <a:lstStyle/>
          <a:p>
            <a:pPr algn="l" indent="0" marL="0">
              <a:buNone/>
            </a:pPr>
            <a:r>
              <a:rPr lang="en-US" sz="4400" b="1" dirty="0">
                <a:solidFill>
                  <a:srgbClr val="FFFFFF"/>
                </a:solidFill>
                <a:latin typeface="Arial" pitchFamily="34" charset="0"/>
                <a:ea typeface="Arial" pitchFamily="34" charset="-122"/>
                <a:cs typeface="Arial" pitchFamily="34" charset="-120"/>
              </a:rPr>
              <a:t>Siaga Padang</a:t>
            </a:r>
            <a:endParaRPr lang="en-US" sz="4400" dirty="0"/>
          </a:p>
        </p:txBody>
      </p:sp>
      <p:sp>
        <p:nvSpPr>
          <p:cNvPr id="3" name="Text 0"/>
          <p:cNvSpPr/>
          <p:nvPr>
            <p:ph idx="101" type="body" hasCustomPrompt="1"/>
          </p:nvPr>
        </p:nvSpPr>
        <p:spPr>
          <a:xfrm>
            <a:off x="548640" y="3703320"/>
            <a:ext cx="8412480" cy="91440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Navigasi evakuasi tsunami luring berbasis pemodelan pergerakan kolektif</a:t>
            </a:r>
            <a:endParaRPr lang="en-US" sz="2000" dirty="0"/>
          </a:p>
        </p:txBody>
      </p:sp>
      <p:sp>
        <p:nvSpPr>
          <p:cNvPr id="4" name="simbol evakuasi lingkaran"/>
          <p:cNvSpPr/>
          <p:nvPr/>
        </p:nvSpPr>
        <p:spPr>
          <a:xfrm>
            <a:off x="9509760" y="1920240"/>
            <a:ext cx="2011680" cy="2011680"/>
          </a:xfrm>
          <a:prstGeom prst="ellipse">
            <a:avLst/>
          </a:prstGeom>
          <a:solidFill>
            <a:srgbClr val="F5B700"/>
          </a:solidFill>
          <a:ln w="12700">
            <a:solidFill>
              <a:srgbClr val="F5B700"/>
            </a:solidFill>
            <a:prstDash val="solid"/>
          </a:ln>
        </p:spPr>
      </p:sp>
      <p:pic>
        <p:nvPicPr>
          <p:cNvPr id="5" name="simbol evakuasi ikon" descr="preencoded.png">    </p:cNvPr>
          <p:cNvPicPr>
            <a:picLocks noChangeAspect="1"/>
          </p:cNvPicPr>
          <p:nvPr/>
        </p:nvPicPr>
        <p:blipFill>
          <a:blip r:embed="rId1"/>
          <a:stretch>
            <a:fillRect/>
          </a:stretch>
        </p:blipFill>
        <p:spPr>
          <a:xfrm>
            <a:off x="10012680" y="2423160"/>
            <a:ext cx="1005840" cy="1005840"/>
          </a:xfrm>
          <a:prstGeom prst="rect">
            <a:avLst/>
          </a:prstGeom>
        </p:spPr>
      </p:pic>
      <p:sp>
        <p:nvSpPr>
          <p:cNvPr id="6" name="tim"/>
          <p:cNvSpPr txBox="1"/>
          <p:nvPr/>
        </p:nvSpPr>
        <p:spPr>
          <a:xfrm>
            <a:off x="548640" y="5029200"/>
            <a:ext cx="8686800" cy="1005840"/>
          </a:xfrm>
          <a:prstGeom prst="rect">
            <a:avLst/>
          </a:prstGeom>
          <a:noFill/>
          <a:ln/>
        </p:spPr>
        <p:txBody>
          <a:bodyPr wrap="square" lIns="0" tIns="0" rIns="0" bIns="0" rtlCol="0" anchor="t"/>
          <a:lstStyle/>
          <a:p>
            <a:pPr indent="0" marL="0">
              <a:spcAft>
                <a:spcPts val="400"/>
              </a:spcAft>
              <a:buNone/>
            </a:pPr>
            <a:r>
              <a:rPr lang="en-US" sz="1500" dirty="0">
                <a:solidFill>
                  <a:srgbClr val="FFFFFF"/>
                </a:solidFill>
                <a:latin typeface="Calibri" pitchFamily="34" charset="0"/>
                <a:ea typeface="Calibri" pitchFamily="34" charset="-122"/>
                <a:cs typeface="Calibri" pitchFamily="34" charset="-120"/>
              </a:rPr>
              <a:t>Mikail Samyth Habibillah (ketua) · Muhammad Habib · Sheva Ramadhan</a:t>
            </a:r>
            <a:endParaRPr lang="en-US" sz="1500" dirty="0"/>
          </a:p>
          <a:p>
            <a:pPr indent="0" marL="0">
              <a:spcAft>
                <a:spcPts val="400"/>
              </a:spcAft>
              <a:buNone/>
            </a:pPr>
            <a:r>
              <a:rPr lang="en-US" sz="1500" dirty="0">
                <a:solidFill>
                  <a:srgbClr val="FFFFFF"/>
                </a:solidFill>
                <a:latin typeface="Calibri" pitchFamily="34" charset="0"/>
                <a:ea typeface="Calibri" pitchFamily="34" charset="-122"/>
                <a:cs typeface="Calibri" pitchFamily="34" charset="-120"/>
              </a:rPr>
              <a:t>Pembimbing: Nisa Dwi Angresti</a:t>
            </a:r>
            <a:endParaRPr lang="en-US" sz="1500" dirty="0"/>
          </a:p>
          <a:p>
            <a:pPr indent="0" marL="0">
              <a:spcAft>
                <a:spcPts val="400"/>
              </a:spcAft>
              <a:buNone/>
            </a:pPr>
            <a:r>
              <a:rPr lang="en-US" sz="1500" dirty="0">
                <a:solidFill>
                  <a:srgbClr val="FFFFFF"/>
                </a:solidFill>
                <a:latin typeface="Calibri" pitchFamily="34" charset="0"/>
                <a:ea typeface="Calibri" pitchFamily="34" charset="-122"/>
                <a:cs typeface="Calibri" pitchFamily="34" charset="-120"/>
              </a:rPr>
              <a:t>Fakultas Teknologi Informasi, Universitas Andalas · GEMASTIK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Arahan evakuasi dalam satu detik, tanpa sinyal</a:t>
            </a:r>
            <a:endParaRPr lang="en-US" sz="3000" dirty="0"/>
          </a:p>
        </p:txBody>
      </p:sp>
      <p:sp>
        <p:nvSpPr>
          <p:cNvPr id="3" name="pesan utama"/>
          <p:cNvSpPr txBox="1"/>
          <p:nvPr/>
        </p:nvSpPr>
        <p:spPr>
          <a:xfrm>
            <a:off x="548640" y="1188720"/>
            <a:ext cx="11094415" cy="548640"/>
          </a:xfrm>
          <a:prstGeom prst="rect">
            <a:avLst/>
          </a:prstGeom>
          <a:noFill/>
          <a:ln/>
        </p:spPr>
        <p:txBody>
          <a:bodyPr wrap="square" lIns="0" tIns="0" rIns="0" bIns="0" rtlCol="0" anchor="t"/>
          <a:lstStyle/>
          <a:p>
            <a:pPr indent="0" marL="0">
              <a:buNone/>
            </a:pPr>
            <a:r>
              <a:rPr lang="en-US" sz="1700" dirty="0">
                <a:solidFill>
                  <a:srgbClr val="5D6670"/>
                </a:solidFill>
                <a:latin typeface="Calibri" pitchFamily="34" charset="0"/>
                <a:ea typeface="Calibri" pitchFamily="34" charset="-122"/>
                <a:cs typeface="Calibri" pitchFamily="34" charset="-120"/>
              </a:rPr>
              <a:t>Siaga Padang membaca jalur evakuasi yang dihitung sebelum kejadian, sehingga arah tetap tersedia saat jaringan terputus.</a:t>
            </a:r>
            <a:endParaRPr lang="en-US" sz="1700" dirty="0"/>
          </a:p>
        </p:txBody>
      </p:sp>
      <p:sp>
        <p:nvSpPr>
          <p:cNvPr id="4" name="kartu ringkasan 1"/>
          <p:cNvSpPr/>
          <p:nvPr/>
        </p:nvSpPr>
        <p:spPr>
          <a:xfrm>
            <a:off x="548640" y="2057400"/>
            <a:ext cx="2606040" cy="2514600"/>
          </a:xfrm>
          <a:prstGeom prst="roundRect">
            <a:avLst>
              <a:gd name="adj" fmla="val 2909"/>
            </a:avLst>
          </a:prstGeom>
          <a:solidFill>
            <a:srgbClr val="EEF2F7"/>
          </a:solidFill>
          <a:ln w="12700">
            <a:solidFill>
              <a:srgbClr val="EEF2F7"/>
            </a:solidFill>
            <a:prstDash val="solid"/>
          </a:ln>
        </p:spPr>
      </p:sp>
      <p:sp>
        <p:nvSpPr>
          <p:cNvPr id="5" name="ringkasan 1 angka"/>
          <p:cNvSpPr txBox="1"/>
          <p:nvPr/>
        </p:nvSpPr>
        <p:spPr>
          <a:xfrm>
            <a:off x="777240" y="2377440"/>
            <a:ext cx="2194560" cy="539750"/>
          </a:xfrm>
          <a:prstGeom prst="rect">
            <a:avLst/>
          </a:prstGeom>
          <a:noFill/>
          <a:ln/>
        </p:spPr>
        <p:txBody>
          <a:bodyPr wrap="square" lIns="0" tIns="0" rIns="0" bIns="0" rtlCol="0" anchor="b"/>
          <a:lstStyle/>
          <a:p>
            <a:pPr indent="0" marL="0">
              <a:buNone/>
            </a:pPr>
            <a:r>
              <a:rPr lang="en-US" sz="3400" b="1" dirty="0">
                <a:solidFill>
                  <a:srgbClr val="D9472F"/>
                </a:solidFill>
                <a:latin typeface="Arial" pitchFamily="34" charset="0"/>
                <a:ea typeface="Arial" pitchFamily="34" charset="-122"/>
                <a:cs typeface="Arial" pitchFamily="34" charset="-120"/>
              </a:rPr>
              <a:t>242.750</a:t>
            </a:r>
            <a:endParaRPr lang="en-US" sz="3400" dirty="0"/>
          </a:p>
        </p:txBody>
      </p:sp>
      <p:sp>
        <p:nvSpPr>
          <p:cNvPr id="6" name="ringkasan 1 label"/>
          <p:cNvSpPr txBox="1"/>
          <p:nvPr/>
        </p:nvSpPr>
        <p:spPr>
          <a:xfrm>
            <a:off x="777240" y="2990342"/>
            <a:ext cx="219456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jiwa terpapar ancaman tsunami di 55 kelurahan (KRB 2023–2027)</a:t>
            </a:r>
            <a:endParaRPr lang="en-US" sz="1400" dirty="0"/>
          </a:p>
        </p:txBody>
      </p:sp>
      <p:sp>
        <p:nvSpPr>
          <p:cNvPr id="7" name="kartu ringkasan 2"/>
          <p:cNvSpPr/>
          <p:nvPr/>
        </p:nvSpPr>
        <p:spPr>
          <a:xfrm>
            <a:off x="3355848" y="2057400"/>
            <a:ext cx="2606040" cy="2514600"/>
          </a:xfrm>
          <a:prstGeom prst="roundRect">
            <a:avLst>
              <a:gd name="adj" fmla="val 2909"/>
            </a:avLst>
          </a:prstGeom>
          <a:solidFill>
            <a:srgbClr val="EEF2F7"/>
          </a:solidFill>
          <a:ln w="12700">
            <a:solidFill>
              <a:srgbClr val="EEF2F7"/>
            </a:solidFill>
            <a:prstDash val="solid"/>
          </a:ln>
        </p:spPr>
      </p:sp>
      <p:sp>
        <p:nvSpPr>
          <p:cNvPr id="8" name="ringkasan 2 angka"/>
          <p:cNvSpPr txBox="1"/>
          <p:nvPr/>
        </p:nvSpPr>
        <p:spPr>
          <a:xfrm>
            <a:off x="3584448" y="2377440"/>
            <a:ext cx="2194560" cy="539750"/>
          </a:xfrm>
          <a:prstGeom prst="rect">
            <a:avLst/>
          </a:prstGeom>
          <a:noFill/>
          <a:ln/>
        </p:spPr>
        <p:txBody>
          <a:bodyPr wrap="square" lIns="0" tIns="0" rIns="0" bIns="0" rtlCol="0" anchor="b"/>
          <a:lstStyle/>
          <a:p>
            <a:pPr indent="0" marL="0">
              <a:buNone/>
            </a:pPr>
            <a:r>
              <a:rPr lang="en-US" sz="3400" b="1" dirty="0">
                <a:solidFill>
                  <a:srgbClr val="14365D"/>
                </a:solidFill>
                <a:latin typeface="Arial" pitchFamily="34" charset="0"/>
                <a:ea typeface="Arial" pitchFamily="34" charset="-122"/>
                <a:cs typeface="Arial" pitchFamily="34" charset="-120"/>
              </a:rPr>
              <a:t>&lt; 1 detik</a:t>
            </a:r>
            <a:endParaRPr lang="en-US" sz="3400" dirty="0"/>
          </a:p>
        </p:txBody>
      </p:sp>
      <p:sp>
        <p:nvSpPr>
          <p:cNvPr id="9" name="ringkasan 2 label"/>
          <p:cNvSpPr txBox="1"/>
          <p:nvPr/>
        </p:nvSpPr>
        <p:spPr>
          <a:xfrm>
            <a:off x="3584448" y="2990342"/>
            <a:ext cx="219456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arahan siap pada tujuh ponsel uji, termasuk mode pesawat</a:t>
            </a:r>
            <a:endParaRPr lang="en-US" sz="1400" dirty="0"/>
          </a:p>
        </p:txBody>
      </p:sp>
      <p:sp>
        <p:nvSpPr>
          <p:cNvPr id="10" name="kartu ringkasan 3"/>
          <p:cNvSpPr/>
          <p:nvPr/>
        </p:nvSpPr>
        <p:spPr>
          <a:xfrm>
            <a:off x="6163056" y="2057400"/>
            <a:ext cx="2606040" cy="2514600"/>
          </a:xfrm>
          <a:prstGeom prst="roundRect">
            <a:avLst>
              <a:gd name="adj" fmla="val 2909"/>
            </a:avLst>
          </a:prstGeom>
          <a:solidFill>
            <a:srgbClr val="EEF2F7"/>
          </a:solidFill>
          <a:ln w="12700">
            <a:solidFill>
              <a:srgbClr val="EEF2F7"/>
            </a:solidFill>
            <a:prstDash val="solid"/>
          </a:ln>
        </p:spPr>
      </p:sp>
      <p:sp>
        <p:nvSpPr>
          <p:cNvPr id="11" name="ringkasan 3 angka"/>
          <p:cNvSpPr txBox="1"/>
          <p:nvPr/>
        </p:nvSpPr>
        <p:spPr>
          <a:xfrm>
            <a:off x="6391656" y="2377440"/>
            <a:ext cx="2194560" cy="539750"/>
          </a:xfrm>
          <a:prstGeom prst="rect">
            <a:avLst/>
          </a:prstGeom>
          <a:noFill/>
          <a:ln/>
        </p:spPr>
        <p:txBody>
          <a:bodyPr wrap="square" lIns="0" tIns="0" rIns="0" bIns="0" rtlCol="0" anchor="b"/>
          <a:lstStyle/>
          <a:p>
            <a:pPr indent="0" marL="0">
              <a:buNone/>
            </a:pPr>
            <a:r>
              <a:rPr lang="en-US" sz="3400" b="1" dirty="0">
                <a:solidFill>
                  <a:srgbClr val="2E8B57"/>
                </a:solidFill>
                <a:latin typeface="Arial" pitchFamily="34" charset="0"/>
                <a:ea typeface="Arial" pitchFamily="34" charset="-122"/>
                <a:cs typeface="Arial" pitchFamily="34" charset="-120"/>
              </a:rPr>
              <a:t>25 / 25</a:t>
            </a:r>
            <a:endParaRPr lang="en-US" sz="3400" dirty="0"/>
          </a:p>
        </p:txBody>
      </p:sp>
      <p:sp>
        <p:nvSpPr>
          <p:cNvPr id="12" name="ringkasan 3 label"/>
          <p:cNvSpPr txBox="1"/>
          <p:nvPr/>
        </p:nvSpPr>
        <p:spPr>
          <a:xfrm>
            <a:off x="6391656" y="2990342"/>
            <a:ext cx="219456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peserta uji menunjuk arah evakuasi dengan benar memakai aplikasi</a:t>
            </a:r>
            <a:endParaRPr lang="en-US" sz="1400" dirty="0"/>
          </a:p>
        </p:txBody>
      </p:sp>
      <p:sp>
        <p:nvSpPr>
          <p:cNvPr id="13" name="kartu ringkasan 4"/>
          <p:cNvSpPr/>
          <p:nvPr/>
        </p:nvSpPr>
        <p:spPr>
          <a:xfrm>
            <a:off x="8970264" y="2057400"/>
            <a:ext cx="2606040" cy="2514600"/>
          </a:xfrm>
          <a:prstGeom prst="roundRect">
            <a:avLst>
              <a:gd name="adj" fmla="val 2909"/>
            </a:avLst>
          </a:prstGeom>
          <a:solidFill>
            <a:srgbClr val="EEF2F7"/>
          </a:solidFill>
          <a:ln w="12700">
            <a:solidFill>
              <a:srgbClr val="EEF2F7"/>
            </a:solidFill>
            <a:prstDash val="solid"/>
          </a:ln>
        </p:spPr>
      </p:sp>
      <p:sp>
        <p:nvSpPr>
          <p:cNvPr id="14" name="ringkasan 4 angka"/>
          <p:cNvSpPr txBox="1"/>
          <p:nvPr/>
        </p:nvSpPr>
        <p:spPr>
          <a:xfrm>
            <a:off x="9198864" y="2377440"/>
            <a:ext cx="2194560" cy="539750"/>
          </a:xfrm>
          <a:prstGeom prst="rect">
            <a:avLst/>
          </a:prstGeom>
          <a:noFill/>
          <a:ln/>
        </p:spPr>
        <p:txBody>
          <a:bodyPr wrap="square" lIns="0" tIns="0" rIns="0" bIns="0" rtlCol="0" anchor="b"/>
          <a:lstStyle/>
          <a:p>
            <a:pPr indent="0" marL="0">
              <a:buNone/>
            </a:pPr>
            <a:r>
              <a:rPr lang="en-US" sz="3400" b="1" dirty="0">
                <a:solidFill>
                  <a:srgbClr val="2F7F9C"/>
                </a:solidFill>
                <a:latin typeface="Arial" pitchFamily="34" charset="0"/>
                <a:ea typeface="Arial" pitchFamily="34" charset="-122"/>
                <a:cs typeface="Arial" pitchFamily="34" charset="-120"/>
              </a:rPr>
              <a:t>78,7%</a:t>
            </a:r>
            <a:endParaRPr lang="en-US" sz="3400" dirty="0"/>
          </a:p>
        </p:txBody>
      </p:sp>
      <p:sp>
        <p:nvSpPr>
          <p:cNvPr id="15" name="ringkasan 4 label"/>
          <p:cNvSpPr txBox="1"/>
          <p:nvPr/>
        </p:nvSpPr>
        <p:spPr>
          <a:xfrm>
            <a:off x="9198864" y="2990342"/>
            <a:ext cx="219456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penduduk zona merah dapat mencapai tujuan dalam 20 menit</a:t>
            </a:r>
            <a:endParaRPr lang="en-US" sz="1400" dirty="0"/>
          </a:p>
        </p:txBody>
      </p:sp>
      <p:sp>
        <p:nvSpPr>
          <p:cNvPr id="16"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Sumber: laporan akhir dan makalah Siaga Padang (data versi 2026.10.18).</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Tsunami dapat tiba kurang dari 30 menit setelah gempa</a:t>
            </a:r>
            <a:endParaRPr lang="en-US" sz="3000" dirty="0"/>
          </a:p>
        </p:txBody>
      </p:sp>
      <p:sp>
        <p:nvSpPr>
          <p:cNvPr id="3" name="ancaman 1 angka"/>
          <p:cNvSpPr txBox="1"/>
          <p:nvPr/>
        </p:nvSpPr>
        <p:spPr>
          <a:xfrm>
            <a:off x="548640" y="1280160"/>
            <a:ext cx="4023360" cy="444500"/>
          </a:xfrm>
          <a:prstGeom prst="rect">
            <a:avLst/>
          </a:prstGeom>
          <a:noFill/>
          <a:ln/>
        </p:spPr>
        <p:txBody>
          <a:bodyPr wrap="square" lIns="0" tIns="0" rIns="0" bIns="0" rtlCol="0" anchor="b"/>
          <a:lstStyle/>
          <a:p>
            <a:pPr indent="0" marL="0">
              <a:buNone/>
            </a:pPr>
            <a:r>
              <a:rPr lang="en-US" sz="2800" b="1" dirty="0">
                <a:solidFill>
                  <a:srgbClr val="D9472F"/>
                </a:solidFill>
                <a:latin typeface="Arial" pitchFamily="34" charset="0"/>
                <a:ea typeface="Arial" pitchFamily="34" charset="-122"/>
                <a:cs typeface="Arial" pitchFamily="34" charset="-120"/>
              </a:rPr>
              <a:t>M 8,9</a:t>
            </a:r>
            <a:endParaRPr lang="en-US" sz="2800" dirty="0"/>
          </a:p>
        </p:txBody>
      </p:sp>
      <p:sp>
        <p:nvSpPr>
          <p:cNvPr id="4" name="ancaman 1 label"/>
          <p:cNvSpPr txBox="1"/>
          <p:nvPr/>
        </p:nvSpPr>
        <p:spPr>
          <a:xfrm>
            <a:off x="548640" y="1797812"/>
            <a:ext cx="402336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skenario gempa megathrust Mentawai–Siberut (BMKG)</a:t>
            </a:r>
            <a:endParaRPr lang="en-US" sz="1400" dirty="0"/>
          </a:p>
        </p:txBody>
      </p:sp>
      <p:sp>
        <p:nvSpPr>
          <p:cNvPr id="5" name="ancaman 2 angka"/>
          <p:cNvSpPr txBox="1"/>
          <p:nvPr/>
        </p:nvSpPr>
        <p:spPr>
          <a:xfrm>
            <a:off x="548640" y="2395728"/>
            <a:ext cx="4023360" cy="444500"/>
          </a:xfrm>
          <a:prstGeom prst="rect">
            <a:avLst/>
          </a:prstGeom>
          <a:noFill/>
          <a:ln/>
        </p:spPr>
        <p:txBody>
          <a:bodyPr wrap="square" lIns="0" tIns="0" rIns="0" bIns="0" rtlCol="0" anchor="b"/>
          <a:lstStyle/>
          <a:p>
            <a:pPr indent="0" marL="0">
              <a:buNone/>
            </a:pPr>
            <a:r>
              <a:rPr lang="en-US" sz="2800" b="1" dirty="0">
                <a:solidFill>
                  <a:srgbClr val="D9472F"/>
                </a:solidFill>
                <a:latin typeface="Arial" pitchFamily="34" charset="0"/>
                <a:ea typeface="Arial" pitchFamily="34" charset="-122"/>
                <a:cs typeface="Arial" pitchFamily="34" charset="-120"/>
              </a:rPr>
              <a:t>&gt; 10 m</a:t>
            </a:r>
            <a:endParaRPr lang="en-US" sz="2800" dirty="0"/>
          </a:p>
        </p:txBody>
      </p:sp>
      <p:sp>
        <p:nvSpPr>
          <p:cNvPr id="6" name="ancaman 2 label"/>
          <p:cNvSpPr txBox="1"/>
          <p:nvPr/>
        </p:nvSpPr>
        <p:spPr>
          <a:xfrm>
            <a:off x="548640" y="2913380"/>
            <a:ext cx="402336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perkiraan tinggi tsunami di pesisir Kota Padang</a:t>
            </a:r>
            <a:endParaRPr lang="en-US" sz="1400" dirty="0"/>
          </a:p>
        </p:txBody>
      </p:sp>
      <p:sp>
        <p:nvSpPr>
          <p:cNvPr id="7" name="ancaman 3 angka"/>
          <p:cNvSpPr txBox="1"/>
          <p:nvPr/>
        </p:nvSpPr>
        <p:spPr>
          <a:xfrm>
            <a:off x="548640" y="3511296"/>
            <a:ext cx="4023360" cy="444500"/>
          </a:xfrm>
          <a:prstGeom prst="rect">
            <a:avLst/>
          </a:prstGeom>
          <a:noFill/>
          <a:ln/>
        </p:spPr>
        <p:txBody>
          <a:bodyPr wrap="square" lIns="0" tIns="0" rIns="0" bIns="0" rtlCol="0" anchor="b"/>
          <a:lstStyle/>
          <a:p>
            <a:pPr indent="0" marL="0">
              <a:buNone/>
            </a:pPr>
            <a:r>
              <a:rPr lang="en-US" sz="2800" b="1" dirty="0">
                <a:solidFill>
                  <a:srgbClr val="14365D"/>
                </a:solidFill>
                <a:latin typeface="Arial" pitchFamily="34" charset="0"/>
                <a:ea typeface="Arial" pitchFamily="34" charset="-122"/>
                <a:cs typeface="Arial" pitchFamily="34" charset="-120"/>
              </a:rPr>
              <a:t>8 kec · 55 kel</a:t>
            </a:r>
            <a:endParaRPr lang="en-US" sz="2800" dirty="0"/>
          </a:p>
        </p:txBody>
      </p:sp>
      <p:sp>
        <p:nvSpPr>
          <p:cNvPr id="8" name="ancaman 3 label"/>
          <p:cNvSpPr txBox="1"/>
          <p:nvPr/>
        </p:nvSpPr>
        <p:spPr>
          <a:xfrm>
            <a:off x="548640" y="4028948"/>
            <a:ext cx="402336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wilayah terancam, 242.750 jiwa terpapar (KRB)</a:t>
            </a:r>
            <a:endParaRPr lang="en-US" sz="1400" dirty="0"/>
          </a:p>
        </p:txBody>
      </p:sp>
      <p:sp>
        <p:nvSpPr>
          <p:cNvPr id="9" name="ancaman 4 angka"/>
          <p:cNvSpPr txBox="1"/>
          <p:nvPr/>
        </p:nvSpPr>
        <p:spPr>
          <a:xfrm>
            <a:off x="548640" y="4626864"/>
            <a:ext cx="4023360" cy="444500"/>
          </a:xfrm>
          <a:prstGeom prst="rect">
            <a:avLst/>
          </a:prstGeom>
          <a:noFill/>
          <a:ln/>
        </p:spPr>
        <p:txBody>
          <a:bodyPr wrap="square" lIns="0" tIns="0" rIns="0" bIns="0" rtlCol="0" anchor="b"/>
          <a:lstStyle/>
          <a:p>
            <a:pPr indent="0" marL="0">
              <a:buNone/>
            </a:pPr>
            <a:r>
              <a:rPr lang="en-US" sz="2800" b="1" dirty="0">
                <a:solidFill>
                  <a:srgbClr val="14365D"/>
                </a:solidFill>
                <a:latin typeface="Arial" pitchFamily="34" charset="0"/>
                <a:ea typeface="Arial" pitchFamily="34" charset="-122"/>
                <a:cs typeface="Arial" pitchFamily="34" charset="-120"/>
              </a:rPr>
              <a:t>77.014</a:t>
            </a:r>
            <a:endParaRPr lang="en-US" sz="2800" dirty="0"/>
          </a:p>
        </p:txBody>
      </p:sp>
      <p:sp>
        <p:nvSpPr>
          <p:cNvPr id="10" name="ancaman 4 label"/>
          <p:cNvSpPr txBox="1"/>
          <p:nvPr/>
        </p:nvSpPr>
        <p:spPr>
          <a:xfrm>
            <a:off x="548640" y="5144516"/>
            <a:ext cx="402336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jiwa kelompok umur rentan dan 637 penyandang disabilitas</a:t>
            </a:r>
            <a:endParaRPr lang="en-US" sz="1400" dirty="0"/>
          </a:p>
        </p:txBody>
      </p:sp>
      <p:pic>
        <p:nvPicPr>
          <p:cNvPr id="11" name="peta zona dan penduduk" descr="C:\Users\Lenovo\AppData\Local\Temp\claude\c--gemastik\520da942-8140-47c0-a16f-9bde4b92cbe5\scratchpad\deck\aset\zona.png">    </p:cNvPr>
          <p:cNvPicPr>
            <a:picLocks noChangeAspect="1"/>
          </p:cNvPicPr>
          <p:nvPr/>
        </p:nvPicPr>
        <p:blipFill>
          <a:blip r:embed="rId1"/>
          <a:stretch>
            <a:fillRect/>
          </a:stretch>
        </p:blipFill>
        <p:spPr>
          <a:xfrm>
            <a:off x="4800600" y="1307592"/>
            <a:ext cx="6858000" cy="3785616"/>
          </a:xfrm>
          <a:prstGeom prst="rect">
            <a:avLst/>
          </a:prstGeom>
        </p:spPr>
      </p:pic>
      <p:sp>
        <p:nvSpPr>
          <p:cNvPr id="12" name="keterangan peta"/>
          <p:cNvSpPr txBox="1"/>
          <p:nvPr/>
        </p:nvSpPr>
        <p:spPr>
          <a:xfrm>
            <a:off x="4800600" y="5257800"/>
            <a:ext cx="685800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Zona merah membentang di sepanjang pesisir, dan kegiatan harian membuat warga sering berada jauh dari rumahnya saat gempa.</a:t>
            </a:r>
            <a:endParaRPr lang="en-US" sz="1400" dirty="0"/>
          </a:p>
        </p:txBody>
      </p:sp>
      <p:sp>
        <p:nvSpPr>
          <p:cNvPr id="13"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Sumber: BMKG; Kajian Risiko Bencana Kota Padang 2023–2027; peta evakuasi BPBD; OpenStreetMap (L 1.1, Gambar 1.1).</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Rencana evakuasi sudah ada, tetapi menuntut orientasi</a:t>
            </a:r>
            <a:endParaRPr lang="en-US" sz="3000" dirty="0"/>
          </a:p>
        </p:txBody>
      </p:sp>
      <p:sp>
        <p:nvSpPr>
          <p:cNvPr id="3" name="rencana 1 lingkaran"/>
          <p:cNvSpPr/>
          <p:nvPr/>
        </p:nvSpPr>
        <p:spPr>
          <a:xfrm>
            <a:off x="548640" y="1280160"/>
            <a:ext cx="731520" cy="731520"/>
          </a:xfrm>
          <a:prstGeom prst="ellipse">
            <a:avLst/>
          </a:prstGeom>
          <a:solidFill>
            <a:srgbClr val="14365D"/>
          </a:solidFill>
          <a:ln w="12700">
            <a:solidFill>
              <a:srgbClr val="14365D"/>
            </a:solidFill>
            <a:prstDash val="solid"/>
          </a:ln>
        </p:spPr>
      </p:sp>
      <p:pic>
        <p:nvPicPr>
          <p:cNvPr id="4" name="rencana 1 ikon" descr="preencoded.png">    </p:cNvPr>
          <p:cNvPicPr>
            <a:picLocks noChangeAspect="1"/>
          </p:cNvPicPr>
          <p:nvPr/>
        </p:nvPicPr>
        <p:blipFill>
          <a:blip r:embed="rId1"/>
          <a:stretch>
            <a:fillRect/>
          </a:stretch>
        </p:blipFill>
        <p:spPr>
          <a:xfrm>
            <a:off x="731520" y="1463040"/>
            <a:ext cx="365760" cy="365760"/>
          </a:xfrm>
          <a:prstGeom prst="rect">
            <a:avLst/>
          </a:prstGeom>
        </p:spPr>
      </p:pic>
      <p:sp>
        <p:nvSpPr>
          <p:cNvPr id="5" name="rencana judul 1"/>
          <p:cNvSpPr txBox="1"/>
          <p:nvPr/>
        </p:nvSpPr>
        <p:spPr>
          <a:xfrm>
            <a:off x="1508760" y="1280160"/>
            <a:ext cx="5715000" cy="384048"/>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TES dan TEA resmi</a:t>
            </a:r>
            <a:endParaRPr lang="en-US" sz="1700" dirty="0"/>
          </a:p>
        </p:txBody>
      </p:sp>
      <p:sp>
        <p:nvSpPr>
          <p:cNvPr id="6" name="rencana isi 1"/>
          <p:cNvSpPr txBox="1"/>
          <p:nvPr/>
        </p:nvSpPr>
        <p:spPr>
          <a:xfrm>
            <a:off x="1508760" y="1673352"/>
            <a:ext cx="5715000" cy="6858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TES: bangunan atau dataran tinggi untuk berlindung sementara. TEA: tujuan akhir di luar wilayah bahaya.</a:t>
            </a:r>
            <a:endParaRPr lang="en-US" sz="1400" dirty="0"/>
          </a:p>
        </p:txBody>
      </p:sp>
      <p:sp>
        <p:nvSpPr>
          <p:cNvPr id="7" name="rencana 2 lingkaran"/>
          <p:cNvSpPr/>
          <p:nvPr/>
        </p:nvSpPr>
        <p:spPr>
          <a:xfrm>
            <a:off x="548640" y="2423160"/>
            <a:ext cx="731520" cy="731520"/>
          </a:xfrm>
          <a:prstGeom prst="ellipse">
            <a:avLst/>
          </a:prstGeom>
          <a:solidFill>
            <a:srgbClr val="14365D"/>
          </a:solidFill>
          <a:ln w="12700">
            <a:solidFill>
              <a:srgbClr val="14365D"/>
            </a:solidFill>
            <a:prstDash val="solid"/>
          </a:ln>
        </p:spPr>
      </p:sp>
      <p:pic>
        <p:nvPicPr>
          <p:cNvPr id="8" name="rencana 2 ikon" descr="preencoded.png">    </p:cNvPr>
          <p:cNvPicPr>
            <a:picLocks noChangeAspect="1"/>
          </p:cNvPicPr>
          <p:nvPr/>
        </p:nvPicPr>
        <p:blipFill>
          <a:blip r:embed="rId2"/>
          <a:stretch>
            <a:fillRect/>
          </a:stretch>
        </p:blipFill>
        <p:spPr>
          <a:xfrm>
            <a:off x="731520" y="2606040"/>
            <a:ext cx="365760" cy="365760"/>
          </a:xfrm>
          <a:prstGeom prst="rect">
            <a:avLst/>
          </a:prstGeom>
        </p:spPr>
      </p:pic>
      <p:sp>
        <p:nvSpPr>
          <p:cNvPr id="9" name="rencana judul 2"/>
          <p:cNvSpPr txBox="1"/>
          <p:nvPr/>
        </p:nvSpPr>
        <p:spPr>
          <a:xfrm>
            <a:off x="1508760" y="2423160"/>
            <a:ext cx="5715000" cy="384048"/>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Garis biru, sirene, simulasi</a:t>
            </a:r>
            <a:endParaRPr lang="en-US" sz="1700" dirty="0"/>
          </a:p>
        </p:txBody>
      </p:sp>
      <p:sp>
        <p:nvSpPr>
          <p:cNvPr id="10" name="rencana isi 2"/>
          <p:cNvSpPr txBox="1"/>
          <p:nvPr/>
        </p:nvSpPr>
        <p:spPr>
          <a:xfrm>
            <a:off x="1508760" y="2816352"/>
            <a:ext cx="5715000" cy="6858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Penanda batas aman di jalan, sirene peringatan, dan simulasi evakuasi rutin.</a:t>
            </a:r>
            <a:endParaRPr lang="en-US" sz="1400" dirty="0"/>
          </a:p>
        </p:txBody>
      </p:sp>
      <p:sp>
        <p:nvSpPr>
          <p:cNvPr id="11" name="rencana 3 lingkaran"/>
          <p:cNvSpPr/>
          <p:nvPr/>
        </p:nvSpPr>
        <p:spPr>
          <a:xfrm>
            <a:off x="548640" y="3566160"/>
            <a:ext cx="731520" cy="731520"/>
          </a:xfrm>
          <a:prstGeom prst="ellipse">
            <a:avLst/>
          </a:prstGeom>
          <a:solidFill>
            <a:srgbClr val="14365D"/>
          </a:solidFill>
          <a:ln w="12700">
            <a:solidFill>
              <a:srgbClr val="14365D"/>
            </a:solidFill>
            <a:prstDash val="solid"/>
          </a:ln>
        </p:spPr>
      </p:sp>
      <p:pic>
        <p:nvPicPr>
          <p:cNvPr id="12" name="rencana 3 ikon" descr="preencoded.png">    </p:cNvPr>
          <p:cNvPicPr>
            <a:picLocks noChangeAspect="1"/>
          </p:cNvPicPr>
          <p:nvPr/>
        </p:nvPicPr>
        <p:blipFill>
          <a:blip r:embed="rId3"/>
          <a:stretch>
            <a:fillRect/>
          </a:stretch>
        </p:blipFill>
        <p:spPr>
          <a:xfrm>
            <a:off x="731520" y="3749040"/>
            <a:ext cx="365760" cy="365760"/>
          </a:xfrm>
          <a:prstGeom prst="rect">
            <a:avLst/>
          </a:prstGeom>
        </p:spPr>
      </p:pic>
      <p:sp>
        <p:nvSpPr>
          <p:cNvPr id="13" name="rencana judul 3"/>
          <p:cNvSpPr txBox="1"/>
          <p:nvPr/>
        </p:nvSpPr>
        <p:spPr>
          <a:xfrm>
            <a:off x="1508760" y="3566160"/>
            <a:ext cx="5715000" cy="384048"/>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Peta rencana 55 kelurahan</a:t>
            </a:r>
            <a:endParaRPr lang="en-US" sz="1700" dirty="0"/>
          </a:p>
        </p:txBody>
      </p:sp>
      <p:sp>
        <p:nvSpPr>
          <p:cNvPr id="14" name="rencana isi 3"/>
          <p:cNvSpPr txBox="1"/>
          <p:nvPr/>
        </p:nvSpPr>
        <p:spPr>
          <a:xfrm>
            <a:off x="1508760" y="3959352"/>
            <a:ext cx="5715000" cy="6858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Operasi evakuasi dibagi ke 9 sektor A–I berdasarkan bentang alam, sungai, dan banjir kanal.</a:t>
            </a:r>
            <a:endParaRPr lang="en-US" sz="1400" dirty="0"/>
          </a:p>
        </p:txBody>
      </p:sp>
      <p:sp>
        <p:nvSpPr>
          <p:cNvPr id="15" name="rencana 4 lingkaran"/>
          <p:cNvSpPr/>
          <p:nvPr/>
        </p:nvSpPr>
        <p:spPr>
          <a:xfrm>
            <a:off x="548640" y="4709160"/>
            <a:ext cx="731520" cy="731520"/>
          </a:xfrm>
          <a:prstGeom prst="ellipse">
            <a:avLst/>
          </a:prstGeom>
          <a:solidFill>
            <a:srgbClr val="D9472F"/>
          </a:solidFill>
          <a:ln w="12700">
            <a:solidFill>
              <a:srgbClr val="D9472F"/>
            </a:solidFill>
            <a:prstDash val="solid"/>
          </a:ln>
        </p:spPr>
      </p:sp>
      <p:pic>
        <p:nvPicPr>
          <p:cNvPr id="16" name="rencana 4 ikon" descr="preencoded.png">    </p:cNvPr>
          <p:cNvPicPr>
            <a:picLocks noChangeAspect="1"/>
          </p:cNvPicPr>
          <p:nvPr/>
        </p:nvPicPr>
        <p:blipFill>
          <a:blip r:embed="rId4"/>
          <a:stretch>
            <a:fillRect/>
          </a:stretch>
        </p:blipFill>
        <p:spPr>
          <a:xfrm>
            <a:off x="731520" y="4892040"/>
            <a:ext cx="365760" cy="365760"/>
          </a:xfrm>
          <a:prstGeom prst="rect">
            <a:avLst/>
          </a:prstGeom>
        </p:spPr>
      </p:pic>
      <p:sp>
        <p:nvSpPr>
          <p:cNvPr id="17" name="rencana judul 4"/>
          <p:cNvSpPr txBox="1"/>
          <p:nvPr/>
        </p:nvSpPr>
        <p:spPr>
          <a:xfrm>
            <a:off x="1508760" y="4709160"/>
            <a:ext cx="5715000" cy="384048"/>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Saat gempa, peta harus dibaca dulu</a:t>
            </a:r>
            <a:endParaRPr lang="en-US" sz="1700" dirty="0"/>
          </a:p>
        </p:txBody>
      </p:sp>
      <p:sp>
        <p:nvSpPr>
          <p:cNvPr id="18" name="rencana isi 4"/>
          <p:cNvSpPr txBox="1"/>
          <p:nvPr/>
        </p:nvSpPr>
        <p:spPr>
          <a:xfrm>
            <a:off x="1508760" y="5102352"/>
            <a:ext cx="5715000" cy="6858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Warga perlu menemukan posisinya lalu mencocokkan arah peta dengan jalan di sekitarnya.</a:t>
            </a:r>
            <a:endParaRPr lang="en-US" sz="1400" dirty="0"/>
          </a:p>
        </p:txBody>
      </p:sp>
      <p:pic>
        <p:nvPicPr>
          <p:cNvPr id="19" name="peta tes resmi" descr="C:\Users\Lenovo\AppData\Local\Temp\claude\c--gemastik\520da942-8140-47c0-a16f-9bde4b92cbe5\scratchpad\deck\aset\peta_tes_resmi.png">    </p:cNvPr>
          <p:cNvPicPr>
            <a:picLocks noChangeAspect="1"/>
          </p:cNvPicPr>
          <p:nvPr/>
        </p:nvPicPr>
        <p:blipFill>
          <a:blip r:embed="rId5"/>
          <a:stretch>
            <a:fillRect/>
          </a:stretch>
        </p:blipFill>
        <p:spPr>
          <a:xfrm>
            <a:off x="7982712" y="1188720"/>
            <a:ext cx="3264408" cy="4663440"/>
          </a:xfrm>
          <a:prstGeom prst="rect">
            <a:avLst/>
          </a:prstGeom>
        </p:spPr>
      </p:pic>
      <p:sp>
        <p:nvSpPr>
          <p:cNvPr id="20"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Peta TES dan Lokasi Potensial Shelter 1:15.000 (Pemerintah Kota Padang, BPBD, KOGAMI, Mercy Corps Indonesia); L 1.2, Gambar 1.2.</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Warga tahu harus evakuasi, tetapi belum tentu ke mana</a:t>
            </a:r>
            <a:endParaRPr lang="en-US" sz="3000" dirty="0"/>
          </a:p>
        </p:txBody>
      </p:sp>
      <p:sp>
        <p:nvSpPr>
          <p:cNvPr id="3" name="celah kartu 1"/>
          <p:cNvSpPr/>
          <p:nvPr/>
        </p:nvSpPr>
        <p:spPr>
          <a:xfrm>
            <a:off x="548640" y="1325880"/>
            <a:ext cx="5432908" cy="2148840"/>
          </a:xfrm>
          <a:prstGeom prst="roundRect">
            <a:avLst>
              <a:gd name="adj" fmla="val 3404"/>
            </a:avLst>
          </a:prstGeom>
          <a:solidFill>
            <a:srgbClr val="EEF2F7"/>
          </a:solidFill>
          <a:ln w="12700">
            <a:solidFill>
              <a:srgbClr val="EEF2F7"/>
            </a:solidFill>
            <a:prstDash val="solid"/>
          </a:ln>
        </p:spPr>
      </p:sp>
      <p:sp>
        <p:nvSpPr>
          <p:cNvPr id="4" name="celah 1 lingkaran"/>
          <p:cNvSpPr/>
          <p:nvPr/>
        </p:nvSpPr>
        <p:spPr>
          <a:xfrm>
            <a:off x="777240" y="1554480"/>
            <a:ext cx="685800" cy="685800"/>
          </a:xfrm>
          <a:prstGeom prst="ellipse">
            <a:avLst/>
          </a:prstGeom>
          <a:solidFill>
            <a:srgbClr val="14365D"/>
          </a:solidFill>
          <a:ln w="12700">
            <a:solidFill>
              <a:srgbClr val="14365D"/>
            </a:solidFill>
            <a:prstDash val="solid"/>
          </a:ln>
        </p:spPr>
      </p:sp>
      <p:pic>
        <p:nvPicPr>
          <p:cNvPr id="5" name="celah 1 ikon" descr="preencoded.png">    </p:cNvPr>
          <p:cNvPicPr>
            <a:picLocks noChangeAspect="1"/>
          </p:cNvPicPr>
          <p:nvPr/>
        </p:nvPicPr>
        <p:blipFill>
          <a:blip r:embed="rId1"/>
          <a:stretch>
            <a:fillRect/>
          </a:stretch>
        </p:blipFill>
        <p:spPr>
          <a:xfrm>
            <a:off x="948690" y="1725930"/>
            <a:ext cx="342900" cy="342900"/>
          </a:xfrm>
          <a:prstGeom prst="rect">
            <a:avLst/>
          </a:prstGeom>
        </p:spPr>
      </p:pic>
      <p:sp>
        <p:nvSpPr>
          <p:cNvPr id="6" name="celah judul 1"/>
          <p:cNvSpPr txBox="1"/>
          <p:nvPr/>
        </p:nvSpPr>
        <p:spPr>
          <a:xfrm>
            <a:off x="1600200" y="1600200"/>
            <a:ext cx="4198468" cy="594360"/>
          </a:xfrm>
          <a:prstGeom prst="rect">
            <a:avLst/>
          </a:prstGeom>
          <a:noFill/>
          <a:ln/>
        </p:spPr>
        <p:txBody>
          <a:bodyPr wrap="square" lIns="0" tIns="0" rIns="0" bIns="0" rtlCol="0" anchor="ctr"/>
          <a:lstStyle/>
          <a:p>
            <a:pPr indent="0" marL="0">
              <a:buNone/>
            </a:pPr>
            <a:r>
              <a:rPr lang="en-US" sz="1700" b="1" dirty="0">
                <a:solidFill>
                  <a:srgbClr val="14365D"/>
                </a:solidFill>
                <a:latin typeface="Calibri" pitchFamily="34" charset="0"/>
                <a:ea typeface="Calibri" pitchFamily="34" charset="-122"/>
                <a:cs typeface="Calibri" pitchFamily="34" charset="-120"/>
              </a:rPr>
              <a:t>Peta resmi butuh orientasi</a:t>
            </a:r>
            <a:endParaRPr lang="en-US" sz="1700" dirty="0"/>
          </a:p>
        </p:txBody>
      </p:sp>
      <p:sp>
        <p:nvSpPr>
          <p:cNvPr id="7" name="celah isi 1"/>
          <p:cNvSpPr txBox="1"/>
          <p:nvPr/>
        </p:nvSpPr>
        <p:spPr>
          <a:xfrm>
            <a:off x="777240" y="2377440"/>
            <a:ext cx="4975708" cy="96012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Pengguna harus menemukan posisinya lalu mencocokkan arah peta dengan jalan di sekitarnya, sulit bagi pendatang.</a:t>
            </a:r>
            <a:endParaRPr lang="en-US" sz="1400" dirty="0"/>
          </a:p>
        </p:txBody>
      </p:sp>
      <p:sp>
        <p:nvSpPr>
          <p:cNvPr id="8" name="celah kartu 2"/>
          <p:cNvSpPr/>
          <p:nvPr/>
        </p:nvSpPr>
        <p:spPr>
          <a:xfrm>
            <a:off x="6210148" y="1325880"/>
            <a:ext cx="5432908" cy="2148840"/>
          </a:xfrm>
          <a:prstGeom prst="roundRect">
            <a:avLst>
              <a:gd name="adj" fmla="val 3404"/>
            </a:avLst>
          </a:prstGeom>
          <a:solidFill>
            <a:srgbClr val="EEF2F7"/>
          </a:solidFill>
          <a:ln w="12700">
            <a:solidFill>
              <a:srgbClr val="EEF2F7"/>
            </a:solidFill>
            <a:prstDash val="solid"/>
          </a:ln>
        </p:spPr>
      </p:sp>
      <p:sp>
        <p:nvSpPr>
          <p:cNvPr id="9" name="celah 2 lingkaran"/>
          <p:cNvSpPr/>
          <p:nvPr/>
        </p:nvSpPr>
        <p:spPr>
          <a:xfrm>
            <a:off x="6438748" y="1554480"/>
            <a:ext cx="685800" cy="685800"/>
          </a:xfrm>
          <a:prstGeom prst="ellipse">
            <a:avLst/>
          </a:prstGeom>
          <a:solidFill>
            <a:srgbClr val="D9472F"/>
          </a:solidFill>
          <a:ln w="12700">
            <a:solidFill>
              <a:srgbClr val="D9472F"/>
            </a:solidFill>
            <a:prstDash val="solid"/>
          </a:ln>
        </p:spPr>
      </p:sp>
      <p:pic>
        <p:nvPicPr>
          <p:cNvPr id="10" name="celah 2 ikon" descr="preencoded.png">    </p:cNvPr>
          <p:cNvPicPr>
            <a:picLocks noChangeAspect="1"/>
          </p:cNvPicPr>
          <p:nvPr/>
        </p:nvPicPr>
        <p:blipFill>
          <a:blip r:embed="rId2"/>
          <a:stretch>
            <a:fillRect/>
          </a:stretch>
        </p:blipFill>
        <p:spPr>
          <a:xfrm>
            <a:off x="6610198" y="1725930"/>
            <a:ext cx="342900" cy="342900"/>
          </a:xfrm>
          <a:prstGeom prst="rect">
            <a:avLst/>
          </a:prstGeom>
        </p:spPr>
      </p:pic>
      <p:sp>
        <p:nvSpPr>
          <p:cNvPr id="11" name="celah judul 2"/>
          <p:cNvSpPr txBox="1"/>
          <p:nvPr/>
        </p:nvSpPr>
        <p:spPr>
          <a:xfrm>
            <a:off x="7261708" y="1600200"/>
            <a:ext cx="4198468" cy="594360"/>
          </a:xfrm>
          <a:prstGeom prst="rect">
            <a:avLst/>
          </a:prstGeom>
          <a:noFill/>
          <a:ln/>
        </p:spPr>
        <p:txBody>
          <a:bodyPr wrap="square" lIns="0" tIns="0" rIns="0" bIns="0" rtlCol="0" anchor="ctr"/>
          <a:lstStyle/>
          <a:p>
            <a:pPr indent="0" marL="0">
              <a:buNone/>
            </a:pPr>
            <a:r>
              <a:rPr lang="en-US" sz="1700" b="1" dirty="0">
                <a:solidFill>
                  <a:srgbClr val="14365D"/>
                </a:solidFill>
                <a:latin typeface="Calibri" pitchFamily="34" charset="0"/>
                <a:ea typeface="Calibri" pitchFamily="34" charset="-122"/>
                <a:cs typeface="Calibri" pitchFamily="34" charset="-120"/>
              </a:rPr>
              <a:t>Pengujian awal: 1 dari 5 gagal</a:t>
            </a:r>
            <a:endParaRPr lang="en-US" sz="1700" dirty="0"/>
          </a:p>
        </p:txBody>
      </p:sp>
      <p:sp>
        <p:nvSpPr>
          <p:cNvPr id="12" name="celah isi 2"/>
          <p:cNvSpPr txBox="1"/>
          <p:nvPr/>
        </p:nvSpPr>
        <p:spPr>
          <a:xfrm>
            <a:off x="6438748" y="2377440"/>
            <a:ext cx="4975708" cy="96012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Agustus 2026, lima calon pengguna di zona merah: empat butuh 27–89 detik dengan peta resmi, satu pendatang tidak menemukan tujuan.</a:t>
            </a:r>
            <a:endParaRPr lang="en-US" sz="1400" dirty="0"/>
          </a:p>
        </p:txBody>
      </p:sp>
      <p:sp>
        <p:nvSpPr>
          <p:cNvPr id="13" name="celah kartu 3"/>
          <p:cNvSpPr/>
          <p:nvPr/>
        </p:nvSpPr>
        <p:spPr>
          <a:xfrm>
            <a:off x="548640" y="3703320"/>
            <a:ext cx="5432908" cy="2148840"/>
          </a:xfrm>
          <a:prstGeom prst="roundRect">
            <a:avLst>
              <a:gd name="adj" fmla="val 3404"/>
            </a:avLst>
          </a:prstGeom>
          <a:solidFill>
            <a:srgbClr val="EEF2F7"/>
          </a:solidFill>
          <a:ln w="12700">
            <a:solidFill>
              <a:srgbClr val="EEF2F7"/>
            </a:solidFill>
            <a:prstDash val="solid"/>
          </a:ln>
        </p:spPr>
      </p:sp>
      <p:sp>
        <p:nvSpPr>
          <p:cNvPr id="14" name="celah 3 lingkaran"/>
          <p:cNvSpPr/>
          <p:nvPr/>
        </p:nvSpPr>
        <p:spPr>
          <a:xfrm>
            <a:off x="777240" y="3931920"/>
            <a:ext cx="685800" cy="685800"/>
          </a:xfrm>
          <a:prstGeom prst="ellipse">
            <a:avLst/>
          </a:prstGeom>
          <a:solidFill>
            <a:srgbClr val="2F7F9C"/>
          </a:solidFill>
          <a:ln w="12700">
            <a:solidFill>
              <a:srgbClr val="2F7F9C"/>
            </a:solidFill>
            <a:prstDash val="solid"/>
          </a:ln>
        </p:spPr>
      </p:sp>
      <p:pic>
        <p:nvPicPr>
          <p:cNvPr id="15" name="celah 3 ikon" descr="preencoded.png">    </p:cNvPr>
          <p:cNvPicPr>
            <a:picLocks noChangeAspect="1"/>
          </p:cNvPicPr>
          <p:nvPr/>
        </p:nvPicPr>
        <p:blipFill>
          <a:blip r:embed="rId3"/>
          <a:stretch>
            <a:fillRect/>
          </a:stretch>
        </p:blipFill>
        <p:spPr>
          <a:xfrm>
            <a:off x="948690" y="4103370"/>
            <a:ext cx="342900" cy="342900"/>
          </a:xfrm>
          <a:prstGeom prst="rect">
            <a:avLst/>
          </a:prstGeom>
        </p:spPr>
      </p:pic>
      <p:sp>
        <p:nvSpPr>
          <p:cNvPr id="16" name="celah judul 3"/>
          <p:cNvSpPr txBox="1"/>
          <p:nvPr/>
        </p:nvSpPr>
        <p:spPr>
          <a:xfrm>
            <a:off x="1600200" y="3977640"/>
            <a:ext cx="4198468" cy="594360"/>
          </a:xfrm>
          <a:prstGeom prst="rect">
            <a:avLst/>
          </a:prstGeom>
          <a:noFill/>
          <a:ln/>
        </p:spPr>
        <p:txBody>
          <a:bodyPr wrap="square" lIns="0" tIns="0" rIns="0" bIns="0" rtlCol="0" anchor="ctr"/>
          <a:lstStyle/>
          <a:p>
            <a:pPr indent="0" marL="0">
              <a:buNone/>
            </a:pPr>
            <a:r>
              <a:rPr lang="en-US" sz="1700" b="1" dirty="0">
                <a:solidFill>
                  <a:srgbClr val="14365D"/>
                </a:solidFill>
                <a:latin typeface="Calibri" pitchFamily="34" charset="0"/>
                <a:ea typeface="Calibri" pitchFamily="34" charset="-122"/>
                <a:cs typeface="Calibri" pitchFamily="34" charset="-120"/>
              </a:rPr>
              <a:t>Tahap kedua: 56% tidak tahu</a:t>
            </a:r>
            <a:endParaRPr lang="en-US" sz="1700" dirty="0"/>
          </a:p>
        </p:txBody>
      </p:sp>
      <p:sp>
        <p:nvSpPr>
          <p:cNvPr id="17" name="celah isi 3"/>
          <p:cNvSpPr txBox="1"/>
          <p:nvPr/>
        </p:nvSpPr>
        <p:spPr>
          <a:xfrm>
            <a:off x="777240" y="4754880"/>
            <a:ext cx="4975708" cy="96012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Sebelum mencoba aplikasi, 14 dari 25 peserta tidak dapat menyebutkan tempat evakuasi tanpa bantuan ponsel, termasuk empat wisatawan.</a:t>
            </a:r>
            <a:endParaRPr lang="en-US" sz="1400" dirty="0"/>
          </a:p>
        </p:txBody>
      </p:sp>
      <p:sp>
        <p:nvSpPr>
          <p:cNvPr id="18" name="celah kartu 4"/>
          <p:cNvSpPr/>
          <p:nvPr/>
        </p:nvSpPr>
        <p:spPr>
          <a:xfrm>
            <a:off x="6210148" y="3703320"/>
            <a:ext cx="5432908" cy="2148840"/>
          </a:xfrm>
          <a:prstGeom prst="roundRect">
            <a:avLst>
              <a:gd name="adj" fmla="val 3404"/>
            </a:avLst>
          </a:prstGeom>
          <a:solidFill>
            <a:srgbClr val="EEF2F7"/>
          </a:solidFill>
          <a:ln w="12700">
            <a:solidFill>
              <a:srgbClr val="EEF2F7"/>
            </a:solidFill>
            <a:prstDash val="solid"/>
          </a:ln>
        </p:spPr>
      </p:sp>
      <p:sp>
        <p:nvSpPr>
          <p:cNvPr id="19" name="celah 4 lingkaran"/>
          <p:cNvSpPr/>
          <p:nvPr/>
        </p:nvSpPr>
        <p:spPr>
          <a:xfrm>
            <a:off x="6438748" y="3931920"/>
            <a:ext cx="685800" cy="685800"/>
          </a:xfrm>
          <a:prstGeom prst="ellipse">
            <a:avLst/>
          </a:prstGeom>
          <a:solidFill>
            <a:srgbClr val="7C8590"/>
          </a:solidFill>
          <a:ln w="12700">
            <a:solidFill>
              <a:srgbClr val="7C8590"/>
            </a:solidFill>
            <a:prstDash val="solid"/>
          </a:ln>
        </p:spPr>
      </p:sp>
      <p:pic>
        <p:nvPicPr>
          <p:cNvPr id="20" name="celah 4 ikon" descr="preencoded.png">    </p:cNvPr>
          <p:cNvPicPr>
            <a:picLocks noChangeAspect="1"/>
          </p:cNvPicPr>
          <p:nvPr/>
        </p:nvPicPr>
        <p:blipFill>
          <a:blip r:embed="rId4"/>
          <a:stretch>
            <a:fillRect/>
          </a:stretch>
        </p:blipFill>
        <p:spPr>
          <a:xfrm>
            <a:off x="6610198" y="4103370"/>
            <a:ext cx="342900" cy="342900"/>
          </a:xfrm>
          <a:prstGeom prst="rect">
            <a:avLst/>
          </a:prstGeom>
        </p:spPr>
      </p:pic>
      <p:sp>
        <p:nvSpPr>
          <p:cNvPr id="21" name="celah judul 4"/>
          <p:cNvSpPr txBox="1"/>
          <p:nvPr/>
        </p:nvSpPr>
        <p:spPr>
          <a:xfrm>
            <a:off x="7261708" y="3977640"/>
            <a:ext cx="4198468" cy="594360"/>
          </a:xfrm>
          <a:prstGeom prst="rect">
            <a:avLst/>
          </a:prstGeom>
          <a:noFill/>
          <a:ln/>
        </p:spPr>
        <p:txBody>
          <a:bodyPr wrap="square" lIns="0" tIns="0" rIns="0" bIns="0" rtlCol="0" anchor="ctr"/>
          <a:lstStyle/>
          <a:p>
            <a:pPr indent="0" marL="0">
              <a:buNone/>
            </a:pPr>
            <a:r>
              <a:rPr lang="en-US" sz="1700" b="1" dirty="0">
                <a:solidFill>
                  <a:srgbClr val="14365D"/>
                </a:solidFill>
                <a:latin typeface="Calibri" pitchFamily="34" charset="0"/>
                <a:ea typeface="Calibri" pitchFamily="34" charset="-122"/>
                <a:cs typeface="Calibri" pitchFamily="34" charset="-120"/>
              </a:rPr>
              <a:t>Jaringan dapat terganggu</a:t>
            </a:r>
            <a:endParaRPr lang="en-US" sz="1700" dirty="0"/>
          </a:p>
        </p:txBody>
      </p:sp>
      <p:sp>
        <p:nvSpPr>
          <p:cNvPr id="22" name="celah isi 4"/>
          <p:cNvSpPr txBox="1"/>
          <p:nvPr/>
        </p:nvSpPr>
        <p:spPr>
          <a:xfrm>
            <a:off x="6438748" y="4754880"/>
            <a:ext cx="4975708" cy="96012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Peringatan di ponsel memerlukan koneksi, padahal jaringan telekomunikasi bisa terganggu setelah gempa.</a:t>
            </a:r>
            <a:endParaRPr lang="en-US" sz="1400" dirty="0"/>
          </a:p>
        </p:txBody>
      </p:sp>
      <p:sp>
        <p:nvSpPr>
          <p:cNvPr id="23"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L 1.3, Tabel 1.1; M I. Angka 56% mengikuti makalah v6; laporan final menulis 13 dari 24 jawaban.</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Arahan harus cepat dan tetap ada tanpa internet</a:t>
            </a:r>
            <a:endParaRPr lang="en-US" sz="3000" dirty="0"/>
          </a:p>
        </p:txBody>
      </p:sp>
      <p:sp>
        <p:nvSpPr>
          <p:cNvPr id="3" name="judul anggaran"/>
          <p:cNvSpPr txBox="1"/>
          <p:nvPr/>
        </p:nvSpPr>
        <p:spPr>
          <a:xfrm>
            <a:off x="548640" y="1234440"/>
            <a:ext cx="11094415" cy="365760"/>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Anggaran waktu yang dipakai aplikasi sejak gempa terasa</a:t>
            </a:r>
            <a:endParaRPr lang="en-US" sz="1700" dirty="0"/>
          </a:p>
        </p:txBody>
      </p:sp>
      <p:sp>
        <p:nvSpPr>
          <p:cNvPr id="4" name="segmen waktu 1"/>
          <p:cNvSpPr/>
          <p:nvPr/>
        </p:nvSpPr>
        <p:spPr>
          <a:xfrm>
            <a:off x="548640" y="1828800"/>
            <a:ext cx="5212080" cy="640080"/>
          </a:xfrm>
          <a:prstGeom prst="rect">
            <a:avLst/>
          </a:prstGeom>
          <a:solidFill>
            <a:srgbClr val="2E8B57"/>
          </a:solidFill>
          <a:ln w="25400">
            <a:solidFill>
              <a:srgbClr val="FFFFFF"/>
            </a:solidFill>
            <a:prstDash val="solid"/>
          </a:ln>
        </p:spPr>
      </p:sp>
      <p:sp>
        <p:nvSpPr>
          <p:cNvPr id="5" name="label segmen 1"/>
          <p:cNvSpPr txBox="1"/>
          <p:nvPr/>
        </p:nvSpPr>
        <p:spPr>
          <a:xfrm>
            <a:off x="640080" y="1828800"/>
            <a:ext cx="5029200" cy="6400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Anggaran berjalan 15 menit</a:t>
            </a:r>
            <a:endParaRPr lang="en-US" sz="1400" dirty="0"/>
          </a:p>
        </p:txBody>
      </p:sp>
      <p:sp>
        <p:nvSpPr>
          <p:cNvPr id="6" name="segmen waktu 2"/>
          <p:cNvSpPr/>
          <p:nvPr/>
        </p:nvSpPr>
        <p:spPr>
          <a:xfrm>
            <a:off x="5760720" y="1828800"/>
            <a:ext cx="1737360" cy="640080"/>
          </a:xfrm>
          <a:prstGeom prst="rect">
            <a:avLst/>
          </a:prstGeom>
          <a:solidFill>
            <a:srgbClr val="F5B700"/>
          </a:solidFill>
          <a:ln w="25400">
            <a:solidFill>
              <a:srgbClr val="FFFFFF"/>
            </a:solidFill>
            <a:prstDash val="solid"/>
          </a:ln>
        </p:spPr>
      </p:sp>
      <p:sp>
        <p:nvSpPr>
          <p:cNvPr id="7" name="label segmen 2"/>
          <p:cNvSpPr txBox="1"/>
          <p:nvPr/>
        </p:nvSpPr>
        <p:spPr>
          <a:xfrm>
            <a:off x="5852160" y="1828800"/>
            <a:ext cx="1554480" cy="640080"/>
          </a:xfrm>
          <a:prstGeom prst="rect">
            <a:avLst/>
          </a:prstGeom>
          <a:noFill/>
          <a:ln/>
        </p:spPr>
        <p:txBody>
          <a:bodyPr wrap="square" lIns="0" tIns="0" rIns="0" bIns="0" rtlCol="0" anchor="ctr"/>
          <a:lstStyle/>
          <a:p>
            <a:pPr indent="0" marL="0">
              <a:buNone/>
            </a:pPr>
            <a:r>
              <a:rPr lang="en-US" sz="1400" b="1" dirty="0">
                <a:solidFill>
                  <a:srgbClr val="14365D"/>
                </a:solidFill>
                <a:latin typeface="Calibri" pitchFamily="34" charset="0"/>
                <a:ea typeface="Calibri" pitchFamily="34" charset="-122"/>
                <a:cs typeface="Calibri" pitchFamily="34" charset="-120"/>
              </a:rPr>
              <a:t>Cadangan 5 menit</a:t>
            </a:r>
            <a:endParaRPr lang="en-US" sz="1400" dirty="0"/>
          </a:p>
        </p:txBody>
      </p:sp>
      <p:sp>
        <p:nvSpPr>
          <p:cNvPr id="8" name="segmen waktu 3"/>
          <p:cNvSpPr/>
          <p:nvPr/>
        </p:nvSpPr>
        <p:spPr>
          <a:xfrm>
            <a:off x="7498080" y="1828800"/>
            <a:ext cx="3474720" cy="640080"/>
          </a:xfrm>
          <a:prstGeom prst="rect">
            <a:avLst/>
          </a:prstGeom>
          <a:solidFill>
            <a:srgbClr val="F2C9C1"/>
          </a:solidFill>
          <a:ln w="25400">
            <a:solidFill>
              <a:srgbClr val="FFFFFF"/>
            </a:solidFill>
            <a:prstDash val="solid"/>
          </a:ln>
        </p:spPr>
      </p:sp>
      <p:sp>
        <p:nvSpPr>
          <p:cNvPr id="9" name="label segmen 3"/>
          <p:cNvSpPr txBox="1"/>
          <p:nvPr/>
        </p:nvSpPr>
        <p:spPr>
          <a:xfrm>
            <a:off x="7589520" y="1828800"/>
            <a:ext cx="3291840" cy="640080"/>
          </a:xfrm>
          <a:prstGeom prst="rect">
            <a:avLst/>
          </a:prstGeom>
          <a:noFill/>
          <a:ln/>
        </p:spPr>
        <p:txBody>
          <a:bodyPr wrap="square" lIns="0" tIns="0" rIns="0" bIns="0" rtlCol="0" anchor="ctr"/>
          <a:lstStyle/>
          <a:p>
            <a:pPr indent="0" marL="0">
              <a:buNone/>
            </a:pPr>
            <a:r>
              <a:rPr lang="en-US" sz="1400" b="1" dirty="0">
                <a:solidFill>
                  <a:srgbClr val="14365D"/>
                </a:solidFill>
                <a:latin typeface="Calibri" pitchFamily="34" charset="0"/>
                <a:ea typeface="Calibri" pitchFamily="34" charset="-122"/>
                <a:cs typeface="Calibri" pitchFamily="34" charset="-120"/>
              </a:rPr>
              <a:t>Acuan BPBD 20–30 menit</a:t>
            </a:r>
            <a:endParaRPr lang="en-US" sz="1400" dirty="0"/>
          </a:p>
        </p:txBody>
      </p:sp>
      <p:sp>
        <p:nvSpPr>
          <p:cNvPr id="10" name="tanda 0"/>
          <p:cNvSpPr txBox="1"/>
          <p:nvPr/>
        </p:nvSpPr>
        <p:spPr>
          <a:xfrm>
            <a:off x="91440" y="2542032"/>
            <a:ext cx="914400" cy="274320"/>
          </a:xfrm>
          <a:prstGeom prst="rect">
            <a:avLst/>
          </a:prstGeom>
          <a:noFill/>
          <a:ln/>
        </p:spPr>
        <p:txBody>
          <a:bodyPr wrap="square" lIns="0" tIns="0" rIns="0" bIns="0" rtlCol="0" anchor="t"/>
          <a:lstStyle/>
          <a:p>
            <a:pPr algn="ctr" indent="0" marL="0">
              <a:buNone/>
            </a:pPr>
            <a:r>
              <a:rPr lang="en-US" sz="1200" dirty="0">
                <a:solidFill>
                  <a:srgbClr val="5D6670"/>
                </a:solidFill>
                <a:latin typeface="Calibri" pitchFamily="34" charset="0"/>
                <a:ea typeface="Calibri" pitchFamily="34" charset="-122"/>
                <a:cs typeface="Calibri" pitchFamily="34" charset="-120"/>
              </a:rPr>
              <a:t>0 menit</a:t>
            </a:r>
            <a:endParaRPr lang="en-US" sz="1200" dirty="0"/>
          </a:p>
        </p:txBody>
      </p:sp>
      <p:sp>
        <p:nvSpPr>
          <p:cNvPr id="11" name="tanda 15"/>
          <p:cNvSpPr txBox="1"/>
          <p:nvPr/>
        </p:nvSpPr>
        <p:spPr>
          <a:xfrm>
            <a:off x="5303520" y="2542032"/>
            <a:ext cx="914400" cy="274320"/>
          </a:xfrm>
          <a:prstGeom prst="rect">
            <a:avLst/>
          </a:prstGeom>
          <a:noFill/>
          <a:ln/>
        </p:spPr>
        <p:txBody>
          <a:bodyPr wrap="square" lIns="0" tIns="0" rIns="0" bIns="0" rtlCol="0" anchor="t"/>
          <a:lstStyle/>
          <a:p>
            <a:pPr algn="ctr" indent="0" marL="0">
              <a:buNone/>
            </a:pPr>
            <a:r>
              <a:rPr lang="en-US" sz="1200" dirty="0">
                <a:solidFill>
                  <a:srgbClr val="5D6670"/>
                </a:solidFill>
                <a:latin typeface="Calibri" pitchFamily="34" charset="0"/>
                <a:ea typeface="Calibri" pitchFamily="34" charset="-122"/>
                <a:cs typeface="Calibri" pitchFamily="34" charset="-120"/>
              </a:rPr>
              <a:t>15 menit</a:t>
            </a:r>
            <a:endParaRPr lang="en-US" sz="1200" dirty="0"/>
          </a:p>
        </p:txBody>
      </p:sp>
      <p:sp>
        <p:nvSpPr>
          <p:cNvPr id="12" name="tanda 20"/>
          <p:cNvSpPr txBox="1"/>
          <p:nvPr/>
        </p:nvSpPr>
        <p:spPr>
          <a:xfrm>
            <a:off x="7040880" y="2542032"/>
            <a:ext cx="914400" cy="274320"/>
          </a:xfrm>
          <a:prstGeom prst="rect">
            <a:avLst/>
          </a:prstGeom>
          <a:noFill/>
          <a:ln/>
        </p:spPr>
        <p:txBody>
          <a:bodyPr wrap="square" lIns="0" tIns="0" rIns="0" bIns="0" rtlCol="0" anchor="t"/>
          <a:lstStyle/>
          <a:p>
            <a:pPr algn="ctr" indent="0" marL="0">
              <a:buNone/>
            </a:pPr>
            <a:r>
              <a:rPr lang="en-US" sz="1200" dirty="0">
                <a:solidFill>
                  <a:srgbClr val="5D6670"/>
                </a:solidFill>
                <a:latin typeface="Calibri" pitchFamily="34" charset="0"/>
                <a:ea typeface="Calibri" pitchFamily="34" charset="-122"/>
                <a:cs typeface="Calibri" pitchFamily="34" charset="-120"/>
              </a:rPr>
              <a:t>20 menit</a:t>
            </a:r>
            <a:endParaRPr lang="en-US" sz="1200" dirty="0"/>
          </a:p>
        </p:txBody>
      </p:sp>
      <p:sp>
        <p:nvSpPr>
          <p:cNvPr id="13" name="tanda 30"/>
          <p:cNvSpPr txBox="1"/>
          <p:nvPr/>
        </p:nvSpPr>
        <p:spPr>
          <a:xfrm>
            <a:off x="10515600" y="2542032"/>
            <a:ext cx="914400" cy="274320"/>
          </a:xfrm>
          <a:prstGeom prst="rect">
            <a:avLst/>
          </a:prstGeom>
          <a:noFill/>
          <a:ln/>
        </p:spPr>
        <p:txBody>
          <a:bodyPr wrap="square" lIns="0" tIns="0" rIns="0" bIns="0" rtlCol="0" anchor="t"/>
          <a:lstStyle/>
          <a:p>
            <a:pPr algn="ctr" indent="0" marL="0">
              <a:buNone/>
            </a:pPr>
            <a:r>
              <a:rPr lang="en-US" sz="1200" dirty="0">
                <a:solidFill>
                  <a:srgbClr val="5D6670"/>
                </a:solidFill>
                <a:latin typeface="Calibri" pitchFamily="34" charset="0"/>
                <a:ea typeface="Calibri" pitchFamily="34" charset="-122"/>
                <a:cs typeface="Calibri" pitchFamily="34" charset="-120"/>
              </a:rPr>
              <a:t>30 menit</a:t>
            </a:r>
            <a:endParaRPr lang="en-US" sz="1200" dirty="0"/>
          </a:p>
        </p:txBody>
      </p:sp>
      <p:sp>
        <p:nvSpPr>
          <p:cNvPr id="14" name="jarak angka"/>
          <p:cNvSpPr txBox="1"/>
          <p:nvPr/>
        </p:nvSpPr>
        <p:spPr>
          <a:xfrm>
            <a:off x="548640" y="3063240"/>
            <a:ext cx="3291840" cy="508000"/>
          </a:xfrm>
          <a:prstGeom prst="rect">
            <a:avLst/>
          </a:prstGeom>
          <a:noFill/>
          <a:ln/>
        </p:spPr>
        <p:txBody>
          <a:bodyPr wrap="square" lIns="0" tIns="0" rIns="0" bIns="0" rtlCol="0" anchor="b"/>
          <a:lstStyle/>
          <a:p>
            <a:pPr indent="0" marL="0">
              <a:buNone/>
            </a:pPr>
            <a:r>
              <a:rPr lang="en-US" sz="3200" b="1" dirty="0">
                <a:solidFill>
                  <a:srgbClr val="14365D"/>
                </a:solidFill>
                <a:latin typeface="Arial" pitchFamily="34" charset="0"/>
                <a:ea typeface="Arial" pitchFamily="34" charset="-122"/>
                <a:cs typeface="Arial" pitchFamily="34" charset="-120"/>
              </a:rPr>
              <a:t>≈ 0,80 km</a:t>
            </a:r>
            <a:endParaRPr lang="en-US" sz="3200" dirty="0"/>
          </a:p>
        </p:txBody>
      </p:sp>
      <p:sp>
        <p:nvSpPr>
          <p:cNvPr id="15" name="jarak label"/>
          <p:cNvSpPr txBox="1"/>
          <p:nvPr/>
        </p:nvSpPr>
        <p:spPr>
          <a:xfrm>
            <a:off x="548640" y="3644392"/>
            <a:ext cx="329184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jarak tempuh 15 menit pada laju perencanaan 0,894 m/s</a:t>
            </a:r>
            <a:endParaRPr lang="en-US" sz="1400" dirty="0"/>
          </a:p>
        </p:txBody>
      </p:sp>
      <p:sp>
        <p:nvSpPr>
          <p:cNvPr id="16" name="batas angka"/>
          <p:cNvSpPr txBox="1"/>
          <p:nvPr/>
        </p:nvSpPr>
        <p:spPr>
          <a:xfrm>
            <a:off x="4343400" y="3063240"/>
            <a:ext cx="3291840" cy="508000"/>
          </a:xfrm>
          <a:prstGeom prst="rect">
            <a:avLst/>
          </a:prstGeom>
          <a:noFill/>
          <a:ln/>
        </p:spPr>
        <p:txBody>
          <a:bodyPr wrap="square" lIns="0" tIns="0" rIns="0" bIns="0" rtlCol="0" anchor="b"/>
          <a:lstStyle/>
          <a:p>
            <a:pPr indent="0" marL="0">
              <a:buNone/>
            </a:pPr>
            <a:r>
              <a:rPr lang="en-US" sz="3200" b="1" dirty="0">
                <a:solidFill>
                  <a:srgbClr val="D9472F"/>
                </a:solidFill>
                <a:latin typeface="Arial" pitchFamily="34" charset="0"/>
                <a:ea typeface="Arial" pitchFamily="34" charset="-122"/>
                <a:cs typeface="Arial" pitchFamily="34" charset="-120"/>
              </a:rPr>
              <a:t>20 menit</a:t>
            </a:r>
            <a:endParaRPr lang="en-US" sz="3200" dirty="0"/>
          </a:p>
        </p:txBody>
      </p:sp>
      <p:sp>
        <p:nvSpPr>
          <p:cNvPr id="17" name="batas label"/>
          <p:cNvSpPr txBox="1"/>
          <p:nvPr/>
        </p:nvSpPr>
        <p:spPr>
          <a:xfrm>
            <a:off x="4343400" y="3644392"/>
            <a:ext cx="329184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batas sejak gempa; waktu yang sudah berlalu ikut dikurangi</a:t>
            </a:r>
            <a:endParaRPr lang="en-US" sz="1400" dirty="0"/>
          </a:p>
        </p:txBody>
      </p:sp>
      <p:sp>
        <p:nvSpPr>
          <p:cNvPr id="18" name="luring angka"/>
          <p:cNvSpPr txBox="1"/>
          <p:nvPr/>
        </p:nvSpPr>
        <p:spPr>
          <a:xfrm>
            <a:off x="8138160" y="3063240"/>
            <a:ext cx="3474720" cy="508000"/>
          </a:xfrm>
          <a:prstGeom prst="rect">
            <a:avLst/>
          </a:prstGeom>
          <a:noFill/>
          <a:ln/>
        </p:spPr>
        <p:txBody>
          <a:bodyPr wrap="square" lIns="0" tIns="0" rIns="0" bIns="0" rtlCol="0" anchor="b"/>
          <a:lstStyle/>
          <a:p>
            <a:pPr indent="0" marL="0">
              <a:buNone/>
            </a:pPr>
            <a:r>
              <a:rPr lang="en-US" sz="3200" b="1" dirty="0">
                <a:solidFill>
                  <a:srgbClr val="2F7F9C"/>
                </a:solidFill>
                <a:latin typeface="Arial" pitchFamily="34" charset="0"/>
                <a:ea typeface="Arial" pitchFamily="34" charset="-122"/>
                <a:cs typeface="Arial" pitchFamily="34" charset="-120"/>
              </a:rPr>
              <a:t>Luring</a:t>
            </a:r>
            <a:endParaRPr lang="en-US" sz="3200" dirty="0"/>
          </a:p>
        </p:txBody>
      </p:sp>
      <p:sp>
        <p:nvSpPr>
          <p:cNvPr id="19" name="luring label"/>
          <p:cNvSpPr txBox="1"/>
          <p:nvPr/>
        </p:nvSpPr>
        <p:spPr>
          <a:xfrm>
            <a:off x="8138160" y="3644392"/>
            <a:ext cx="347472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zona, tujuan, jaringan jalan, jalur, dan arahan dibaca dari data di ponsel</a:t>
            </a:r>
            <a:endParaRPr lang="en-US" sz="1400" dirty="0"/>
          </a:p>
        </p:txBody>
      </p:sp>
      <p:sp>
        <p:nvSpPr>
          <p:cNvPr id="20" name="kartu catatan anggaran"/>
          <p:cNvSpPr/>
          <p:nvPr/>
        </p:nvSpPr>
        <p:spPr>
          <a:xfrm>
            <a:off x="548640" y="4800600"/>
            <a:ext cx="11094415" cy="960120"/>
          </a:xfrm>
          <a:prstGeom prst="roundRect">
            <a:avLst>
              <a:gd name="adj" fmla="val 7619"/>
            </a:avLst>
          </a:prstGeom>
          <a:solidFill>
            <a:srgbClr val="EEF2F7"/>
          </a:solidFill>
          <a:ln w="12700">
            <a:solidFill>
              <a:srgbClr val="EEF2F7"/>
            </a:solidFill>
            <a:prstDash val="solid"/>
          </a:ln>
        </p:spPr>
      </p:sp>
      <p:sp>
        <p:nvSpPr>
          <p:cNvPr id="21" name="catatan anggaran"/>
          <p:cNvSpPr txBox="1"/>
          <p:nvPr/>
        </p:nvSpPr>
        <p:spPr>
          <a:xfrm>
            <a:off x="822960" y="4892040"/>
            <a:ext cx="10545775" cy="777240"/>
          </a:xfrm>
          <a:prstGeom prst="rect">
            <a:avLst/>
          </a:prstGeom>
          <a:noFill/>
          <a:ln/>
        </p:spPr>
        <p:txBody>
          <a:bodyPr wrap="square" lIns="0" tIns="0" rIns="0" bIns="0" rtlCol="0" anchor="ctr"/>
          <a:lstStyle/>
          <a:p>
            <a:pPr indent="0" marL="0">
              <a:buNone/>
            </a:pPr>
            <a:r>
              <a:rPr lang="en-US" sz="1400" dirty="0">
                <a:solidFill>
                  <a:srgbClr val="1B2433"/>
                </a:solidFill>
                <a:latin typeface="Calibri" pitchFamily="34" charset="0"/>
                <a:ea typeface="Calibri" pitchFamily="34" charset="-122"/>
                <a:cs typeface="Calibri" pitchFamily="34" charset="-120"/>
              </a:rPr>
              <a:t>Rentang 20–30 menit dipakai untuk perencanaan, bukan perkiraan waktu tiba tsunami di lokasi pengguna. Menurut BPBD, berjalan kaki 20 menit setara sekitar 1 km.</a:t>
            </a:r>
            <a:endParaRPr lang="en-US" sz="14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Empat aturan BPBD menjadi dasar aplikasi</a:t>
            </a:r>
            <a:endParaRPr lang="en-US" sz="3000" dirty="0"/>
          </a:p>
        </p:txBody>
      </p:sp>
      <p:sp>
        <p:nvSpPr>
          <p:cNvPr id="3" name="pengantar aturan"/>
          <p:cNvSpPr txBox="1"/>
          <p:nvPr/>
        </p:nvSpPr>
        <p:spPr>
          <a:xfrm>
            <a:off x="548640" y="1188720"/>
            <a:ext cx="11094415" cy="457200"/>
          </a:xfrm>
          <a:prstGeom prst="rect">
            <a:avLst/>
          </a:prstGeom>
          <a:noFill/>
          <a:ln/>
        </p:spPr>
        <p:txBody>
          <a:bodyPr wrap="square" lIns="0" tIns="0" rIns="0" bIns="0" rtlCol="0" anchor="t"/>
          <a:lstStyle/>
          <a:p>
            <a:pPr indent="0" marL="0">
              <a:buNone/>
            </a:pPr>
            <a:r>
              <a:rPr lang="en-US" sz="1600" dirty="0">
                <a:solidFill>
                  <a:srgbClr val="5D6670"/>
                </a:solidFill>
                <a:latin typeface="Calibri" pitchFamily="34" charset="0"/>
                <a:ea typeface="Calibri" pitchFamily="34" charset="-122"/>
                <a:cs typeface="Calibri" pitchFamily="34" charset="-120"/>
              </a:rPr>
              <a:t>Hasil wawancara dengan tiga narasumber BPBD Kota Padang (28 September–7 Oktober 2026).</a:t>
            </a:r>
            <a:endParaRPr lang="en-US" sz="1600" dirty="0"/>
          </a:p>
        </p:txBody>
      </p:sp>
      <p:sp>
        <p:nvSpPr>
          <p:cNvPr id="4" name="kartu aturan 1"/>
          <p:cNvSpPr/>
          <p:nvPr/>
        </p:nvSpPr>
        <p:spPr>
          <a:xfrm>
            <a:off x="548640" y="1828800"/>
            <a:ext cx="2606040" cy="3291840"/>
          </a:xfrm>
          <a:prstGeom prst="roundRect">
            <a:avLst>
              <a:gd name="adj" fmla="val 2807"/>
            </a:avLst>
          </a:prstGeom>
          <a:solidFill>
            <a:srgbClr val="EEF2F7"/>
          </a:solidFill>
          <a:ln w="12700">
            <a:solidFill>
              <a:srgbClr val="EEF2F7"/>
            </a:solidFill>
            <a:prstDash val="solid"/>
          </a:ln>
        </p:spPr>
      </p:sp>
      <p:sp>
        <p:nvSpPr>
          <p:cNvPr id="5" name="aturan 1 lingkaran"/>
          <p:cNvSpPr/>
          <p:nvPr/>
        </p:nvSpPr>
        <p:spPr>
          <a:xfrm>
            <a:off x="1417320" y="2103120"/>
            <a:ext cx="868680" cy="868680"/>
          </a:xfrm>
          <a:prstGeom prst="ellipse">
            <a:avLst/>
          </a:prstGeom>
          <a:solidFill>
            <a:srgbClr val="14365D"/>
          </a:solidFill>
          <a:ln w="12700">
            <a:solidFill>
              <a:srgbClr val="14365D"/>
            </a:solidFill>
            <a:prstDash val="solid"/>
          </a:ln>
        </p:spPr>
      </p:sp>
      <p:pic>
        <p:nvPicPr>
          <p:cNvPr id="6" name="aturan 1 ikon" descr="preencoded.png">    </p:cNvPr>
          <p:cNvPicPr>
            <a:picLocks noChangeAspect="1"/>
          </p:cNvPicPr>
          <p:nvPr/>
        </p:nvPicPr>
        <p:blipFill>
          <a:blip r:embed="rId1"/>
          <a:stretch>
            <a:fillRect/>
          </a:stretch>
        </p:blipFill>
        <p:spPr>
          <a:xfrm>
            <a:off x="1634490" y="2320290"/>
            <a:ext cx="434340" cy="434340"/>
          </a:xfrm>
          <a:prstGeom prst="rect">
            <a:avLst/>
          </a:prstGeom>
        </p:spPr>
      </p:pic>
      <p:sp>
        <p:nvSpPr>
          <p:cNvPr id="7" name="judul aturan 1"/>
          <p:cNvSpPr txBox="1"/>
          <p:nvPr/>
        </p:nvSpPr>
        <p:spPr>
          <a:xfrm>
            <a:off x="777240" y="3154680"/>
            <a:ext cx="2148840" cy="457200"/>
          </a:xfrm>
          <a:prstGeom prst="rect">
            <a:avLst/>
          </a:prstGeom>
          <a:noFill/>
          <a:ln/>
        </p:spPr>
        <p:txBody>
          <a:bodyPr wrap="square" lIns="0" tIns="0" rIns="0" bIns="0" rtlCol="0" anchor="t"/>
          <a:lstStyle/>
          <a:p>
            <a:pPr algn="ctr" indent="0" marL="0">
              <a:buNone/>
            </a:pPr>
            <a:r>
              <a:rPr lang="en-US" sz="1800" b="1" dirty="0">
                <a:solidFill>
                  <a:srgbClr val="14365D"/>
                </a:solidFill>
                <a:latin typeface="Calibri" pitchFamily="34" charset="0"/>
                <a:ea typeface="Calibri" pitchFamily="34" charset="-122"/>
                <a:cs typeface="Calibri" pitchFamily="34" charset="-120"/>
              </a:rPr>
              <a:t>Gempa &gt; 30 detik</a:t>
            </a:r>
            <a:endParaRPr lang="en-US" sz="1800" dirty="0"/>
          </a:p>
        </p:txBody>
      </p:sp>
      <p:sp>
        <p:nvSpPr>
          <p:cNvPr id="8" name="isi aturan 1"/>
          <p:cNvSpPr txBox="1"/>
          <p:nvPr/>
        </p:nvSpPr>
        <p:spPr>
          <a:xfrm>
            <a:off x="777240" y="3703320"/>
            <a:ext cx="2148840" cy="13716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Segera evakuasi bila gempa terasa lebih dari 30 detik, baik pelan maupun kuat.</a:t>
            </a:r>
            <a:endParaRPr lang="en-US" sz="1400" dirty="0"/>
          </a:p>
        </p:txBody>
      </p:sp>
      <p:sp>
        <p:nvSpPr>
          <p:cNvPr id="9" name="kartu aturan 2"/>
          <p:cNvSpPr/>
          <p:nvPr/>
        </p:nvSpPr>
        <p:spPr>
          <a:xfrm>
            <a:off x="3355848" y="1828800"/>
            <a:ext cx="2606040" cy="3291840"/>
          </a:xfrm>
          <a:prstGeom prst="roundRect">
            <a:avLst>
              <a:gd name="adj" fmla="val 2807"/>
            </a:avLst>
          </a:prstGeom>
          <a:solidFill>
            <a:srgbClr val="EEF2F7"/>
          </a:solidFill>
          <a:ln w="12700">
            <a:solidFill>
              <a:srgbClr val="EEF2F7"/>
            </a:solidFill>
            <a:prstDash val="solid"/>
          </a:ln>
        </p:spPr>
      </p:sp>
      <p:sp>
        <p:nvSpPr>
          <p:cNvPr id="10" name="aturan 2 lingkaran"/>
          <p:cNvSpPr/>
          <p:nvPr/>
        </p:nvSpPr>
        <p:spPr>
          <a:xfrm>
            <a:off x="4224528" y="2103120"/>
            <a:ext cx="868680" cy="868680"/>
          </a:xfrm>
          <a:prstGeom prst="ellipse">
            <a:avLst/>
          </a:prstGeom>
          <a:solidFill>
            <a:srgbClr val="14365D"/>
          </a:solidFill>
          <a:ln w="12700">
            <a:solidFill>
              <a:srgbClr val="14365D"/>
            </a:solidFill>
            <a:prstDash val="solid"/>
          </a:ln>
        </p:spPr>
      </p:sp>
      <p:pic>
        <p:nvPicPr>
          <p:cNvPr id="11" name="aturan 2 ikon" descr="preencoded.png">    </p:cNvPr>
          <p:cNvPicPr>
            <a:picLocks noChangeAspect="1"/>
          </p:cNvPicPr>
          <p:nvPr/>
        </p:nvPicPr>
        <p:blipFill>
          <a:blip r:embed="rId2"/>
          <a:stretch>
            <a:fillRect/>
          </a:stretch>
        </p:blipFill>
        <p:spPr>
          <a:xfrm>
            <a:off x="4441698" y="2320290"/>
            <a:ext cx="434340" cy="434340"/>
          </a:xfrm>
          <a:prstGeom prst="rect">
            <a:avLst/>
          </a:prstGeom>
        </p:spPr>
      </p:pic>
      <p:sp>
        <p:nvSpPr>
          <p:cNvPr id="12" name="judul aturan 2"/>
          <p:cNvSpPr txBox="1"/>
          <p:nvPr/>
        </p:nvSpPr>
        <p:spPr>
          <a:xfrm>
            <a:off x="3584448" y="3154680"/>
            <a:ext cx="2148840" cy="457200"/>
          </a:xfrm>
          <a:prstGeom prst="rect">
            <a:avLst/>
          </a:prstGeom>
          <a:noFill/>
          <a:ln/>
        </p:spPr>
        <p:txBody>
          <a:bodyPr wrap="square" lIns="0" tIns="0" rIns="0" bIns="0" rtlCol="0" anchor="t"/>
          <a:lstStyle/>
          <a:p>
            <a:pPr algn="ctr" indent="0" marL="0">
              <a:buNone/>
            </a:pPr>
            <a:r>
              <a:rPr lang="en-US" sz="1800" b="1" dirty="0">
                <a:solidFill>
                  <a:srgbClr val="14365D"/>
                </a:solidFill>
                <a:latin typeface="Calibri" pitchFamily="34" charset="0"/>
                <a:ea typeface="Calibri" pitchFamily="34" charset="-122"/>
                <a:cs typeface="Calibri" pitchFamily="34" charset="-120"/>
              </a:rPr>
              <a:t>Menjauhi pantai</a:t>
            </a:r>
            <a:endParaRPr lang="en-US" sz="1800" dirty="0"/>
          </a:p>
        </p:txBody>
      </p:sp>
      <p:sp>
        <p:nvSpPr>
          <p:cNvPr id="13" name="isi aturan 2"/>
          <p:cNvSpPr txBox="1"/>
          <p:nvPr/>
        </p:nvSpPr>
        <p:spPr>
          <a:xfrm>
            <a:off x="3584448" y="3703320"/>
            <a:ext cx="2148840" cy="13716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Arah evakuasi tidak mendekati dan tidak sejajar dengan garis pantai.</a:t>
            </a:r>
            <a:endParaRPr lang="en-US" sz="1400" dirty="0"/>
          </a:p>
        </p:txBody>
      </p:sp>
      <p:sp>
        <p:nvSpPr>
          <p:cNvPr id="14" name="kartu aturan 3"/>
          <p:cNvSpPr/>
          <p:nvPr/>
        </p:nvSpPr>
        <p:spPr>
          <a:xfrm>
            <a:off x="6163056" y="1828800"/>
            <a:ext cx="2606040" cy="3291840"/>
          </a:xfrm>
          <a:prstGeom prst="roundRect">
            <a:avLst>
              <a:gd name="adj" fmla="val 2807"/>
            </a:avLst>
          </a:prstGeom>
          <a:solidFill>
            <a:srgbClr val="EEF2F7"/>
          </a:solidFill>
          <a:ln w="12700">
            <a:solidFill>
              <a:srgbClr val="EEF2F7"/>
            </a:solidFill>
            <a:prstDash val="solid"/>
          </a:ln>
        </p:spPr>
      </p:sp>
      <p:sp>
        <p:nvSpPr>
          <p:cNvPr id="15" name="aturan 3 lingkaran"/>
          <p:cNvSpPr/>
          <p:nvPr/>
        </p:nvSpPr>
        <p:spPr>
          <a:xfrm>
            <a:off x="7031736" y="2103120"/>
            <a:ext cx="868680" cy="868680"/>
          </a:xfrm>
          <a:prstGeom prst="ellipse">
            <a:avLst/>
          </a:prstGeom>
          <a:solidFill>
            <a:srgbClr val="14365D"/>
          </a:solidFill>
          <a:ln w="12700">
            <a:solidFill>
              <a:srgbClr val="14365D"/>
            </a:solidFill>
            <a:prstDash val="solid"/>
          </a:ln>
        </p:spPr>
      </p:sp>
      <p:pic>
        <p:nvPicPr>
          <p:cNvPr id="16" name="aturan 3 ikon" descr="preencoded.png">    </p:cNvPr>
          <p:cNvPicPr>
            <a:picLocks noChangeAspect="1"/>
          </p:cNvPicPr>
          <p:nvPr/>
        </p:nvPicPr>
        <p:blipFill>
          <a:blip r:embed="rId3"/>
          <a:stretch>
            <a:fillRect/>
          </a:stretch>
        </p:blipFill>
        <p:spPr>
          <a:xfrm>
            <a:off x="7248906" y="2320290"/>
            <a:ext cx="434340" cy="434340"/>
          </a:xfrm>
          <a:prstGeom prst="rect">
            <a:avLst/>
          </a:prstGeom>
        </p:spPr>
      </p:pic>
      <p:sp>
        <p:nvSpPr>
          <p:cNvPr id="17" name="judul aturan 3"/>
          <p:cNvSpPr txBox="1"/>
          <p:nvPr/>
        </p:nvSpPr>
        <p:spPr>
          <a:xfrm>
            <a:off x="6391656" y="3154680"/>
            <a:ext cx="2148840" cy="457200"/>
          </a:xfrm>
          <a:prstGeom prst="rect">
            <a:avLst/>
          </a:prstGeom>
          <a:noFill/>
          <a:ln/>
        </p:spPr>
        <p:txBody>
          <a:bodyPr wrap="square" lIns="0" tIns="0" rIns="0" bIns="0" rtlCol="0" anchor="t"/>
          <a:lstStyle/>
          <a:p>
            <a:pPr algn="ctr" indent="0" marL="0">
              <a:buNone/>
            </a:pPr>
            <a:r>
              <a:rPr lang="en-US" sz="1800" b="1" dirty="0">
                <a:solidFill>
                  <a:srgbClr val="14365D"/>
                </a:solidFill>
                <a:latin typeface="Calibri" pitchFamily="34" charset="0"/>
                <a:ea typeface="Calibri" pitchFamily="34" charset="-122"/>
                <a:cs typeface="Calibri" pitchFamily="34" charset="-120"/>
              </a:rPr>
              <a:t>Hindari jembatan</a:t>
            </a:r>
            <a:endParaRPr lang="en-US" sz="1800" dirty="0"/>
          </a:p>
        </p:txBody>
      </p:sp>
      <p:sp>
        <p:nvSpPr>
          <p:cNvPr id="18" name="isi aturan 3"/>
          <p:cNvSpPr txBox="1"/>
          <p:nvPr/>
        </p:nvSpPr>
        <p:spPr>
          <a:xfrm>
            <a:off x="6391656" y="3703320"/>
            <a:ext cx="2148840" cy="13716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Jembatan sebaiknya tidak dilalui selama masih ada jalan lain.</a:t>
            </a:r>
            <a:endParaRPr lang="en-US" sz="1400" dirty="0"/>
          </a:p>
        </p:txBody>
      </p:sp>
      <p:sp>
        <p:nvSpPr>
          <p:cNvPr id="19" name="kartu aturan 4"/>
          <p:cNvSpPr/>
          <p:nvPr/>
        </p:nvSpPr>
        <p:spPr>
          <a:xfrm>
            <a:off x="8970264" y="1828800"/>
            <a:ext cx="2606040" cy="3291840"/>
          </a:xfrm>
          <a:prstGeom prst="roundRect">
            <a:avLst>
              <a:gd name="adj" fmla="val 2807"/>
            </a:avLst>
          </a:prstGeom>
          <a:solidFill>
            <a:srgbClr val="EEF2F7"/>
          </a:solidFill>
          <a:ln w="12700">
            <a:solidFill>
              <a:srgbClr val="EEF2F7"/>
            </a:solidFill>
            <a:prstDash val="solid"/>
          </a:ln>
        </p:spPr>
      </p:sp>
      <p:sp>
        <p:nvSpPr>
          <p:cNvPr id="20" name="aturan 4 lingkaran"/>
          <p:cNvSpPr/>
          <p:nvPr/>
        </p:nvSpPr>
        <p:spPr>
          <a:xfrm>
            <a:off x="9838944" y="2103120"/>
            <a:ext cx="868680" cy="868680"/>
          </a:xfrm>
          <a:prstGeom prst="ellipse">
            <a:avLst/>
          </a:prstGeom>
          <a:solidFill>
            <a:srgbClr val="2E8B57"/>
          </a:solidFill>
          <a:ln w="12700">
            <a:solidFill>
              <a:srgbClr val="2E8B57"/>
            </a:solidFill>
            <a:prstDash val="solid"/>
          </a:ln>
        </p:spPr>
      </p:sp>
      <p:pic>
        <p:nvPicPr>
          <p:cNvPr id="21" name="aturan 4 ikon" descr="preencoded.png">    </p:cNvPr>
          <p:cNvPicPr>
            <a:picLocks noChangeAspect="1"/>
          </p:cNvPicPr>
          <p:nvPr/>
        </p:nvPicPr>
        <p:blipFill>
          <a:blip r:embed="rId4"/>
          <a:stretch>
            <a:fillRect/>
          </a:stretch>
        </p:blipFill>
        <p:spPr>
          <a:xfrm>
            <a:off x="10056114" y="2320290"/>
            <a:ext cx="434340" cy="434340"/>
          </a:xfrm>
          <a:prstGeom prst="rect">
            <a:avLst/>
          </a:prstGeom>
        </p:spPr>
      </p:pic>
      <p:sp>
        <p:nvSpPr>
          <p:cNvPr id="22" name="judul aturan 4"/>
          <p:cNvSpPr txBox="1"/>
          <p:nvPr/>
        </p:nvSpPr>
        <p:spPr>
          <a:xfrm>
            <a:off x="9198864" y="3154680"/>
            <a:ext cx="2148840" cy="457200"/>
          </a:xfrm>
          <a:prstGeom prst="rect">
            <a:avLst/>
          </a:prstGeom>
          <a:noFill/>
          <a:ln/>
        </p:spPr>
        <p:txBody>
          <a:bodyPr wrap="square" lIns="0" tIns="0" rIns="0" bIns="0" rtlCol="0" anchor="t"/>
          <a:lstStyle/>
          <a:p>
            <a:pPr algn="ctr" indent="0" marL="0">
              <a:buNone/>
            </a:pPr>
            <a:r>
              <a:rPr lang="en-US" sz="1800" b="1" dirty="0">
                <a:solidFill>
                  <a:srgbClr val="14365D"/>
                </a:solidFill>
                <a:latin typeface="Calibri" pitchFamily="34" charset="0"/>
                <a:ea typeface="Calibri" pitchFamily="34" charset="-122"/>
                <a:cs typeface="Calibri" pitchFamily="34" charset="-120"/>
              </a:rPr>
              <a:t>Zona merah dan hijau</a:t>
            </a:r>
            <a:endParaRPr lang="en-US" sz="1800" dirty="0"/>
          </a:p>
        </p:txBody>
      </p:sp>
      <p:sp>
        <p:nvSpPr>
          <p:cNvPr id="23" name="isi aturan 4"/>
          <p:cNvSpPr txBox="1"/>
          <p:nvPr/>
        </p:nvSpPr>
        <p:spPr>
          <a:xfrm>
            <a:off x="9198864" y="3703320"/>
            <a:ext cx="2148840" cy="13716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Zona merah dapat terlanda tsunami; zona hijau berada di luarnya.</a:t>
            </a:r>
            <a:endParaRPr lang="en-US" sz="1400" dirty="0"/>
          </a:p>
        </p:txBody>
      </p:sp>
      <p:sp>
        <p:nvSpPr>
          <p:cNvPr id="24" name="kartu audit"/>
          <p:cNvSpPr/>
          <p:nvPr/>
        </p:nvSpPr>
        <p:spPr>
          <a:xfrm>
            <a:off x="548640" y="5303520"/>
            <a:ext cx="11094415" cy="640080"/>
          </a:xfrm>
          <a:prstGeom prst="roundRect">
            <a:avLst>
              <a:gd name="adj" fmla="val 11429"/>
            </a:avLst>
          </a:prstGeom>
          <a:solidFill>
            <a:srgbClr val="FBE3DE"/>
          </a:solidFill>
          <a:ln w="12700">
            <a:solidFill>
              <a:srgbClr val="FBE3DE"/>
            </a:solidFill>
            <a:prstDash val="solid"/>
          </a:ln>
        </p:spPr>
      </p:sp>
      <p:sp>
        <p:nvSpPr>
          <p:cNvPr id="25" name="temuan audit"/>
          <p:cNvSpPr txBox="1"/>
          <p:nvPr/>
        </p:nvSpPr>
        <p:spPr>
          <a:xfrm>
            <a:off x="777240" y="5349240"/>
            <a:ext cx="10637215" cy="548640"/>
          </a:xfrm>
          <a:prstGeom prst="rect">
            <a:avLst/>
          </a:prstGeom>
          <a:noFill/>
          <a:ln/>
        </p:spPr>
        <p:txBody>
          <a:bodyPr wrap="square" lIns="0" tIns="0" rIns="0" bIns="0" rtlCol="0" anchor="ctr"/>
          <a:lstStyle/>
          <a:p>
            <a:pPr indent="0" marL="0">
              <a:buNone/>
            </a:pPr>
            <a:r>
              <a:rPr lang="en-US" sz="1400" dirty="0">
                <a:solidFill>
                  <a:srgbClr val="D9472F"/>
                </a:solidFill>
                <a:latin typeface="Calibri" pitchFamily="34" charset="0"/>
                <a:ea typeface="Calibri" pitchFamily="34" charset="-122"/>
                <a:cs typeface="Calibri" pitchFamily="34" charset="-120"/>
              </a:rPr>
              <a:t>Audit data babak penyisihan (19.784 simpul): 35,2% mengarah ke tujuan yang lebih dekat ke pantai dan 31,4% jalur ke TES pertama melewati jembatan, sehingga seluruh jalur dihitung ulang.</a:t>
            </a:r>
            <a:endParaRPr lang="en-US" sz="14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Belum ada jalur luring dari posisi pengguna</a:t>
            </a:r>
            <a:endParaRPr lang="en-US" sz="3000" dirty="0"/>
          </a:p>
        </p:txBody>
      </p:sp>
      <p:graphicFrame>
        <p:nvGraphicFramePr>
          <p:cNvPr id="9" name="tabel pembanding"/>
          <p:cNvGraphicFramePr>
            <a:graphicFrameLocks noGrp="1"/>
          </p:cNvGraphicFramePr>
          <p:nvPr>
            <p:extLst>
              <p:ext uri="{D42A27DB-BD31-4B8C-83A1-F6EECF244321}">
                <p14:modId xmlns:p14="http://schemas.microsoft.com/office/powerpoint/2010/main" val="1579011935"/>
              </p:ext>
            </p:extLst>
          </p:nvPr>
        </p:nvGraphicFramePr>
        <p:xfrm>
          <a:off x="548640" y="1188720"/>
          <a:ext cx="7589520" cy="914400"/>
        </p:xfrm>
        <a:graphic>
          <a:graphicData uri="http://schemas.openxmlformats.org/drawingml/2006/table">
            <a:tbl>
              <a:tblPr/>
              <a:tblGrid>
                <a:gridCol w="2331720"/>
                <a:gridCol w="2331720"/>
                <a:gridCol w="2926080"/>
              </a:tblGrid>
              <a:tr h="438912">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Pembanding</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Fokus</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Kebutuhan yang belum terjawab</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r>
              <a:tr h="438912">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Padang Sigap</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Peta rencana evakuasi</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Pengguna menemukan posisinya sendiri</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438912">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WebGIS Renevak</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Lapisan jalur dan zona</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Butuh koneksi; tanpa arahan dari posisi</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InaRISK (BNPB)</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Informasi risiko</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Tanpa navigasi; butuh koneksi</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438912">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InaTEWS (BMKG)</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Peringatan resmi</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Tidak menentukan jalur dari posisi</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NVS Tsunami Evacuation</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Jalur keluar zona (AS)</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Jalur sebagai layanan daring</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438912">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Zenkoku Hinanjo Guide</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Tempat terdekat (Jepang)</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Luring hanya arah garis lurus</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Google Maps</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Navigasi umum</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Jalan kaki tidak luring; tanpa aturan TES/TEA</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438912">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Penelitian jalur Padang</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Tempat, jalur, aksesibilitas</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Belum disajikan sebagai navigasi luring</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Pemodelan berbasis agen</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Pergerakan kolektif</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Umumnya untuk analisis perencanaan</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bl>
          </a:graphicData>
        </a:graphic>
      </p:graphicFrame>
      <p:sp>
        <p:nvSpPr>
          <p:cNvPr id="4" name="kartu posisi"/>
          <p:cNvSpPr/>
          <p:nvPr/>
        </p:nvSpPr>
        <p:spPr>
          <a:xfrm>
            <a:off x="8366760" y="1188720"/>
            <a:ext cx="3273552" cy="4434840"/>
          </a:xfrm>
          <a:prstGeom prst="roundRect">
            <a:avLst>
              <a:gd name="adj" fmla="val 2235"/>
            </a:avLst>
          </a:prstGeom>
          <a:solidFill>
            <a:srgbClr val="14365D"/>
          </a:solidFill>
          <a:ln w="12700">
            <a:solidFill>
              <a:srgbClr val="14365D"/>
            </a:solidFill>
            <a:prstDash val="solid"/>
          </a:ln>
        </p:spPr>
      </p:sp>
      <p:sp>
        <p:nvSpPr>
          <p:cNvPr id="5" name="posisi lingkaran"/>
          <p:cNvSpPr/>
          <p:nvPr/>
        </p:nvSpPr>
        <p:spPr>
          <a:xfrm>
            <a:off x="8641080" y="1463040"/>
            <a:ext cx="777240" cy="777240"/>
          </a:xfrm>
          <a:prstGeom prst="ellipse">
            <a:avLst/>
          </a:prstGeom>
          <a:solidFill>
            <a:srgbClr val="F5B700"/>
          </a:solidFill>
          <a:ln w="12700">
            <a:solidFill>
              <a:srgbClr val="F5B700"/>
            </a:solidFill>
            <a:prstDash val="solid"/>
          </a:ln>
        </p:spPr>
      </p:sp>
      <p:pic>
        <p:nvPicPr>
          <p:cNvPr id="6" name="posisi ikon" descr="preencoded.png">    </p:cNvPr>
          <p:cNvPicPr>
            <a:picLocks noChangeAspect="1"/>
          </p:cNvPicPr>
          <p:nvPr/>
        </p:nvPicPr>
        <p:blipFill>
          <a:blip r:embed="rId1"/>
          <a:stretch>
            <a:fillRect/>
          </a:stretch>
        </p:blipFill>
        <p:spPr>
          <a:xfrm>
            <a:off x="8835390" y="1657350"/>
            <a:ext cx="388620" cy="388620"/>
          </a:xfrm>
          <a:prstGeom prst="rect">
            <a:avLst/>
          </a:prstGeom>
        </p:spPr>
      </p:pic>
      <p:sp>
        <p:nvSpPr>
          <p:cNvPr id="7" name="judul posisi"/>
          <p:cNvSpPr txBox="1"/>
          <p:nvPr/>
        </p:nvSpPr>
        <p:spPr>
          <a:xfrm>
            <a:off x="8641080" y="2377440"/>
            <a:ext cx="2743200" cy="457200"/>
          </a:xfrm>
          <a:prstGeom prst="rect">
            <a:avLst/>
          </a:prstGeom>
          <a:noFill/>
          <a:ln/>
        </p:spPr>
        <p:txBody>
          <a:bodyPr wrap="square" lIns="0" tIns="0" rIns="0" bIns="0" rtlCol="0" anchor="t"/>
          <a:lstStyle/>
          <a:p>
            <a:pPr indent="0" marL="0">
              <a:buNone/>
            </a:pPr>
            <a:r>
              <a:rPr lang="en-US" sz="2000" b="1" dirty="0">
                <a:solidFill>
                  <a:srgbClr val="F5B700"/>
                </a:solidFill>
                <a:latin typeface="Calibri" pitchFamily="34" charset="0"/>
                <a:ea typeface="Calibri" pitchFamily="34" charset="-122"/>
                <a:cs typeface="Calibri" pitchFamily="34" charset="-120"/>
              </a:rPr>
              <a:t>Siaga Padang</a:t>
            </a:r>
            <a:endParaRPr lang="en-US" sz="2000" dirty="0"/>
          </a:p>
        </p:txBody>
      </p:sp>
      <p:sp>
        <p:nvSpPr>
          <p:cNvPr id="8" name="isi posisi"/>
          <p:cNvSpPr txBox="1"/>
          <p:nvPr/>
        </p:nvSpPr>
        <p:spPr>
          <a:xfrm>
            <a:off x="8641080" y="2880360"/>
            <a:ext cx="2788920" cy="26517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Arahan dari koordinat ponsel</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Jalur jalan kaki tersimpan di ponsel</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Aturan BPBD; tujuan resmi TES, TEA, zona hijau</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Peringatan resmi membuka layar evakuasi</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Porsi daya tampung dari pemodelan kolektif</a:t>
            </a:r>
            <a:endParaRPr lang="en-US" sz="1400" dirty="0"/>
          </a:p>
        </p:txBody>
      </p:sp>
      <p:sp>
        <p:nvSpPr>
          <p:cNvPr id="9"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Sumber: deskripsi resmi tiap aplikasi dan publikasi yang dirujuk (L 1.7, Tabel 1.2).</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Rumusan masalah dan tujuan</a:t>
            </a:r>
            <a:endParaRPr lang="en-US" sz="3000" dirty="0"/>
          </a:p>
        </p:txBody>
      </p:sp>
      <p:sp>
        <p:nvSpPr>
          <p:cNvPr id="3" name="judul rumusan"/>
          <p:cNvSpPr txBox="1"/>
          <p:nvPr/>
        </p:nvSpPr>
        <p:spPr>
          <a:xfrm>
            <a:off x="548640" y="1234440"/>
            <a:ext cx="5394960" cy="411480"/>
          </a:xfrm>
          <a:prstGeom prst="rect">
            <a:avLst/>
          </a:prstGeom>
          <a:noFill/>
          <a:ln/>
        </p:spPr>
        <p:txBody>
          <a:bodyPr wrap="square" lIns="0" tIns="0" rIns="0" bIns="0" rtlCol="0" anchor="t"/>
          <a:lstStyle/>
          <a:p>
            <a:pPr indent="0" marL="0">
              <a:buNone/>
            </a:pPr>
            <a:r>
              <a:rPr lang="en-US" sz="1900" b="1" dirty="0">
                <a:solidFill>
                  <a:srgbClr val="14365D"/>
                </a:solidFill>
                <a:latin typeface="Calibri" pitchFamily="34" charset="0"/>
                <a:ea typeface="Calibri" pitchFamily="34" charset="-122"/>
                <a:cs typeface="Calibri" pitchFamily="34" charset="-120"/>
              </a:rPr>
              <a:t>Rumusan masalah</a:t>
            </a:r>
            <a:endParaRPr lang="en-US" sz="1900" dirty="0"/>
          </a:p>
        </p:txBody>
      </p:sp>
      <p:sp>
        <p:nvSpPr>
          <p:cNvPr id="4" name="rumusan 1 bulatan"/>
          <p:cNvSpPr/>
          <p:nvPr/>
        </p:nvSpPr>
        <p:spPr>
          <a:xfrm>
            <a:off x="548640" y="1783080"/>
            <a:ext cx="502920" cy="502920"/>
          </a:xfrm>
          <a:prstGeom prst="ellipse">
            <a:avLst/>
          </a:prstGeom>
          <a:solidFill>
            <a:srgbClr val="14365D"/>
          </a:solidFill>
          <a:ln w="12700">
            <a:solidFill>
              <a:srgbClr val="14365D"/>
            </a:solidFill>
            <a:prstDash val="solid"/>
          </a:ln>
        </p:spPr>
      </p:sp>
      <p:sp>
        <p:nvSpPr>
          <p:cNvPr id="5" name="rumusan 1 nomor"/>
          <p:cNvSpPr txBox="1"/>
          <p:nvPr/>
        </p:nvSpPr>
        <p:spPr>
          <a:xfrm>
            <a:off x="548640" y="178308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isi rumusan 1"/>
          <p:cNvSpPr txBox="1"/>
          <p:nvPr/>
        </p:nvSpPr>
        <p:spPr>
          <a:xfrm>
            <a:off x="1234440" y="1783080"/>
            <a:ext cx="4709160" cy="914400"/>
          </a:xfrm>
          <a:prstGeom prst="rect">
            <a:avLst/>
          </a:prstGeom>
          <a:noFill/>
          <a:ln/>
        </p:spPr>
        <p:txBody>
          <a:bodyPr wrap="square" lIns="0" tIns="0" rIns="0" bIns="0" rtlCol="0" anchor="t"/>
          <a:lstStyle/>
          <a:p>
            <a:pPr indent="0" marL="0">
              <a:buNone/>
            </a:pPr>
            <a:r>
              <a:rPr lang="en-US" sz="1500" dirty="0">
                <a:solidFill>
                  <a:srgbClr val="1B2433"/>
                </a:solidFill>
                <a:latin typeface="Calibri" pitchFamily="34" charset="0"/>
                <a:ea typeface="Calibri" pitchFamily="34" charset="-122"/>
                <a:cs typeface="Calibri" pitchFamily="34" charset="-120"/>
              </a:rPr>
              <a:t>Memberi arahan evakuasi dari posisi pengguna saat itu, tanpa bergantung pada tempat tinggalnya</a:t>
            </a:r>
            <a:endParaRPr lang="en-US" sz="1500" dirty="0"/>
          </a:p>
        </p:txBody>
      </p:sp>
      <p:sp>
        <p:nvSpPr>
          <p:cNvPr id="7" name="rumusan 2 bulatan"/>
          <p:cNvSpPr/>
          <p:nvPr/>
        </p:nvSpPr>
        <p:spPr>
          <a:xfrm>
            <a:off x="548640" y="2807208"/>
            <a:ext cx="502920" cy="502920"/>
          </a:xfrm>
          <a:prstGeom prst="ellipse">
            <a:avLst/>
          </a:prstGeom>
          <a:solidFill>
            <a:srgbClr val="14365D"/>
          </a:solidFill>
          <a:ln w="12700">
            <a:solidFill>
              <a:srgbClr val="14365D"/>
            </a:solidFill>
            <a:prstDash val="solid"/>
          </a:ln>
        </p:spPr>
      </p:sp>
      <p:sp>
        <p:nvSpPr>
          <p:cNvPr id="8" name="rumusan 2 nomor"/>
          <p:cNvSpPr txBox="1"/>
          <p:nvPr/>
        </p:nvSpPr>
        <p:spPr>
          <a:xfrm>
            <a:off x="548640" y="2807208"/>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isi rumusan 2"/>
          <p:cNvSpPr txBox="1"/>
          <p:nvPr/>
        </p:nvSpPr>
        <p:spPr>
          <a:xfrm>
            <a:off x="1234440" y="2807208"/>
            <a:ext cx="4709160" cy="914400"/>
          </a:xfrm>
          <a:prstGeom prst="rect">
            <a:avLst/>
          </a:prstGeom>
          <a:noFill/>
          <a:ln/>
        </p:spPr>
        <p:txBody>
          <a:bodyPr wrap="square" lIns="0" tIns="0" rIns="0" bIns="0" rtlCol="0" anchor="t"/>
          <a:lstStyle/>
          <a:p>
            <a:pPr indent="0" marL="0">
              <a:buNone/>
            </a:pPr>
            <a:r>
              <a:rPr lang="en-US" sz="1500" dirty="0">
                <a:solidFill>
                  <a:srgbClr val="1B2433"/>
                </a:solidFill>
                <a:latin typeface="Calibri" pitchFamily="34" charset="0"/>
                <a:ea typeface="Calibri" pitchFamily="34" charset="-122"/>
                <a:cs typeface="Calibri" pitchFamily="34" charset="-120"/>
              </a:rPr>
              <a:t>Menjaga arahan tetap cepat diakses saat jaringan telekomunikasi tidak tersedia</a:t>
            </a:r>
            <a:endParaRPr lang="en-US" sz="1500" dirty="0"/>
          </a:p>
        </p:txBody>
      </p:sp>
      <p:sp>
        <p:nvSpPr>
          <p:cNvPr id="10" name="rumusan 3 bulatan"/>
          <p:cNvSpPr/>
          <p:nvPr/>
        </p:nvSpPr>
        <p:spPr>
          <a:xfrm>
            <a:off x="548640" y="3831336"/>
            <a:ext cx="502920" cy="502920"/>
          </a:xfrm>
          <a:prstGeom prst="ellipse">
            <a:avLst/>
          </a:prstGeom>
          <a:solidFill>
            <a:srgbClr val="14365D"/>
          </a:solidFill>
          <a:ln w="12700">
            <a:solidFill>
              <a:srgbClr val="14365D"/>
            </a:solidFill>
            <a:prstDash val="solid"/>
          </a:ln>
        </p:spPr>
      </p:sp>
      <p:sp>
        <p:nvSpPr>
          <p:cNvPr id="11" name="rumusan 3 nomor"/>
          <p:cNvSpPr txBox="1"/>
          <p:nvPr/>
        </p:nvSpPr>
        <p:spPr>
          <a:xfrm>
            <a:off x="548640" y="3831336"/>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isi rumusan 3"/>
          <p:cNvSpPr txBox="1"/>
          <p:nvPr/>
        </p:nvSpPr>
        <p:spPr>
          <a:xfrm>
            <a:off x="1234440" y="3831336"/>
            <a:ext cx="4709160" cy="914400"/>
          </a:xfrm>
          <a:prstGeom prst="rect">
            <a:avLst/>
          </a:prstGeom>
          <a:noFill/>
          <a:ln/>
        </p:spPr>
        <p:txBody>
          <a:bodyPr wrap="square" lIns="0" tIns="0" rIns="0" bIns="0" rtlCol="0" anchor="t"/>
          <a:lstStyle/>
          <a:p>
            <a:pPr indent="0" marL="0">
              <a:buNone/>
            </a:pPr>
            <a:r>
              <a:rPr lang="en-US" sz="1500" dirty="0">
                <a:solidFill>
                  <a:srgbClr val="1B2433"/>
                </a:solidFill>
                <a:latin typeface="Calibri" pitchFamily="34" charset="0"/>
                <a:ea typeface="Calibri" pitchFamily="34" charset="-122"/>
                <a:cs typeface="Calibri" pitchFamily="34" charset="-120"/>
              </a:rPr>
              <a:t>Memilih tujuan yang menjauhi pantai dan terjangkau, serta menilai pembagian penduduk dan beban tempat evakuasi</a:t>
            </a:r>
            <a:endParaRPr lang="en-US" sz="1500" dirty="0"/>
          </a:p>
        </p:txBody>
      </p:sp>
      <p:sp>
        <p:nvSpPr>
          <p:cNvPr id="13" name="rumusan 4 bulatan"/>
          <p:cNvSpPr/>
          <p:nvPr/>
        </p:nvSpPr>
        <p:spPr>
          <a:xfrm>
            <a:off x="548640" y="4855464"/>
            <a:ext cx="502920" cy="502920"/>
          </a:xfrm>
          <a:prstGeom prst="ellipse">
            <a:avLst/>
          </a:prstGeom>
          <a:solidFill>
            <a:srgbClr val="14365D"/>
          </a:solidFill>
          <a:ln w="12700">
            <a:solidFill>
              <a:srgbClr val="14365D"/>
            </a:solidFill>
            <a:prstDash val="solid"/>
          </a:ln>
        </p:spPr>
      </p:sp>
      <p:sp>
        <p:nvSpPr>
          <p:cNvPr id="14" name="rumusan 4 nomor"/>
          <p:cNvSpPr txBox="1"/>
          <p:nvPr/>
        </p:nvSpPr>
        <p:spPr>
          <a:xfrm>
            <a:off x="548640" y="4855464"/>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isi rumusan 4"/>
          <p:cNvSpPr txBox="1"/>
          <p:nvPr/>
        </p:nvSpPr>
        <p:spPr>
          <a:xfrm>
            <a:off x="1234440" y="4855464"/>
            <a:ext cx="4709160" cy="914400"/>
          </a:xfrm>
          <a:prstGeom prst="rect">
            <a:avLst/>
          </a:prstGeom>
          <a:noFill/>
          <a:ln/>
        </p:spPr>
        <p:txBody>
          <a:bodyPr wrap="square" lIns="0" tIns="0" rIns="0" bIns="0" rtlCol="0" anchor="t"/>
          <a:lstStyle/>
          <a:p>
            <a:pPr indent="0" marL="0">
              <a:buNone/>
            </a:pPr>
            <a:r>
              <a:rPr lang="en-US" sz="1500" dirty="0">
                <a:solidFill>
                  <a:srgbClr val="1B2433"/>
                </a:solidFill>
                <a:latin typeface="Calibri" pitchFamily="34" charset="0"/>
                <a:ea typeface="Calibri" pitchFamily="34" charset="-122"/>
                <a:cs typeface="Calibri" pitchFamily="34" charset="-120"/>
              </a:rPr>
              <a:t>Menyajikan arahan yang mudah dipahami saat tertekan, waktu terbatas, atau pencahayaan kurang</a:t>
            </a:r>
            <a:endParaRPr lang="en-US" sz="1500" dirty="0"/>
          </a:p>
        </p:txBody>
      </p:sp>
      <p:sp>
        <p:nvSpPr>
          <p:cNvPr id="16" name="kartu tujuan"/>
          <p:cNvSpPr/>
          <p:nvPr/>
        </p:nvSpPr>
        <p:spPr>
          <a:xfrm>
            <a:off x="6309360" y="1234440"/>
            <a:ext cx="5330952" cy="4617720"/>
          </a:xfrm>
          <a:prstGeom prst="roundRect">
            <a:avLst>
              <a:gd name="adj" fmla="val 1584"/>
            </a:avLst>
          </a:prstGeom>
          <a:solidFill>
            <a:srgbClr val="EEF2F7"/>
          </a:solidFill>
          <a:ln w="12700">
            <a:solidFill>
              <a:srgbClr val="EEF2F7"/>
            </a:solidFill>
            <a:prstDash val="solid"/>
          </a:ln>
        </p:spPr>
      </p:sp>
      <p:sp>
        <p:nvSpPr>
          <p:cNvPr id="17" name="judul tujuan"/>
          <p:cNvSpPr txBox="1"/>
          <p:nvPr/>
        </p:nvSpPr>
        <p:spPr>
          <a:xfrm>
            <a:off x="6537960" y="1417320"/>
            <a:ext cx="4846320" cy="411480"/>
          </a:xfrm>
          <a:prstGeom prst="rect">
            <a:avLst/>
          </a:prstGeom>
          <a:noFill/>
          <a:ln/>
        </p:spPr>
        <p:txBody>
          <a:bodyPr wrap="square" lIns="0" tIns="0" rIns="0" bIns="0" rtlCol="0" anchor="t"/>
          <a:lstStyle/>
          <a:p>
            <a:pPr indent="0" marL="0">
              <a:buNone/>
            </a:pPr>
            <a:r>
              <a:rPr lang="en-US" sz="1900" b="1" dirty="0">
                <a:solidFill>
                  <a:srgbClr val="14365D"/>
                </a:solidFill>
                <a:latin typeface="Calibri" pitchFamily="34" charset="0"/>
                <a:ea typeface="Calibri" pitchFamily="34" charset="-122"/>
                <a:cs typeface="Calibri" pitchFamily="34" charset="-120"/>
              </a:rPr>
              <a:t>Tujuan khusus</a:t>
            </a:r>
            <a:endParaRPr lang="en-US" sz="1900" dirty="0"/>
          </a:p>
        </p:txBody>
      </p:sp>
      <p:sp>
        <p:nvSpPr>
          <p:cNvPr id="18" name="isi tujuan"/>
          <p:cNvSpPr txBox="1"/>
          <p:nvPr/>
        </p:nvSpPr>
        <p:spPr>
          <a:xfrm>
            <a:off x="6537960" y="1920240"/>
            <a:ext cx="4892040" cy="384048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500" dirty="0">
                <a:solidFill>
                  <a:srgbClr val="1B2433"/>
                </a:solidFill>
                <a:latin typeface="Calibri" pitchFamily="34" charset="0"/>
                <a:ea typeface="Calibri" pitchFamily="34" charset="-122"/>
                <a:cs typeface="Calibri" pitchFamily="34" charset="-120"/>
              </a:rPr>
              <a:t>Status zona dan tujuan dari posisi pengguna</a:t>
            </a:r>
            <a:endParaRPr lang="en-US" sz="1500" dirty="0"/>
          </a:p>
          <a:p>
            <a:pPr marL="342900" indent="-342900">
              <a:spcAft>
                <a:spcPts val="600"/>
              </a:spcAft>
              <a:buSzPct val="100000"/>
              <a:buFont typeface="+mj-lt"/>
              <a:buAutoNum type="arabicPeriod" startAt="1"/>
            </a:pPr>
            <a:r>
              <a:rPr lang="en-US" sz="1500" dirty="0">
                <a:solidFill>
                  <a:srgbClr val="1B2433"/>
                </a:solidFill>
                <a:latin typeface="Calibri" pitchFamily="34" charset="0"/>
                <a:ea typeface="Calibri" pitchFamily="34" charset="-122"/>
                <a:cs typeface="Calibri" pitchFamily="34" charset="-120"/>
              </a:rPr>
              <a:t>Navigasi inti tanpa internet</a:t>
            </a:r>
            <a:endParaRPr lang="en-US" sz="1500" dirty="0"/>
          </a:p>
          <a:p>
            <a:pPr marL="342900" indent="-342900">
              <a:spcAft>
                <a:spcPts val="600"/>
              </a:spcAft>
              <a:buSzPct val="100000"/>
              <a:buFont typeface="+mj-lt"/>
              <a:buAutoNum type="arabicPeriod" startAt="1"/>
            </a:pPr>
            <a:r>
              <a:rPr lang="en-US" sz="1500" dirty="0">
                <a:solidFill>
                  <a:srgbClr val="1B2433"/>
                </a:solidFill>
                <a:latin typeface="Calibri" pitchFamily="34" charset="0"/>
                <a:ea typeface="Calibri" pitchFamily="34" charset="-122"/>
                <a:cs typeface="Calibri" pitchFamily="34" charset="-120"/>
              </a:rPr>
              <a:t>Tujuan menjauhi pantai dan terjangkau, dengan alternatif</a:t>
            </a:r>
            <a:endParaRPr lang="en-US" sz="1500" dirty="0"/>
          </a:p>
          <a:p>
            <a:pPr marL="342900" indent="-342900">
              <a:spcAft>
                <a:spcPts val="600"/>
              </a:spcAft>
              <a:buSzPct val="100000"/>
              <a:buFont typeface="+mj-lt"/>
              <a:buAutoNum type="arabicPeriod" startAt="1"/>
            </a:pPr>
            <a:r>
              <a:rPr lang="en-US" sz="1500" dirty="0">
                <a:solidFill>
                  <a:srgbClr val="1B2433"/>
                </a:solidFill>
                <a:latin typeface="Calibri" pitchFamily="34" charset="0"/>
                <a:ea typeface="Calibri" pitchFamily="34" charset="-122"/>
                <a:cs typeface="Calibri" pitchFamily="34" charset="-120"/>
              </a:rPr>
              <a:t>Arahan yang dipahami dalam sekali lihat</a:t>
            </a:r>
            <a:endParaRPr lang="en-US" sz="1500" dirty="0"/>
          </a:p>
          <a:p>
            <a:pPr marL="342900" indent="-342900">
              <a:spcAft>
                <a:spcPts val="600"/>
              </a:spcAft>
              <a:buSzPct val="100000"/>
              <a:buFont typeface="+mj-lt"/>
              <a:buAutoNum type="arabicPeriod" startAt="1"/>
            </a:pPr>
            <a:r>
              <a:rPr lang="en-US" sz="1500" dirty="0">
                <a:solidFill>
                  <a:srgbClr val="1B2433"/>
                </a:solidFill>
                <a:latin typeface="Calibri" pitchFamily="34" charset="0"/>
                <a:ea typeface="Calibri" pitchFamily="34" charset="-122"/>
                <a:cs typeface="Calibri" pitchFamily="34" charset="-120"/>
              </a:rPr>
              <a:t>Beban TES, jangkauan 20 menit, dan wilayah prioritas bagi BPBD</a:t>
            </a:r>
            <a:endParaRPr lang="en-US" sz="1500" dirty="0"/>
          </a:p>
          <a:p>
            <a:pPr marL="342900" indent="-342900">
              <a:spcAft>
                <a:spcPts val="600"/>
              </a:spcAft>
              <a:buSzPct val="100000"/>
              <a:buFont typeface="+mj-lt"/>
              <a:buAutoNum type="arabicPeriod" startAt="1"/>
            </a:pPr>
            <a:r>
              <a:rPr lang="en-US" sz="1500" dirty="0">
                <a:solidFill>
                  <a:srgbClr val="1B2433"/>
                </a:solidFill>
                <a:latin typeface="Calibri" pitchFamily="34" charset="0"/>
                <a:ea typeface="Calibri" pitchFamily="34" charset="-122"/>
                <a:cs typeface="Calibri" pitchFamily="34" charset="-120"/>
              </a:rPr>
              <a:t>Layar evakuasi terbuka otomatis saat peringatan resmi</a:t>
            </a:r>
            <a:endParaRPr lang="en-US" sz="1500" dirty="0"/>
          </a:p>
          <a:p>
            <a:pPr marL="342900" indent="-342900">
              <a:spcAft>
                <a:spcPts val="600"/>
              </a:spcAft>
              <a:buSzPct val="100000"/>
              <a:buFont typeface="+mj-lt"/>
              <a:buAutoNum type="arabicPeriod" startAt="1"/>
            </a:pPr>
            <a:r>
              <a:rPr lang="en-US" sz="1500" dirty="0">
                <a:solidFill>
                  <a:srgbClr val="1B2433"/>
                </a:solidFill>
                <a:latin typeface="Calibri" pitchFamily="34" charset="0"/>
                <a:ea typeface="Calibri" pitchFamily="34" charset="-122"/>
                <a:cs typeface="Calibri" pitchFamily="34" charset="-120"/>
              </a:rPr>
              <a:t>Titik temu keluarga tanpa pelacakan posisi</a:t>
            </a:r>
            <a:endParaRPr lang="en-US" sz="1500" dirty="0"/>
          </a:p>
        </p:txBody>
      </p:sp>
      <p:sp>
        <p:nvSpPr>
          <p:cNvPr id="19"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L 1.6, 2.1, 2.2.</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Lima keunggulan Siaga Padang</a:t>
            </a:r>
            <a:endParaRPr lang="en-US" sz="3000" dirty="0"/>
          </a:p>
        </p:txBody>
      </p:sp>
      <p:sp>
        <p:nvSpPr>
          <p:cNvPr id="3" name="kartu keunggulan 1"/>
          <p:cNvSpPr/>
          <p:nvPr/>
        </p:nvSpPr>
        <p:spPr>
          <a:xfrm>
            <a:off x="548640" y="1325880"/>
            <a:ext cx="2103120" cy="4434840"/>
          </a:xfrm>
          <a:prstGeom prst="roundRect">
            <a:avLst>
              <a:gd name="adj" fmla="val 3478"/>
            </a:avLst>
          </a:prstGeom>
          <a:solidFill>
            <a:srgbClr val="EEF2F7"/>
          </a:solidFill>
          <a:ln w="12700">
            <a:solidFill>
              <a:srgbClr val="EEF2F7"/>
            </a:solidFill>
            <a:prstDash val="solid"/>
          </a:ln>
        </p:spPr>
      </p:sp>
      <p:sp>
        <p:nvSpPr>
          <p:cNvPr id="4" name="keunggulan 1 lingkaran"/>
          <p:cNvSpPr/>
          <p:nvPr/>
        </p:nvSpPr>
        <p:spPr>
          <a:xfrm>
            <a:off x="1188720" y="1600200"/>
            <a:ext cx="822960" cy="822960"/>
          </a:xfrm>
          <a:prstGeom prst="ellipse">
            <a:avLst/>
          </a:prstGeom>
          <a:solidFill>
            <a:srgbClr val="14365D"/>
          </a:solidFill>
          <a:ln w="12700">
            <a:solidFill>
              <a:srgbClr val="14365D"/>
            </a:solidFill>
            <a:prstDash val="solid"/>
          </a:ln>
        </p:spPr>
      </p:sp>
      <p:pic>
        <p:nvPicPr>
          <p:cNvPr id="5" name="keunggulan 1 ikon" descr="preencoded.png">    </p:cNvPr>
          <p:cNvPicPr>
            <a:picLocks noChangeAspect="1"/>
          </p:cNvPicPr>
          <p:nvPr/>
        </p:nvPicPr>
        <p:blipFill>
          <a:blip r:embed="rId1"/>
          <a:stretch>
            <a:fillRect/>
          </a:stretch>
        </p:blipFill>
        <p:spPr>
          <a:xfrm>
            <a:off x="1394460" y="1805940"/>
            <a:ext cx="411480" cy="411480"/>
          </a:xfrm>
          <a:prstGeom prst="rect">
            <a:avLst/>
          </a:prstGeom>
        </p:spPr>
      </p:pic>
      <p:sp>
        <p:nvSpPr>
          <p:cNvPr id="6" name="judul keunggulan 1"/>
          <p:cNvSpPr txBox="1"/>
          <p:nvPr/>
        </p:nvSpPr>
        <p:spPr>
          <a:xfrm>
            <a:off x="731520" y="2606040"/>
            <a:ext cx="1737360" cy="868680"/>
          </a:xfrm>
          <a:prstGeom prst="rect">
            <a:avLst/>
          </a:prstGeom>
          <a:noFill/>
          <a:ln/>
        </p:spPr>
        <p:txBody>
          <a:bodyPr wrap="square" lIns="0" tIns="0" rIns="0" bIns="0" rtlCol="0" anchor="t"/>
          <a:lstStyle/>
          <a:p>
            <a:pPr indent="0" marL="0">
              <a:buNone/>
            </a:pPr>
            <a:r>
              <a:rPr lang="en-US" sz="1600" b="1" dirty="0">
                <a:solidFill>
                  <a:srgbClr val="14365D"/>
                </a:solidFill>
                <a:latin typeface="Calibri" pitchFamily="34" charset="0"/>
                <a:ea typeface="Calibri" pitchFamily="34" charset="-122"/>
                <a:cs typeface="Calibri" pitchFamily="34" charset="-120"/>
              </a:rPr>
              <a:t>Aturan BPBD sejak awal</a:t>
            </a:r>
            <a:endParaRPr lang="en-US" sz="1600" dirty="0"/>
          </a:p>
        </p:txBody>
      </p:sp>
      <p:sp>
        <p:nvSpPr>
          <p:cNvPr id="7" name="isi keunggulan 1"/>
          <p:cNvSpPr txBox="1"/>
          <p:nvPr/>
        </p:nvSpPr>
        <p:spPr>
          <a:xfrm>
            <a:off x="731520" y="3520440"/>
            <a:ext cx="1737360" cy="210312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Jalur menjauhi pantai, jembatan hanya bila tidak ada jalan lain, TEA dan zona hijau didahulukan.</a:t>
            </a:r>
            <a:endParaRPr lang="en-US" sz="1400" dirty="0"/>
          </a:p>
        </p:txBody>
      </p:sp>
      <p:sp>
        <p:nvSpPr>
          <p:cNvPr id="8" name="kartu keunggulan 2"/>
          <p:cNvSpPr/>
          <p:nvPr/>
        </p:nvSpPr>
        <p:spPr>
          <a:xfrm>
            <a:off x="2798064" y="1325880"/>
            <a:ext cx="2103120" cy="4434840"/>
          </a:xfrm>
          <a:prstGeom prst="roundRect">
            <a:avLst>
              <a:gd name="adj" fmla="val 3478"/>
            </a:avLst>
          </a:prstGeom>
          <a:solidFill>
            <a:srgbClr val="EEF2F7"/>
          </a:solidFill>
          <a:ln w="12700">
            <a:solidFill>
              <a:srgbClr val="EEF2F7"/>
            </a:solidFill>
            <a:prstDash val="solid"/>
          </a:ln>
        </p:spPr>
      </p:sp>
      <p:sp>
        <p:nvSpPr>
          <p:cNvPr id="9" name="keunggulan 2 lingkaran"/>
          <p:cNvSpPr/>
          <p:nvPr/>
        </p:nvSpPr>
        <p:spPr>
          <a:xfrm>
            <a:off x="3438144" y="1600200"/>
            <a:ext cx="822960" cy="822960"/>
          </a:xfrm>
          <a:prstGeom prst="ellipse">
            <a:avLst/>
          </a:prstGeom>
          <a:solidFill>
            <a:srgbClr val="F5B700"/>
          </a:solidFill>
          <a:ln w="12700">
            <a:solidFill>
              <a:srgbClr val="F5B700"/>
            </a:solidFill>
            <a:prstDash val="solid"/>
          </a:ln>
        </p:spPr>
      </p:sp>
      <p:pic>
        <p:nvPicPr>
          <p:cNvPr id="10" name="keunggulan 2 ikon" descr="preencoded.png">    </p:cNvPr>
          <p:cNvPicPr>
            <a:picLocks noChangeAspect="1"/>
          </p:cNvPicPr>
          <p:nvPr/>
        </p:nvPicPr>
        <p:blipFill>
          <a:blip r:embed="rId2"/>
          <a:stretch>
            <a:fillRect/>
          </a:stretch>
        </p:blipFill>
        <p:spPr>
          <a:xfrm>
            <a:off x="3643884" y="1805940"/>
            <a:ext cx="411480" cy="411480"/>
          </a:xfrm>
          <a:prstGeom prst="rect">
            <a:avLst/>
          </a:prstGeom>
        </p:spPr>
      </p:pic>
      <p:sp>
        <p:nvSpPr>
          <p:cNvPr id="11" name="judul keunggulan 2"/>
          <p:cNvSpPr txBox="1"/>
          <p:nvPr/>
        </p:nvSpPr>
        <p:spPr>
          <a:xfrm>
            <a:off x="2980944" y="2606040"/>
            <a:ext cx="1737360" cy="868680"/>
          </a:xfrm>
          <a:prstGeom prst="rect">
            <a:avLst/>
          </a:prstGeom>
          <a:noFill/>
          <a:ln/>
        </p:spPr>
        <p:txBody>
          <a:bodyPr wrap="square" lIns="0" tIns="0" rIns="0" bIns="0" rtlCol="0" anchor="t"/>
          <a:lstStyle/>
          <a:p>
            <a:pPr indent="0" marL="0">
              <a:buNone/>
            </a:pPr>
            <a:r>
              <a:rPr lang="en-US" sz="1600" b="1" dirty="0">
                <a:solidFill>
                  <a:srgbClr val="14365D"/>
                </a:solidFill>
                <a:latin typeface="Calibri" pitchFamily="34" charset="0"/>
                <a:ea typeface="Calibri" pitchFamily="34" charset="-122"/>
                <a:cs typeface="Calibri" pitchFamily="34" charset="-120"/>
              </a:rPr>
              <a:t>Tetap jalan dalam mode pesawat</a:t>
            </a:r>
            <a:endParaRPr lang="en-US" sz="1600" dirty="0"/>
          </a:p>
        </p:txBody>
      </p:sp>
      <p:sp>
        <p:nvSpPr>
          <p:cNvPr id="12" name="isi keunggulan 2"/>
          <p:cNvSpPr txBox="1"/>
          <p:nvPr/>
        </p:nvSpPr>
        <p:spPr>
          <a:xfrm>
            <a:off x="2980944" y="3520440"/>
            <a:ext cx="1737360" cy="210312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Tujuan dipilih dari jalur tersimpan menurut sisa waktu, tanpa server dan tanpa menghitung ulang.</a:t>
            </a:r>
            <a:endParaRPr lang="en-US" sz="1400" dirty="0"/>
          </a:p>
        </p:txBody>
      </p:sp>
      <p:sp>
        <p:nvSpPr>
          <p:cNvPr id="13" name="kartu keunggulan 3"/>
          <p:cNvSpPr/>
          <p:nvPr/>
        </p:nvSpPr>
        <p:spPr>
          <a:xfrm>
            <a:off x="5047488" y="1325880"/>
            <a:ext cx="2103120" cy="4434840"/>
          </a:xfrm>
          <a:prstGeom prst="roundRect">
            <a:avLst>
              <a:gd name="adj" fmla="val 3478"/>
            </a:avLst>
          </a:prstGeom>
          <a:solidFill>
            <a:srgbClr val="EEF2F7"/>
          </a:solidFill>
          <a:ln w="12700">
            <a:solidFill>
              <a:srgbClr val="EEF2F7"/>
            </a:solidFill>
            <a:prstDash val="solid"/>
          </a:ln>
        </p:spPr>
      </p:sp>
      <p:sp>
        <p:nvSpPr>
          <p:cNvPr id="14" name="keunggulan 3 lingkaran"/>
          <p:cNvSpPr/>
          <p:nvPr/>
        </p:nvSpPr>
        <p:spPr>
          <a:xfrm>
            <a:off x="5687568" y="1600200"/>
            <a:ext cx="822960" cy="822960"/>
          </a:xfrm>
          <a:prstGeom prst="ellipse">
            <a:avLst/>
          </a:prstGeom>
          <a:solidFill>
            <a:srgbClr val="14365D"/>
          </a:solidFill>
          <a:ln w="12700">
            <a:solidFill>
              <a:srgbClr val="14365D"/>
            </a:solidFill>
            <a:prstDash val="solid"/>
          </a:ln>
        </p:spPr>
      </p:sp>
      <p:pic>
        <p:nvPicPr>
          <p:cNvPr id="15" name="keunggulan 3 ikon" descr="preencoded.png">    </p:cNvPr>
          <p:cNvPicPr>
            <a:picLocks noChangeAspect="1"/>
          </p:cNvPicPr>
          <p:nvPr/>
        </p:nvPicPr>
        <p:blipFill>
          <a:blip r:embed="rId3"/>
          <a:stretch>
            <a:fillRect/>
          </a:stretch>
        </p:blipFill>
        <p:spPr>
          <a:xfrm>
            <a:off x="5893308" y="1805940"/>
            <a:ext cx="411480" cy="411480"/>
          </a:xfrm>
          <a:prstGeom prst="rect">
            <a:avLst/>
          </a:prstGeom>
        </p:spPr>
      </p:pic>
      <p:sp>
        <p:nvSpPr>
          <p:cNvPr id="16" name="judul keunggulan 3"/>
          <p:cNvSpPr txBox="1"/>
          <p:nvPr/>
        </p:nvSpPr>
        <p:spPr>
          <a:xfrm>
            <a:off x="5230368" y="2606040"/>
            <a:ext cx="1737360" cy="868680"/>
          </a:xfrm>
          <a:prstGeom prst="rect">
            <a:avLst/>
          </a:prstGeom>
          <a:noFill/>
          <a:ln/>
        </p:spPr>
        <p:txBody>
          <a:bodyPr wrap="square" lIns="0" tIns="0" rIns="0" bIns="0" rtlCol="0" anchor="t"/>
          <a:lstStyle/>
          <a:p>
            <a:pPr indent="0" marL="0">
              <a:buNone/>
            </a:pPr>
            <a:r>
              <a:rPr lang="en-US" sz="1600" b="1" dirty="0">
                <a:solidFill>
                  <a:srgbClr val="14365D"/>
                </a:solidFill>
                <a:latin typeface="Calibri" pitchFamily="34" charset="0"/>
                <a:ea typeface="Calibri" pitchFamily="34" charset="-122"/>
                <a:cs typeface="Calibri" pitchFamily="34" charset="-120"/>
              </a:rPr>
              <a:t>Peringatan membuka arahan</a:t>
            </a:r>
            <a:endParaRPr lang="en-US" sz="1600" dirty="0"/>
          </a:p>
        </p:txBody>
      </p:sp>
      <p:sp>
        <p:nvSpPr>
          <p:cNvPr id="17" name="isi keunggulan 3"/>
          <p:cNvSpPr txBox="1"/>
          <p:nvPr/>
        </p:nvSpPr>
        <p:spPr>
          <a:xfrm>
            <a:off x="5230368" y="3520440"/>
            <a:ext cx="1737360" cy="210312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Peringatan resmi langsung membuka layar evakuasi; sirene dan getar tetap aktif saat senyap.</a:t>
            </a:r>
            <a:endParaRPr lang="en-US" sz="1400" dirty="0"/>
          </a:p>
        </p:txBody>
      </p:sp>
      <p:sp>
        <p:nvSpPr>
          <p:cNvPr id="18" name="kartu keunggulan 4"/>
          <p:cNvSpPr/>
          <p:nvPr/>
        </p:nvSpPr>
        <p:spPr>
          <a:xfrm>
            <a:off x="7296912" y="1325880"/>
            <a:ext cx="2103120" cy="4434840"/>
          </a:xfrm>
          <a:prstGeom prst="roundRect">
            <a:avLst>
              <a:gd name="adj" fmla="val 3478"/>
            </a:avLst>
          </a:prstGeom>
          <a:solidFill>
            <a:srgbClr val="EEF2F7"/>
          </a:solidFill>
          <a:ln w="12700">
            <a:solidFill>
              <a:srgbClr val="EEF2F7"/>
            </a:solidFill>
            <a:prstDash val="solid"/>
          </a:ln>
        </p:spPr>
      </p:sp>
      <p:sp>
        <p:nvSpPr>
          <p:cNvPr id="19" name="keunggulan 4 lingkaran"/>
          <p:cNvSpPr/>
          <p:nvPr/>
        </p:nvSpPr>
        <p:spPr>
          <a:xfrm>
            <a:off x="7936992" y="1600200"/>
            <a:ext cx="822960" cy="822960"/>
          </a:xfrm>
          <a:prstGeom prst="ellipse">
            <a:avLst/>
          </a:prstGeom>
          <a:solidFill>
            <a:srgbClr val="14365D"/>
          </a:solidFill>
          <a:ln w="12700">
            <a:solidFill>
              <a:srgbClr val="14365D"/>
            </a:solidFill>
            <a:prstDash val="solid"/>
          </a:ln>
        </p:spPr>
      </p:sp>
      <p:pic>
        <p:nvPicPr>
          <p:cNvPr id="20" name="keunggulan 4 ikon" descr="preencoded.png">    </p:cNvPr>
          <p:cNvPicPr>
            <a:picLocks noChangeAspect="1"/>
          </p:cNvPicPr>
          <p:nvPr/>
        </p:nvPicPr>
        <p:blipFill>
          <a:blip r:embed="rId4"/>
          <a:stretch>
            <a:fillRect/>
          </a:stretch>
        </p:blipFill>
        <p:spPr>
          <a:xfrm>
            <a:off x="8142732" y="1805940"/>
            <a:ext cx="411480" cy="411480"/>
          </a:xfrm>
          <a:prstGeom prst="rect">
            <a:avLst/>
          </a:prstGeom>
        </p:spPr>
      </p:pic>
      <p:sp>
        <p:nvSpPr>
          <p:cNvPr id="21" name="judul keunggulan 4"/>
          <p:cNvSpPr txBox="1"/>
          <p:nvPr/>
        </p:nvSpPr>
        <p:spPr>
          <a:xfrm>
            <a:off x="7479792" y="2606040"/>
            <a:ext cx="1737360" cy="868680"/>
          </a:xfrm>
          <a:prstGeom prst="rect">
            <a:avLst/>
          </a:prstGeom>
          <a:noFill/>
          <a:ln/>
        </p:spPr>
        <p:txBody>
          <a:bodyPr wrap="square" lIns="0" tIns="0" rIns="0" bIns="0" rtlCol="0" anchor="t"/>
          <a:lstStyle/>
          <a:p>
            <a:pPr indent="0" marL="0">
              <a:buNone/>
            </a:pPr>
            <a:r>
              <a:rPr lang="en-US" sz="1600" b="1" dirty="0">
                <a:solidFill>
                  <a:srgbClr val="14365D"/>
                </a:solidFill>
                <a:latin typeface="Calibri" pitchFamily="34" charset="0"/>
                <a:ea typeface="Calibri" pitchFamily="34" charset="-122"/>
                <a:cs typeface="Calibri" pitchFamily="34" charset="-120"/>
              </a:rPr>
              <a:t>Jalur alternatif dan keluarga</a:t>
            </a:r>
            <a:endParaRPr lang="en-US" sz="1600" dirty="0"/>
          </a:p>
        </p:txBody>
      </p:sp>
      <p:sp>
        <p:nvSpPr>
          <p:cNvPr id="22" name="isi keunggulan 4"/>
          <p:cNvSpPr txBox="1"/>
          <p:nvPr/>
        </p:nvSpPr>
        <p:spPr>
          <a:xfrm>
            <a:off x="7479792" y="3520440"/>
            <a:ext cx="1737360" cy="210312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Jalan memutar saat terhalang, serta rencana titik temu keluarga lewat kode QR.</a:t>
            </a:r>
            <a:endParaRPr lang="en-US" sz="1400" dirty="0"/>
          </a:p>
        </p:txBody>
      </p:sp>
      <p:sp>
        <p:nvSpPr>
          <p:cNvPr id="23" name="kartu keunggulan 5"/>
          <p:cNvSpPr/>
          <p:nvPr/>
        </p:nvSpPr>
        <p:spPr>
          <a:xfrm>
            <a:off x="9546336" y="1325880"/>
            <a:ext cx="2103120" cy="4434840"/>
          </a:xfrm>
          <a:prstGeom prst="roundRect">
            <a:avLst>
              <a:gd name="adj" fmla="val 3478"/>
            </a:avLst>
          </a:prstGeom>
          <a:solidFill>
            <a:srgbClr val="EEF2F7"/>
          </a:solidFill>
          <a:ln w="12700">
            <a:solidFill>
              <a:srgbClr val="EEF2F7"/>
            </a:solidFill>
            <a:prstDash val="solid"/>
          </a:ln>
        </p:spPr>
      </p:sp>
      <p:sp>
        <p:nvSpPr>
          <p:cNvPr id="24" name="keunggulan 5 lingkaran"/>
          <p:cNvSpPr/>
          <p:nvPr/>
        </p:nvSpPr>
        <p:spPr>
          <a:xfrm>
            <a:off x="10186416" y="1600200"/>
            <a:ext cx="822960" cy="822960"/>
          </a:xfrm>
          <a:prstGeom prst="ellipse">
            <a:avLst/>
          </a:prstGeom>
          <a:solidFill>
            <a:srgbClr val="14365D"/>
          </a:solidFill>
          <a:ln w="12700">
            <a:solidFill>
              <a:srgbClr val="14365D"/>
            </a:solidFill>
            <a:prstDash val="solid"/>
          </a:ln>
        </p:spPr>
      </p:sp>
      <p:pic>
        <p:nvPicPr>
          <p:cNvPr id="25" name="keunggulan 5 ikon" descr="preencoded.png">    </p:cNvPr>
          <p:cNvPicPr>
            <a:picLocks noChangeAspect="1"/>
          </p:cNvPicPr>
          <p:nvPr/>
        </p:nvPicPr>
        <p:blipFill>
          <a:blip r:embed="rId5"/>
          <a:stretch>
            <a:fillRect/>
          </a:stretch>
        </p:blipFill>
        <p:spPr>
          <a:xfrm>
            <a:off x="10392156" y="1805940"/>
            <a:ext cx="411480" cy="411480"/>
          </a:xfrm>
          <a:prstGeom prst="rect">
            <a:avLst/>
          </a:prstGeom>
        </p:spPr>
      </p:pic>
      <p:sp>
        <p:nvSpPr>
          <p:cNvPr id="26" name="judul keunggulan 5"/>
          <p:cNvSpPr txBox="1"/>
          <p:nvPr/>
        </p:nvSpPr>
        <p:spPr>
          <a:xfrm>
            <a:off x="9729216" y="2606040"/>
            <a:ext cx="1737360" cy="868680"/>
          </a:xfrm>
          <a:prstGeom prst="rect">
            <a:avLst/>
          </a:prstGeom>
          <a:noFill/>
          <a:ln/>
        </p:spPr>
        <p:txBody>
          <a:bodyPr wrap="square" lIns="0" tIns="0" rIns="0" bIns="0" rtlCol="0" anchor="t"/>
          <a:lstStyle/>
          <a:p>
            <a:pPr indent="0" marL="0">
              <a:buNone/>
            </a:pPr>
            <a:r>
              <a:rPr lang="en-US" sz="1600" b="1" dirty="0">
                <a:solidFill>
                  <a:srgbClr val="14365D"/>
                </a:solidFill>
                <a:latin typeface="Calibri" pitchFamily="34" charset="0"/>
                <a:ea typeface="Calibri" pitchFamily="34" charset="-122"/>
                <a:cs typeface="Calibri" pitchFamily="34" charset="-120"/>
              </a:rPr>
              <a:t>Bahan perencanaan BPBD</a:t>
            </a:r>
            <a:endParaRPr lang="en-US" sz="1600" dirty="0"/>
          </a:p>
        </p:txBody>
      </p:sp>
      <p:sp>
        <p:nvSpPr>
          <p:cNvPr id="27" name="isi keunggulan 5"/>
          <p:cNvSpPr txBox="1"/>
          <p:nvPr/>
        </p:nvSpPr>
        <p:spPr>
          <a:xfrm>
            <a:off x="9729216" y="3520440"/>
            <a:ext cx="1737360" cy="210312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Perkiraan jangkauan, beban TES, dan kelurahan prioritas untuk tempat evakuasi tambahan.</a:t>
            </a:r>
            <a:endParaRPr lang="en-US" sz="1400" dirty="0"/>
          </a:p>
        </p:txBody>
      </p:sp>
      <p:sp>
        <p:nvSpPr>
          <p:cNvPr id="28"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L 1.8.</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Siapa penggunanya dan apa yang mereka butuhkan</a:t>
            </a:r>
            <a:endParaRPr lang="en-US" sz="3000" dirty="0"/>
          </a:p>
        </p:txBody>
      </p:sp>
      <p:sp>
        <p:nvSpPr>
          <p:cNvPr id="3" name="pengguna kartu 1"/>
          <p:cNvSpPr/>
          <p:nvPr/>
        </p:nvSpPr>
        <p:spPr>
          <a:xfrm>
            <a:off x="548640" y="1280160"/>
            <a:ext cx="5432908" cy="1783080"/>
          </a:xfrm>
          <a:prstGeom prst="roundRect">
            <a:avLst>
              <a:gd name="adj" fmla="val 4103"/>
            </a:avLst>
          </a:prstGeom>
          <a:solidFill>
            <a:srgbClr val="EEF2F7"/>
          </a:solidFill>
          <a:ln w="12700">
            <a:solidFill>
              <a:srgbClr val="EEF2F7"/>
            </a:solidFill>
            <a:prstDash val="solid"/>
          </a:ln>
        </p:spPr>
      </p:sp>
      <p:sp>
        <p:nvSpPr>
          <p:cNvPr id="4" name="pengguna 1 lingkaran"/>
          <p:cNvSpPr/>
          <p:nvPr/>
        </p:nvSpPr>
        <p:spPr>
          <a:xfrm>
            <a:off x="777240" y="1508760"/>
            <a:ext cx="685800" cy="685800"/>
          </a:xfrm>
          <a:prstGeom prst="ellipse">
            <a:avLst/>
          </a:prstGeom>
          <a:solidFill>
            <a:srgbClr val="D9472F"/>
          </a:solidFill>
          <a:ln w="12700">
            <a:solidFill>
              <a:srgbClr val="D9472F"/>
            </a:solidFill>
            <a:prstDash val="solid"/>
          </a:ln>
        </p:spPr>
      </p:sp>
      <p:pic>
        <p:nvPicPr>
          <p:cNvPr id="5" name="pengguna 1 ikon" descr="preencoded.png">    </p:cNvPr>
          <p:cNvPicPr>
            <a:picLocks noChangeAspect="1"/>
          </p:cNvPicPr>
          <p:nvPr/>
        </p:nvPicPr>
        <p:blipFill>
          <a:blip r:embed="rId1"/>
          <a:stretch>
            <a:fillRect/>
          </a:stretch>
        </p:blipFill>
        <p:spPr>
          <a:xfrm>
            <a:off x="948690" y="1680210"/>
            <a:ext cx="342900" cy="342900"/>
          </a:xfrm>
          <a:prstGeom prst="rect">
            <a:avLst/>
          </a:prstGeom>
        </p:spPr>
      </p:pic>
      <p:sp>
        <p:nvSpPr>
          <p:cNvPr id="6" name="pengguna judul 1"/>
          <p:cNvSpPr txBox="1"/>
          <p:nvPr/>
        </p:nvSpPr>
        <p:spPr>
          <a:xfrm>
            <a:off x="1600200" y="1554480"/>
            <a:ext cx="4198468" cy="594360"/>
          </a:xfrm>
          <a:prstGeom prst="rect">
            <a:avLst/>
          </a:prstGeom>
          <a:noFill/>
          <a:ln/>
        </p:spPr>
        <p:txBody>
          <a:bodyPr wrap="square" lIns="0" tIns="0" rIns="0" bIns="0" rtlCol="0" anchor="ctr"/>
          <a:lstStyle/>
          <a:p>
            <a:pPr indent="0" marL="0">
              <a:buNone/>
            </a:pPr>
            <a:r>
              <a:rPr lang="en-US" sz="1700" b="1" dirty="0">
                <a:solidFill>
                  <a:srgbClr val="14365D"/>
                </a:solidFill>
                <a:latin typeface="Calibri" pitchFamily="34" charset="0"/>
                <a:ea typeface="Calibri" pitchFamily="34" charset="-122"/>
                <a:cs typeface="Calibri" pitchFamily="34" charset="-120"/>
              </a:rPr>
              <a:t>Warga di zona merah</a:t>
            </a:r>
            <a:endParaRPr lang="en-US" sz="1700" dirty="0"/>
          </a:p>
        </p:txBody>
      </p:sp>
      <p:sp>
        <p:nvSpPr>
          <p:cNvPr id="7" name="pengguna isi 1"/>
          <p:cNvSpPr txBox="1"/>
          <p:nvPr/>
        </p:nvSpPr>
        <p:spPr>
          <a:xfrm>
            <a:off x="777240" y="2331720"/>
            <a:ext cx="4975708" cy="59436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Tergesa-gesa dan tertekan, jaringan atau cahaya terbatas. Butuh arahan evakuasi dari posisi saat ini.</a:t>
            </a:r>
            <a:endParaRPr lang="en-US" sz="1400" dirty="0"/>
          </a:p>
        </p:txBody>
      </p:sp>
      <p:sp>
        <p:nvSpPr>
          <p:cNvPr id="8" name="pengguna kartu 2"/>
          <p:cNvSpPr/>
          <p:nvPr/>
        </p:nvSpPr>
        <p:spPr>
          <a:xfrm>
            <a:off x="6210148" y="1280160"/>
            <a:ext cx="5432908" cy="1783080"/>
          </a:xfrm>
          <a:prstGeom prst="roundRect">
            <a:avLst>
              <a:gd name="adj" fmla="val 4103"/>
            </a:avLst>
          </a:prstGeom>
          <a:solidFill>
            <a:srgbClr val="EEF2F7"/>
          </a:solidFill>
          <a:ln w="12700">
            <a:solidFill>
              <a:srgbClr val="EEF2F7"/>
            </a:solidFill>
            <a:prstDash val="solid"/>
          </a:ln>
        </p:spPr>
      </p:sp>
      <p:sp>
        <p:nvSpPr>
          <p:cNvPr id="9" name="pengguna 2 lingkaran"/>
          <p:cNvSpPr/>
          <p:nvPr/>
        </p:nvSpPr>
        <p:spPr>
          <a:xfrm>
            <a:off x="6438748" y="1508760"/>
            <a:ext cx="685800" cy="685800"/>
          </a:xfrm>
          <a:prstGeom prst="ellipse">
            <a:avLst/>
          </a:prstGeom>
          <a:solidFill>
            <a:srgbClr val="2F7F9C"/>
          </a:solidFill>
          <a:ln w="12700">
            <a:solidFill>
              <a:srgbClr val="2F7F9C"/>
            </a:solidFill>
            <a:prstDash val="solid"/>
          </a:ln>
        </p:spPr>
      </p:sp>
      <p:pic>
        <p:nvPicPr>
          <p:cNvPr id="10" name="pengguna 2 ikon" descr="preencoded.png">    </p:cNvPr>
          <p:cNvPicPr>
            <a:picLocks noChangeAspect="1"/>
          </p:cNvPicPr>
          <p:nvPr/>
        </p:nvPicPr>
        <p:blipFill>
          <a:blip r:embed="rId2"/>
          <a:stretch>
            <a:fillRect/>
          </a:stretch>
        </p:blipFill>
        <p:spPr>
          <a:xfrm>
            <a:off x="6610198" y="1680210"/>
            <a:ext cx="342900" cy="342900"/>
          </a:xfrm>
          <a:prstGeom prst="rect">
            <a:avLst/>
          </a:prstGeom>
        </p:spPr>
      </p:pic>
      <p:sp>
        <p:nvSpPr>
          <p:cNvPr id="11" name="pengguna judul 2"/>
          <p:cNvSpPr txBox="1"/>
          <p:nvPr/>
        </p:nvSpPr>
        <p:spPr>
          <a:xfrm>
            <a:off x="7261708" y="1554480"/>
            <a:ext cx="4198468" cy="594360"/>
          </a:xfrm>
          <a:prstGeom prst="rect">
            <a:avLst/>
          </a:prstGeom>
          <a:noFill/>
          <a:ln/>
        </p:spPr>
        <p:txBody>
          <a:bodyPr wrap="square" lIns="0" tIns="0" rIns="0" bIns="0" rtlCol="0" anchor="ctr"/>
          <a:lstStyle/>
          <a:p>
            <a:pPr indent="0" marL="0">
              <a:buNone/>
            </a:pPr>
            <a:r>
              <a:rPr lang="en-US" sz="1700" b="1" dirty="0">
                <a:solidFill>
                  <a:srgbClr val="14365D"/>
                </a:solidFill>
                <a:latin typeface="Calibri" pitchFamily="34" charset="0"/>
                <a:ea typeface="Calibri" pitchFamily="34" charset="-122"/>
                <a:cs typeface="Calibri" pitchFamily="34" charset="-120"/>
              </a:rPr>
              <a:t>Pendatang dan wisatawan</a:t>
            </a:r>
            <a:endParaRPr lang="en-US" sz="1700" dirty="0"/>
          </a:p>
        </p:txBody>
      </p:sp>
      <p:sp>
        <p:nvSpPr>
          <p:cNvPr id="12" name="pengguna isi 2"/>
          <p:cNvSpPr txBox="1"/>
          <p:nvPr/>
        </p:nvSpPr>
        <p:spPr>
          <a:xfrm>
            <a:off x="6438748" y="2331720"/>
            <a:ext cx="4975708" cy="59436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Belum mengenal wilayah dan jalan. Butuh status zona dan petunjuk langsung ke tujuan.</a:t>
            </a:r>
            <a:endParaRPr lang="en-US" sz="1400" dirty="0"/>
          </a:p>
        </p:txBody>
      </p:sp>
      <p:sp>
        <p:nvSpPr>
          <p:cNvPr id="13" name="pengguna kartu 3"/>
          <p:cNvSpPr/>
          <p:nvPr/>
        </p:nvSpPr>
        <p:spPr>
          <a:xfrm>
            <a:off x="548640" y="3291840"/>
            <a:ext cx="5432908" cy="1783080"/>
          </a:xfrm>
          <a:prstGeom prst="roundRect">
            <a:avLst>
              <a:gd name="adj" fmla="val 4103"/>
            </a:avLst>
          </a:prstGeom>
          <a:solidFill>
            <a:srgbClr val="EEF2F7"/>
          </a:solidFill>
          <a:ln w="12700">
            <a:solidFill>
              <a:srgbClr val="EEF2F7"/>
            </a:solidFill>
            <a:prstDash val="solid"/>
          </a:ln>
        </p:spPr>
      </p:sp>
      <p:sp>
        <p:nvSpPr>
          <p:cNvPr id="14" name="pengguna 3 lingkaran"/>
          <p:cNvSpPr/>
          <p:nvPr/>
        </p:nvSpPr>
        <p:spPr>
          <a:xfrm>
            <a:off x="777240" y="3520440"/>
            <a:ext cx="685800" cy="685800"/>
          </a:xfrm>
          <a:prstGeom prst="ellipse">
            <a:avLst/>
          </a:prstGeom>
          <a:solidFill>
            <a:srgbClr val="2E8B57"/>
          </a:solidFill>
          <a:ln w="12700">
            <a:solidFill>
              <a:srgbClr val="2E8B57"/>
            </a:solidFill>
            <a:prstDash val="solid"/>
          </a:ln>
        </p:spPr>
      </p:sp>
      <p:pic>
        <p:nvPicPr>
          <p:cNvPr id="15" name="pengguna 3 ikon" descr="preencoded.png">    </p:cNvPr>
          <p:cNvPicPr>
            <a:picLocks noChangeAspect="1"/>
          </p:cNvPicPr>
          <p:nvPr/>
        </p:nvPicPr>
        <p:blipFill>
          <a:blip r:embed="rId3"/>
          <a:stretch>
            <a:fillRect/>
          </a:stretch>
        </p:blipFill>
        <p:spPr>
          <a:xfrm>
            <a:off x="948690" y="3691890"/>
            <a:ext cx="342900" cy="342900"/>
          </a:xfrm>
          <a:prstGeom prst="rect">
            <a:avLst/>
          </a:prstGeom>
        </p:spPr>
      </p:pic>
      <p:sp>
        <p:nvSpPr>
          <p:cNvPr id="16" name="pengguna judul 3"/>
          <p:cNvSpPr txBox="1"/>
          <p:nvPr/>
        </p:nvSpPr>
        <p:spPr>
          <a:xfrm>
            <a:off x="1600200" y="3566160"/>
            <a:ext cx="4198468" cy="594360"/>
          </a:xfrm>
          <a:prstGeom prst="rect">
            <a:avLst/>
          </a:prstGeom>
          <a:noFill/>
          <a:ln/>
        </p:spPr>
        <p:txBody>
          <a:bodyPr wrap="square" lIns="0" tIns="0" rIns="0" bIns="0" rtlCol="0" anchor="ctr"/>
          <a:lstStyle/>
          <a:p>
            <a:pPr indent="0" marL="0">
              <a:buNone/>
            </a:pPr>
            <a:r>
              <a:rPr lang="en-US" sz="1700" b="1" dirty="0">
                <a:solidFill>
                  <a:srgbClr val="14365D"/>
                </a:solidFill>
                <a:latin typeface="Calibri" pitchFamily="34" charset="0"/>
                <a:ea typeface="Calibri" pitchFamily="34" charset="-122"/>
                <a:cs typeface="Calibri" pitchFamily="34" charset="-120"/>
              </a:rPr>
              <a:t>Keluarga</a:t>
            </a:r>
            <a:endParaRPr lang="en-US" sz="1700" dirty="0"/>
          </a:p>
        </p:txBody>
      </p:sp>
      <p:sp>
        <p:nvSpPr>
          <p:cNvPr id="17" name="pengguna isi 3"/>
          <p:cNvSpPr txBox="1"/>
          <p:nvPr/>
        </p:nvSpPr>
        <p:spPr>
          <a:xfrm>
            <a:off x="777240" y="4343400"/>
            <a:ext cx="4975708" cy="59436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Menyusun rencana pada masa tenang. Butuh titik temu dan tujuan yang disepakati, disimpan, dan dibagikan.</a:t>
            </a:r>
            <a:endParaRPr lang="en-US" sz="1400" dirty="0"/>
          </a:p>
        </p:txBody>
      </p:sp>
      <p:sp>
        <p:nvSpPr>
          <p:cNvPr id="18" name="pengguna kartu 4"/>
          <p:cNvSpPr/>
          <p:nvPr/>
        </p:nvSpPr>
        <p:spPr>
          <a:xfrm>
            <a:off x="6210148" y="3291840"/>
            <a:ext cx="5432908" cy="1783080"/>
          </a:xfrm>
          <a:prstGeom prst="roundRect">
            <a:avLst>
              <a:gd name="adj" fmla="val 4103"/>
            </a:avLst>
          </a:prstGeom>
          <a:solidFill>
            <a:srgbClr val="EEF2F7"/>
          </a:solidFill>
          <a:ln w="12700">
            <a:solidFill>
              <a:srgbClr val="EEF2F7"/>
            </a:solidFill>
            <a:prstDash val="solid"/>
          </a:ln>
        </p:spPr>
      </p:sp>
      <p:sp>
        <p:nvSpPr>
          <p:cNvPr id="19" name="pengguna 4 lingkaran"/>
          <p:cNvSpPr/>
          <p:nvPr/>
        </p:nvSpPr>
        <p:spPr>
          <a:xfrm>
            <a:off x="6438748" y="3520440"/>
            <a:ext cx="685800" cy="685800"/>
          </a:xfrm>
          <a:prstGeom prst="ellipse">
            <a:avLst/>
          </a:prstGeom>
          <a:solidFill>
            <a:srgbClr val="14365D"/>
          </a:solidFill>
          <a:ln w="12700">
            <a:solidFill>
              <a:srgbClr val="14365D"/>
            </a:solidFill>
            <a:prstDash val="solid"/>
          </a:ln>
        </p:spPr>
      </p:sp>
      <p:pic>
        <p:nvPicPr>
          <p:cNvPr id="20" name="pengguna 4 ikon" descr="preencoded.png">    </p:cNvPr>
          <p:cNvPicPr>
            <a:picLocks noChangeAspect="1"/>
          </p:cNvPicPr>
          <p:nvPr/>
        </p:nvPicPr>
        <p:blipFill>
          <a:blip r:embed="rId4"/>
          <a:stretch>
            <a:fillRect/>
          </a:stretch>
        </p:blipFill>
        <p:spPr>
          <a:xfrm>
            <a:off x="6610198" y="3691890"/>
            <a:ext cx="342900" cy="342900"/>
          </a:xfrm>
          <a:prstGeom prst="rect">
            <a:avLst/>
          </a:prstGeom>
        </p:spPr>
      </p:pic>
      <p:sp>
        <p:nvSpPr>
          <p:cNvPr id="21" name="pengguna judul 4"/>
          <p:cNvSpPr txBox="1"/>
          <p:nvPr/>
        </p:nvSpPr>
        <p:spPr>
          <a:xfrm>
            <a:off x="7261708" y="3566160"/>
            <a:ext cx="4198468" cy="594360"/>
          </a:xfrm>
          <a:prstGeom prst="rect">
            <a:avLst/>
          </a:prstGeom>
          <a:noFill/>
          <a:ln/>
        </p:spPr>
        <p:txBody>
          <a:bodyPr wrap="square" lIns="0" tIns="0" rIns="0" bIns="0" rtlCol="0" anchor="ctr"/>
          <a:lstStyle/>
          <a:p>
            <a:pPr indent="0" marL="0">
              <a:buNone/>
            </a:pPr>
            <a:r>
              <a:rPr lang="en-US" sz="1700" b="1" dirty="0">
                <a:solidFill>
                  <a:srgbClr val="14365D"/>
                </a:solidFill>
                <a:latin typeface="Calibri" pitchFamily="34" charset="0"/>
                <a:ea typeface="Calibri" pitchFamily="34" charset="-122"/>
                <a:cs typeface="Calibri" pitchFamily="34" charset="-120"/>
              </a:rPr>
              <a:t>BPBD Kota Padang</a:t>
            </a:r>
            <a:endParaRPr lang="en-US" sz="1700" dirty="0"/>
          </a:p>
        </p:txBody>
      </p:sp>
      <p:sp>
        <p:nvSpPr>
          <p:cNvPr id="22" name="pengguna isi 4"/>
          <p:cNvSpPr txBox="1"/>
          <p:nvPr/>
        </p:nvSpPr>
        <p:spPr>
          <a:xfrm>
            <a:off x="6438748" y="4343400"/>
            <a:ext cx="4975708" cy="59436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Masa tenang, latihan, dan kejadian lewat dashboard. Butuh wilayah prioritas, pembaruan data, peringatan latihan, rekap lapor selamat.</a:t>
            </a:r>
            <a:endParaRPr lang="en-US" sz="1400" dirty="0"/>
          </a:p>
        </p:txBody>
      </p:sp>
      <p:sp>
        <p:nvSpPr>
          <p:cNvPr id="23" name="kartu alur utama"/>
          <p:cNvSpPr/>
          <p:nvPr/>
        </p:nvSpPr>
        <p:spPr>
          <a:xfrm>
            <a:off x="548640" y="5257800"/>
            <a:ext cx="11094415" cy="685800"/>
          </a:xfrm>
          <a:prstGeom prst="roundRect">
            <a:avLst>
              <a:gd name="adj" fmla="val 10667"/>
            </a:avLst>
          </a:prstGeom>
          <a:solidFill>
            <a:srgbClr val="14365D"/>
          </a:solidFill>
          <a:ln w="12700">
            <a:solidFill>
              <a:srgbClr val="14365D"/>
            </a:solidFill>
            <a:prstDash val="solid"/>
          </a:ln>
        </p:spPr>
      </p:sp>
      <p:sp>
        <p:nvSpPr>
          <p:cNvPr id="24" name="alur utama"/>
          <p:cNvSpPr txBox="1"/>
          <p:nvPr/>
        </p:nvSpPr>
        <p:spPr>
          <a:xfrm>
            <a:off x="777240" y="5303520"/>
            <a:ext cx="10637215" cy="5943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Alur utama: gempa &gt; 30 detik atau peringatan resmi  →  baca posisi  →  periksa zona  →  simpul jalan terdekat  →  tujuan dari jalur tersimpan  →  arahan</a:t>
            </a:r>
            <a:endParaRPr lang="en-US" sz="1500" dirty="0"/>
          </a:p>
        </p:txBody>
      </p:sp>
      <p:sp>
        <p:nvSpPr>
          <p:cNvPr id="25"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L 5.1, Tabel 5.1, Gambar 5.1.</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Kebutuhan fungsional dan target mutu</a:t>
            </a:r>
            <a:endParaRPr lang="en-US" sz="3000" dirty="0"/>
          </a:p>
        </p:txBody>
      </p:sp>
      <p:sp>
        <p:nvSpPr>
          <p:cNvPr id="3" name="kartu fungsi luring"/>
          <p:cNvSpPr/>
          <p:nvPr/>
        </p:nvSpPr>
        <p:spPr>
          <a:xfrm>
            <a:off x="548640" y="1234440"/>
            <a:ext cx="4937760" cy="3063240"/>
          </a:xfrm>
          <a:prstGeom prst="roundRect">
            <a:avLst>
              <a:gd name="adj" fmla="val 2388"/>
            </a:avLst>
          </a:prstGeom>
          <a:solidFill>
            <a:srgbClr val="EEF2F7"/>
          </a:solidFill>
          <a:ln w="12700">
            <a:solidFill>
              <a:srgbClr val="EEF2F7"/>
            </a:solidFill>
            <a:prstDash val="solid"/>
          </a:ln>
        </p:spPr>
      </p:sp>
      <p:sp>
        <p:nvSpPr>
          <p:cNvPr id="4" name="judul luring"/>
          <p:cNvSpPr txBox="1"/>
          <p:nvPr/>
        </p:nvSpPr>
        <p:spPr>
          <a:xfrm>
            <a:off x="777240" y="1371600"/>
            <a:ext cx="4572000" cy="365760"/>
          </a:xfrm>
          <a:prstGeom prst="rect">
            <a:avLst/>
          </a:prstGeom>
          <a:noFill/>
          <a:ln/>
        </p:spPr>
        <p:txBody>
          <a:bodyPr wrap="square" lIns="0" tIns="0" rIns="0" bIns="0" rtlCol="0" anchor="t"/>
          <a:lstStyle/>
          <a:p>
            <a:pPr indent="0" marL="0">
              <a:buNone/>
            </a:pPr>
            <a:r>
              <a:rPr lang="en-US" sz="1700" b="1" dirty="0">
                <a:solidFill>
                  <a:srgbClr val="2E8B57"/>
                </a:solidFill>
                <a:latin typeface="Calibri" pitchFamily="34" charset="0"/>
                <a:ea typeface="Calibri" pitchFamily="34" charset="-122"/>
                <a:cs typeface="Calibri" pitchFamily="34" charset="-120"/>
              </a:rPr>
              <a:t>Tanpa internet (F-01 – F-08)</a:t>
            </a:r>
            <a:endParaRPr lang="en-US" sz="1700" dirty="0"/>
          </a:p>
        </p:txBody>
      </p:sp>
      <p:sp>
        <p:nvSpPr>
          <p:cNvPr id="5" name="isi luring"/>
          <p:cNvSpPr txBox="1"/>
          <p:nvPr/>
        </p:nvSpPr>
        <p:spPr>
          <a:xfrm>
            <a:off x="777240" y="1783080"/>
            <a:ext cx="4572000" cy="2423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3"/>
                </a:solidFill>
                <a:latin typeface="Calibri" pitchFamily="34" charset="0"/>
                <a:ea typeface="Calibri" pitchFamily="34" charset="-122"/>
                <a:cs typeface="Calibri" pitchFamily="34" charset="-120"/>
              </a:rPr>
              <a:t>Widget, status zona merah dan hijau</a:t>
            </a:r>
            <a:endParaRPr lang="en-US" sz="1400" dirty="0"/>
          </a:p>
          <a:p>
            <a:pPr marL="342900" indent="-342900">
              <a:spcAft>
                <a:spcPts val="600"/>
              </a:spcAft>
              <a:buSzPct val="100000"/>
              <a:buChar char="•"/>
            </a:pPr>
            <a:r>
              <a:rPr lang="en-US" sz="1400" dirty="0">
                <a:solidFill>
                  <a:srgbClr val="1B2433"/>
                </a:solidFill>
                <a:latin typeface="Calibri" pitchFamily="34" charset="0"/>
                <a:ea typeface="Calibri" pitchFamily="34" charset="-122"/>
                <a:cs typeface="Calibri" pitchFamily="34" charset="-120"/>
              </a:rPr>
              <a:t>Jalur ke TES, TEA, atau zona hijau dari basis data lokal</a:t>
            </a:r>
            <a:endParaRPr lang="en-US" sz="1400" dirty="0"/>
          </a:p>
          <a:p>
            <a:pPr marL="342900" indent="-342900">
              <a:spcAft>
                <a:spcPts val="600"/>
              </a:spcAft>
              <a:buSzPct val="100000"/>
              <a:buChar char="•"/>
            </a:pPr>
            <a:r>
              <a:rPr lang="en-US" sz="1400" dirty="0">
                <a:solidFill>
                  <a:srgbClr val="1B2433"/>
                </a:solidFill>
                <a:latin typeface="Calibri" pitchFamily="34" charset="0"/>
                <a:ea typeface="Calibri" pitchFamily="34" charset="-122"/>
                <a:cs typeface="Calibri" pitchFamily="34" charset="-120"/>
              </a:rPr>
              <a:t>Penunjuk arah kompas dan hitung mundur</a:t>
            </a:r>
            <a:endParaRPr lang="en-US" sz="1400" dirty="0"/>
          </a:p>
          <a:p>
            <a:pPr marL="342900" indent="-342900">
              <a:spcAft>
                <a:spcPts val="600"/>
              </a:spcAft>
              <a:buSzPct val="100000"/>
              <a:buChar char="•"/>
            </a:pPr>
            <a:r>
              <a:rPr lang="en-US" sz="1400" dirty="0">
                <a:solidFill>
                  <a:srgbClr val="1B2433"/>
                </a:solidFill>
                <a:latin typeface="Calibri" pitchFamily="34" charset="0"/>
                <a:ea typeface="Calibri" pitchFamily="34" charset="-122"/>
                <a:cs typeface="Calibri" pitchFamily="34" charset="-120"/>
              </a:rPr>
              <a:t>Konfirmasi kedatangan, rencana keluarga, jalur alternatif</a:t>
            </a:r>
            <a:endParaRPr lang="en-US" sz="1400" dirty="0"/>
          </a:p>
        </p:txBody>
      </p:sp>
      <p:sp>
        <p:nvSpPr>
          <p:cNvPr id="6" name="kartu fungsi daring"/>
          <p:cNvSpPr/>
          <p:nvPr/>
        </p:nvSpPr>
        <p:spPr>
          <a:xfrm>
            <a:off x="548640" y="4480560"/>
            <a:ext cx="4937760" cy="1417320"/>
          </a:xfrm>
          <a:prstGeom prst="roundRect">
            <a:avLst>
              <a:gd name="adj" fmla="val 5161"/>
            </a:avLst>
          </a:prstGeom>
          <a:solidFill>
            <a:srgbClr val="EEF2F7"/>
          </a:solidFill>
          <a:ln w="12700">
            <a:solidFill>
              <a:srgbClr val="EEF2F7"/>
            </a:solidFill>
            <a:prstDash val="solid"/>
          </a:ln>
        </p:spPr>
      </p:sp>
      <p:sp>
        <p:nvSpPr>
          <p:cNvPr id="7" name="judul daring"/>
          <p:cNvSpPr txBox="1"/>
          <p:nvPr/>
        </p:nvSpPr>
        <p:spPr>
          <a:xfrm>
            <a:off x="777240" y="4572000"/>
            <a:ext cx="4572000" cy="365760"/>
          </a:xfrm>
          <a:prstGeom prst="rect">
            <a:avLst/>
          </a:prstGeom>
          <a:noFill/>
          <a:ln/>
        </p:spPr>
        <p:txBody>
          <a:bodyPr wrap="square" lIns="0" tIns="0" rIns="0" bIns="0" rtlCol="0" anchor="t"/>
          <a:lstStyle/>
          <a:p>
            <a:pPr indent="0" marL="0">
              <a:buNone/>
            </a:pPr>
            <a:r>
              <a:rPr lang="en-US" sz="1700" b="1" dirty="0">
                <a:solidFill>
                  <a:srgbClr val="2F7F9C"/>
                </a:solidFill>
                <a:latin typeface="Calibri" pitchFamily="34" charset="0"/>
                <a:ea typeface="Calibri" pitchFamily="34" charset="-122"/>
                <a:cs typeface="Calibri" pitchFamily="34" charset="-120"/>
              </a:rPr>
              <a:t>Dengan internet (F-09 – F-12)</a:t>
            </a:r>
            <a:endParaRPr lang="en-US" sz="1700" dirty="0"/>
          </a:p>
        </p:txBody>
      </p:sp>
      <p:sp>
        <p:nvSpPr>
          <p:cNvPr id="8" name="isi daring"/>
          <p:cNvSpPr txBox="1"/>
          <p:nvPr/>
        </p:nvSpPr>
        <p:spPr>
          <a:xfrm>
            <a:off x="777240" y="4983480"/>
            <a:ext cx="4572000" cy="82296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Peringatan BMKG, lapor selamat, laporan jalan terhalang, pembaruan paket data.</a:t>
            </a:r>
            <a:endParaRPr lang="en-US" sz="1400" dirty="0"/>
          </a:p>
        </p:txBody>
      </p:sp>
      <p:graphicFrame>
        <p:nvGraphicFramePr>
          <p:cNvPr id="13" name="tabel nonfungsional"/>
          <p:cNvGraphicFramePr>
            <a:graphicFrameLocks noGrp="1"/>
          </p:cNvGraphicFramePr>
          <p:nvPr>
            <p:extLst>
              <p:ext uri="{D42A27DB-BD31-4B8C-83A1-F6EECF244321}">
                <p14:modId xmlns:p14="http://schemas.microsoft.com/office/powerpoint/2010/main" val="1579011935"/>
              </p:ext>
            </p:extLst>
          </p:nvPr>
        </p:nvGraphicFramePr>
        <p:xfrm>
          <a:off x="5715000" y="1234440"/>
          <a:ext cx="5925312" cy="914400"/>
        </p:xfrm>
        <a:graphic>
          <a:graphicData uri="http://schemas.openxmlformats.org/drawingml/2006/table">
            <a:tbl>
              <a:tblPr/>
              <a:tblGrid>
                <a:gridCol w="914400"/>
                <a:gridCol w="2514600"/>
                <a:gridCol w="2496312"/>
              </a:tblGrid>
              <a:tr h="51206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Kode</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Target</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Hasil</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r>
              <a:tr h="512064">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NF-01</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Fungsi inti luring</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Lulus mode pesawat</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512064">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NF-02</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Arahan &lt; 1 detik</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481–960 ms; maks. 884 ms</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512064">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NF-03</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Basis data ≤ 75 MB</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36,97 MB</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512064">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NF-04</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Selisih antarponsel ≤ 1 detik</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Maks. 675 ms, hasil identik</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512064">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NF-05</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Batas tunggu server</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1 detik sambung, 2 detik baca</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512064">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NF-06</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Kontras 4,5:1, tombol 48 dp</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53 pasangan warna lulus</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512064">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NF-07</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Istilah dan tujuan resmi</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Sesuai prosedur BPBD</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512064">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NF-08</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Jalan tampak saat luring</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Peta dasar 8,1 MB</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bl>
          </a:graphicData>
        </a:graphic>
      </p:graphicFrame>
      <p:sp>
        <p:nvSpPr>
          <p:cNvPr id="10"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L 5.2–5.3, Tabel 5.2–5.3.</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Dikembangkan dalam 12 iterasi</a:t>
            </a:r>
            <a:endParaRPr lang="en-US" sz="3000" dirty="0"/>
          </a:p>
        </p:txBody>
      </p:sp>
      <p:pic>
        <p:nvPicPr>
          <p:cNvPr id="3" name="siklus iteratif" descr="C:\Users\Lenovo\AppData\Local\Temp\claude\c--gemastik\520da942-8140-47c0-a16f-9bde4b92cbe5\scratchpad\deck\aset\siklus.png">    </p:cNvPr>
          <p:cNvPicPr>
            <a:picLocks noChangeAspect="1"/>
          </p:cNvPicPr>
          <p:nvPr/>
        </p:nvPicPr>
        <p:blipFill>
          <a:blip r:embed="rId1"/>
          <a:stretch>
            <a:fillRect/>
          </a:stretch>
        </p:blipFill>
        <p:spPr>
          <a:xfrm>
            <a:off x="548640" y="1305693"/>
            <a:ext cx="2377440" cy="2326373"/>
          </a:xfrm>
          <a:prstGeom prst="rect">
            <a:avLst/>
          </a:prstGeom>
        </p:spPr>
      </p:pic>
      <p:sp>
        <p:nvSpPr>
          <p:cNvPr id="4" name="keterangan siklus"/>
          <p:cNvSpPr txBox="1"/>
          <p:nvPr/>
        </p:nvSpPr>
        <p:spPr>
          <a:xfrm>
            <a:off x="548640" y="3794760"/>
            <a:ext cx="2514600" cy="128016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Iteratif-inkremental, 31 Juli–28 Oktober 2026. Setiap iterasi menghasilkan kode, data, atau dokumen yang dapat diperiksa.</a:t>
            </a:r>
            <a:endParaRPr lang="en-US" sz="1400" dirty="0"/>
          </a:p>
        </p:txBody>
      </p:sp>
      <p:graphicFrame>
        <p:nvGraphicFramePr>
          <p:cNvPr id="14" name="tabel iterasi"/>
          <p:cNvGraphicFramePr>
            <a:graphicFrameLocks noGrp="1"/>
          </p:cNvGraphicFramePr>
          <p:nvPr>
            <p:extLst>
              <p:ext uri="{D42A27DB-BD31-4B8C-83A1-F6EECF244321}">
                <p14:modId xmlns:p14="http://schemas.microsoft.com/office/powerpoint/2010/main" val="1579011935"/>
              </p:ext>
            </p:extLst>
          </p:nvPr>
        </p:nvGraphicFramePr>
        <p:xfrm>
          <a:off x="3291840" y="1234440"/>
          <a:ext cx="8348472" cy="914400"/>
        </p:xfrm>
        <a:graphic>
          <a:graphicData uri="http://schemas.openxmlformats.org/drawingml/2006/table">
            <a:tbl>
              <a:tblPr/>
              <a:tblGrid>
                <a:gridCol w="914400"/>
                <a:gridCol w="1600200"/>
                <a:gridCol w="5833872"/>
              </a:tblGrid>
              <a:tr h="54864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Iterasi</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Periode</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Capaian utama</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r>
              <a:tr h="548640">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1–4</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31 Jul–10 Agu</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Kebutuhan, struktur data, jalur lokal di ponsel, navigasi; uji pengguna tahap 1</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548640">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26 Sep–4 Okt</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Audit data, peta luring 8,1 MB, hitung mundur dari waktu gempa, QR keluarga</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8–12 Okt</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Tindak lanjut wawancara BPBD: zona, laju 0,894 m/s, aturan arah dan jembatan; jalur dihitung ulang</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548640">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7–8</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11–22 Okt</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Uji pengguna tahap 2 (25 peserta); desain V4, nomor darurat, aksesibilitas</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9–10</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22–26 Okt</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Uji tujuh ponsel, jalan lain, arahan ke TEA, kabar keluarga tanpa posisi</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548640">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11–12</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25–28 Okt</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Pembagian daya tampung (data 2026.10.18), arah hadap, rilis 0.3.1</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bl>
          </a:graphicData>
        </a:graphic>
      </p:graphicFrame>
      <p:sp>
        <p:nvSpPr>
          <p:cNvPr id="6" name="kartu peran 1"/>
          <p:cNvSpPr/>
          <p:nvPr/>
        </p:nvSpPr>
        <p:spPr>
          <a:xfrm>
            <a:off x="3291840" y="5074920"/>
            <a:ext cx="2697480" cy="822960"/>
          </a:xfrm>
          <a:prstGeom prst="roundRect">
            <a:avLst>
              <a:gd name="adj" fmla="val 8889"/>
            </a:avLst>
          </a:prstGeom>
          <a:solidFill>
            <a:srgbClr val="EEF2F7"/>
          </a:solidFill>
          <a:ln w="12700">
            <a:solidFill>
              <a:srgbClr val="EEF2F7"/>
            </a:solidFill>
            <a:prstDash val="solid"/>
          </a:ln>
        </p:spPr>
      </p:sp>
      <p:sp>
        <p:nvSpPr>
          <p:cNvPr id="7" name="peran 1"/>
          <p:cNvSpPr txBox="1"/>
          <p:nvPr/>
        </p:nvSpPr>
        <p:spPr>
          <a:xfrm>
            <a:off x="3429000" y="5120640"/>
            <a:ext cx="2468880" cy="731520"/>
          </a:xfrm>
          <a:prstGeom prst="rect">
            <a:avLst/>
          </a:prstGeom>
          <a:noFill/>
          <a:ln/>
        </p:spPr>
        <p:txBody>
          <a:bodyPr wrap="square" lIns="0" tIns="0" rIns="0" bIns="0" rtlCol="0" anchor="ctr"/>
          <a:lstStyle/>
          <a:p>
            <a:pPr indent="0" marL="0">
              <a:buNone/>
            </a:pPr>
            <a:r>
              <a:rPr lang="en-US" sz="1400" b="1" dirty="0">
                <a:solidFill>
                  <a:srgbClr val="14365D"/>
                </a:solidFill>
                <a:latin typeface="Calibri" pitchFamily="34" charset="0"/>
                <a:ea typeface="Calibri" pitchFamily="34" charset="-122"/>
                <a:cs typeface="Calibri" pitchFamily="34" charset="-120"/>
              </a:rPr>
              <a:t>Mikail  </a:t>
            </a:r>
            <a:pPr indent="0" marL="0">
              <a:buNone/>
            </a:pPr>
            <a:r>
              <a:rPr lang="en-US" sz="1400" dirty="0">
                <a:solidFill>
                  <a:srgbClr val="1B2433"/>
                </a:solidFill>
                <a:latin typeface="Calibri" pitchFamily="34" charset="0"/>
                <a:ea typeface="Calibri" pitchFamily="34" charset="-122"/>
                <a:cs typeface="Calibri" pitchFamily="34" charset="-120"/>
              </a:rPr>
              <a:t>Android, UI/UX, uji pengguna</a:t>
            </a:r>
            <a:endParaRPr lang="en-US" sz="1400" dirty="0"/>
          </a:p>
        </p:txBody>
      </p:sp>
      <p:sp>
        <p:nvSpPr>
          <p:cNvPr id="8" name="kartu peran 2"/>
          <p:cNvSpPr/>
          <p:nvPr/>
        </p:nvSpPr>
        <p:spPr>
          <a:xfrm>
            <a:off x="6108192" y="5074920"/>
            <a:ext cx="2697480" cy="822960"/>
          </a:xfrm>
          <a:prstGeom prst="roundRect">
            <a:avLst>
              <a:gd name="adj" fmla="val 8889"/>
            </a:avLst>
          </a:prstGeom>
          <a:solidFill>
            <a:srgbClr val="EEF2F7"/>
          </a:solidFill>
          <a:ln w="12700">
            <a:solidFill>
              <a:srgbClr val="EEF2F7"/>
            </a:solidFill>
            <a:prstDash val="solid"/>
          </a:ln>
        </p:spPr>
      </p:sp>
      <p:sp>
        <p:nvSpPr>
          <p:cNvPr id="9" name="peran 2"/>
          <p:cNvSpPr txBox="1"/>
          <p:nvPr/>
        </p:nvSpPr>
        <p:spPr>
          <a:xfrm>
            <a:off x="6245352" y="5120640"/>
            <a:ext cx="2468880" cy="731520"/>
          </a:xfrm>
          <a:prstGeom prst="rect">
            <a:avLst/>
          </a:prstGeom>
          <a:noFill/>
          <a:ln/>
        </p:spPr>
        <p:txBody>
          <a:bodyPr wrap="square" lIns="0" tIns="0" rIns="0" bIns="0" rtlCol="0" anchor="ctr"/>
          <a:lstStyle/>
          <a:p>
            <a:pPr indent="0" marL="0">
              <a:buNone/>
            </a:pPr>
            <a:r>
              <a:rPr lang="en-US" sz="1400" b="1" dirty="0">
                <a:solidFill>
                  <a:srgbClr val="14365D"/>
                </a:solidFill>
                <a:latin typeface="Calibri" pitchFamily="34" charset="0"/>
                <a:ea typeface="Calibri" pitchFamily="34" charset="-122"/>
                <a:cs typeface="Calibri" pitchFamily="34" charset="-120"/>
              </a:rPr>
              <a:t>Habib  </a:t>
            </a:r>
            <a:pPr indent="0" marL="0">
              <a:buNone/>
            </a:pPr>
            <a:r>
              <a:rPr lang="en-US" sz="1400" dirty="0">
                <a:solidFill>
                  <a:srgbClr val="1B2433"/>
                </a:solidFill>
                <a:latin typeface="Calibri" pitchFamily="34" charset="0"/>
                <a:ea typeface="Calibri" pitchFamily="34" charset="-122"/>
                <a:cs typeface="Calibri" pitchFamily="34" charset="-120"/>
              </a:rPr>
              <a:t>Data spasial, prakomputasi jalur, simulasi</a:t>
            </a:r>
            <a:endParaRPr lang="en-US" sz="1400" dirty="0"/>
          </a:p>
        </p:txBody>
      </p:sp>
      <p:sp>
        <p:nvSpPr>
          <p:cNvPr id="10" name="kartu peran 3"/>
          <p:cNvSpPr/>
          <p:nvPr/>
        </p:nvSpPr>
        <p:spPr>
          <a:xfrm>
            <a:off x="8924544" y="5074920"/>
            <a:ext cx="2697480" cy="822960"/>
          </a:xfrm>
          <a:prstGeom prst="roundRect">
            <a:avLst>
              <a:gd name="adj" fmla="val 8889"/>
            </a:avLst>
          </a:prstGeom>
          <a:solidFill>
            <a:srgbClr val="EEF2F7"/>
          </a:solidFill>
          <a:ln w="12700">
            <a:solidFill>
              <a:srgbClr val="EEF2F7"/>
            </a:solidFill>
            <a:prstDash val="solid"/>
          </a:ln>
        </p:spPr>
      </p:sp>
      <p:sp>
        <p:nvSpPr>
          <p:cNvPr id="11" name="peran 3"/>
          <p:cNvSpPr txBox="1"/>
          <p:nvPr/>
        </p:nvSpPr>
        <p:spPr>
          <a:xfrm>
            <a:off x="9061704" y="5120640"/>
            <a:ext cx="2468880" cy="731520"/>
          </a:xfrm>
          <a:prstGeom prst="rect">
            <a:avLst/>
          </a:prstGeom>
          <a:noFill/>
          <a:ln/>
        </p:spPr>
        <p:txBody>
          <a:bodyPr wrap="square" lIns="0" tIns="0" rIns="0" bIns="0" rtlCol="0" anchor="ctr"/>
          <a:lstStyle/>
          <a:p>
            <a:pPr indent="0" marL="0">
              <a:buNone/>
            </a:pPr>
            <a:r>
              <a:rPr lang="en-US" sz="1400" b="1" dirty="0">
                <a:solidFill>
                  <a:srgbClr val="14365D"/>
                </a:solidFill>
                <a:latin typeface="Calibri" pitchFamily="34" charset="0"/>
                <a:ea typeface="Calibri" pitchFamily="34" charset="-122"/>
                <a:cs typeface="Calibri" pitchFamily="34" charset="-120"/>
              </a:rPr>
              <a:t>Sheva  </a:t>
            </a:r>
            <a:pPr indent="0" marL="0">
              <a:buNone/>
            </a:pPr>
            <a:r>
              <a:rPr lang="en-US" sz="1400" dirty="0">
                <a:solidFill>
                  <a:srgbClr val="1B2433"/>
                </a:solidFill>
                <a:latin typeface="Calibri" pitchFamily="34" charset="0"/>
                <a:ea typeface="Calibri" pitchFamily="34" charset="-122"/>
                <a:cs typeface="Calibri" pitchFamily="34" charset="-120"/>
              </a:rPr>
              <a:t>Server FastAPI, PostGIS, dashboard BPBD</a:t>
            </a:r>
            <a:endParaRPr lang="en-US" sz="1400" dirty="0"/>
          </a:p>
        </p:txBody>
      </p:sp>
      <p:sp>
        <p:nvSpPr>
          <p:cNvPr id="12"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L 4.1–4.3, Tabel 4.1–4.2.</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Navigasi tidak menunggu server</a:t>
            </a:r>
            <a:endParaRPr lang="en-US" sz="3000" dirty="0"/>
          </a:p>
        </p:txBody>
      </p:sp>
      <p:pic>
        <p:nvPicPr>
          <p:cNvPr id="3" name="diagram arsitektur" descr="C:\Users\Lenovo\AppData\Local\Temp\claude\c--gemastik\520da942-8140-47c0-a16f-9bde4b92cbe5\scratchpad\deck\aset\arsitektur2.png">    </p:cNvPr>
          <p:cNvPicPr>
            <a:picLocks noChangeAspect="1"/>
          </p:cNvPicPr>
          <p:nvPr/>
        </p:nvPicPr>
        <p:blipFill>
          <a:blip r:embed="rId1"/>
          <a:stretch>
            <a:fillRect/>
          </a:stretch>
        </p:blipFill>
        <p:spPr>
          <a:xfrm>
            <a:off x="560645" y="1188720"/>
            <a:ext cx="7474069" cy="4206240"/>
          </a:xfrm>
          <a:prstGeom prst="rect">
            <a:avLst/>
          </a:prstGeom>
        </p:spPr>
      </p:pic>
      <p:sp>
        <p:nvSpPr>
          <p:cNvPr id="4" name="judul teknologi"/>
          <p:cNvSpPr txBox="1"/>
          <p:nvPr/>
        </p:nvSpPr>
        <p:spPr>
          <a:xfrm>
            <a:off x="8366760" y="1234440"/>
            <a:ext cx="3291840" cy="411480"/>
          </a:xfrm>
          <a:prstGeom prst="rect">
            <a:avLst/>
          </a:prstGeom>
          <a:noFill/>
          <a:ln/>
        </p:spPr>
        <p:txBody>
          <a:bodyPr wrap="square" lIns="0" tIns="0" rIns="0" bIns="0" rtlCol="0" anchor="t"/>
          <a:lstStyle/>
          <a:p>
            <a:pPr indent="0" marL="0">
              <a:buNone/>
            </a:pPr>
            <a:r>
              <a:rPr lang="en-US" sz="1800" b="1" dirty="0">
                <a:solidFill>
                  <a:srgbClr val="14365D"/>
                </a:solidFill>
                <a:latin typeface="Calibri" pitchFamily="34" charset="0"/>
                <a:ea typeface="Calibri" pitchFamily="34" charset="-122"/>
                <a:cs typeface="Calibri" pitchFamily="34" charset="-120"/>
              </a:rPr>
              <a:t>Teknologi</a:t>
            </a:r>
            <a:endParaRPr lang="en-US" sz="1800" dirty="0"/>
          </a:p>
        </p:txBody>
      </p:sp>
      <p:sp>
        <p:nvSpPr>
          <p:cNvPr id="5" name="isi teknologi"/>
          <p:cNvSpPr txBox="1"/>
          <p:nvPr/>
        </p:nvSpPr>
        <p:spPr>
          <a:xfrm>
            <a:off x="8366760" y="1691640"/>
            <a:ext cx="3291840" cy="3657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3"/>
                </a:solidFill>
                <a:latin typeface="Calibri" pitchFamily="34" charset="0"/>
                <a:ea typeface="Calibri" pitchFamily="34" charset="-122"/>
                <a:cs typeface="Calibri" pitchFamily="34" charset="-120"/>
              </a:rPr>
              <a:t>Android: Kotlin, Jetpack Compose</a:t>
            </a:r>
            <a:endParaRPr lang="en-US" sz="1400" dirty="0"/>
          </a:p>
          <a:p>
            <a:pPr marL="342900" indent="-342900">
              <a:spcAft>
                <a:spcPts val="600"/>
              </a:spcAft>
              <a:buSzPct val="100000"/>
              <a:buChar char="•"/>
            </a:pPr>
            <a:r>
              <a:rPr lang="en-US" sz="1400" dirty="0">
                <a:solidFill>
                  <a:srgbClr val="1B2433"/>
                </a:solidFill>
                <a:latin typeface="Calibri" pitchFamily="34" charset="0"/>
                <a:ea typeface="Calibri" pitchFamily="34" charset="-122"/>
                <a:cs typeface="Calibri" pitchFamily="34" charset="-120"/>
              </a:rPr>
              <a:t>Data lokal: SQLite + Room</a:t>
            </a:r>
            <a:endParaRPr lang="en-US" sz="1400" dirty="0"/>
          </a:p>
          <a:p>
            <a:pPr marL="342900" indent="-342900">
              <a:spcAft>
                <a:spcPts val="600"/>
              </a:spcAft>
              <a:buSzPct val="100000"/>
              <a:buChar char="•"/>
            </a:pPr>
            <a:r>
              <a:rPr lang="en-US" sz="1400" dirty="0">
                <a:solidFill>
                  <a:srgbClr val="1B2433"/>
                </a:solidFill>
                <a:latin typeface="Calibri" pitchFamily="34" charset="0"/>
                <a:ea typeface="Calibri" pitchFamily="34" charset="-122"/>
                <a:cs typeface="Calibri" pitchFamily="34" charset="-120"/>
              </a:rPr>
              <a:t>Peta luring: MapLibre + PMTiles</a:t>
            </a:r>
            <a:endParaRPr lang="en-US" sz="1400" dirty="0"/>
          </a:p>
          <a:p>
            <a:pPr marL="342900" indent="-342900">
              <a:spcAft>
                <a:spcPts val="600"/>
              </a:spcAft>
              <a:buSzPct val="100000"/>
              <a:buChar char="•"/>
            </a:pPr>
            <a:r>
              <a:rPr lang="en-US" sz="1400" dirty="0">
                <a:solidFill>
                  <a:srgbClr val="1B2433"/>
                </a:solidFill>
                <a:latin typeface="Calibri" pitchFamily="34" charset="0"/>
                <a:ea typeface="Calibri" pitchFamily="34" charset="-122"/>
                <a:cs typeface="Calibri" pitchFamily="34" charset="-120"/>
              </a:rPr>
              <a:t>Server: FastAPI, PostgreSQL + PostGIS (Supabase)</a:t>
            </a:r>
            <a:endParaRPr lang="en-US" sz="1400" dirty="0"/>
          </a:p>
          <a:p>
            <a:pPr marL="342900" indent="-342900">
              <a:spcAft>
                <a:spcPts val="600"/>
              </a:spcAft>
              <a:buSzPct val="100000"/>
              <a:buChar char="•"/>
            </a:pPr>
            <a:r>
              <a:rPr lang="en-US" sz="1400" dirty="0">
                <a:solidFill>
                  <a:srgbClr val="1B2433"/>
                </a:solidFill>
                <a:latin typeface="Calibri" pitchFamily="34" charset="0"/>
                <a:ea typeface="Calibri" pitchFamily="34" charset="-122"/>
                <a:cs typeface="Calibri" pitchFamily="34" charset="-120"/>
              </a:rPr>
              <a:t>Pesan: Firebase Cloud Messaging</a:t>
            </a:r>
            <a:endParaRPr lang="en-US" sz="1400" dirty="0"/>
          </a:p>
          <a:p>
            <a:pPr marL="342900" indent="-342900">
              <a:spcAft>
                <a:spcPts val="600"/>
              </a:spcAft>
              <a:buSzPct val="100000"/>
              <a:buChar char="•"/>
            </a:pPr>
            <a:r>
              <a:rPr lang="en-US" sz="1400" dirty="0">
                <a:solidFill>
                  <a:srgbClr val="1B2433"/>
                </a:solidFill>
                <a:latin typeface="Calibri" pitchFamily="34" charset="0"/>
                <a:ea typeface="Calibri" pitchFamily="34" charset="-122"/>
                <a:cs typeface="Calibri" pitchFamily="34" charset="-120"/>
              </a:rPr>
              <a:t>Data spasial: OSMnx, NetworkX, GeoPandas, QGIS</a:t>
            </a:r>
            <a:endParaRPr lang="en-US" sz="1400" dirty="0"/>
          </a:p>
        </p:txBody>
      </p:sp>
      <p:sp>
        <p:nvSpPr>
          <p:cNvPr id="6" name="keterangan arsitektur"/>
          <p:cNvSpPr txBox="1"/>
          <p:nvPr/>
        </p:nvSpPr>
        <p:spPr>
          <a:xfrm>
            <a:off x="548640" y="5440680"/>
            <a:ext cx="11094415" cy="50292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Garis ungu utuh: alur tanpa jaringan. Garis abu-abu bertitik: layanan daring. Server dibatasi 1 detik untuk tersambung dan 2 detik untuk menjawab; setelah itu aplikasi tetap memakai data di ponsel.</a:t>
            </a:r>
            <a:endParaRPr lang="en-US" sz="14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Data wilayah Kota Padang dalam satu paket</a:t>
            </a:r>
            <a:endParaRPr lang="en-US" sz="3000" dirty="0"/>
          </a:p>
        </p:txBody>
      </p:sp>
      <p:pic>
        <p:nvPicPr>
          <p:cNvPr id="3" name="peta jaringan jalan" descr="C:\Users\Lenovo\AppData\Local\Temp\claude\c--gemastik\520da942-8140-47c0-a16f-9bde4b92cbe5\scratchpad\deck\aset\jalan.png">    </p:cNvPr>
          <p:cNvPicPr>
            <a:picLocks noChangeAspect="1"/>
          </p:cNvPicPr>
          <p:nvPr/>
        </p:nvPicPr>
        <p:blipFill>
          <a:blip r:embed="rId1"/>
          <a:stretch>
            <a:fillRect/>
          </a:stretch>
        </p:blipFill>
        <p:spPr>
          <a:xfrm>
            <a:off x="553212" y="1143000"/>
            <a:ext cx="5111496" cy="4754880"/>
          </a:xfrm>
          <a:prstGeom prst="rect">
            <a:avLst/>
          </a:prstGeom>
        </p:spPr>
      </p:pic>
      <p:sp>
        <p:nvSpPr>
          <p:cNvPr id="4" name="data 1 angka"/>
          <p:cNvSpPr txBox="1"/>
          <p:nvPr/>
        </p:nvSpPr>
        <p:spPr>
          <a:xfrm>
            <a:off x="6126480" y="1280160"/>
            <a:ext cx="2651760" cy="476250"/>
          </a:xfrm>
          <a:prstGeom prst="rect">
            <a:avLst/>
          </a:prstGeom>
          <a:noFill/>
          <a:ln/>
        </p:spPr>
        <p:txBody>
          <a:bodyPr wrap="square" lIns="0" tIns="0" rIns="0" bIns="0" rtlCol="0" anchor="b"/>
          <a:lstStyle/>
          <a:p>
            <a:pPr indent="0" marL="0">
              <a:buNone/>
            </a:pPr>
            <a:r>
              <a:rPr lang="en-US" sz="3000" b="1" dirty="0">
                <a:solidFill>
                  <a:srgbClr val="14365D"/>
                </a:solidFill>
                <a:latin typeface="Arial" pitchFamily="34" charset="0"/>
                <a:ea typeface="Arial" pitchFamily="34" charset="-122"/>
                <a:cs typeface="Arial" pitchFamily="34" charset="-120"/>
              </a:rPr>
              <a:t>31.813</a:t>
            </a:r>
            <a:endParaRPr lang="en-US" sz="3000" dirty="0"/>
          </a:p>
        </p:txBody>
      </p:sp>
      <p:sp>
        <p:nvSpPr>
          <p:cNvPr id="5" name="data 1 label"/>
          <p:cNvSpPr txBox="1"/>
          <p:nvPr/>
        </p:nvSpPr>
        <p:spPr>
          <a:xfrm>
            <a:off x="6126480" y="1829562"/>
            <a:ext cx="265176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simpul jalan, 11.418 di zona merah</a:t>
            </a:r>
            <a:endParaRPr lang="en-US" sz="1400" dirty="0"/>
          </a:p>
        </p:txBody>
      </p:sp>
      <p:sp>
        <p:nvSpPr>
          <p:cNvPr id="6" name="data 2 angka"/>
          <p:cNvSpPr txBox="1"/>
          <p:nvPr/>
        </p:nvSpPr>
        <p:spPr>
          <a:xfrm>
            <a:off x="8961120" y="1280160"/>
            <a:ext cx="2651760" cy="476250"/>
          </a:xfrm>
          <a:prstGeom prst="rect">
            <a:avLst/>
          </a:prstGeom>
          <a:noFill/>
          <a:ln/>
        </p:spPr>
        <p:txBody>
          <a:bodyPr wrap="square" lIns="0" tIns="0" rIns="0" bIns="0" rtlCol="0" anchor="b"/>
          <a:lstStyle/>
          <a:p>
            <a:pPr indent="0" marL="0">
              <a:buNone/>
            </a:pPr>
            <a:r>
              <a:rPr lang="en-US" sz="3000" b="1" dirty="0">
                <a:solidFill>
                  <a:srgbClr val="14365D"/>
                </a:solidFill>
                <a:latin typeface="Arial" pitchFamily="34" charset="0"/>
                <a:ea typeface="Arial" pitchFamily="34" charset="-122"/>
                <a:cs typeface="Arial" pitchFamily="34" charset="-120"/>
              </a:rPr>
              <a:t>39.216</a:t>
            </a:r>
            <a:endParaRPr lang="en-US" sz="3000" dirty="0"/>
          </a:p>
        </p:txBody>
      </p:sp>
      <p:sp>
        <p:nvSpPr>
          <p:cNvPr id="7" name="data 2 label"/>
          <p:cNvSpPr txBox="1"/>
          <p:nvPr/>
        </p:nvSpPr>
        <p:spPr>
          <a:xfrm>
            <a:off x="8961120" y="1829562"/>
            <a:ext cx="265176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ruas jalan pejalan kaki</a:t>
            </a:r>
            <a:endParaRPr lang="en-US" sz="1400" dirty="0"/>
          </a:p>
        </p:txBody>
      </p:sp>
      <p:sp>
        <p:nvSpPr>
          <p:cNvPr id="8" name="data 3 angka"/>
          <p:cNvSpPr txBox="1"/>
          <p:nvPr/>
        </p:nvSpPr>
        <p:spPr>
          <a:xfrm>
            <a:off x="6126480" y="2834640"/>
            <a:ext cx="2651760" cy="476250"/>
          </a:xfrm>
          <a:prstGeom prst="rect">
            <a:avLst/>
          </a:prstGeom>
          <a:noFill/>
          <a:ln/>
        </p:spPr>
        <p:txBody>
          <a:bodyPr wrap="square" lIns="0" tIns="0" rIns="0" bIns="0" rtlCol="0" anchor="b"/>
          <a:lstStyle/>
          <a:p>
            <a:pPr indent="0" marL="0">
              <a:buNone/>
            </a:pPr>
            <a:r>
              <a:rPr lang="en-US" sz="3000" b="1" dirty="0">
                <a:solidFill>
                  <a:srgbClr val="D9472F"/>
                </a:solidFill>
                <a:latin typeface="Arial" pitchFamily="34" charset="0"/>
                <a:ea typeface="Arial" pitchFamily="34" charset="-122"/>
                <a:cs typeface="Arial" pitchFamily="34" charset="-120"/>
              </a:rPr>
              <a:t>244 TES</a:t>
            </a:r>
            <a:endParaRPr lang="en-US" sz="3000" dirty="0"/>
          </a:p>
        </p:txBody>
      </p:sp>
      <p:sp>
        <p:nvSpPr>
          <p:cNvPr id="9" name="data 3 label"/>
          <p:cNvSpPr txBox="1"/>
          <p:nvPr/>
        </p:nvSpPr>
        <p:spPr>
          <a:xfrm>
            <a:off x="6126480" y="3384042"/>
            <a:ext cx="265176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45 daftar BPBD 2019, 199 Kelurahan Tangguh</a:t>
            </a:r>
            <a:endParaRPr lang="en-US" sz="1400" dirty="0"/>
          </a:p>
        </p:txBody>
      </p:sp>
      <p:sp>
        <p:nvSpPr>
          <p:cNvPr id="10" name="data 4 angka"/>
          <p:cNvSpPr txBox="1"/>
          <p:nvPr/>
        </p:nvSpPr>
        <p:spPr>
          <a:xfrm>
            <a:off x="8961120" y="2834640"/>
            <a:ext cx="2651760" cy="476250"/>
          </a:xfrm>
          <a:prstGeom prst="rect">
            <a:avLst/>
          </a:prstGeom>
          <a:noFill/>
          <a:ln/>
        </p:spPr>
        <p:txBody>
          <a:bodyPr wrap="square" lIns="0" tIns="0" rIns="0" bIns="0" rtlCol="0" anchor="b"/>
          <a:lstStyle/>
          <a:p>
            <a:pPr indent="0" marL="0">
              <a:buNone/>
            </a:pPr>
            <a:r>
              <a:rPr lang="en-US" sz="3000" b="1" dirty="0">
                <a:solidFill>
                  <a:srgbClr val="D9472F"/>
                </a:solidFill>
                <a:latin typeface="Arial" pitchFamily="34" charset="0"/>
                <a:ea typeface="Arial" pitchFamily="34" charset="-122"/>
                <a:cs typeface="Arial" pitchFamily="34" charset="-120"/>
              </a:rPr>
              <a:t>22 TEA</a:t>
            </a:r>
            <a:endParaRPr lang="en-US" sz="3000" dirty="0"/>
          </a:p>
        </p:txBody>
      </p:sp>
      <p:sp>
        <p:nvSpPr>
          <p:cNvPr id="11" name="data 4 label"/>
          <p:cNvSpPr txBox="1"/>
          <p:nvPr/>
        </p:nvSpPr>
        <p:spPr>
          <a:xfrm>
            <a:off x="8961120" y="3384042"/>
            <a:ext cx="265176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dari 46 di data sumber; 24 di zona merah tidak dipakai</a:t>
            </a:r>
            <a:endParaRPr lang="en-US" sz="1400" dirty="0"/>
          </a:p>
        </p:txBody>
      </p:sp>
      <p:sp>
        <p:nvSpPr>
          <p:cNvPr id="12" name="data 5 angka"/>
          <p:cNvSpPr txBox="1"/>
          <p:nvPr/>
        </p:nvSpPr>
        <p:spPr>
          <a:xfrm>
            <a:off x="6126480" y="4389120"/>
            <a:ext cx="2651760" cy="476250"/>
          </a:xfrm>
          <a:prstGeom prst="rect">
            <a:avLst/>
          </a:prstGeom>
          <a:noFill/>
          <a:ln/>
        </p:spPr>
        <p:txBody>
          <a:bodyPr wrap="square" lIns="0" tIns="0" rIns="0" bIns="0" rtlCol="0" anchor="b"/>
          <a:lstStyle/>
          <a:p>
            <a:pPr indent="0" marL="0">
              <a:buNone/>
            </a:pPr>
            <a:r>
              <a:rPr lang="en-US" sz="3000" b="1" dirty="0">
                <a:solidFill>
                  <a:srgbClr val="2F7F9C"/>
                </a:solidFill>
                <a:latin typeface="Arial" pitchFamily="34" charset="0"/>
                <a:ea typeface="Arial" pitchFamily="34" charset="-122"/>
                <a:cs typeface="Arial" pitchFamily="34" charset="-120"/>
              </a:rPr>
              <a:t>7.272 ha</a:t>
            </a:r>
            <a:endParaRPr lang="en-US" sz="3000" dirty="0"/>
          </a:p>
        </p:txBody>
      </p:sp>
      <p:sp>
        <p:nvSpPr>
          <p:cNvPr id="13" name="data 5 label"/>
          <p:cNvSpPr txBox="1"/>
          <p:nvPr/>
        </p:nvSpPr>
        <p:spPr>
          <a:xfrm>
            <a:off x="6126480" y="4938522"/>
            <a:ext cx="265176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luas zona merah (KRB + peta evakuasi BPBD)</a:t>
            </a:r>
            <a:endParaRPr lang="en-US" sz="1400" dirty="0"/>
          </a:p>
        </p:txBody>
      </p:sp>
      <p:sp>
        <p:nvSpPr>
          <p:cNvPr id="14" name="data 6 angka"/>
          <p:cNvSpPr txBox="1"/>
          <p:nvPr/>
        </p:nvSpPr>
        <p:spPr>
          <a:xfrm>
            <a:off x="8961120" y="4389120"/>
            <a:ext cx="2651760" cy="476250"/>
          </a:xfrm>
          <a:prstGeom prst="rect">
            <a:avLst/>
          </a:prstGeom>
          <a:noFill/>
          <a:ln/>
        </p:spPr>
        <p:txBody>
          <a:bodyPr wrap="square" lIns="0" tIns="0" rIns="0" bIns="0" rtlCol="0" anchor="b"/>
          <a:lstStyle/>
          <a:p>
            <a:pPr indent="0" marL="0">
              <a:buNone/>
            </a:pPr>
            <a:r>
              <a:rPr lang="en-US" sz="3000" b="1" dirty="0">
                <a:solidFill>
                  <a:srgbClr val="2F7F9C"/>
                </a:solidFill>
                <a:latin typeface="Arial" pitchFamily="34" charset="0"/>
                <a:ea typeface="Arial" pitchFamily="34" charset="-122"/>
                <a:cs typeface="Arial" pitchFamily="34" charset="-120"/>
              </a:rPr>
              <a:t>36,97 MB</a:t>
            </a:r>
            <a:endParaRPr lang="en-US" sz="3000" dirty="0"/>
          </a:p>
        </p:txBody>
      </p:sp>
      <p:sp>
        <p:nvSpPr>
          <p:cNvPr id="15" name="data 6 label"/>
          <p:cNvSpPr txBox="1"/>
          <p:nvPr/>
        </p:nvSpPr>
        <p:spPr>
          <a:xfrm>
            <a:off x="8961120" y="4938522"/>
            <a:ext cx="265176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basis data di ponsel, dicek SHA-256</a:t>
            </a:r>
            <a:endParaRPr lang="en-US" sz="1400" dirty="0"/>
          </a:p>
        </p:txBody>
      </p:sp>
      <p:sp>
        <p:nvSpPr>
          <p:cNvPr id="16"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Basis data 2026.10.18; OpenStreetMap per 8 Agustus 2026 (L 3.4, 6.2, Tabel 3.2 dan 6.2, Gambar 5.4).</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Struktur basis data lokal</a:t>
            </a:r>
            <a:endParaRPr lang="en-US" sz="3000" dirty="0"/>
          </a:p>
        </p:txBody>
      </p:sp>
      <p:pic>
        <p:nvPicPr>
          <p:cNvPr id="3" name="erd lokal" descr="C:\Users\Lenovo\AppData\Local\Temp\claude\c--gemastik\520da942-8140-47c0-a16f-9bde4b92cbe5\scratchpad\deck\aset\erd_lokal.png">    </p:cNvPr>
          <p:cNvPicPr>
            <a:picLocks noChangeAspect="1"/>
          </p:cNvPicPr>
          <p:nvPr/>
        </p:nvPicPr>
        <p:blipFill>
          <a:blip r:embed="rId1"/>
          <a:stretch>
            <a:fillRect/>
          </a:stretch>
        </p:blipFill>
        <p:spPr>
          <a:xfrm>
            <a:off x="548640" y="1284732"/>
            <a:ext cx="5486400" cy="4471416"/>
          </a:xfrm>
          <a:prstGeom prst="rect">
            <a:avLst/>
          </a:prstGeom>
        </p:spPr>
      </p:pic>
      <p:graphicFrame>
        <p:nvGraphicFramePr>
          <p:cNvPr id="17" name="tabel basis data"/>
          <p:cNvGraphicFramePr>
            <a:graphicFrameLocks noGrp="1"/>
          </p:cNvGraphicFramePr>
          <p:nvPr>
            <p:extLst>
              <p:ext uri="{D42A27DB-BD31-4B8C-83A1-F6EECF244321}">
                <p14:modId xmlns:p14="http://schemas.microsoft.com/office/powerpoint/2010/main" val="1579011935"/>
              </p:ext>
            </p:extLst>
          </p:nvPr>
        </p:nvGraphicFramePr>
        <p:xfrm>
          <a:off x="6309360" y="1234440"/>
          <a:ext cx="5330952" cy="914400"/>
        </p:xfrm>
        <a:graphic>
          <a:graphicData uri="http://schemas.openxmlformats.org/drawingml/2006/table">
            <a:tbl>
              <a:tblPr/>
              <a:tblGrid>
                <a:gridCol w="1691640"/>
                <a:gridCol w="2633472"/>
                <a:gridCol w="1005840"/>
              </a:tblGrid>
              <a:tr h="530352">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Tabel</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Isi</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Jumlah</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r>
              <a:tr h="530352">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tb_nodes</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Simpul, status zona, jarak ke pantai</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31.813</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530352">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tb_edges</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Ruas jalan dan bentuk garisnya</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39.216</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530352">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tb_routes</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Hingga 3 pilihan TES per simpul</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10.688</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530352">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tb_tes / tb_tea</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Tempat evakuasi dan daya tampung</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244 / 22</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530352">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tb_safe_routes_v2</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Jalur ke dalam zona hijau</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11.418</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530352">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tb_route_shares</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Porsi tujuan TES per simpul</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32.201</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530352">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tb_tes_next</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Rantai simpul ke tiap TES</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40.677</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bl>
          </a:graphicData>
        </a:graphic>
      </p:graphicFrame>
      <p:sp>
        <p:nvSpPr>
          <p:cNvPr id="5" name="keterangan basis data"/>
          <p:cNvSpPr txBox="1"/>
          <p:nvPr/>
        </p:nvSpPr>
        <p:spPr>
          <a:xfrm>
            <a:off x="6309360" y="5486400"/>
            <a:ext cx="5330952" cy="4114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21 tabel data, 1 tabel internal SQLite, 1 view; aplikasi membaca 17 tabel dan view.</a:t>
            </a:r>
            <a:endParaRPr lang="en-US" sz="1400" dirty="0"/>
          </a:p>
        </p:txBody>
      </p:sp>
      <p:sp>
        <p:nvSpPr>
          <p:cNvPr id="6"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L 5.6, Tabel 5.5, Gambar 5.3.</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Jalur dihitung sebelum kejadian sesuai aturan BPBD</a:t>
            </a:r>
            <a:endParaRPr lang="en-US" sz="3000" dirty="0"/>
          </a:p>
        </p:txBody>
      </p:sp>
      <p:sp>
        <p:nvSpPr>
          <p:cNvPr id="3" name="kartu langkah 1"/>
          <p:cNvSpPr/>
          <p:nvPr/>
        </p:nvSpPr>
        <p:spPr>
          <a:xfrm>
            <a:off x="548640" y="1280160"/>
            <a:ext cx="2606040" cy="2697480"/>
          </a:xfrm>
          <a:prstGeom prst="roundRect">
            <a:avLst>
              <a:gd name="adj" fmla="val 2807"/>
            </a:avLst>
          </a:prstGeom>
          <a:solidFill>
            <a:srgbClr val="EEF2F7"/>
          </a:solidFill>
          <a:ln w="12700">
            <a:solidFill>
              <a:srgbClr val="EEF2F7"/>
            </a:solidFill>
            <a:prstDash val="solid"/>
          </a:ln>
        </p:spPr>
      </p:sp>
      <p:sp>
        <p:nvSpPr>
          <p:cNvPr id="4" name="langkah 1 bulatan"/>
          <p:cNvSpPr/>
          <p:nvPr/>
        </p:nvSpPr>
        <p:spPr>
          <a:xfrm>
            <a:off x="777240" y="1508760"/>
            <a:ext cx="594360" cy="594360"/>
          </a:xfrm>
          <a:prstGeom prst="ellipse">
            <a:avLst/>
          </a:prstGeom>
          <a:solidFill>
            <a:srgbClr val="14365D"/>
          </a:solidFill>
          <a:ln w="12700">
            <a:solidFill>
              <a:srgbClr val="14365D"/>
            </a:solidFill>
            <a:prstDash val="solid"/>
          </a:ln>
        </p:spPr>
      </p:sp>
      <p:sp>
        <p:nvSpPr>
          <p:cNvPr id="5" name="langkah 1 nomor"/>
          <p:cNvSpPr txBox="1"/>
          <p:nvPr/>
        </p:nvSpPr>
        <p:spPr>
          <a:xfrm>
            <a:off x="777240" y="150876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judul langkah 1"/>
          <p:cNvSpPr txBox="1"/>
          <p:nvPr/>
        </p:nvSpPr>
        <p:spPr>
          <a:xfrm>
            <a:off x="1508760" y="1508760"/>
            <a:ext cx="1554480" cy="594360"/>
          </a:xfrm>
          <a:prstGeom prst="rect">
            <a:avLst/>
          </a:prstGeom>
          <a:noFill/>
          <a:ln/>
        </p:spPr>
        <p:txBody>
          <a:bodyPr wrap="square" lIns="0" tIns="0" rIns="0" bIns="0" rtlCol="0" anchor="ctr"/>
          <a:lstStyle/>
          <a:p>
            <a:pPr indent="0" marL="0">
              <a:buNone/>
            </a:pPr>
            <a:r>
              <a:rPr lang="en-US" sz="1700" b="1" dirty="0">
                <a:solidFill>
                  <a:srgbClr val="14365D"/>
                </a:solidFill>
                <a:latin typeface="Calibri" pitchFamily="34" charset="0"/>
                <a:ea typeface="Calibri" pitchFamily="34" charset="-122"/>
                <a:cs typeface="Calibri" pitchFamily="34" charset="-120"/>
              </a:rPr>
              <a:t>Graf jalan</a:t>
            </a:r>
            <a:endParaRPr lang="en-US" sz="1700" dirty="0"/>
          </a:p>
        </p:txBody>
      </p:sp>
      <p:sp>
        <p:nvSpPr>
          <p:cNvPr id="7" name="isi langkah 1"/>
          <p:cNvSpPr txBox="1"/>
          <p:nvPr/>
        </p:nvSpPr>
        <p:spPr>
          <a:xfrm>
            <a:off x="777240" y="2240280"/>
            <a:ext cx="2194560" cy="169164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Jalan pejalan kaki OpenStreetMap; setiap simpul menyimpan jarak ke pantai.</a:t>
            </a:r>
            <a:endParaRPr lang="en-US" sz="1400" dirty="0"/>
          </a:p>
        </p:txBody>
      </p:sp>
      <p:sp>
        <p:nvSpPr>
          <p:cNvPr id="8" name="kartu langkah 2"/>
          <p:cNvSpPr/>
          <p:nvPr/>
        </p:nvSpPr>
        <p:spPr>
          <a:xfrm>
            <a:off x="3355848" y="1280160"/>
            <a:ext cx="2606040" cy="2697480"/>
          </a:xfrm>
          <a:prstGeom prst="roundRect">
            <a:avLst>
              <a:gd name="adj" fmla="val 2807"/>
            </a:avLst>
          </a:prstGeom>
          <a:solidFill>
            <a:srgbClr val="EEF2F7"/>
          </a:solidFill>
          <a:ln w="12700">
            <a:solidFill>
              <a:srgbClr val="EEF2F7"/>
            </a:solidFill>
            <a:prstDash val="solid"/>
          </a:ln>
        </p:spPr>
      </p:sp>
      <p:sp>
        <p:nvSpPr>
          <p:cNvPr id="9" name="langkah 2 bulatan"/>
          <p:cNvSpPr/>
          <p:nvPr/>
        </p:nvSpPr>
        <p:spPr>
          <a:xfrm>
            <a:off x="3584448" y="1508760"/>
            <a:ext cx="594360" cy="594360"/>
          </a:xfrm>
          <a:prstGeom prst="ellipse">
            <a:avLst/>
          </a:prstGeom>
          <a:solidFill>
            <a:srgbClr val="14365D"/>
          </a:solidFill>
          <a:ln w="12700">
            <a:solidFill>
              <a:srgbClr val="14365D"/>
            </a:solidFill>
            <a:prstDash val="solid"/>
          </a:ln>
        </p:spPr>
      </p:sp>
      <p:sp>
        <p:nvSpPr>
          <p:cNvPr id="10" name="langkah 2 nomor"/>
          <p:cNvSpPr txBox="1"/>
          <p:nvPr/>
        </p:nvSpPr>
        <p:spPr>
          <a:xfrm>
            <a:off x="3584448" y="150876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1" name="judul langkah 2"/>
          <p:cNvSpPr txBox="1"/>
          <p:nvPr/>
        </p:nvSpPr>
        <p:spPr>
          <a:xfrm>
            <a:off x="4315968" y="1508760"/>
            <a:ext cx="1554480" cy="594360"/>
          </a:xfrm>
          <a:prstGeom prst="rect">
            <a:avLst/>
          </a:prstGeom>
          <a:noFill/>
          <a:ln/>
        </p:spPr>
        <p:txBody>
          <a:bodyPr wrap="square" lIns="0" tIns="0" rIns="0" bIns="0" rtlCol="0" anchor="ctr"/>
          <a:lstStyle/>
          <a:p>
            <a:pPr indent="0" marL="0">
              <a:buNone/>
            </a:pPr>
            <a:r>
              <a:rPr lang="en-US" sz="1700" b="1" dirty="0">
                <a:solidFill>
                  <a:srgbClr val="14365D"/>
                </a:solidFill>
                <a:latin typeface="Calibri" pitchFamily="34" charset="0"/>
                <a:ea typeface="Calibri" pitchFamily="34" charset="-122"/>
                <a:cs typeface="Calibri" pitchFamily="34" charset="-120"/>
              </a:rPr>
              <a:t>Dijkstra terbalik</a:t>
            </a:r>
            <a:endParaRPr lang="en-US" sz="1700" dirty="0"/>
          </a:p>
        </p:txBody>
      </p:sp>
      <p:sp>
        <p:nvSpPr>
          <p:cNvPr id="12" name="isi langkah 2"/>
          <p:cNvSpPr txBox="1"/>
          <p:nvPr/>
        </p:nvSpPr>
        <p:spPr>
          <a:xfrm>
            <a:off x="3584448" y="2240280"/>
            <a:ext cx="2194560" cy="169164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Penelusuran dari tiap tujuan memberi jalur dari semua simpul sekaligus; ruas yang mendekati pantai &gt; 50 m diberi penalti, jalur resmi BPBD faktor 0,8.</a:t>
            </a:r>
            <a:endParaRPr lang="en-US" sz="1400" dirty="0"/>
          </a:p>
        </p:txBody>
      </p:sp>
      <p:sp>
        <p:nvSpPr>
          <p:cNvPr id="13" name="kartu langkah 3"/>
          <p:cNvSpPr/>
          <p:nvPr/>
        </p:nvSpPr>
        <p:spPr>
          <a:xfrm>
            <a:off x="6163056" y="1280160"/>
            <a:ext cx="2606040" cy="2697480"/>
          </a:xfrm>
          <a:prstGeom prst="roundRect">
            <a:avLst>
              <a:gd name="adj" fmla="val 2807"/>
            </a:avLst>
          </a:prstGeom>
          <a:solidFill>
            <a:srgbClr val="EEF2F7"/>
          </a:solidFill>
          <a:ln w="12700">
            <a:solidFill>
              <a:srgbClr val="EEF2F7"/>
            </a:solidFill>
            <a:prstDash val="solid"/>
          </a:ln>
        </p:spPr>
      </p:sp>
      <p:sp>
        <p:nvSpPr>
          <p:cNvPr id="14" name="langkah 3 bulatan"/>
          <p:cNvSpPr/>
          <p:nvPr/>
        </p:nvSpPr>
        <p:spPr>
          <a:xfrm>
            <a:off x="6391656" y="1508760"/>
            <a:ext cx="594360" cy="594360"/>
          </a:xfrm>
          <a:prstGeom prst="ellipse">
            <a:avLst/>
          </a:prstGeom>
          <a:solidFill>
            <a:srgbClr val="14365D"/>
          </a:solidFill>
          <a:ln w="12700">
            <a:solidFill>
              <a:srgbClr val="14365D"/>
            </a:solidFill>
            <a:prstDash val="solid"/>
          </a:ln>
        </p:spPr>
      </p:sp>
      <p:sp>
        <p:nvSpPr>
          <p:cNvPr id="15" name="langkah 3 nomor"/>
          <p:cNvSpPr txBox="1"/>
          <p:nvPr/>
        </p:nvSpPr>
        <p:spPr>
          <a:xfrm>
            <a:off x="6391656" y="150876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6" name="judul langkah 3"/>
          <p:cNvSpPr txBox="1"/>
          <p:nvPr/>
        </p:nvSpPr>
        <p:spPr>
          <a:xfrm>
            <a:off x="7123176" y="1508760"/>
            <a:ext cx="1554480" cy="594360"/>
          </a:xfrm>
          <a:prstGeom prst="rect">
            <a:avLst/>
          </a:prstGeom>
          <a:noFill/>
          <a:ln/>
        </p:spPr>
        <p:txBody>
          <a:bodyPr wrap="square" lIns="0" tIns="0" rIns="0" bIns="0" rtlCol="0" anchor="ctr"/>
          <a:lstStyle/>
          <a:p>
            <a:pPr indent="0" marL="0">
              <a:buNone/>
            </a:pPr>
            <a:r>
              <a:rPr lang="en-US" sz="1700" b="1" dirty="0">
                <a:solidFill>
                  <a:srgbClr val="14365D"/>
                </a:solidFill>
                <a:latin typeface="Calibri" pitchFamily="34" charset="0"/>
                <a:ea typeface="Calibri" pitchFamily="34" charset="-122"/>
                <a:cs typeface="Calibri" pitchFamily="34" charset="-120"/>
              </a:rPr>
              <a:t>Saring arah</a:t>
            </a:r>
            <a:endParaRPr lang="en-US" sz="1700" dirty="0"/>
          </a:p>
        </p:txBody>
      </p:sp>
      <p:sp>
        <p:nvSpPr>
          <p:cNvPr id="17" name="isi langkah 3"/>
          <p:cNvSpPr txBox="1"/>
          <p:nvPr/>
        </p:nvSpPr>
        <p:spPr>
          <a:xfrm>
            <a:off x="6391656" y="2240280"/>
            <a:ext cx="2194560" cy="169164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Tujuan harus menjauhi pantai &gt; ± 15° (rasio &gt; 0,27); tujuan &lt; 100 m dikecualikan.</a:t>
            </a:r>
            <a:endParaRPr lang="en-US" sz="1400" dirty="0"/>
          </a:p>
        </p:txBody>
      </p:sp>
      <p:sp>
        <p:nvSpPr>
          <p:cNvPr id="18" name="kartu langkah 4"/>
          <p:cNvSpPr/>
          <p:nvPr/>
        </p:nvSpPr>
        <p:spPr>
          <a:xfrm>
            <a:off x="8970264" y="1280160"/>
            <a:ext cx="2606040" cy="2697480"/>
          </a:xfrm>
          <a:prstGeom prst="roundRect">
            <a:avLst>
              <a:gd name="adj" fmla="val 2807"/>
            </a:avLst>
          </a:prstGeom>
          <a:solidFill>
            <a:srgbClr val="EEF2F7"/>
          </a:solidFill>
          <a:ln w="12700">
            <a:solidFill>
              <a:srgbClr val="EEF2F7"/>
            </a:solidFill>
            <a:prstDash val="solid"/>
          </a:ln>
        </p:spPr>
      </p:sp>
      <p:sp>
        <p:nvSpPr>
          <p:cNvPr id="19" name="langkah 4 bulatan"/>
          <p:cNvSpPr/>
          <p:nvPr/>
        </p:nvSpPr>
        <p:spPr>
          <a:xfrm>
            <a:off x="9198864" y="1508760"/>
            <a:ext cx="594360" cy="594360"/>
          </a:xfrm>
          <a:prstGeom prst="ellipse">
            <a:avLst/>
          </a:prstGeom>
          <a:solidFill>
            <a:srgbClr val="14365D"/>
          </a:solidFill>
          <a:ln w="12700">
            <a:solidFill>
              <a:srgbClr val="14365D"/>
            </a:solidFill>
            <a:prstDash val="solid"/>
          </a:ln>
        </p:spPr>
      </p:sp>
      <p:sp>
        <p:nvSpPr>
          <p:cNvPr id="20" name="langkah 4 nomor"/>
          <p:cNvSpPr txBox="1"/>
          <p:nvPr/>
        </p:nvSpPr>
        <p:spPr>
          <a:xfrm>
            <a:off x="9198864" y="150876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1" name="judul langkah 4"/>
          <p:cNvSpPr txBox="1"/>
          <p:nvPr/>
        </p:nvSpPr>
        <p:spPr>
          <a:xfrm>
            <a:off x="9930384" y="1508760"/>
            <a:ext cx="1554480" cy="594360"/>
          </a:xfrm>
          <a:prstGeom prst="rect">
            <a:avLst/>
          </a:prstGeom>
          <a:noFill/>
          <a:ln/>
        </p:spPr>
        <p:txBody>
          <a:bodyPr wrap="square" lIns="0" tIns="0" rIns="0" bIns="0" rtlCol="0" anchor="ctr"/>
          <a:lstStyle/>
          <a:p>
            <a:pPr indent="0" marL="0">
              <a:buNone/>
            </a:pPr>
            <a:r>
              <a:rPr lang="en-US" sz="1700" b="1" dirty="0">
                <a:solidFill>
                  <a:srgbClr val="14365D"/>
                </a:solidFill>
                <a:latin typeface="Calibri" pitchFamily="34" charset="0"/>
                <a:ea typeface="Calibri" pitchFamily="34" charset="-122"/>
                <a:cs typeface="Calibri" pitchFamily="34" charset="-120"/>
              </a:rPr>
              <a:t>Hindari jembatan</a:t>
            </a:r>
            <a:endParaRPr lang="en-US" sz="1700" dirty="0"/>
          </a:p>
        </p:txBody>
      </p:sp>
      <p:sp>
        <p:nvSpPr>
          <p:cNvPr id="22" name="isi langkah 4"/>
          <p:cNvSpPr txBox="1"/>
          <p:nvPr/>
        </p:nvSpPr>
        <p:spPr>
          <a:xfrm>
            <a:off x="9198864" y="2240280"/>
            <a:ext cx="2194560" cy="169164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Jembatan ≥ 20 m hanya dipakai bila tujuan tidak bisa dicapai tanpa melaluinya.</a:t>
            </a:r>
            <a:endParaRPr lang="en-US" sz="1400" dirty="0"/>
          </a:p>
        </p:txBody>
      </p:sp>
      <p:sp>
        <p:nvSpPr>
          <p:cNvPr id="23" name="jembatan angka"/>
          <p:cNvSpPr txBox="1"/>
          <p:nvPr/>
        </p:nvSpPr>
        <p:spPr>
          <a:xfrm>
            <a:off x="548640" y="4206240"/>
            <a:ext cx="2743200" cy="508000"/>
          </a:xfrm>
          <a:prstGeom prst="rect">
            <a:avLst/>
          </a:prstGeom>
          <a:noFill/>
          <a:ln/>
        </p:spPr>
        <p:txBody>
          <a:bodyPr wrap="square" lIns="0" tIns="0" rIns="0" bIns="0" rtlCol="0" anchor="b"/>
          <a:lstStyle/>
          <a:p>
            <a:pPr indent="0" marL="0">
              <a:buNone/>
            </a:pPr>
            <a:r>
              <a:rPr lang="en-US" sz="3200" b="1" dirty="0">
                <a:solidFill>
                  <a:srgbClr val="D9472F"/>
                </a:solidFill>
                <a:latin typeface="Arial" pitchFamily="34" charset="0"/>
                <a:ea typeface="Arial" pitchFamily="34" charset="-122"/>
                <a:cs typeface="Arial" pitchFamily="34" charset="-120"/>
              </a:rPr>
              <a:t>19%</a:t>
            </a:r>
            <a:endParaRPr lang="en-US" sz="3200" dirty="0"/>
          </a:p>
        </p:txBody>
      </p:sp>
      <p:sp>
        <p:nvSpPr>
          <p:cNvPr id="24" name="jembatan label"/>
          <p:cNvSpPr txBox="1"/>
          <p:nvPr/>
        </p:nvSpPr>
        <p:spPr>
          <a:xfrm>
            <a:off x="548640" y="4787392"/>
            <a:ext cx="274320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jalur TES pertama masih lewat jembatan karena tidak ada sambungan lain (2.067 dari 10.688)</a:t>
            </a:r>
            <a:endParaRPr lang="en-US" sz="1400" dirty="0"/>
          </a:p>
        </p:txBody>
      </p:sp>
      <p:sp>
        <p:nvSpPr>
          <p:cNvPr id="25" name="tanpa tes angka"/>
          <p:cNvSpPr txBox="1"/>
          <p:nvPr/>
        </p:nvSpPr>
        <p:spPr>
          <a:xfrm>
            <a:off x="3429000" y="4206240"/>
            <a:ext cx="2743200" cy="508000"/>
          </a:xfrm>
          <a:prstGeom prst="rect">
            <a:avLst/>
          </a:prstGeom>
          <a:noFill/>
          <a:ln/>
        </p:spPr>
        <p:txBody>
          <a:bodyPr wrap="square" lIns="0" tIns="0" rIns="0" bIns="0" rtlCol="0" anchor="b"/>
          <a:lstStyle/>
          <a:p>
            <a:pPr indent="0" marL="0">
              <a:buNone/>
            </a:pPr>
            <a:r>
              <a:rPr lang="en-US" sz="3200" b="1" dirty="0">
                <a:solidFill>
                  <a:srgbClr val="14365D"/>
                </a:solidFill>
                <a:latin typeface="Arial" pitchFamily="34" charset="0"/>
                <a:ea typeface="Arial" pitchFamily="34" charset="-122"/>
                <a:cs typeface="Arial" pitchFamily="34" charset="-120"/>
              </a:rPr>
              <a:t>730</a:t>
            </a:r>
            <a:endParaRPr lang="en-US" sz="3200" dirty="0"/>
          </a:p>
        </p:txBody>
      </p:sp>
      <p:sp>
        <p:nvSpPr>
          <p:cNvPr id="26" name="tanpa tes label"/>
          <p:cNvSpPr txBox="1"/>
          <p:nvPr/>
        </p:nvSpPr>
        <p:spPr>
          <a:xfrm>
            <a:off x="3429000" y="4787392"/>
            <a:ext cx="274320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simpul zona merah tanpa TES yang lolos syarat; semua tetap punya jalur ke zona hijau</a:t>
            </a:r>
            <a:endParaRPr lang="en-US" sz="1400" dirty="0"/>
          </a:p>
        </p:txBody>
      </p:sp>
      <p:sp>
        <p:nvSpPr>
          <p:cNvPr id="27" name="pilihan angka"/>
          <p:cNvSpPr txBox="1"/>
          <p:nvPr/>
        </p:nvSpPr>
        <p:spPr>
          <a:xfrm>
            <a:off x="6309360" y="4206240"/>
            <a:ext cx="2651760" cy="508000"/>
          </a:xfrm>
          <a:prstGeom prst="rect">
            <a:avLst/>
          </a:prstGeom>
          <a:noFill/>
          <a:ln/>
        </p:spPr>
        <p:txBody>
          <a:bodyPr wrap="square" lIns="0" tIns="0" rIns="0" bIns="0" rtlCol="0" anchor="b"/>
          <a:lstStyle/>
          <a:p>
            <a:pPr indent="0" marL="0">
              <a:buNone/>
            </a:pPr>
            <a:r>
              <a:rPr lang="en-US" sz="3200" b="1" dirty="0">
                <a:solidFill>
                  <a:srgbClr val="2F7F9C"/>
                </a:solidFill>
                <a:latin typeface="Arial" pitchFamily="34" charset="0"/>
                <a:ea typeface="Arial" pitchFamily="34" charset="-122"/>
                <a:cs typeface="Arial" pitchFamily="34" charset="-120"/>
              </a:rPr>
              <a:t>3 pilihan</a:t>
            </a:r>
            <a:endParaRPr lang="en-US" sz="3200" dirty="0"/>
          </a:p>
        </p:txBody>
      </p:sp>
      <p:sp>
        <p:nvSpPr>
          <p:cNvPr id="28" name="pilihan label"/>
          <p:cNvSpPr txBox="1"/>
          <p:nvPr/>
        </p:nvSpPr>
        <p:spPr>
          <a:xfrm>
            <a:off x="6309360" y="4787392"/>
            <a:ext cx="265176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TES per simpul, ditambah rantai jalur ke TEA dan zona hijau</a:t>
            </a:r>
            <a:endParaRPr lang="en-US" sz="1400" dirty="0"/>
          </a:p>
        </p:txBody>
      </p:sp>
      <p:sp>
        <p:nvSpPr>
          <p:cNvPr id="29" name="tanpa tea angka"/>
          <p:cNvSpPr txBox="1"/>
          <p:nvPr/>
        </p:nvSpPr>
        <p:spPr>
          <a:xfrm>
            <a:off x="9098280" y="4206240"/>
            <a:ext cx="2560320" cy="508000"/>
          </a:xfrm>
          <a:prstGeom prst="rect">
            <a:avLst/>
          </a:prstGeom>
          <a:noFill/>
          <a:ln/>
        </p:spPr>
        <p:txBody>
          <a:bodyPr wrap="square" lIns="0" tIns="0" rIns="0" bIns="0" rtlCol="0" anchor="b"/>
          <a:lstStyle/>
          <a:p>
            <a:pPr indent="0" marL="0">
              <a:buNone/>
            </a:pPr>
            <a:r>
              <a:rPr lang="en-US" sz="3200" b="1" dirty="0">
                <a:solidFill>
                  <a:srgbClr val="7C8590"/>
                </a:solidFill>
                <a:latin typeface="Arial" pitchFamily="34" charset="0"/>
                <a:ea typeface="Arial" pitchFamily="34" charset="-122"/>
                <a:cs typeface="Arial" pitchFamily="34" charset="-120"/>
              </a:rPr>
              <a:t>10</a:t>
            </a:r>
            <a:endParaRPr lang="en-US" sz="3200" dirty="0"/>
          </a:p>
        </p:txBody>
      </p:sp>
      <p:sp>
        <p:nvSpPr>
          <p:cNvPr id="30" name="tanpa tea label"/>
          <p:cNvSpPr txBox="1"/>
          <p:nvPr/>
        </p:nvSpPr>
        <p:spPr>
          <a:xfrm>
            <a:off x="9098280" y="4787392"/>
            <a:ext cx="256032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simpul saja yang tidak memiliki jalur ke TEA</a:t>
            </a:r>
            <a:endParaRPr lang="en-US" sz="1400" dirty="0"/>
          </a:p>
        </p:txBody>
      </p:sp>
      <p:sp>
        <p:nvSpPr>
          <p:cNvPr id="31"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L 5.7.1–5.7.2; M II-B. Jalur yang lewat jembatan diberi keterangan "Lewat jembatan".</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Sebaran penduduk pada jaringan jalan</a:t>
            </a:r>
            <a:endParaRPr lang="en-US" sz="3000" dirty="0"/>
          </a:p>
        </p:txBody>
      </p:sp>
      <p:sp>
        <p:nvSpPr>
          <p:cNvPr id="3" name="kartu alir 1"/>
          <p:cNvSpPr/>
          <p:nvPr/>
        </p:nvSpPr>
        <p:spPr>
          <a:xfrm>
            <a:off x="548640" y="1463040"/>
            <a:ext cx="2377440" cy="2377440"/>
          </a:xfrm>
          <a:prstGeom prst="roundRect">
            <a:avLst>
              <a:gd name="adj" fmla="val 3077"/>
            </a:avLst>
          </a:prstGeom>
          <a:solidFill>
            <a:srgbClr val="EEF2F7"/>
          </a:solidFill>
          <a:ln w="12700">
            <a:solidFill>
              <a:srgbClr val="EEF2F7"/>
            </a:solidFill>
            <a:prstDash val="solid"/>
          </a:ln>
        </p:spPr>
      </p:sp>
      <p:sp>
        <p:nvSpPr>
          <p:cNvPr id="4" name="alir 1 angka"/>
          <p:cNvSpPr txBox="1"/>
          <p:nvPr/>
        </p:nvSpPr>
        <p:spPr>
          <a:xfrm>
            <a:off x="731520" y="1691640"/>
            <a:ext cx="2057400" cy="381000"/>
          </a:xfrm>
          <a:prstGeom prst="rect">
            <a:avLst/>
          </a:prstGeom>
          <a:noFill/>
          <a:ln/>
        </p:spPr>
        <p:txBody>
          <a:bodyPr wrap="square" lIns="0" tIns="0" rIns="0" bIns="0" rtlCol="0" anchor="b"/>
          <a:lstStyle/>
          <a:p>
            <a:pPr indent="0" marL="0">
              <a:buNone/>
            </a:pPr>
            <a:r>
              <a:rPr lang="en-US" sz="2400" b="1" dirty="0">
                <a:solidFill>
                  <a:srgbClr val="D9472F"/>
                </a:solidFill>
                <a:latin typeface="Arial" pitchFamily="34" charset="0"/>
                <a:ea typeface="Arial" pitchFamily="34" charset="-122"/>
                <a:cs typeface="Arial" pitchFamily="34" charset="-120"/>
              </a:rPr>
              <a:t>242.750 jiwa</a:t>
            </a:r>
            <a:endParaRPr lang="en-US" sz="2400" dirty="0"/>
          </a:p>
        </p:txBody>
      </p:sp>
      <p:sp>
        <p:nvSpPr>
          <p:cNvPr id="5" name="alir 1 label"/>
          <p:cNvSpPr txBox="1"/>
          <p:nvPr/>
        </p:nvSpPr>
        <p:spPr>
          <a:xfrm>
            <a:off x="731520" y="2145792"/>
            <a:ext cx="205740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terpapar menurut KRB per kelurahan</a:t>
            </a:r>
            <a:endParaRPr lang="en-US" sz="1400" dirty="0"/>
          </a:p>
        </p:txBody>
      </p:sp>
      <p:sp>
        <p:nvSpPr>
          <p:cNvPr id="6" name="panah alir 1"/>
          <p:cNvSpPr/>
          <p:nvPr/>
        </p:nvSpPr>
        <p:spPr>
          <a:xfrm>
            <a:off x="2980944" y="2468880"/>
            <a:ext cx="320040" cy="365760"/>
          </a:xfrm>
          <a:prstGeom prst="rightArrow">
            <a:avLst/>
          </a:prstGeom>
          <a:solidFill>
            <a:srgbClr val="7C8590"/>
          </a:solidFill>
          <a:ln w="12700">
            <a:solidFill>
              <a:srgbClr val="7C8590"/>
            </a:solidFill>
            <a:prstDash val="solid"/>
          </a:ln>
        </p:spPr>
      </p:sp>
      <p:sp>
        <p:nvSpPr>
          <p:cNvPr id="7" name="kartu alir 2"/>
          <p:cNvSpPr/>
          <p:nvPr/>
        </p:nvSpPr>
        <p:spPr>
          <a:xfrm>
            <a:off x="3355848" y="1463040"/>
            <a:ext cx="2377440" cy="2377440"/>
          </a:xfrm>
          <a:prstGeom prst="roundRect">
            <a:avLst>
              <a:gd name="adj" fmla="val 3077"/>
            </a:avLst>
          </a:prstGeom>
          <a:solidFill>
            <a:srgbClr val="EEF2F7"/>
          </a:solidFill>
          <a:ln w="12700">
            <a:solidFill>
              <a:srgbClr val="EEF2F7"/>
            </a:solidFill>
            <a:prstDash val="solid"/>
          </a:ln>
        </p:spPr>
      </p:sp>
      <p:sp>
        <p:nvSpPr>
          <p:cNvPr id="8" name="alir 2 angka"/>
          <p:cNvSpPr txBox="1"/>
          <p:nvPr/>
        </p:nvSpPr>
        <p:spPr>
          <a:xfrm>
            <a:off x="3538728" y="1691640"/>
            <a:ext cx="2057400" cy="381000"/>
          </a:xfrm>
          <a:prstGeom prst="rect">
            <a:avLst/>
          </a:prstGeom>
          <a:noFill/>
          <a:ln/>
        </p:spPr>
        <p:txBody>
          <a:bodyPr wrap="square" lIns="0" tIns="0" rIns="0" bIns="0" rtlCol="0" anchor="b"/>
          <a:lstStyle/>
          <a:p>
            <a:pPr indent="0" marL="0">
              <a:buNone/>
            </a:pPr>
            <a:r>
              <a:rPr lang="en-US" sz="2400" b="1" dirty="0">
                <a:solidFill>
                  <a:srgbClr val="14365D"/>
                </a:solidFill>
                <a:latin typeface="Arial" pitchFamily="34" charset="0"/>
                <a:ea typeface="Arial" pitchFamily="34" charset="-122"/>
                <a:cs typeface="Arial" pitchFamily="34" charset="-120"/>
              </a:rPr>
              <a:t>Ke bangunan</a:t>
            </a:r>
            <a:endParaRPr lang="en-US" sz="2400" dirty="0"/>
          </a:p>
        </p:txBody>
      </p:sp>
      <p:sp>
        <p:nvSpPr>
          <p:cNvPr id="9" name="alir 2 label"/>
          <p:cNvSpPr txBox="1"/>
          <p:nvPr/>
        </p:nvSpPr>
        <p:spPr>
          <a:xfrm>
            <a:off x="3538728" y="2145792"/>
            <a:ext cx="205740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dibagikan ke bangunan di wilayah bahaya tiap kelurahan (peta dasar BPBD)</a:t>
            </a:r>
            <a:endParaRPr lang="en-US" sz="1400" dirty="0"/>
          </a:p>
        </p:txBody>
      </p:sp>
      <p:sp>
        <p:nvSpPr>
          <p:cNvPr id="10" name="panah alir 2"/>
          <p:cNvSpPr/>
          <p:nvPr/>
        </p:nvSpPr>
        <p:spPr>
          <a:xfrm>
            <a:off x="5788152" y="2468880"/>
            <a:ext cx="320040" cy="365760"/>
          </a:xfrm>
          <a:prstGeom prst="rightArrow">
            <a:avLst/>
          </a:prstGeom>
          <a:solidFill>
            <a:srgbClr val="7C8590"/>
          </a:solidFill>
          <a:ln w="12700">
            <a:solidFill>
              <a:srgbClr val="7C8590"/>
            </a:solidFill>
            <a:prstDash val="solid"/>
          </a:ln>
        </p:spPr>
      </p:sp>
      <p:sp>
        <p:nvSpPr>
          <p:cNvPr id="11" name="kartu alir 3"/>
          <p:cNvSpPr/>
          <p:nvPr/>
        </p:nvSpPr>
        <p:spPr>
          <a:xfrm>
            <a:off x="6163056" y="1463040"/>
            <a:ext cx="2377440" cy="2377440"/>
          </a:xfrm>
          <a:prstGeom prst="roundRect">
            <a:avLst>
              <a:gd name="adj" fmla="val 3077"/>
            </a:avLst>
          </a:prstGeom>
          <a:solidFill>
            <a:srgbClr val="EEF2F7"/>
          </a:solidFill>
          <a:ln w="12700">
            <a:solidFill>
              <a:srgbClr val="EEF2F7"/>
            </a:solidFill>
            <a:prstDash val="solid"/>
          </a:ln>
        </p:spPr>
      </p:sp>
      <p:sp>
        <p:nvSpPr>
          <p:cNvPr id="12" name="alir 3 angka"/>
          <p:cNvSpPr txBox="1"/>
          <p:nvPr/>
        </p:nvSpPr>
        <p:spPr>
          <a:xfrm>
            <a:off x="6345936" y="1691640"/>
            <a:ext cx="2057400" cy="381000"/>
          </a:xfrm>
          <a:prstGeom prst="rect">
            <a:avLst/>
          </a:prstGeom>
          <a:noFill/>
          <a:ln/>
        </p:spPr>
        <p:txBody>
          <a:bodyPr wrap="square" lIns="0" tIns="0" rIns="0" bIns="0" rtlCol="0" anchor="b"/>
          <a:lstStyle/>
          <a:p>
            <a:pPr indent="0" marL="0">
              <a:buNone/>
            </a:pPr>
            <a:r>
              <a:rPr lang="en-US" sz="2400" b="1" dirty="0">
                <a:solidFill>
                  <a:srgbClr val="2F7F9C"/>
                </a:solidFill>
                <a:latin typeface="Arial" pitchFamily="34" charset="0"/>
                <a:ea typeface="Arial" pitchFamily="34" charset="-122"/>
                <a:cs typeface="Arial" pitchFamily="34" charset="-120"/>
              </a:rPr>
              <a:t>+ Tambahan</a:t>
            </a:r>
            <a:endParaRPr lang="en-US" sz="2400" dirty="0"/>
          </a:p>
        </p:txBody>
      </p:sp>
      <p:sp>
        <p:nvSpPr>
          <p:cNvPr id="13" name="alir 3 label"/>
          <p:cNvSpPr txBox="1"/>
          <p:nvPr/>
        </p:nvSpPr>
        <p:spPr>
          <a:xfrm>
            <a:off x="6345936" y="2145792"/>
            <a:ext cx="205740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bangunan di zona merah peta evakuasi diberi perkiraan dari kepadatan per luas bangunan</a:t>
            </a:r>
            <a:endParaRPr lang="en-US" sz="1400" dirty="0"/>
          </a:p>
        </p:txBody>
      </p:sp>
      <p:sp>
        <p:nvSpPr>
          <p:cNvPr id="14" name="panah alir 3"/>
          <p:cNvSpPr/>
          <p:nvPr/>
        </p:nvSpPr>
        <p:spPr>
          <a:xfrm>
            <a:off x="8595360" y="2468880"/>
            <a:ext cx="320040" cy="365760"/>
          </a:xfrm>
          <a:prstGeom prst="rightArrow">
            <a:avLst/>
          </a:prstGeom>
          <a:solidFill>
            <a:srgbClr val="7C8590"/>
          </a:solidFill>
          <a:ln w="12700">
            <a:solidFill>
              <a:srgbClr val="7C8590"/>
            </a:solidFill>
            <a:prstDash val="solid"/>
          </a:ln>
        </p:spPr>
      </p:sp>
      <p:sp>
        <p:nvSpPr>
          <p:cNvPr id="15" name="kartu alir 4"/>
          <p:cNvSpPr/>
          <p:nvPr/>
        </p:nvSpPr>
        <p:spPr>
          <a:xfrm>
            <a:off x="8970264" y="1463040"/>
            <a:ext cx="2377440" cy="2377440"/>
          </a:xfrm>
          <a:prstGeom prst="roundRect">
            <a:avLst>
              <a:gd name="adj" fmla="val 3077"/>
            </a:avLst>
          </a:prstGeom>
          <a:solidFill>
            <a:srgbClr val="EEF2F7"/>
          </a:solidFill>
          <a:ln w="12700">
            <a:solidFill>
              <a:srgbClr val="EEF2F7"/>
            </a:solidFill>
            <a:prstDash val="solid"/>
          </a:ln>
        </p:spPr>
      </p:sp>
      <p:sp>
        <p:nvSpPr>
          <p:cNvPr id="16" name="alir 4 angka"/>
          <p:cNvSpPr txBox="1"/>
          <p:nvPr/>
        </p:nvSpPr>
        <p:spPr>
          <a:xfrm>
            <a:off x="9153144" y="1691640"/>
            <a:ext cx="2057400" cy="381000"/>
          </a:xfrm>
          <a:prstGeom prst="rect">
            <a:avLst/>
          </a:prstGeom>
          <a:noFill/>
          <a:ln/>
        </p:spPr>
        <p:txBody>
          <a:bodyPr wrap="square" lIns="0" tIns="0" rIns="0" bIns="0" rtlCol="0" anchor="b"/>
          <a:lstStyle/>
          <a:p>
            <a:pPr indent="0" marL="0">
              <a:buNone/>
            </a:pPr>
            <a:r>
              <a:rPr lang="en-US" sz="2400" b="1" dirty="0">
                <a:solidFill>
                  <a:srgbClr val="2E8B57"/>
                </a:solidFill>
                <a:latin typeface="Arial" pitchFamily="34" charset="0"/>
                <a:ea typeface="Arial" pitchFamily="34" charset="-122"/>
                <a:cs typeface="Arial" pitchFamily="34" charset="-120"/>
              </a:rPr>
              <a:t>313.862 jiwa</a:t>
            </a:r>
            <a:endParaRPr lang="en-US" sz="2400" dirty="0"/>
          </a:p>
        </p:txBody>
      </p:sp>
      <p:sp>
        <p:nvSpPr>
          <p:cNvPr id="17" name="alir 4 label"/>
          <p:cNvSpPr txBox="1"/>
          <p:nvPr/>
        </p:nvSpPr>
        <p:spPr>
          <a:xfrm>
            <a:off x="9153144" y="2145792"/>
            <a:ext cx="205740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pada 11.418 simpul zona merah</a:t>
            </a:r>
            <a:endParaRPr lang="en-US" sz="1400" dirty="0"/>
          </a:p>
        </p:txBody>
      </p:sp>
      <p:sp>
        <p:nvSpPr>
          <p:cNvPr id="18" name="kartu catatan penduduk"/>
          <p:cNvSpPr/>
          <p:nvPr/>
        </p:nvSpPr>
        <p:spPr>
          <a:xfrm>
            <a:off x="548640" y="4206240"/>
            <a:ext cx="11094415" cy="1600200"/>
          </a:xfrm>
          <a:prstGeom prst="roundRect">
            <a:avLst>
              <a:gd name="adj" fmla="val 4571"/>
            </a:avLst>
          </a:prstGeom>
          <a:solidFill>
            <a:srgbClr val="14365D"/>
          </a:solidFill>
          <a:ln w="12700">
            <a:solidFill>
              <a:srgbClr val="14365D"/>
            </a:solidFill>
            <a:prstDash val="solid"/>
          </a:ln>
        </p:spPr>
      </p:sp>
      <p:sp>
        <p:nvSpPr>
          <p:cNvPr id="19" name="isi catatan penduduk"/>
          <p:cNvSpPr txBox="1"/>
          <p:nvPr/>
        </p:nvSpPr>
        <p:spPr>
          <a:xfrm>
            <a:off x="822960" y="4343400"/>
            <a:ext cx="10545775" cy="1325880"/>
          </a:xfrm>
          <a:prstGeom prst="rect">
            <a:avLst/>
          </a:prstGeom>
          <a:noFill/>
          <a:ln/>
        </p:spPr>
        <p:txBody>
          <a:bodyPr wrap="square" lIns="0" tIns="0" rIns="0" bIns="0" rtlCol="0" anchor="ctr"/>
          <a:lstStyle/>
          <a:p>
            <a:pPr indent="0" marL="0">
              <a:buNone/>
            </a:pPr>
            <a:r>
              <a:rPr lang="en-US" sz="1500" b="1" dirty="0">
                <a:solidFill>
                  <a:srgbClr val="F5B700"/>
                </a:solidFill>
                <a:latin typeface="Calibri" pitchFamily="34" charset="0"/>
                <a:ea typeface="Calibri" pitchFamily="34" charset="-122"/>
                <a:cs typeface="Calibri" pitchFamily="34" charset="-120"/>
              </a:rPr>
              <a:t>Mengapa lebih besar dari KRB? </a:t>
            </a:r>
            <a:pPr indent="0" marL="0">
              <a:buNone/>
            </a:pPr>
            <a:r>
              <a:rPr lang="en-US" sz="1500" dirty="0">
                <a:solidFill>
                  <a:srgbClr val="FFFFFF"/>
                </a:solidFill>
                <a:latin typeface="Calibri" pitchFamily="34" charset="0"/>
                <a:ea typeface="Calibri" pitchFamily="34" charset="-122"/>
                <a:cs typeface="Calibri" pitchFamily="34" charset="-120"/>
              </a:rPr>
              <a:t>Jumlah 313.862 jiwa mencakup zona merah tambahan dari peta evakuasi BPBD. Bila data kelurahan tidak tersedia, dipakai nilai tengah kota. Perkiraan ini mengikuti tempat tinggal, bukan pelacakan posisi warga saat kejadian.</a:t>
            </a:r>
            <a:endParaRPr lang="en-US" sz="1500" dirty="0"/>
          </a:p>
        </p:txBody>
      </p:sp>
      <p:sp>
        <p:nvSpPr>
          <p:cNvPr id="20"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L 5.7.4, Tabel 3.2; M II-C.</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Pembagian warga menurut daya tampung TES</a:t>
            </a:r>
            <a:endParaRPr lang="en-US" sz="3000" dirty="0"/>
          </a:p>
        </p:txBody>
      </p:sp>
      <p:graphicFrame>
        <p:nvGraphicFramePr>
          <p:cNvPr id="3" name="grafik kelompok" descr=""/>
          <p:cNvGraphicFramePr/>
          <p:nvPr/>
        </p:nvGraphicFramePr>
        <p:xfrm>
          <a:off x="548640" y="1234440"/>
          <a:ext cx="6309360" cy="4480560"/>
        </p:xfrm>
        <a:graphic xmlns:a="http://schemas.openxmlformats.org/drawingml/2006/main">
          <a:graphicData uri="http://schemas.openxmlformats.org/drawingml/2006/chart">
            <c:chart xmlns:c="http://schemas.openxmlformats.org/drawingml/2006/chart" r:id="rId1"/>
          </a:graphicData>
        </a:graphic>
      </p:graphicFrame>
      <p:sp>
        <p:nvSpPr>
          <p:cNvPr id="4" name="judul lp"/>
          <p:cNvSpPr txBox="1"/>
          <p:nvPr/>
        </p:nvSpPr>
        <p:spPr>
          <a:xfrm>
            <a:off x="7223760" y="1325880"/>
            <a:ext cx="4389120" cy="411480"/>
          </a:xfrm>
          <a:prstGeom prst="rect">
            <a:avLst/>
          </a:prstGeom>
          <a:noFill/>
          <a:ln/>
        </p:spPr>
        <p:txBody>
          <a:bodyPr wrap="square" lIns="0" tIns="0" rIns="0" bIns="0" rtlCol="0" anchor="t"/>
          <a:lstStyle/>
          <a:p>
            <a:pPr indent="0" marL="0">
              <a:buNone/>
            </a:pPr>
            <a:r>
              <a:rPr lang="en-US" sz="2000" b="1" dirty="0">
                <a:solidFill>
                  <a:srgbClr val="14365D"/>
                </a:solidFill>
                <a:latin typeface="Calibri" pitchFamily="34" charset="0"/>
                <a:ea typeface="Calibri" pitchFamily="34" charset="-122"/>
                <a:cs typeface="Calibri" pitchFamily="34" charset="-120"/>
              </a:rPr>
              <a:t>Program linear</a:t>
            </a:r>
            <a:endParaRPr lang="en-US" sz="2000" dirty="0"/>
          </a:p>
        </p:txBody>
      </p:sp>
      <p:sp>
        <p:nvSpPr>
          <p:cNvPr id="5" name="isi lp"/>
          <p:cNvSpPr txBox="1"/>
          <p:nvPr/>
        </p:nvSpPr>
        <p:spPr>
          <a:xfrm>
            <a:off x="7223760" y="1828800"/>
            <a:ext cx="4389120" cy="24688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B2433"/>
                </a:solidFill>
                <a:latin typeface="Calibri" pitchFamily="34" charset="0"/>
                <a:ea typeface="Calibri" pitchFamily="34" charset="-122"/>
                <a:cs typeface="Calibri" pitchFamily="34" charset="-120"/>
              </a:rPr>
              <a:t>Meminimalkan total waktu tempuh seluruh penduduk</a:t>
            </a:r>
            <a:endParaRPr lang="en-US" sz="1500" dirty="0"/>
          </a:p>
          <a:p>
            <a:pPr marL="342900" indent="-342900">
              <a:spcAft>
                <a:spcPts val="600"/>
              </a:spcAft>
              <a:buSzPct val="100000"/>
              <a:buChar char="•"/>
            </a:pPr>
            <a:r>
              <a:rPr lang="en-US" sz="1500" dirty="0">
                <a:solidFill>
                  <a:srgbClr val="1B2433"/>
                </a:solidFill>
                <a:latin typeface="Calibri" pitchFamily="34" charset="0"/>
                <a:ea typeface="Calibri" pitchFamily="34" charset="-122"/>
                <a:cs typeface="Calibri" pitchFamily="34" charset="-120"/>
              </a:rPr>
              <a:t>Beban setiap TES tidak melebihi daya tampungnya</a:t>
            </a:r>
            <a:endParaRPr lang="en-US" sz="1500" dirty="0"/>
          </a:p>
          <a:p>
            <a:pPr marL="342900" indent="-342900">
              <a:spcAft>
                <a:spcPts val="600"/>
              </a:spcAft>
              <a:buSzPct val="100000"/>
              <a:buChar char="•"/>
            </a:pPr>
            <a:r>
              <a:rPr lang="en-US" sz="1500" dirty="0">
                <a:solidFill>
                  <a:srgbClr val="1B2433"/>
                </a:solidFill>
                <a:latin typeface="Calibri" pitchFamily="34" charset="0"/>
                <a:ea typeface="Calibri" pitchFamily="34" charset="-122"/>
                <a:cs typeface="Calibri" pitchFamily="34" charset="-120"/>
              </a:rPr>
              <a:t>Hanya TES terjangkau ≤ 15 menit yang memenuhi aturan arah</a:t>
            </a:r>
            <a:endParaRPr lang="en-US" sz="1500" dirty="0"/>
          </a:p>
          <a:p>
            <a:pPr marL="342900" indent="-342900">
              <a:spcAft>
                <a:spcPts val="600"/>
              </a:spcAft>
              <a:buSzPct val="100000"/>
              <a:buChar char="•"/>
            </a:pPr>
            <a:r>
              <a:rPr lang="en-US" sz="1500" dirty="0">
                <a:solidFill>
                  <a:srgbClr val="1B2433"/>
                </a:solidFill>
                <a:latin typeface="Calibri" pitchFamily="34" charset="0"/>
                <a:ea typeface="Calibri" pitchFamily="34" charset="-122"/>
                <a:cs typeface="Calibri" pitchFamily="34" charset="-120"/>
              </a:rPr>
              <a:t>167 TES berkapasitas (155.980 jiwa); 77 TES tanpa angka menjadi cadangan</a:t>
            </a:r>
            <a:endParaRPr lang="en-US" sz="1500" dirty="0"/>
          </a:p>
          <a:p>
            <a:pPr marL="342900" indent="-342900">
              <a:spcAft>
                <a:spcPts val="600"/>
              </a:spcAft>
              <a:buSzPct val="100000"/>
              <a:buChar char="•"/>
            </a:pPr>
            <a:r>
              <a:rPr lang="en-US" sz="1500" dirty="0">
                <a:solidFill>
                  <a:srgbClr val="1B2433"/>
                </a:solidFill>
                <a:latin typeface="Calibri" pitchFamily="34" charset="0"/>
                <a:ea typeface="Calibri" pitchFamily="34" charset="-122"/>
                <a:cs typeface="Calibri" pitchFamily="34" charset="-120"/>
              </a:rPr>
              <a:t>89.158 jiwa dibagi ke 122 TES</a:t>
            </a:r>
            <a:endParaRPr lang="en-US" sz="1500" dirty="0"/>
          </a:p>
        </p:txBody>
      </p:sp>
      <p:sp>
        <p:nvSpPr>
          <p:cNvPr id="6" name="kartu contoh porsi"/>
          <p:cNvSpPr/>
          <p:nvPr/>
        </p:nvSpPr>
        <p:spPr>
          <a:xfrm>
            <a:off x="7223760" y="4389120"/>
            <a:ext cx="4389120" cy="1325880"/>
          </a:xfrm>
          <a:prstGeom prst="roundRect">
            <a:avLst>
              <a:gd name="adj" fmla="val 5517"/>
            </a:avLst>
          </a:prstGeom>
          <a:solidFill>
            <a:srgbClr val="EEF2F7"/>
          </a:solidFill>
          <a:ln w="12700">
            <a:solidFill>
              <a:srgbClr val="EEF2F7"/>
            </a:solidFill>
            <a:prstDash val="solid"/>
          </a:ln>
        </p:spPr>
      </p:sp>
      <p:sp>
        <p:nvSpPr>
          <p:cNvPr id="7" name="isi contoh porsi"/>
          <p:cNvSpPr txBox="1"/>
          <p:nvPr/>
        </p:nvSpPr>
        <p:spPr>
          <a:xfrm>
            <a:off x="7452360" y="4498848"/>
            <a:ext cx="3931920" cy="1097280"/>
          </a:xfrm>
          <a:prstGeom prst="rect">
            <a:avLst/>
          </a:prstGeom>
          <a:noFill/>
          <a:ln/>
        </p:spPr>
        <p:txBody>
          <a:bodyPr wrap="square" lIns="0" tIns="0" rIns="0" bIns="0" rtlCol="0" anchor="t"/>
          <a:lstStyle/>
          <a:p>
            <a:pPr indent="0" marL="0">
              <a:buNone/>
            </a:pPr>
            <a:r>
              <a:rPr lang="en-US" sz="1400" b="1" dirty="0">
                <a:solidFill>
                  <a:srgbClr val="14365D"/>
                </a:solidFill>
                <a:latin typeface="Calibri" pitchFamily="34" charset="0"/>
                <a:ea typeface="Calibri" pitchFamily="34" charset="-122"/>
                <a:cs typeface="Calibri" pitchFamily="34" charset="-120"/>
              </a:rPr>
              <a:t>Contoh: </a:t>
            </a:r>
            <a:pPr indent="0" marL="0">
              <a:buNone/>
            </a:pPr>
            <a:r>
              <a:rPr lang="en-US" sz="1400" dirty="0">
                <a:solidFill>
                  <a:srgbClr val="1B2433"/>
                </a:solidFill>
                <a:latin typeface="Calibri" pitchFamily="34" charset="0"/>
                <a:ea typeface="Calibri" pitchFamily="34" charset="-122"/>
                <a:cs typeface="Calibri" pitchFamily="34" charset="-120"/>
              </a:rPr>
              <a:t>simpul 100 jiwa dengan porsi TES X 60% dan TES Y 40%; kode keluarga menentukan siapa ke X dan Y, satu keluarga mendapat TES yang sama.</a:t>
            </a:r>
            <a:endParaRPr lang="en-US" sz="1400" dirty="0"/>
          </a:p>
        </p:txBody>
      </p:sp>
      <p:sp>
        <p:nvSpPr>
          <p:cNvPr id="8"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L 1.5, 5.7.4; M II-C. TEA dan zona hijau tidak dibatasi kapasitas.</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Ponsel memilih tujuan menurut sisa waktu</a:t>
            </a:r>
            <a:endParaRPr lang="en-US" sz="3000" dirty="0"/>
          </a:p>
        </p:txBody>
      </p:sp>
      <p:sp>
        <p:nvSpPr>
          <p:cNvPr id="3" name="anggaran waktu"/>
          <p:cNvSpPr txBox="1"/>
          <p:nvPr/>
        </p:nvSpPr>
        <p:spPr>
          <a:xfrm>
            <a:off x="548640" y="1188720"/>
            <a:ext cx="11094415" cy="640080"/>
          </a:xfrm>
          <a:prstGeom prst="rect">
            <a:avLst/>
          </a:prstGeom>
          <a:noFill/>
          <a:ln/>
        </p:spPr>
        <p:txBody>
          <a:bodyPr wrap="square" lIns="0" tIns="0" rIns="0" bIns="0" rtlCol="0" anchor="t"/>
          <a:lstStyle/>
          <a:p>
            <a:pPr indent="0" marL="0">
              <a:buNone/>
            </a:pPr>
            <a:r>
              <a:rPr lang="en-US" sz="1600" dirty="0">
                <a:solidFill>
                  <a:srgbClr val="5D6670"/>
                </a:solidFill>
                <a:latin typeface="Calibri" pitchFamily="34" charset="0"/>
                <a:ea typeface="Calibri" pitchFamily="34" charset="-122"/>
                <a:cs typeface="Calibri" pitchFamily="34" charset="-120"/>
              </a:rPr>
              <a:t>Sisa waktu = 20 menit sejak gempa − waktu yang berlalu − cadangan 5 menit − jalan ke simpul terdekat. Bila langsung berangkat, anggarannya 15 menit.</a:t>
            </a:r>
            <a:endParaRPr lang="en-US" sz="1600" dirty="0"/>
          </a:p>
        </p:txBody>
      </p:sp>
      <p:sp>
        <p:nvSpPr>
          <p:cNvPr id="4" name="kartu urutan 1"/>
          <p:cNvSpPr/>
          <p:nvPr/>
        </p:nvSpPr>
        <p:spPr>
          <a:xfrm>
            <a:off x="548640" y="2011680"/>
            <a:ext cx="2606040" cy="2651760"/>
          </a:xfrm>
          <a:prstGeom prst="roundRect">
            <a:avLst>
              <a:gd name="adj" fmla="val 2807"/>
            </a:avLst>
          </a:prstGeom>
          <a:solidFill>
            <a:srgbClr val="EEF2F7"/>
          </a:solidFill>
          <a:ln w="12700">
            <a:solidFill>
              <a:srgbClr val="EEF2F7"/>
            </a:solidFill>
            <a:prstDash val="solid"/>
          </a:ln>
        </p:spPr>
      </p:sp>
      <p:sp>
        <p:nvSpPr>
          <p:cNvPr id="5" name="urutan 1 bulatan"/>
          <p:cNvSpPr/>
          <p:nvPr/>
        </p:nvSpPr>
        <p:spPr>
          <a:xfrm>
            <a:off x="777240" y="2240280"/>
            <a:ext cx="594360" cy="594360"/>
          </a:xfrm>
          <a:prstGeom prst="ellipse">
            <a:avLst/>
          </a:prstGeom>
          <a:solidFill>
            <a:srgbClr val="2E8B57"/>
          </a:solidFill>
          <a:ln w="12700">
            <a:solidFill>
              <a:srgbClr val="2E8B57"/>
            </a:solidFill>
            <a:prstDash val="solid"/>
          </a:ln>
        </p:spPr>
      </p:sp>
      <p:sp>
        <p:nvSpPr>
          <p:cNvPr id="6" name="urutan 1 nomor"/>
          <p:cNvSpPr txBox="1"/>
          <p:nvPr/>
        </p:nvSpPr>
        <p:spPr>
          <a:xfrm>
            <a:off x="777240" y="224028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judul urutan 1"/>
          <p:cNvSpPr txBox="1"/>
          <p:nvPr/>
        </p:nvSpPr>
        <p:spPr>
          <a:xfrm>
            <a:off x="1508760" y="2240280"/>
            <a:ext cx="1554480" cy="685800"/>
          </a:xfrm>
          <a:prstGeom prst="rect">
            <a:avLst/>
          </a:prstGeom>
          <a:noFill/>
          <a:ln/>
        </p:spPr>
        <p:txBody>
          <a:bodyPr wrap="square" lIns="0" tIns="0" rIns="0" bIns="0" rtlCol="0" anchor="ctr"/>
          <a:lstStyle/>
          <a:p>
            <a:pPr indent="0" marL="0">
              <a:buNone/>
            </a:pPr>
            <a:r>
              <a:rPr lang="en-US" sz="1600" b="1" dirty="0">
                <a:solidFill>
                  <a:srgbClr val="14365D"/>
                </a:solidFill>
                <a:latin typeface="Calibri" pitchFamily="34" charset="0"/>
                <a:ea typeface="Calibri" pitchFamily="34" charset="-122"/>
                <a:cs typeface="Calibri" pitchFamily="34" charset="-120"/>
              </a:rPr>
              <a:t>TEA atau zona hijau</a:t>
            </a:r>
            <a:endParaRPr lang="en-US" sz="1600" dirty="0"/>
          </a:p>
        </p:txBody>
      </p:sp>
      <p:sp>
        <p:nvSpPr>
          <p:cNvPr id="8" name="isi urutan 1"/>
          <p:cNvSpPr txBox="1"/>
          <p:nvPr/>
        </p:nvSpPr>
        <p:spPr>
          <a:xfrm>
            <a:off x="777240" y="3017520"/>
            <a:ext cx="2194560" cy="16002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Bila masih sempat, pilih yang waktu tempuhnya paling singkat; bila waktu ke TEA sama dengan ke zona hijau, TEA didahulukan.</a:t>
            </a:r>
            <a:endParaRPr lang="en-US" sz="1400" dirty="0"/>
          </a:p>
        </p:txBody>
      </p:sp>
      <p:sp>
        <p:nvSpPr>
          <p:cNvPr id="9" name="kartu urutan 2"/>
          <p:cNvSpPr/>
          <p:nvPr/>
        </p:nvSpPr>
        <p:spPr>
          <a:xfrm>
            <a:off x="3355848" y="2011680"/>
            <a:ext cx="2606040" cy="2651760"/>
          </a:xfrm>
          <a:prstGeom prst="roundRect">
            <a:avLst>
              <a:gd name="adj" fmla="val 2807"/>
            </a:avLst>
          </a:prstGeom>
          <a:solidFill>
            <a:srgbClr val="EEF2F7"/>
          </a:solidFill>
          <a:ln w="12700">
            <a:solidFill>
              <a:srgbClr val="EEF2F7"/>
            </a:solidFill>
            <a:prstDash val="solid"/>
          </a:ln>
        </p:spPr>
      </p:sp>
      <p:sp>
        <p:nvSpPr>
          <p:cNvPr id="10" name="urutan 2 bulatan"/>
          <p:cNvSpPr/>
          <p:nvPr/>
        </p:nvSpPr>
        <p:spPr>
          <a:xfrm>
            <a:off x="3584448" y="2240280"/>
            <a:ext cx="594360" cy="594360"/>
          </a:xfrm>
          <a:prstGeom prst="ellipse">
            <a:avLst/>
          </a:prstGeom>
          <a:solidFill>
            <a:srgbClr val="14365D"/>
          </a:solidFill>
          <a:ln w="12700">
            <a:solidFill>
              <a:srgbClr val="14365D"/>
            </a:solidFill>
            <a:prstDash val="solid"/>
          </a:ln>
        </p:spPr>
      </p:sp>
      <p:sp>
        <p:nvSpPr>
          <p:cNvPr id="11" name="urutan 2 nomor"/>
          <p:cNvSpPr txBox="1"/>
          <p:nvPr/>
        </p:nvSpPr>
        <p:spPr>
          <a:xfrm>
            <a:off x="3584448" y="224028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judul urutan 2"/>
          <p:cNvSpPr txBox="1"/>
          <p:nvPr/>
        </p:nvSpPr>
        <p:spPr>
          <a:xfrm>
            <a:off x="4315968" y="2240280"/>
            <a:ext cx="1554480" cy="685800"/>
          </a:xfrm>
          <a:prstGeom prst="rect">
            <a:avLst/>
          </a:prstGeom>
          <a:noFill/>
          <a:ln/>
        </p:spPr>
        <p:txBody>
          <a:bodyPr wrap="square" lIns="0" tIns="0" rIns="0" bIns="0" rtlCol="0" anchor="ctr"/>
          <a:lstStyle/>
          <a:p>
            <a:pPr indent="0" marL="0">
              <a:buNone/>
            </a:pPr>
            <a:r>
              <a:rPr lang="en-US" sz="1600" b="1" dirty="0">
                <a:solidFill>
                  <a:srgbClr val="14365D"/>
                </a:solidFill>
                <a:latin typeface="Calibri" pitchFamily="34" charset="0"/>
                <a:ea typeface="Calibri" pitchFamily="34" charset="-122"/>
                <a:cs typeface="Calibri" pitchFamily="34" charset="-120"/>
              </a:rPr>
              <a:t>TES menurut porsi</a:t>
            </a:r>
            <a:endParaRPr lang="en-US" sz="1600" dirty="0"/>
          </a:p>
        </p:txBody>
      </p:sp>
      <p:sp>
        <p:nvSpPr>
          <p:cNvPr id="13" name="isi urutan 2"/>
          <p:cNvSpPr txBox="1"/>
          <p:nvPr/>
        </p:nvSpPr>
        <p:spPr>
          <a:xfrm>
            <a:off x="3584448" y="3017520"/>
            <a:ext cx="2194560" cy="16002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Hanya dari TES yang masih sempat; porsi dinormalkan ulang dan diundi dengan kode keluarga.</a:t>
            </a:r>
            <a:endParaRPr lang="en-US" sz="1400" dirty="0"/>
          </a:p>
        </p:txBody>
      </p:sp>
      <p:sp>
        <p:nvSpPr>
          <p:cNvPr id="14" name="kartu urutan 3"/>
          <p:cNvSpPr/>
          <p:nvPr/>
        </p:nvSpPr>
        <p:spPr>
          <a:xfrm>
            <a:off x="6163056" y="2011680"/>
            <a:ext cx="2606040" cy="2651760"/>
          </a:xfrm>
          <a:prstGeom prst="roundRect">
            <a:avLst>
              <a:gd name="adj" fmla="val 2807"/>
            </a:avLst>
          </a:prstGeom>
          <a:solidFill>
            <a:srgbClr val="EEF2F7"/>
          </a:solidFill>
          <a:ln w="12700">
            <a:solidFill>
              <a:srgbClr val="EEF2F7"/>
            </a:solidFill>
            <a:prstDash val="solid"/>
          </a:ln>
        </p:spPr>
      </p:sp>
      <p:sp>
        <p:nvSpPr>
          <p:cNvPr id="15" name="urutan 3 bulatan"/>
          <p:cNvSpPr/>
          <p:nvPr/>
        </p:nvSpPr>
        <p:spPr>
          <a:xfrm>
            <a:off x="6391656" y="2240280"/>
            <a:ext cx="594360" cy="594360"/>
          </a:xfrm>
          <a:prstGeom prst="ellipse">
            <a:avLst/>
          </a:prstGeom>
          <a:solidFill>
            <a:srgbClr val="2F7F9C"/>
          </a:solidFill>
          <a:ln w="12700">
            <a:solidFill>
              <a:srgbClr val="2F7F9C"/>
            </a:solidFill>
            <a:prstDash val="solid"/>
          </a:ln>
        </p:spPr>
      </p:sp>
      <p:sp>
        <p:nvSpPr>
          <p:cNvPr id="16" name="urutan 3 nomor"/>
          <p:cNvSpPr txBox="1"/>
          <p:nvPr/>
        </p:nvSpPr>
        <p:spPr>
          <a:xfrm>
            <a:off x="6391656" y="224028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7" name="judul urutan 3"/>
          <p:cNvSpPr txBox="1"/>
          <p:nvPr/>
        </p:nvSpPr>
        <p:spPr>
          <a:xfrm>
            <a:off x="7123176" y="2240280"/>
            <a:ext cx="1554480" cy="685800"/>
          </a:xfrm>
          <a:prstGeom prst="rect">
            <a:avLst/>
          </a:prstGeom>
          <a:noFill/>
          <a:ln/>
        </p:spPr>
        <p:txBody>
          <a:bodyPr wrap="square" lIns="0" tIns="0" rIns="0" bIns="0" rtlCol="0" anchor="ctr"/>
          <a:lstStyle/>
          <a:p>
            <a:pPr indent="0" marL="0">
              <a:buNone/>
            </a:pPr>
            <a:r>
              <a:rPr lang="en-US" sz="1600" b="1" dirty="0">
                <a:solidFill>
                  <a:srgbClr val="14365D"/>
                </a:solidFill>
                <a:latin typeface="Calibri" pitchFamily="34" charset="0"/>
                <a:ea typeface="Calibri" pitchFamily="34" charset="-122"/>
                <a:cs typeface="Calibri" pitchFamily="34" charset="-120"/>
              </a:rPr>
              <a:t>TES terjauh dari pantai</a:t>
            </a:r>
            <a:endParaRPr lang="en-US" sz="1600" dirty="0"/>
          </a:p>
        </p:txBody>
      </p:sp>
      <p:sp>
        <p:nvSpPr>
          <p:cNvPr id="18" name="isi urutan 3"/>
          <p:cNvSpPr txBox="1"/>
          <p:nvPr/>
        </p:nvSpPr>
        <p:spPr>
          <a:xfrm>
            <a:off x="6391656" y="3017520"/>
            <a:ext cx="2194560" cy="16002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Minimal 50 m lebih jauh dari pantai daripada TES tercepat.</a:t>
            </a:r>
            <a:endParaRPr lang="en-US" sz="1400" dirty="0"/>
          </a:p>
        </p:txBody>
      </p:sp>
      <p:sp>
        <p:nvSpPr>
          <p:cNvPr id="19" name="kartu urutan 4"/>
          <p:cNvSpPr/>
          <p:nvPr/>
        </p:nvSpPr>
        <p:spPr>
          <a:xfrm>
            <a:off x="8970264" y="2011680"/>
            <a:ext cx="2606040" cy="2651760"/>
          </a:xfrm>
          <a:prstGeom prst="roundRect">
            <a:avLst>
              <a:gd name="adj" fmla="val 2807"/>
            </a:avLst>
          </a:prstGeom>
          <a:solidFill>
            <a:srgbClr val="EEF2F7"/>
          </a:solidFill>
          <a:ln w="12700">
            <a:solidFill>
              <a:srgbClr val="EEF2F7"/>
            </a:solidFill>
            <a:prstDash val="solid"/>
          </a:ln>
        </p:spPr>
      </p:sp>
      <p:sp>
        <p:nvSpPr>
          <p:cNvPr id="20" name="urutan 4 bulatan"/>
          <p:cNvSpPr/>
          <p:nvPr/>
        </p:nvSpPr>
        <p:spPr>
          <a:xfrm>
            <a:off x="9198864" y="2240280"/>
            <a:ext cx="594360" cy="594360"/>
          </a:xfrm>
          <a:prstGeom prst="ellipse">
            <a:avLst/>
          </a:prstGeom>
          <a:solidFill>
            <a:srgbClr val="7C8590"/>
          </a:solidFill>
          <a:ln w="12700">
            <a:solidFill>
              <a:srgbClr val="7C8590"/>
            </a:solidFill>
            <a:prstDash val="solid"/>
          </a:ln>
        </p:spPr>
      </p:sp>
      <p:sp>
        <p:nvSpPr>
          <p:cNvPr id="21" name="urutan 4 nomor"/>
          <p:cNvSpPr txBox="1"/>
          <p:nvPr/>
        </p:nvSpPr>
        <p:spPr>
          <a:xfrm>
            <a:off x="9198864" y="224028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2" name="judul urutan 4"/>
          <p:cNvSpPr txBox="1"/>
          <p:nvPr/>
        </p:nvSpPr>
        <p:spPr>
          <a:xfrm>
            <a:off x="9930384" y="2240280"/>
            <a:ext cx="1554480" cy="685800"/>
          </a:xfrm>
          <a:prstGeom prst="rect">
            <a:avLst/>
          </a:prstGeom>
          <a:noFill/>
          <a:ln/>
        </p:spPr>
        <p:txBody>
          <a:bodyPr wrap="square" lIns="0" tIns="0" rIns="0" bIns="0" rtlCol="0" anchor="ctr"/>
          <a:lstStyle/>
          <a:p>
            <a:pPr indent="0" marL="0">
              <a:buNone/>
            </a:pPr>
            <a:r>
              <a:rPr lang="en-US" sz="1600" b="1" dirty="0">
                <a:solidFill>
                  <a:srgbClr val="14365D"/>
                </a:solidFill>
                <a:latin typeface="Calibri" pitchFamily="34" charset="0"/>
                <a:ea typeface="Calibri" pitchFamily="34" charset="-122"/>
                <a:cs typeface="Calibri" pitchFamily="34" charset="-120"/>
              </a:rPr>
              <a:t>Tujuan tercepat</a:t>
            </a:r>
            <a:endParaRPr lang="en-US" sz="1600" dirty="0"/>
          </a:p>
        </p:txBody>
      </p:sp>
      <p:sp>
        <p:nvSpPr>
          <p:cNvPr id="23" name="isi urutan 4"/>
          <p:cNvSpPr txBox="1"/>
          <p:nvPr/>
        </p:nvSpPr>
        <p:spPr>
          <a:xfrm>
            <a:off x="9198864" y="3017520"/>
            <a:ext cx="2194560" cy="16002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Bila tidak ada pilihan lain yang memenuhi syarat.</a:t>
            </a:r>
            <a:endParaRPr lang="en-US" sz="1400" dirty="0"/>
          </a:p>
        </p:txBody>
      </p:sp>
      <p:sp>
        <p:nvSpPr>
          <p:cNvPr id="24" name="kartu kunci tujuan"/>
          <p:cNvSpPr/>
          <p:nvPr/>
        </p:nvSpPr>
        <p:spPr>
          <a:xfrm>
            <a:off x="548640" y="4892040"/>
            <a:ext cx="11094415" cy="868680"/>
          </a:xfrm>
          <a:prstGeom prst="roundRect">
            <a:avLst>
              <a:gd name="adj" fmla="val 8421"/>
            </a:avLst>
          </a:prstGeom>
          <a:solidFill>
            <a:srgbClr val="14365D"/>
          </a:solidFill>
          <a:ln w="12700">
            <a:solidFill>
              <a:srgbClr val="14365D"/>
            </a:solidFill>
            <a:prstDash val="solid"/>
          </a:ln>
        </p:spPr>
      </p:sp>
      <p:sp>
        <p:nvSpPr>
          <p:cNvPr id="25" name="isi kunci tujuan"/>
          <p:cNvSpPr txBox="1"/>
          <p:nvPr/>
        </p:nvSpPr>
        <p:spPr>
          <a:xfrm>
            <a:off x="822960" y="4983480"/>
            <a:ext cx="10545775" cy="6858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Tujuan dikunci agar tidak berganti-ganti. Bila tujuan tidak lagi terkejar, aplikasi menawarkan pilihan yang minimal 2 menit lebih singkat, dan pengguna menekan "Pindah".</a:t>
            </a:r>
            <a:endParaRPr lang="en-US" sz="15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Navigasi luring di lapangan</a:t>
            </a:r>
            <a:endParaRPr lang="en-US" sz="3000" dirty="0"/>
          </a:p>
        </p:txBody>
      </p:sp>
      <p:pic>
        <p:nvPicPr>
          <p:cNvPr id="3" name="layar Masuk jalan" descr="C:\Users\Lenovo\AppData\Local\Temp\claude\c--gemastik\520da942-8140-47c0-a16f-9bde4b92cbe5\scratchpad\deck\aset\evakuasi.png">    </p:cNvPr>
          <p:cNvPicPr>
            <a:picLocks noChangeAspect="1"/>
          </p:cNvPicPr>
          <p:nvPr/>
        </p:nvPicPr>
        <p:blipFill>
          <a:blip r:embed="rId1"/>
          <a:stretch>
            <a:fillRect/>
          </a:stretch>
        </p:blipFill>
        <p:spPr>
          <a:xfrm>
            <a:off x="548640" y="1664335"/>
            <a:ext cx="1554480" cy="3346450"/>
          </a:xfrm>
          <a:prstGeom prst="rect">
            <a:avLst/>
          </a:prstGeom>
        </p:spPr>
      </p:pic>
      <p:sp>
        <p:nvSpPr>
          <p:cNvPr id="4" name="label layar 1"/>
          <p:cNvSpPr txBox="1"/>
          <p:nvPr/>
        </p:nvSpPr>
        <p:spPr>
          <a:xfrm>
            <a:off x="548640" y="5486400"/>
            <a:ext cx="1554480" cy="320040"/>
          </a:xfrm>
          <a:prstGeom prst="rect">
            <a:avLst/>
          </a:prstGeom>
          <a:noFill/>
          <a:ln/>
        </p:spPr>
        <p:txBody>
          <a:bodyPr wrap="square" lIns="0" tIns="0" rIns="0" bIns="0" rtlCol="0" anchor="t"/>
          <a:lstStyle/>
          <a:p>
            <a:pPr algn="ctr" indent="0" marL="0">
              <a:buNone/>
            </a:pPr>
            <a:r>
              <a:rPr lang="en-US" sz="1200" dirty="0">
                <a:solidFill>
                  <a:srgbClr val="5D6670"/>
                </a:solidFill>
                <a:latin typeface="Calibri" pitchFamily="34" charset="0"/>
                <a:ea typeface="Calibri" pitchFamily="34" charset="-122"/>
                <a:cs typeface="Calibri" pitchFamily="34" charset="-120"/>
              </a:rPr>
              <a:t>Masuk jalan</a:t>
            </a:r>
            <a:endParaRPr lang="en-US" sz="1200" dirty="0"/>
          </a:p>
        </p:txBody>
      </p:sp>
      <p:pic>
        <p:nvPicPr>
          <p:cNvPr id="5" name="layar Putar balik" descr="C:\Users\Lenovo\AppData\Local\Temp\claude\c--gemastik\520da942-8140-47c0-a16f-9bde4b92cbe5\scratchpad\deck\aset\putar_balik.png">    </p:cNvPr>
          <p:cNvPicPr>
            <a:picLocks noChangeAspect="1"/>
          </p:cNvPicPr>
          <p:nvPr/>
        </p:nvPicPr>
        <p:blipFill>
          <a:blip r:embed="rId2"/>
          <a:stretch>
            <a:fillRect/>
          </a:stretch>
        </p:blipFill>
        <p:spPr>
          <a:xfrm>
            <a:off x="2286000" y="1695504"/>
            <a:ext cx="1554480" cy="3284113"/>
          </a:xfrm>
          <a:prstGeom prst="rect">
            <a:avLst/>
          </a:prstGeom>
        </p:spPr>
      </p:pic>
      <p:sp>
        <p:nvSpPr>
          <p:cNvPr id="6" name="label layar 2"/>
          <p:cNvSpPr txBox="1"/>
          <p:nvPr/>
        </p:nvSpPr>
        <p:spPr>
          <a:xfrm>
            <a:off x="2286000" y="5486400"/>
            <a:ext cx="1554480" cy="320040"/>
          </a:xfrm>
          <a:prstGeom prst="rect">
            <a:avLst/>
          </a:prstGeom>
          <a:noFill/>
          <a:ln/>
        </p:spPr>
        <p:txBody>
          <a:bodyPr wrap="square" lIns="0" tIns="0" rIns="0" bIns="0" rtlCol="0" anchor="t"/>
          <a:lstStyle/>
          <a:p>
            <a:pPr algn="ctr" indent="0" marL="0">
              <a:buNone/>
            </a:pPr>
            <a:r>
              <a:rPr lang="en-US" sz="1200" dirty="0">
                <a:solidFill>
                  <a:srgbClr val="5D6670"/>
                </a:solidFill>
                <a:latin typeface="Calibri" pitchFamily="34" charset="0"/>
                <a:ea typeface="Calibri" pitchFamily="34" charset="-122"/>
                <a:cs typeface="Calibri" pitchFamily="34" charset="-120"/>
              </a:rPr>
              <a:t>Putar balik</a:t>
            </a:r>
            <a:endParaRPr lang="en-US" sz="1200" dirty="0"/>
          </a:p>
        </p:txBody>
      </p:sp>
      <p:pic>
        <p:nvPicPr>
          <p:cNvPr id="7" name="layar Tiba di zona hijau" descr="C:\Users\Lenovo\AppData\Local\Temp\claude\c--gemastik\520da942-8140-47c0-a16f-9bde4b92cbe5\scratchpad\deck\aset\zona_hijau.png">    </p:cNvPr>
          <p:cNvPicPr>
            <a:picLocks noChangeAspect="1"/>
          </p:cNvPicPr>
          <p:nvPr/>
        </p:nvPicPr>
        <p:blipFill>
          <a:blip r:embed="rId3"/>
          <a:stretch>
            <a:fillRect/>
          </a:stretch>
        </p:blipFill>
        <p:spPr>
          <a:xfrm>
            <a:off x="4023360" y="1695504"/>
            <a:ext cx="1554480" cy="3284113"/>
          </a:xfrm>
          <a:prstGeom prst="rect">
            <a:avLst/>
          </a:prstGeom>
        </p:spPr>
      </p:pic>
      <p:sp>
        <p:nvSpPr>
          <p:cNvPr id="8" name="label layar 3"/>
          <p:cNvSpPr txBox="1"/>
          <p:nvPr/>
        </p:nvSpPr>
        <p:spPr>
          <a:xfrm>
            <a:off x="4023360" y="5486400"/>
            <a:ext cx="1554480" cy="320040"/>
          </a:xfrm>
          <a:prstGeom prst="rect">
            <a:avLst/>
          </a:prstGeom>
          <a:noFill/>
          <a:ln/>
        </p:spPr>
        <p:txBody>
          <a:bodyPr wrap="square" lIns="0" tIns="0" rIns="0" bIns="0" rtlCol="0" anchor="t"/>
          <a:lstStyle/>
          <a:p>
            <a:pPr algn="ctr" indent="0" marL="0">
              <a:buNone/>
            </a:pPr>
            <a:r>
              <a:rPr lang="en-US" sz="1200" dirty="0">
                <a:solidFill>
                  <a:srgbClr val="5D6670"/>
                </a:solidFill>
                <a:latin typeface="Calibri" pitchFamily="34" charset="0"/>
                <a:ea typeface="Calibri" pitchFamily="34" charset="-122"/>
                <a:cs typeface="Calibri" pitchFamily="34" charset="-120"/>
              </a:rPr>
              <a:t>Tiba di zona hijau</a:t>
            </a:r>
            <a:endParaRPr lang="en-US" sz="1200" dirty="0"/>
          </a:p>
        </p:txBody>
      </p:sp>
      <p:sp>
        <p:nvSpPr>
          <p:cNvPr id="9" name="navigasi 1 lingkaran"/>
          <p:cNvSpPr/>
          <p:nvPr/>
        </p:nvSpPr>
        <p:spPr>
          <a:xfrm>
            <a:off x="5943600" y="1234440"/>
            <a:ext cx="594360" cy="594360"/>
          </a:xfrm>
          <a:prstGeom prst="ellipse">
            <a:avLst/>
          </a:prstGeom>
          <a:solidFill>
            <a:srgbClr val="14365D"/>
          </a:solidFill>
          <a:ln w="12700">
            <a:solidFill>
              <a:srgbClr val="14365D"/>
            </a:solidFill>
            <a:prstDash val="solid"/>
          </a:ln>
        </p:spPr>
      </p:sp>
      <p:pic>
        <p:nvPicPr>
          <p:cNvPr id="10" name="navigasi 1 ikon" descr="preencoded.png">    </p:cNvPr>
          <p:cNvPicPr>
            <a:picLocks noChangeAspect="1"/>
          </p:cNvPicPr>
          <p:nvPr/>
        </p:nvPicPr>
        <p:blipFill>
          <a:blip r:embed="rId4"/>
          <a:stretch>
            <a:fillRect/>
          </a:stretch>
        </p:blipFill>
        <p:spPr>
          <a:xfrm>
            <a:off x="6092190" y="1383030"/>
            <a:ext cx="297180" cy="297180"/>
          </a:xfrm>
          <a:prstGeom prst="rect">
            <a:avLst/>
          </a:prstGeom>
        </p:spPr>
      </p:pic>
      <p:sp>
        <p:nvSpPr>
          <p:cNvPr id="11" name="navigasi judul 1"/>
          <p:cNvSpPr txBox="1"/>
          <p:nvPr/>
        </p:nvSpPr>
        <p:spPr>
          <a:xfrm>
            <a:off x="6766560" y="1234440"/>
            <a:ext cx="4873752" cy="384048"/>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Panah mengikuti arah hadap</a:t>
            </a:r>
            <a:endParaRPr lang="en-US" sz="1700" dirty="0"/>
          </a:p>
        </p:txBody>
      </p:sp>
      <p:sp>
        <p:nvSpPr>
          <p:cNvPr id="12" name="navigasi isi 1"/>
          <p:cNvSpPr txBox="1"/>
          <p:nvPr/>
        </p:nvSpPr>
        <p:spPr>
          <a:xfrm>
            <a:off x="6766560" y="1627632"/>
            <a:ext cx="4873752" cy="4572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Belum menghadap jalur: "Ke kiri", "Ke kanan", atau "Putar balik".</a:t>
            </a:r>
            <a:endParaRPr lang="en-US" sz="1400" dirty="0"/>
          </a:p>
        </p:txBody>
      </p:sp>
      <p:sp>
        <p:nvSpPr>
          <p:cNvPr id="13" name="navigasi 2 lingkaran"/>
          <p:cNvSpPr/>
          <p:nvPr/>
        </p:nvSpPr>
        <p:spPr>
          <a:xfrm>
            <a:off x="5943600" y="2148840"/>
            <a:ext cx="594360" cy="594360"/>
          </a:xfrm>
          <a:prstGeom prst="ellipse">
            <a:avLst/>
          </a:prstGeom>
          <a:solidFill>
            <a:srgbClr val="14365D"/>
          </a:solidFill>
          <a:ln w="12700">
            <a:solidFill>
              <a:srgbClr val="14365D"/>
            </a:solidFill>
            <a:prstDash val="solid"/>
          </a:ln>
        </p:spPr>
      </p:sp>
      <p:pic>
        <p:nvPicPr>
          <p:cNvPr id="14" name="navigasi 2 ikon" descr="preencoded.png">    </p:cNvPr>
          <p:cNvPicPr>
            <a:picLocks noChangeAspect="1"/>
          </p:cNvPicPr>
          <p:nvPr/>
        </p:nvPicPr>
        <p:blipFill>
          <a:blip r:embed="rId5"/>
          <a:stretch>
            <a:fillRect/>
          </a:stretch>
        </p:blipFill>
        <p:spPr>
          <a:xfrm>
            <a:off x="6092190" y="2297430"/>
            <a:ext cx="297180" cy="297180"/>
          </a:xfrm>
          <a:prstGeom prst="rect">
            <a:avLst/>
          </a:prstGeom>
        </p:spPr>
      </p:pic>
      <p:sp>
        <p:nvSpPr>
          <p:cNvPr id="15" name="navigasi judul 2"/>
          <p:cNvSpPr txBox="1"/>
          <p:nvPr/>
        </p:nvSpPr>
        <p:spPr>
          <a:xfrm>
            <a:off x="6766560" y="2148840"/>
            <a:ext cx="4873752" cy="384048"/>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Petunjuk belok</a:t>
            </a:r>
            <a:endParaRPr lang="en-US" sz="1700" dirty="0"/>
          </a:p>
        </p:txBody>
      </p:sp>
      <p:sp>
        <p:nvSpPr>
          <p:cNvPr id="16" name="navigasi isi 2"/>
          <p:cNvSpPr txBox="1"/>
          <p:nvPr/>
        </p:nvSpPr>
        <p:spPr>
          <a:xfrm>
            <a:off x="6766560" y="2542032"/>
            <a:ext cx="4873752" cy="4572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Arah dicek tiap 12 m; &lt; 28° bukan belokan; tampil saat belokan ≤ 50 m.</a:t>
            </a:r>
            <a:endParaRPr lang="en-US" sz="1400" dirty="0"/>
          </a:p>
        </p:txBody>
      </p:sp>
      <p:sp>
        <p:nvSpPr>
          <p:cNvPr id="17" name="navigasi 3 lingkaran"/>
          <p:cNvSpPr/>
          <p:nvPr/>
        </p:nvSpPr>
        <p:spPr>
          <a:xfrm>
            <a:off x="5943600" y="3063240"/>
            <a:ext cx="594360" cy="594360"/>
          </a:xfrm>
          <a:prstGeom prst="ellipse">
            <a:avLst/>
          </a:prstGeom>
          <a:solidFill>
            <a:srgbClr val="14365D"/>
          </a:solidFill>
          <a:ln w="12700">
            <a:solidFill>
              <a:srgbClr val="14365D"/>
            </a:solidFill>
            <a:prstDash val="solid"/>
          </a:ln>
        </p:spPr>
      </p:sp>
      <p:pic>
        <p:nvPicPr>
          <p:cNvPr id="18" name="navigasi 3 ikon" descr="preencoded.png">    </p:cNvPr>
          <p:cNvPicPr>
            <a:picLocks noChangeAspect="1"/>
          </p:cNvPicPr>
          <p:nvPr/>
        </p:nvPicPr>
        <p:blipFill>
          <a:blip r:embed="rId6"/>
          <a:stretch>
            <a:fillRect/>
          </a:stretch>
        </p:blipFill>
        <p:spPr>
          <a:xfrm>
            <a:off x="6092190" y="3211830"/>
            <a:ext cx="297180" cy="297180"/>
          </a:xfrm>
          <a:prstGeom prst="rect">
            <a:avLst/>
          </a:prstGeom>
        </p:spPr>
      </p:pic>
      <p:sp>
        <p:nvSpPr>
          <p:cNvPr id="19" name="navigasi judul 3"/>
          <p:cNvSpPr txBox="1"/>
          <p:nvPr/>
        </p:nvSpPr>
        <p:spPr>
          <a:xfrm>
            <a:off x="6766560" y="3063240"/>
            <a:ext cx="4873752" cy="384048"/>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Masuk jalan di sini</a:t>
            </a:r>
            <a:endParaRPr lang="en-US" sz="1700" dirty="0"/>
          </a:p>
        </p:txBody>
      </p:sp>
      <p:sp>
        <p:nvSpPr>
          <p:cNvPr id="20" name="navigasi isi 3"/>
          <p:cNvSpPr txBox="1"/>
          <p:nvPr/>
        </p:nvSpPr>
        <p:spPr>
          <a:xfrm>
            <a:off x="6766560" y="3456432"/>
            <a:ext cx="4873752" cy="4572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Lebih dari 18 m dari jalur: garis putus-putus ke titik masuk terdekat.</a:t>
            </a:r>
            <a:endParaRPr lang="en-US" sz="1400" dirty="0"/>
          </a:p>
        </p:txBody>
      </p:sp>
      <p:sp>
        <p:nvSpPr>
          <p:cNvPr id="21" name="navigasi 4 lingkaran"/>
          <p:cNvSpPr/>
          <p:nvPr/>
        </p:nvSpPr>
        <p:spPr>
          <a:xfrm>
            <a:off x="5943600" y="3977640"/>
            <a:ext cx="594360" cy="594360"/>
          </a:xfrm>
          <a:prstGeom prst="ellipse">
            <a:avLst/>
          </a:prstGeom>
          <a:solidFill>
            <a:srgbClr val="14365D"/>
          </a:solidFill>
          <a:ln w="12700">
            <a:solidFill>
              <a:srgbClr val="14365D"/>
            </a:solidFill>
            <a:prstDash val="solid"/>
          </a:ln>
        </p:spPr>
      </p:sp>
      <p:pic>
        <p:nvPicPr>
          <p:cNvPr id="22" name="navigasi 4 ikon" descr="preencoded.png">    </p:cNvPr>
          <p:cNvPicPr>
            <a:picLocks noChangeAspect="1"/>
          </p:cNvPicPr>
          <p:nvPr/>
        </p:nvPicPr>
        <p:blipFill>
          <a:blip r:embed="rId7"/>
          <a:stretch>
            <a:fillRect/>
          </a:stretch>
        </p:blipFill>
        <p:spPr>
          <a:xfrm>
            <a:off x="6092190" y="4126230"/>
            <a:ext cx="297180" cy="297180"/>
          </a:xfrm>
          <a:prstGeom prst="rect">
            <a:avLst/>
          </a:prstGeom>
        </p:spPr>
      </p:pic>
      <p:sp>
        <p:nvSpPr>
          <p:cNvPr id="23" name="navigasi judul 4"/>
          <p:cNvSpPr txBox="1"/>
          <p:nvPr/>
        </p:nvSpPr>
        <p:spPr>
          <a:xfrm>
            <a:off x="6766560" y="3977640"/>
            <a:ext cx="4873752" cy="384048"/>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Jalur dibaca ulang</a:t>
            </a:r>
            <a:endParaRPr lang="en-US" sz="1700" dirty="0"/>
          </a:p>
        </p:txBody>
      </p:sp>
      <p:sp>
        <p:nvSpPr>
          <p:cNvPr id="24" name="navigasi isi 4"/>
          <p:cNvSpPr txBox="1"/>
          <p:nvPr/>
        </p:nvSpPr>
        <p:spPr>
          <a:xfrm>
            <a:off x="6766560" y="4370832"/>
            <a:ext cx="4873752" cy="4572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Bila ≥ 40 m dari jalur lama pada tiga pembacaan; kembali dipilih bila menghemat ≥ 1 menit.</a:t>
            </a:r>
            <a:endParaRPr lang="en-US" sz="1400" dirty="0"/>
          </a:p>
        </p:txBody>
      </p:sp>
      <p:sp>
        <p:nvSpPr>
          <p:cNvPr id="25" name="navigasi 5 lingkaran"/>
          <p:cNvSpPr/>
          <p:nvPr/>
        </p:nvSpPr>
        <p:spPr>
          <a:xfrm>
            <a:off x="5943600" y="4892040"/>
            <a:ext cx="594360" cy="594360"/>
          </a:xfrm>
          <a:prstGeom prst="ellipse">
            <a:avLst/>
          </a:prstGeom>
          <a:solidFill>
            <a:srgbClr val="2E8B57"/>
          </a:solidFill>
          <a:ln w="12700">
            <a:solidFill>
              <a:srgbClr val="2E8B57"/>
            </a:solidFill>
            <a:prstDash val="solid"/>
          </a:ln>
        </p:spPr>
      </p:sp>
      <p:pic>
        <p:nvPicPr>
          <p:cNvPr id="26" name="navigasi 5 ikon" descr="preencoded.png">    </p:cNvPr>
          <p:cNvPicPr>
            <a:picLocks noChangeAspect="1"/>
          </p:cNvPicPr>
          <p:nvPr/>
        </p:nvPicPr>
        <p:blipFill>
          <a:blip r:embed="rId8"/>
          <a:stretch>
            <a:fillRect/>
          </a:stretch>
        </p:blipFill>
        <p:spPr>
          <a:xfrm>
            <a:off x="6092190" y="5040630"/>
            <a:ext cx="297180" cy="297180"/>
          </a:xfrm>
          <a:prstGeom prst="rect">
            <a:avLst/>
          </a:prstGeom>
        </p:spPr>
      </p:pic>
      <p:sp>
        <p:nvSpPr>
          <p:cNvPr id="27" name="navigasi judul 5"/>
          <p:cNvSpPr txBox="1"/>
          <p:nvPr/>
        </p:nvSpPr>
        <p:spPr>
          <a:xfrm>
            <a:off x="6766560" y="4892040"/>
            <a:ext cx="4873752" cy="384048"/>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Kedatangan otomatis</a:t>
            </a:r>
            <a:endParaRPr lang="en-US" sz="1700" dirty="0"/>
          </a:p>
        </p:txBody>
      </p:sp>
      <p:sp>
        <p:nvSpPr>
          <p:cNvPr id="28" name="navigasi isi 5"/>
          <p:cNvSpPr txBox="1"/>
          <p:nvPr/>
        </p:nvSpPr>
        <p:spPr>
          <a:xfrm>
            <a:off x="6766560" y="5285232"/>
            <a:ext cx="4873752" cy="4572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Tiga pembacaan ≤ 20 m dari tujuan, ketelitian ≤ 35 m; lalu tawaran lanjut ke TEA.</a:t>
            </a:r>
            <a:endParaRPr lang="en-US" sz="1400" dirty="0"/>
          </a:p>
        </p:txBody>
      </p:sp>
      <p:sp>
        <p:nvSpPr>
          <p:cNvPr id="29"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L 5.7.5, 6.3, Gambar 7.2 dan 7.6; M II-E.</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Antarmuka untuk kondisi panik</a:t>
            </a:r>
            <a:endParaRPr lang="en-US" sz="3000" dirty="0"/>
          </a:p>
        </p:txBody>
      </p:sp>
      <p:pic>
        <p:nvPicPr>
          <p:cNvPr id="3" name="panduan panah" descr="C:\Users\Lenovo\AppData\Local\Temp\claude\c--gemastik\520da942-8140-47c0-a16f-9bde4b92cbe5\scratchpad\deck\aset\panduan_panah.png">    </p:cNvPr>
          <p:cNvPicPr>
            <a:picLocks noChangeAspect="1"/>
          </p:cNvPicPr>
          <p:nvPr/>
        </p:nvPicPr>
        <p:blipFill>
          <a:blip r:embed="rId1"/>
          <a:stretch>
            <a:fillRect/>
          </a:stretch>
        </p:blipFill>
        <p:spPr>
          <a:xfrm>
            <a:off x="548640" y="1298834"/>
            <a:ext cx="2103120" cy="4443211"/>
          </a:xfrm>
          <a:prstGeom prst="rect">
            <a:avLst/>
          </a:prstGeom>
        </p:spPr>
      </p:pic>
      <p:sp>
        <p:nvSpPr>
          <p:cNvPr id="4" name="antarmuka 1 lingkaran"/>
          <p:cNvSpPr/>
          <p:nvPr/>
        </p:nvSpPr>
        <p:spPr>
          <a:xfrm>
            <a:off x="2926080" y="1234440"/>
            <a:ext cx="640080" cy="640080"/>
          </a:xfrm>
          <a:prstGeom prst="ellipse">
            <a:avLst/>
          </a:prstGeom>
          <a:solidFill>
            <a:srgbClr val="14365D"/>
          </a:solidFill>
          <a:ln w="12700">
            <a:solidFill>
              <a:srgbClr val="14365D"/>
            </a:solidFill>
            <a:prstDash val="solid"/>
          </a:ln>
        </p:spPr>
      </p:sp>
      <p:pic>
        <p:nvPicPr>
          <p:cNvPr id="5" name="antarmuka 1 ikon" descr="preencoded.png">    </p:cNvPr>
          <p:cNvPicPr>
            <a:picLocks noChangeAspect="1"/>
          </p:cNvPicPr>
          <p:nvPr/>
        </p:nvPicPr>
        <p:blipFill>
          <a:blip r:embed="rId2"/>
          <a:stretch>
            <a:fillRect/>
          </a:stretch>
        </p:blipFill>
        <p:spPr>
          <a:xfrm>
            <a:off x="3086100" y="1394460"/>
            <a:ext cx="320040" cy="320040"/>
          </a:xfrm>
          <a:prstGeom prst="rect">
            <a:avLst/>
          </a:prstGeom>
        </p:spPr>
      </p:pic>
      <p:sp>
        <p:nvSpPr>
          <p:cNvPr id="6" name="antarmuka judul 1"/>
          <p:cNvSpPr txBox="1"/>
          <p:nvPr/>
        </p:nvSpPr>
        <p:spPr>
          <a:xfrm>
            <a:off x="3794760" y="1234440"/>
            <a:ext cx="3154680" cy="384048"/>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Satu instruksi utama</a:t>
            </a:r>
            <a:endParaRPr lang="en-US" sz="1700" dirty="0"/>
          </a:p>
        </p:txBody>
      </p:sp>
      <p:sp>
        <p:nvSpPr>
          <p:cNvPr id="7" name="antarmuka isi 1"/>
          <p:cNvSpPr txBox="1"/>
          <p:nvPr/>
        </p:nvSpPr>
        <p:spPr>
          <a:xfrm>
            <a:off x="3794760" y="1627632"/>
            <a:ext cx="3154680" cy="6858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Panah besar, tujuan, jarak, dan waktu; keterangan sekitar 12 kata.</a:t>
            </a:r>
            <a:endParaRPr lang="en-US" sz="1400" dirty="0"/>
          </a:p>
        </p:txBody>
      </p:sp>
      <p:sp>
        <p:nvSpPr>
          <p:cNvPr id="8" name="antarmuka 2 lingkaran"/>
          <p:cNvSpPr/>
          <p:nvPr/>
        </p:nvSpPr>
        <p:spPr>
          <a:xfrm>
            <a:off x="2926080" y="2377440"/>
            <a:ext cx="640080" cy="640080"/>
          </a:xfrm>
          <a:prstGeom prst="ellipse">
            <a:avLst/>
          </a:prstGeom>
          <a:solidFill>
            <a:srgbClr val="14365D"/>
          </a:solidFill>
          <a:ln w="12700">
            <a:solidFill>
              <a:srgbClr val="14365D"/>
            </a:solidFill>
            <a:prstDash val="solid"/>
          </a:ln>
        </p:spPr>
      </p:sp>
      <p:pic>
        <p:nvPicPr>
          <p:cNvPr id="9" name="antarmuka 2 ikon" descr="preencoded.png">    </p:cNvPr>
          <p:cNvPicPr>
            <a:picLocks noChangeAspect="1"/>
          </p:cNvPicPr>
          <p:nvPr/>
        </p:nvPicPr>
        <p:blipFill>
          <a:blip r:embed="rId3"/>
          <a:stretch>
            <a:fillRect/>
          </a:stretch>
        </p:blipFill>
        <p:spPr>
          <a:xfrm>
            <a:off x="3086100" y="2537460"/>
            <a:ext cx="320040" cy="320040"/>
          </a:xfrm>
          <a:prstGeom prst="rect">
            <a:avLst/>
          </a:prstGeom>
        </p:spPr>
      </p:pic>
      <p:sp>
        <p:nvSpPr>
          <p:cNvPr id="10" name="antarmuka judul 2"/>
          <p:cNvSpPr txBox="1"/>
          <p:nvPr/>
        </p:nvSpPr>
        <p:spPr>
          <a:xfrm>
            <a:off x="3794760" y="2377440"/>
            <a:ext cx="3154680" cy="384048"/>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Kontras dan ukuran</a:t>
            </a:r>
            <a:endParaRPr lang="en-US" sz="1700" dirty="0"/>
          </a:p>
        </p:txBody>
      </p:sp>
      <p:sp>
        <p:nvSpPr>
          <p:cNvPr id="11" name="antarmuka isi 2"/>
          <p:cNvSpPr txBox="1"/>
          <p:nvPr/>
        </p:nvSpPr>
        <p:spPr>
          <a:xfrm>
            <a:off x="3794760" y="2770632"/>
            <a:ext cx="3154680" cy="6858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53 pasangan warna lulus WCAG 2.1; huruf 200% dibatasi 150% di layar evakuasi.</a:t>
            </a:r>
            <a:endParaRPr lang="en-US" sz="1400" dirty="0"/>
          </a:p>
        </p:txBody>
      </p:sp>
      <p:sp>
        <p:nvSpPr>
          <p:cNvPr id="12" name="antarmuka 3 lingkaran"/>
          <p:cNvSpPr/>
          <p:nvPr/>
        </p:nvSpPr>
        <p:spPr>
          <a:xfrm>
            <a:off x="2926080" y="3520440"/>
            <a:ext cx="640080" cy="640080"/>
          </a:xfrm>
          <a:prstGeom prst="ellipse">
            <a:avLst/>
          </a:prstGeom>
          <a:solidFill>
            <a:srgbClr val="14365D"/>
          </a:solidFill>
          <a:ln w="12700">
            <a:solidFill>
              <a:srgbClr val="14365D"/>
            </a:solidFill>
            <a:prstDash val="solid"/>
          </a:ln>
        </p:spPr>
      </p:sp>
      <p:pic>
        <p:nvPicPr>
          <p:cNvPr id="13" name="antarmuka 3 ikon" descr="preencoded.png">    </p:cNvPr>
          <p:cNvPicPr>
            <a:picLocks noChangeAspect="1"/>
          </p:cNvPicPr>
          <p:nvPr/>
        </p:nvPicPr>
        <p:blipFill>
          <a:blip r:embed="rId4"/>
          <a:stretch>
            <a:fillRect/>
          </a:stretch>
        </p:blipFill>
        <p:spPr>
          <a:xfrm>
            <a:off x="3086100" y="3680460"/>
            <a:ext cx="320040" cy="320040"/>
          </a:xfrm>
          <a:prstGeom prst="rect">
            <a:avLst/>
          </a:prstGeom>
        </p:spPr>
      </p:pic>
      <p:sp>
        <p:nvSpPr>
          <p:cNvPr id="14" name="antarmuka judul 3"/>
          <p:cNvSpPr txBox="1"/>
          <p:nvPr/>
        </p:nvSpPr>
        <p:spPr>
          <a:xfrm>
            <a:off x="3794760" y="3520440"/>
            <a:ext cx="3154680" cy="384048"/>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Status jujur</a:t>
            </a:r>
            <a:endParaRPr lang="en-US" sz="1700" dirty="0"/>
          </a:p>
        </p:txBody>
      </p:sp>
      <p:sp>
        <p:nvSpPr>
          <p:cNvPr id="15" name="antarmuka isi 3"/>
          <p:cNvSpPr txBox="1"/>
          <p:nvPr/>
        </p:nvSpPr>
        <p:spPr>
          <a:xfrm>
            <a:off x="3794760" y="3913632"/>
            <a:ext cx="3154680" cy="6858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"Zona merah", "Zona hijau", atau "Belum pasti"; tanpa klaim pasti aman.</a:t>
            </a:r>
            <a:endParaRPr lang="en-US" sz="1400" dirty="0"/>
          </a:p>
        </p:txBody>
      </p:sp>
      <p:sp>
        <p:nvSpPr>
          <p:cNvPr id="16" name="antarmuka 4 lingkaran"/>
          <p:cNvSpPr/>
          <p:nvPr/>
        </p:nvSpPr>
        <p:spPr>
          <a:xfrm>
            <a:off x="2926080" y="4663440"/>
            <a:ext cx="640080" cy="640080"/>
          </a:xfrm>
          <a:prstGeom prst="ellipse">
            <a:avLst/>
          </a:prstGeom>
          <a:solidFill>
            <a:srgbClr val="14365D"/>
          </a:solidFill>
          <a:ln w="12700">
            <a:solidFill>
              <a:srgbClr val="14365D"/>
            </a:solidFill>
            <a:prstDash val="solid"/>
          </a:ln>
        </p:spPr>
      </p:sp>
      <p:pic>
        <p:nvPicPr>
          <p:cNvPr id="17" name="antarmuka 4 ikon" descr="preencoded.png">    </p:cNvPr>
          <p:cNvPicPr>
            <a:picLocks noChangeAspect="1"/>
          </p:cNvPicPr>
          <p:nvPr/>
        </p:nvPicPr>
        <p:blipFill>
          <a:blip r:embed="rId5"/>
          <a:stretch>
            <a:fillRect/>
          </a:stretch>
        </p:blipFill>
        <p:spPr>
          <a:xfrm>
            <a:off x="3086100" y="4823460"/>
            <a:ext cx="320040" cy="320040"/>
          </a:xfrm>
          <a:prstGeom prst="rect">
            <a:avLst/>
          </a:prstGeom>
        </p:spPr>
      </p:pic>
      <p:sp>
        <p:nvSpPr>
          <p:cNvPr id="18" name="antarmuka judul 4"/>
          <p:cNvSpPr txBox="1"/>
          <p:nvPr/>
        </p:nvSpPr>
        <p:spPr>
          <a:xfrm>
            <a:off x="3794760" y="4663440"/>
            <a:ext cx="3154680" cy="384048"/>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Sumber waktu terlihat</a:t>
            </a:r>
            <a:endParaRPr lang="en-US" sz="1700" dirty="0"/>
          </a:p>
        </p:txBody>
      </p:sp>
      <p:sp>
        <p:nvSpPr>
          <p:cNvPr id="19" name="antarmuka isi 4"/>
          <p:cNvSpPr txBox="1"/>
          <p:nvPr/>
        </p:nvSpPr>
        <p:spPr>
          <a:xfrm>
            <a:off x="3794760" y="5056632"/>
            <a:ext cx="3154680" cy="6858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Hitung mundur dari peringatan, perkiraan pengguna, atau saat aplikasi dibuka.</a:t>
            </a:r>
            <a:endParaRPr lang="en-US" sz="1400" dirty="0"/>
          </a:p>
        </p:txBody>
      </p:sp>
      <p:graphicFrame>
        <p:nvGraphicFramePr>
          <p:cNvPr id="23" name="tabel prosedur"/>
          <p:cNvGraphicFramePr>
            <a:graphicFrameLocks noGrp="1"/>
          </p:cNvGraphicFramePr>
          <p:nvPr>
            <p:extLst>
              <p:ext uri="{D42A27DB-BD31-4B8C-83A1-F6EECF244321}">
                <p14:modId xmlns:p14="http://schemas.microsoft.com/office/powerpoint/2010/main" val="1579011935"/>
              </p:ext>
            </p:extLst>
          </p:nvPr>
        </p:nvGraphicFramePr>
        <p:xfrm>
          <a:off x="7223760" y="1234440"/>
          <a:ext cx="4416552" cy="914400"/>
        </p:xfrm>
        <a:graphic>
          <a:graphicData uri="http://schemas.openxmlformats.org/drawingml/2006/table">
            <a:tbl>
              <a:tblPr/>
              <a:tblGrid>
                <a:gridCol w="1828800"/>
                <a:gridCol w="2587752"/>
              </a:tblGrid>
              <a:tr h="56692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Prosedur resmi</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Penerapan</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r>
              <a:tr h="566928">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Berjalan cepat</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Laju 0,894 m/s (FEMA P-646)</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566928">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Tanpa kendaraan</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Jaringan pejalan kaki</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Menjauhi pantai</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Saring arah ± 15°</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566928">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Hindari jembatan</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Hanya bila tidak ada jalan lain</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Setelah tiba</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Tetap di tempat, jangan ke pantai</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566928">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Akhir peringatan</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Diteruskan dari BMKG/BPBD</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bl>
          </a:graphicData>
        </a:graphic>
      </p:graphicFrame>
      <p:sp>
        <p:nvSpPr>
          <p:cNvPr id="21"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L 5.9–5.10, Tabel 5.10.</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Aplikasi dari widget sampai kedatangan</a:t>
            </a:r>
            <a:endParaRPr lang="en-US" sz="3000" dirty="0"/>
          </a:p>
        </p:txBody>
      </p:sp>
      <p:pic>
        <p:nvPicPr>
          <p:cNvPr id="3" name="widget" descr="C:\Users\Lenovo\AppData\Local\Temp\claude\c--gemastik\520da942-8140-47c0-a16f-9bde4b92cbe5\scratchpad\deck\aset\widget.png">    </p:cNvPr>
          <p:cNvPicPr>
            <a:picLocks noChangeAspect="1"/>
          </p:cNvPicPr>
          <p:nvPr/>
        </p:nvPicPr>
        <p:blipFill>
          <a:blip r:embed="rId1"/>
          <a:stretch>
            <a:fillRect/>
          </a:stretch>
        </p:blipFill>
        <p:spPr>
          <a:xfrm>
            <a:off x="548640" y="1297207"/>
            <a:ext cx="1828800" cy="1108906"/>
          </a:xfrm>
          <a:prstGeom prst="rect">
            <a:avLst/>
          </a:prstGeom>
        </p:spPr>
      </p:pic>
      <p:sp>
        <p:nvSpPr>
          <p:cNvPr id="4" name="label widget"/>
          <p:cNvSpPr txBox="1"/>
          <p:nvPr/>
        </p:nvSpPr>
        <p:spPr>
          <a:xfrm>
            <a:off x="548640" y="2514600"/>
            <a:ext cx="1828800" cy="914400"/>
          </a:xfrm>
          <a:prstGeom prst="rect">
            <a:avLst/>
          </a:prstGeom>
          <a:noFill/>
          <a:ln/>
        </p:spPr>
        <p:txBody>
          <a:bodyPr wrap="square" lIns="0" tIns="0" rIns="0" bIns="0" rtlCol="0" anchor="t"/>
          <a:lstStyle/>
          <a:p>
            <a:pPr indent="0" marL="0">
              <a:buNone/>
            </a:pPr>
            <a:r>
              <a:rPr lang="en-US" sz="1200" dirty="0">
                <a:solidFill>
                  <a:srgbClr val="5D6670"/>
                </a:solidFill>
                <a:latin typeface="Calibri" pitchFamily="34" charset="0"/>
                <a:ea typeface="Calibri" pitchFamily="34" charset="-122"/>
                <a:cs typeface="Calibri" pitchFamily="34" charset="-120"/>
              </a:rPr>
              <a:t>Widget 4×2: status zona, tujuan, jarak, tombol Evakuasi</a:t>
            </a:r>
            <a:endParaRPr lang="en-US" sz="1200" dirty="0"/>
          </a:p>
        </p:txBody>
      </p:sp>
      <p:pic>
        <p:nvPicPr>
          <p:cNvPr id="5" name="layar Beranda" descr="C:\Users\Lenovo\AppData\Local\Temp\claude\c--gemastik\520da942-8140-47c0-a16f-9bde4b92cbe5\scratchpad\deck\aset\beranda.png">    </p:cNvPr>
          <p:cNvPicPr>
            <a:picLocks noChangeAspect="1"/>
          </p:cNvPicPr>
          <p:nvPr/>
        </p:nvPicPr>
        <p:blipFill>
          <a:blip r:embed="rId2"/>
          <a:stretch>
            <a:fillRect/>
          </a:stretch>
        </p:blipFill>
        <p:spPr>
          <a:xfrm>
            <a:off x="2606040" y="1634490"/>
            <a:ext cx="1645920" cy="3543300"/>
          </a:xfrm>
          <a:prstGeom prst="rect">
            <a:avLst/>
          </a:prstGeom>
        </p:spPr>
      </p:pic>
      <p:sp>
        <p:nvSpPr>
          <p:cNvPr id="6" name="label alur 1"/>
          <p:cNvSpPr txBox="1"/>
          <p:nvPr/>
        </p:nvSpPr>
        <p:spPr>
          <a:xfrm>
            <a:off x="2606040" y="5577840"/>
            <a:ext cx="1645920" cy="320040"/>
          </a:xfrm>
          <a:prstGeom prst="rect">
            <a:avLst/>
          </a:prstGeom>
          <a:noFill/>
          <a:ln/>
        </p:spPr>
        <p:txBody>
          <a:bodyPr wrap="square" lIns="0" tIns="0" rIns="0" bIns="0" rtlCol="0" anchor="t"/>
          <a:lstStyle/>
          <a:p>
            <a:pPr algn="ctr" indent="0" marL="0">
              <a:buNone/>
            </a:pPr>
            <a:r>
              <a:rPr lang="en-US" sz="1200" dirty="0">
                <a:solidFill>
                  <a:srgbClr val="5D6670"/>
                </a:solidFill>
                <a:latin typeface="Calibri" pitchFamily="34" charset="0"/>
                <a:ea typeface="Calibri" pitchFamily="34" charset="-122"/>
                <a:cs typeface="Calibri" pitchFamily="34" charset="-120"/>
              </a:rPr>
              <a:t>Beranda</a:t>
            </a:r>
            <a:endParaRPr lang="en-US" sz="1200" dirty="0"/>
          </a:p>
        </p:txBody>
      </p:sp>
      <p:pic>
        <p:nvPicPr>
          <p:cNvPr id="7" name="layar Arahan, mode pesawat" descr="C:\Users\Lenovo\AppData\Local\Temp\claude\c--gemastik\520da942-8140-47c0-a16f-9bde4b92cbe5\scratchpad\deck\aset\evakuasi.png">    </p:cNvPr>
          <p:cNvPicPr>
            <a:picLocks noChangeAspect="1"/>
          </p:cNvPicPr>
          <p:nvPr/>
        </p:nvPicPr>
        <p:blipFill>
          <a:blip r:embed="rId3"/>
          <a:stretch>
            <a:fillRect/>
          </a:stretch>
        </p:blipFill>
        <p:spPr>
          <a:xfrm>
            <a:off x="4434840" y="1634490"/>
            <a:ext cx="1645920" cy="3543300"/>
          </a:xfrm>
          <a:prstGeom prst="rect">
            <a:avLst/>
          </a:prstGeom>
        </p:spPr>
      </p:pic>
      <p:sp>
        <p:nvSpPr>
          <p:cNvPr id="8" name="label alur 2"/>
          <p:cNvSpPr txBox="1"/>
          <p:nvPr/>
        </p:nvSpPr>
        <p:spPr>
          <a:xfrm>
            <a:off x="4434840" y="5577840"/>
            <a:ext cx="1645920" cy="320040"/>
          </a:xfrm>
          <a:prstGeom prst="rect">
            <a:avLst/>
          </a:prstGeom>
          <a:noFill/>
          <a:ln/>
        </p:spPr>
        <p:txBody>
          <a:bodyPr wrap="square" lIns="0" tIns="0" rIns="0" bIns="0" rtlCol="0" anchor="t"/>
          <a:lstStyle/>
          <a:p>
            <a:pPr algn="ctr" indent="0" marL="0">
              <a:buNone/>
            </a:pPr>
            <a:r>
              <a:rPr lang="en-US" sz="1200" dirty="0">
                <a:solidFill>
                  <a:srgbClr val="5D6670"/>
                </a:solidFill>
                <a:latin typeface="Calibri" pitchFamily="34" charset="0"/>
                <a:ea typeface="Calibri" pitchFamily="34" charset="-122"/>
                <a:cs typeface="Calibri" pitchFamily="34" charset="-120"/>
              </a:rPr>
              <a:t>Arahan, mode pesawat</a:t>
            </a:r>
            <a:endParaRPr lang="en-US" sz="1200" dirty="0"/>
          </a:p>
        </p:txBody>
      </p:sp>
      <p:pic>
        <p:nvPicPr>
          <p:cNvPr id="9" name="layar Rincian TES" descr="C:\Users\Lenovo\AppData\Local\Temp\claude\c--gemastik\520da942-8140-47c0-a16f-9bde4b92cbe5\scratchpad\deck\aset\rincian_tes.png">    </p:cNvPr>
          <p:cNvPicPr>
            <a:picLocks noChangeAspect="1"/>
          </p:cNvPicPr>
          <p:nvPr/>
        </p:nvPicPr>
        <p:blipFill>
          <a:blip r:embed="rId4"/>
          <a:stretch>
            <a:fillRect/>
          </a:stretch>
        </p:blipFill>
        <p:spPr>
          <a:xfrm>
            <a:off x="6263640" y="1634490"/>
            <a:ext cx="1645920" cy="3543300"/>
          </a:xfrm>
          <a:prstGeom prst="rect">
            <a:avLst/>
          </a:prstGeom>
        </p:spPr>
      </p:pic>
      <p:sp>
        <p:nvSpPr>
          <p:cNvPr id="10" name="label alur 3"/>
          <p:cNvSpPr txBox="1"/>
          <p:nvPr/>
        </p:nvSpPr>
        <p:spPr>
          <a:xfrm>
            <a:off x="6263640" y="5577840"/>
            <a:ext cx="1645920" cy="320040"/>
          </a:xfrm>
          <a:prstGeom prst="rect">
            <a:avLst/>
          </a:prstGeom>
          <a:noFill/>
          <a:ln/>
        </p:spPr>
        <p:txBody>
          <a:bodyPr wrap="square" lIns="0" tIns="0" rIns="0" bIns="0" rtlCol="0" anchor="t"/>
          <a:lstStyle/>
          <a:p>
            <a:pPr algn="ctr" indent="0" marL="0">
              <a:buNone/>
            </a:pPr>
            <a:r>
              <a:rPr lang="en-US" sz="1200" dirty="0">
                <a:solidFill>
                  <a:srgbClr val="5D6670"/>
                </a:solidFill>
                <a:latin typeface="Calibri" pitchFamily="34" charset="0"/>
                <a:ea typeface="Calibri" pitchFamily="34" charset="-122"/>
                <a:cs typeface="Calibri" pitchFamily="34" charset="-120"/>
              </a:rPr>
              <a:t>Rincian TES</a:t>
            </a:r>
            <a:endParaRPr lang="en-US" sz="1200" dirty="0"/>
          </a:p>
        </p:txBody>
      </p:sp>
      <p:pic>
        <p:nvPicPr>
          <p:cNvPr id="11" name="layar Peringatan latihan" descr="C:\Users\Lenovo\AppData\Local\Temp\claude\c--gemastik\520da942-8140-47c0-a16f-9bde4b92cbe5\scratchpad\deck\aset\peringatan.png">    </p:cNvPr>
          <p:cNvPicPr>
            <a:picLocks noChangeAspect="1"/>
          </p:cNvPicPr>
          <p:nvPr/>
        </p:nvPicPr>
        <p:blipFill>
          <a:blip r:embed="rId5"/>
          <a:stretch>
            <a:fillRect/>
          </a:stretch>
        </p:blipFill>
        <p:spPr>
          <a:xfrm>
            <a:off x="8092440" y="1634490"/>
            <a:ext cx="1645920" cy="3543300"/>
          </a:xfrm>
          <a:prstGeom prst="rect">
            <a:avLst/>
          </a:prstGeom>
        </p:spPr>
      </p:pic>
      <p:sp>
        <p:nvSpPr>
          <p:cNvPr id="12" name="label alur 4"/>
          <p:cNvSpPr txBox="1"/>
          <p:nvPr/>
        </p:nvSpPr>
        <p:spPr>
          <a:xfrm>
            <a:off x="8092440" y="5577840"/>
            <a:ext cx="1645920" cy="320040"/>
          </a:xfrm>
          <a:prstGeom prst="rect">
            <a:avLst/>
          </a:prstGeom>
          <a:noFill/>
          <a:ln/>
        </p:spPr>
        <p:txBody>
          <a:bodyPr wrap="square" lIns="0" tIns="0" rIns="0" bIns="0" rtlCol="0" anchor="t"/>
          <a:lstStyle/>
          <a:p>
            <a:pPr algn="ctr" indent="0" marL="0">
              <a:buNone/>
            </a:pPr>
            <a:r>
              <a:rPr lang="en-US" sz="1200" dirty="0">
                <a:solidFill>
                  <a:srgbClr val="5D6670"/>
                </a:solidFill>
                <a:latin typeface="Calibri" pitchFamily="34" charset="0"/>
                <a:ea typeface="Calibri" pitchFamily="34" charset="-122"/>
                <a:cs typeface="Calibri" pitchFamily="34" charset="-120"/>
              </a:rPr>
              <a:t>Peringatan latihan</a:t>
            </a:r>
            <a:endParaRPr lang="en-US" sz="1200" dirty="0"/>
          </a:p>
        </p:txBody>
      </p:sp>
      <p:pic>
        <p:nvPicPr>
          <p:cNvPr id="13" name="layar Kedatangan" descr="C:\Users\Lenovo\AppData\Local\Temp\claude\c--gemastik\520da942-8140-47c0-a16f-9bde4b92cbe5\scratchpad\deck\aset\kedatangan.png">    </p:cNvPr>
          <p:cNvPicPr>
            <a:picLocks noChangeAspect="1"/>
          </p:cNvPicPr>
          <p:nvPr/>
        </p:nvPicPr>
        <p:blipFill>
          <a:blip r:embed="rId6"/>
          <a:stretch>
            <a:fillRect/>
          </a:stretch>
        </p:blipFill>
        <p:spPr>
          <a:xfrm>
            <a:off x="9921240" y="1634490"/>
            <a:ext cx="1645920" cy="3543300"/>
          </a:xfrm>
          <a:prstGeom prst="rect">
            <a:avLst/>
          </a:prstGeom>
        </p:spPr>
      </p:pic>
      <p:sp>
        <p:nvSpPr>
          <p:cNvPr id="14" name="label alur 5"/>
          <p:cNvSpPr txBox="1"/>
          <p:nvPr/>
        </p:nvSpPr>
        <p:spPr>
          <a:xfrm>
            <a:off x="9921240" y="5577840"/>
            <a:ext cx="1645920" cy="320040"/>
          </a:xfrm>
          <a:prstGeom prst="rect">
            <a:avLst/>
          </a:prstGeom>
          <a:noFill/>
          <a:ln/>
        </p:spPr>
        <p:txBody>
          <a:bodyPr wrap="square" lIns="0" tIns="0" rIns="0" bIns="0" rtlCol="0" anchor="t"/>
          <a:lstStyle/>
          <a:p>
            <a:pPr algn="ctr" indent="0" marL="0">
              <a:buNone/>
            </a:pPr>
            <a:r>
              <a:rPr lang="en-US" sz="1200" dirty="0">
                <a:solidFill>
                  <a:srgbClr val="5D6670"/>
                </a:solidFill>
                <a:latin typeface="Calibri" pitchFamily="34" charset="0"/>
                <a:ea typeface="Calibri" pitchFamily="34" charset="-122"/>
                <a:cs typeface="Calibri" pitchFamily="34" charset="-120"/>
              </a:rPr>
              <a:t>Kedatangan</a:t>
            </a:r>
            <a:endParaRPr lang="en-US" sz="1200" dirty="0"/>
          </a:p>
        </p:txBody>
      </p:sp>
      <p:sp>
        <p:nvSpPr>
          <p:cNvPr id="15"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Desain akhir V4 pada Infinix X6855, Android 16 (L 7.1–7.4, Gambar 7.1–7.3; M Gambar 2).</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Fitur pendukung sebelum, saat, dan sesudah evakuasi</a:t>
            </a:r>
            <a:endParaRPr lang="en-US" sz="3000" dirty="0"/>
          </a:p>
        </p:txBody>
      </p:sp>
      <p:sp>
        <p:nvSpPr>
          <p:cNvPr id="3" name="fitur kartu 1"/>
          <p:cNvSpPr/>
          <p:nvPr/>
        </p:nvSpPr>
        <p:spPr>
          <a:xfrm>
            <a:off x="548640" y="1280160"/>
            <a:ext cx="3545738" cy="2171700"/>
          </a:xfrm>
          <a:prstGeom prst="roundRect">
            <a:avLst>
              <a:gd name="adj" fmla="val 3368"/>
            </a:avLst>
          </a:prstGeom>
          <a:solidFill>
            <a:srgbClr val="EEF2F7"/>
          </a:solidFill>
          <a:ln w="12700">
            <a:solidFill>
              <a:srgbClr val="EEF2F7"/>
            </a:solidFill>
            <a:prstDash val="solid"/>
          </a:ln>
        </p:spPr>
      </p:sp>
      <p:sp>
        <p:nvSpPr>
          <p:cNvPr id="4" name="fitur 1 lingkaran"/>
          <p:cNvSpPr/>
          <p:nvPr/>
        </p:nvSpPr>
        <p:spPr>
          <a:xfrm>
            <a:off x="777240" y="1508760"/>
            <a:ext cx="685800" cy="685800"/>
          </a:xfrm>
          <a:prstGeom prst="ellipse">
            <a:avLst/>
          </a:prstGeom>
          <a:solidFill>
            <a:srgbClr val="14365D"/>
          </a:solidFill>
          <a:ln w="12700">
            <a:solidFill>
              <a:srgbClr val="14365D"/>
            </a:solidFill>
            <a:prstDash val="solid"/>
          </a:ln>
        </p:spPr>
      </p:sp>
      <p:pic>
        <p:nvPicPr>
          <p:cNvPr id="5" name="fitur 1 ikon" descr="preencoded.png">    </p:cNvPr>
          <p:cNvPicPr>
            <a:picLocks noChangeAspect="1"/>
          </p:cNvPicPr>
          <p:nvPr/>
        </p:nvPicPr>
        <p:blipFill>
          <a:blip r:embed="rId1"/>
          <a:stretch>
            <a:fillRect/>
          </a:stretch>
        </p:blipFill>
        <p:spPr>
          <a:xfrm>
            <a:off x="948690" y="1680210"/>
            <a:ext cx="342900" cy="342900"/>
          </a:xfrm>
          <a:prstGeom prst="rect">
            <a:avLst/>
          </a:prstGeom>
        </p:spPr>
      </p:pic>
      <p:sp>
        <p:nvSpPr>
          <p:cNvPr id="6" name="fitur judul 1"/>
          <p:cNvSpPr txBox="1"/>
          <p:nvPr/>
        </p:nvSpPr>
        <p:spPr>
          <a:xfrm>
            <a:off x="1600200" y="1554480"/>
            <a:ext cx="2311298" cy="594360"/>
          </a:xfrm>
          <a:prstGeom prst="rect">
            <a:avLst/>
          </a:prstGeom>
          <a:noFill/>
          <a:ln/>
        </p:spPr>
        <p:txBody>
          <a:bodyPr wrap="square" lIns="0" tIns="0" rIns="0" bIns="0" rtlCol="0" anchor="ctr"/>
          <a:lstStyle/>
          <a:p>
            <a:pPr indent="0" marL="0">
              <a:buNone/>
            </a:pPr>
            <a:r>
              <a:rPr lang="en-US" sz="1700" b="1" dirty="0">
                <a:solidFill>
                  <a:srgbClr val="14365D"/>
                </a:solidFill>
                <a:latin typeface="Calibri" pitchFamily="34" charset="0"/>
                <a:ea typeface="Calibri" pitchFamily="34" charset="-122"/>
                <a:cs typeface="Calibri" pitchFamily="34" charset="-120"/>
              </a:rPr>
              <a:t>Peringatan tsunami</a:t>
            </a:r>
            <a:endParaRPr lang="en-US" sz="1700" dirty="0"/>
          </a:p>
        </p:txBody>
      </p:sp>
      <p:sp>
        <p:nvSpPr>
          <p:cNvPr id="7" name="fitur isi 1"/>
          <p:cNvSpPr txBox="1"/>
          <p:nvPr/>
        </p:nvSpPr>
        <p:spPr>
          <a:xfrm>
            <a:off x="777240" y="2331720"/>
            <a:ext cx="3088538" cy="98298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Membuka layar evakuasi; sirene sampai layar disentuh, getar walau senyap.</a:t>
            </a:r>
            <a:endParaRPr lang="en-US" sz="1400" dirty="0"/>
          </a:p>
        </p:txBody>
      </p:sp>
      <p:sp>
        <p:nvSpPr>
          <p:cNvPr id="8" name="fitur kartu 2"/>
          <p:cNvSpPr/>
          <p:nvPr/>
        </p:nvSpPr>
        <p:spPr>
          <a:xfrm>
            <a:off x="4322978" y="1280160"/>
            <a:ext cx="3545738" cy="2171700"/>
          </a:xfrm>
          <a:prstGeom prst="roundRect">
            <a:avLst>
              <a:gd name="adj" fmla="val 3368"/>
            </a:avLst>
          </a:prstGeom>
          <a:solidFill>
            <a:srgbClr val="EEF2F7"/>
          </a:solidFill>
          <a:ln w="12700">
            <a:solidFill>
              <a:srgbClr val="EEF2F7"/>
            </a:solidFill>
            <a:prstDash val="solid"/>
          </a:ln>
        </p:spPr>
      </p:sp>
      <p:sp>
        <p:nvSpPr>
          <p:cNvPr id="9" name="fitur 2 lingkaran"/>
          <p:cNvSpPr/>
          <p:nvPr/>
        </p:nvSpPr>
        <p:spPr>
          <a:xfrm>
            <a:off x="4551578" y="1508760"/>
            <a:ext cx="685800" cy="685800"/>
          </a:xfrm>
          <a:prstGeom prst="ellipse">
            <a:avLst/>
          </a:prstGeom>
          <a:solidFill>
            <a:srgbClr val="14365D"/>
          </a:solidFill>
          <a:ln w="12700">
            <a:solidFill>
              <a:srgbClr val="14365D"/>
            </a:solidFill>
            <a:prstDash val="solid"/>
          </a:ln>
        </p:spPr>
      </p:sp>
      <p:pic>
        <p:nvPicPr>
          <p:cNvPr id="10" name="fitur 2 ikon" descr="preencoded.png">    </p:cNvPr>
          <p:cNvPicPr>
            <a:picLocks noChangeAspect="1"/>
          </p:cNvPicPr>
          <p:nvPr/>
        </p:nvPicPr>
        <p:blipFill>
          <a:blip r:embed="rId2"/>
          <a:stretch>
            <a:fillRect/>
          </a:stretch>
        </p:blipFill>
        <p:spPr>
          <a:xfrm>
            <a:off x="4723028" y="1680210"/>
            <a:ext cx="342900" cy="342900"/>
          </a:xfrm>
          <a:prstGeom prst="rect">
            <a:avLst/>
          </a:prstGeom>
        </p:spPr>
      </p:pic>
      <p:sp>
        <p:nvSpPr>
          <p:cNvPr id="11" name="fitur judul 2"/>
          <p:cNvSpPr txBox="1"/>
          <p:nvPr/>
        </p:nvSpPr>
        <p:spPr>
          <a:xfrm>
            <a:off x="5374538" y="1554480"/>
            <a:ext cx="2311298" cy="594360"/>
          </a:xfrm>
          <a:prstGeom prst="rect">
            <a:avLst/>
          </a:prstGeom>
          <a:noFill/>
          <a:ln/>
        </p:spPr>
        <p:txBody>
          <a:bodyPr wrap="square" lIns="0" tIns="0" rIns="0" bIns="0" rtlCol="0" anchor="ctr"/>
          <a:lstStyle/>
          <a:p>
            <a:pPr indent="0" marL="0">
              <a:buNone/>
            </a:pPr>
            <a:r>
              <a:rPr lang="en-US" sz="1700" b="1" dirty="0">
                <a:solidFill>
                  <a:srgbClr val="14365D"/>
                </a:solidFill>
                <a:latin typeface="Calibri" pitchFamily="34" charset="0"/>
                <a:ea typeface="Calibri" pitchFamily="34" charset="-122"/>
                <a:cs typeface="Calibri" pitchFamily="34" charset="-120"/>
              </a:rPr>
              <a:t>Rencana keluarga</a:t>
            </a:r>
            <a:endParaRPr lang="en-US" sz="1700" dirty="0"/>
          </a:p>
        </p:txBody>
      </p:sp>
      <p:sp>
        <p:nvSpPr>
          <p:cNvPr id="12" name="fitur isi 2"/>
          <p:cNvSpPr txBox="1"/>
          <p:nvPr/>
        </p:nvSpPr>
        <p:spPr>
          <a:xfrm>
            <a:off x="4551578" y="2331720"/>
            <a:ext cx="3088538" cy="98298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Titik temu dan tujuan tiap anggota dari lokasi rutin, dibagikan lewat QR.</a:t>
            </a:r>
            <a:endParaRPr lang="en-US" sz="1400" dirty="0"/>
          </a:p>
        </p:txBody>
      </p:sp>
      <p:sp>
        <p:nvSpPr>
          <p:cNvPr id="13" name="fitur kartu 3"/>
          <p:cNvSpPr/>
          <p:nvPr/>
        </p:nvSpPr>
        <p:spPr>
          <a:xfrm>
            <a:off x="8097317" y="1280160"/>
            <a:ext cx="3545738" cy="2171700"/>
          </a:xfrm>
          <a:prstGeom prst="roundRect">
            <a:avLst>
              <a:gd name="adj" fmla="val 3368"/>
            </a:avLst>
          </a:prstGeom>
          <a:solidFill>
            <a:srgbClr val="EEF2F7"/>
          </a:solidFill>
          <a:ln w="12700">
            <a:solidFill>
              <a:srgbClr val="EEF2F7"/>
            </a:solidFill>
            <a:prstDash val="solid"/>
          </a:ln>
        </p:spPr>
      </p:sp>
      <p:sp>
        <p:nvSpPr>
          <p:cNvPr id="14" name="fitur 3 lingkaran"/>
          <p:cNvSpPr/>
          <p:nvPr/>
        </p:nvSpPr>
        <p:spPr>
          <a:xfrm>
            <a:off x="8325917" y="1508760"/>
            <a:ext cx="685800" cy="685800"/>
          </a:xfrm>
          <a:prstGeom prst="ellipse">
            <a:avLst/>
          </a:prstGeom>
          <a:solidFill>
            <a:srgbClr val="14365D"/>
          </a:solidFill>
          <a:ln w="12700">
            <a:solidFill>
              <a:srgbClr val="14365D"/>
            </a:solidFill>
            <a:prstDash val="solid"/>
          </a:ln>
        </p:spPr>
      </p:sp>
      <p:pic>
        <p:nvPicPr>
          <p:cNvPr id="15" name="fitur 3 ikon" descr="preencoded.png">    </p:cNvPr>
          <p:cNvPicPr>
            <a:picLocks noChangeAspect="1"/>
          </p:cNvPicPr>
          <p:nvPr/>
        </p:nvPicPr>
        <p:blipFill>
          <a:blip r:embed="rId3"/>
          <a:stretch>
            <a:fillRect/>
          </a:stretch>
        </p:blipFill>
        <p:spPr>
          <a:xfrm>
            <a:off x="8497367" y="1680210"/>
            <a:ext cx="342900" cy="342900"/>
          </a:xfrm>
          <a:prstGeom prst="rect">
            <a:avLst/>
          </a:prstGeom>
        </p:spPr>
      </p:pic>
      <p:sp>
        <p:nvSpPr>
          <p:cNvPr id="16" name="fitur judul 3"/>
          <p:cNvSpPr txBox="1"/>
          <p:nvPr/>
        </p:nvSpPr>
        <p:spPr>
          <a:xfrm>
            <a:off x="9148877" y="1554480"/>
            <a:ext cx="2311298" cy="594360"/>
          </a:xfrm>
          <a:prstGeom prst="rect">
            <a:avLst/>
          </a:prstGeom>
          <a:noFill/>
          <a:ln/>
        </p:spPr>
        <p:txBody>
          <a:bodyPr wrap="square" lIns="0" tIns="0" rIns="0" bIns="0" rtlCol="0" anchor="ctr"/>
          <a:lstStyle/>
          <a:p>
            <a:pPr indent="0" marL="0">
              <a:buNone/>
            </a:pPr>
            <a:r>
              <a:rPr lang="en-US" sz="1700" b="1" dirty="0">
                <a:solidFill>
                  <a:srgbClr val="14365D"/>
                </a:solidFill>
                <a:latin typeface="Calibri" pitchFamily="34" charset="0"/>
                <a:ea typeface="Calibri" pitchFamily="34" charset="-122"/>
                <a:cs typeface="Calibri" pitchFamily="34" charset="-120"/>
              </a:rPr>
              <a:t>Kabar keluarga</a:t>
            </a:r>
            <a:endParaRPr lang="en-US" sz="1700" dirty="0"/>
          </a:p>
        </p:txBody>
      </p:sp>
      <p:sp>
        <p:nvSpPr>
          <p:cNvPr id="17" name="fitur isi 3"/>
          <p:cNvSpPr txBox="1"/>
          <p:nvPr/>
        </p:nvSpPr>
        <p:spPr>
          <a:xfrm>
            <a:off x="8325917" y="2331720"/>
            <a:ext cx="3088538" cy="98298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Nama, tempat, dan jam tiba, tanpa posisi; tetap tampil tanpa internet.</a:t>
            </a:r>
            <a:endParaRPr lang="en-US" sz="1400" dirty="0"/>
          </a:p>
        </p:txBody>
      </p:sp>
      <p:sp>
        <p:nvSpPr>
          <p:cNvPr id="18" name="fitur kartu 4"/>
          <p:cNvSpPr/>
          <p:nvPr/>
        </p:nvSpPr>
        <p:spPr>
          <a:xfrm>
            <a:off x="548640" y="3680460"/>
            <a:ext cx="3545738" cy="2171700"/>
          </a:xfrm>
          <a:prstGeom prst="roundRect">
            <a:avLst>
              <a:gd name="adj" fmla="val 3368"/>
            </a:avLst>
          </a:prstGeom>
          <a:solidFill>
            <a:srgbClr val="EEF2F7"/>
          </a:solidFill>
          <a:ln w="12700">
            <a:solidFill>
              <a:srgbClr val="EEF2F7"/>
            </a:solidFill>
            <a:prstDash val="solid"/>
          </a:ln>
        </p:spPr>
      </p:sp>
      <p:sp>
        <p:nvSpPr>
          <p:cNvPr id="19" name="fitur 4 lingkaran"/>
          <p:cNvSpPr/>
          <p:nvPr/>
        </p:nvSpPr>
        <p:spPr>
          <a:xfrm>
            <a:off x="777240" y="3909060"/>
            <a:ext cx="685800" cy="685800"/>
          </a:xfrm>
          <a:prstGeom prst="ellipse">
            <a:avLst/>
          </a:prstGeom>
          <a:solidFill>
            <a:srgbClr val="14365D"/>
          </a:solidFill>
          <a:ln w="12700">
            <a:solidFill>
              <a:srgbClr val="14365D"/>
            </a:solidFill>
            <a:prstDash val="solid"/>
          </a:ln>
        </p:spPr>
      </p:sp>
      <p:pic>
        <p:nvPicPr>
          <p:cNvPr id="20" name="fitur 4 ikon" descr="preencoded.png">    </p:cNvPr>
          <p:cNvPicPr>
            <a:picLocks noChangeAspect="1"/>
          </p:cNvPicPr>
          <p:nvPr/>
        </p:nvPicPr>
        <p:blipFill>
          <a:blip r:embed="rId4"/>
          <a:stretch>
            <a:fillRect/>
          </a:stretch>
        </p:blipFill>
        <p:spPr>
          <a:xfrm>
            <a:off x="948690" y="4080510"/>
            <a:ext cx="342900" cy="342900"/>
          </a:xfrm>
          <a:prstGeom prst="rect">
            <a:avLst/>
          </a:prstGeom>
        </p:spPr>
      </p:pic>
      <p:sp>
        <p:nvSpPr>
          <p:cNvPr id="21" name="fitur judul 4"/>
          <p:cNvSpPr txBox="1"/>
          <p:nvPr/>
        </p:nvSpPr>
        <p:spPr>
          <a:xfrm>
            <a:off x="1600200" y="3954780"/>
            <a:ext cx="2311298" cy="594360"/>
          </a:xfrm>
          <a:prstGeom prst="rect">
            <a:avLst/>
          </a:prstGeom>
          <a:noFill/>
          <a:ln/>
        </p:spPr>
        <p:txBody>
          <a:bodyPr wrap="square" lIns="0" tIns="0" rIns="0" bIns="0" rtlCol="0" anchor="ctr"/>
          <a:lstStyle/>
          <a:p>
            <a:pPr indent="0" marL="0">
              <a:buNone/>
            </a:pPr>
            <a:r>
              <a:rPr lang="en-US" sz="1700" b="1" dirty="0">
                <a:solidFill>
                  <a:srgbClr val="14365D"/>
                </a:solidFill>
                <a:latin typeface="Calibri" pitchFamily="34" charset="0"/>
                <a:ea typeface="Calibri" pitchFamily="34" charset="-122"/>
                <a:cs typeface="Calibri" pitchFamily="34" charset="-120"/>
              </a:rPr>
              <a:t>Ada kendala?</a:t>
            </a:r>
            <a:endParaRPr lang="en-US" sz="1700" dirty="0"/>
          </a:p>
        </p:txBody>
      </p:sp>
      <p:sp>
        <p:nvSpPr>
          <p:cNvPr id="22" name="fitur isi 4"/>
          <p:cNvSpPr txBox="1"/>
          <p:nvPr/>
        </p:nvSpPr>
        <p:spPr>
          <a:xfrm>
            <a:off x="777240" y="4732020"/>
            <a:ext cx="3088538" cy="98298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Jalan memutar tersimpan dan laporan jalan terhalang ke server.</a:t>
            </a:r>
            <a:endParaRPr lang="en-US" sz="1400" dirty="0"/>
          </a:p>
        </p:txBody>
      </p:sp>
      <p:sp>
        <p:nvSpPr>
          <p:cNvPr id="23" name="fitur kartu 5"/>
          <p:cNvSpPr/>
          <p:nvPr/>
        </p:nvSpPr>
        <p:spPr>
          <a:xfrm>
            <a:off x="4322978" y="3680460"/>
            <a:ext cx="3545738" cy="2171700"/>
          </a:xfrm>
          <a:prstGeom prst="roundRect">
            <a:avLst>
              <a:gd name="adj" fmla="val 3368"/>
            </a:avLst>
          </a:prstGeom>
          <a:solidFill>
            <a:srgbClr val="EEF2F7"/>
          </a:solidFill>
          <a:ln w="12700">
            <a:solidFill>
              <a:srgbClr val="EEF2F7"/>
            </a:solidFill>
            <a:prstDash val="solid"/>
          </a:ln>
        </p:spPr>
      </p:sp>
      <p:sp>
        <p:nvSpPr>
          <p:cNvPr id="24" name="fitur 5 lingkaran"/>
          <p:cNvSpPr/>
          <p:nvPr/>
        </p:nvSpPr>
        <p:spPr>
          <a:xfrm>
            <a:off x="4551578" y="3909060"/>
            <a:ext cx="685800" cy="685800"/>
          </a:xfrm>
          <a:prstGeom prst="ellipse">
            <a:avLst/>
          </a:prstGeom>
          <a:solidFill>
            <a:srgbClr val="14365D"/>
          </a:solidFill>
          <a:ln w="12700">
            <a:solidFill>
              <a:srgbClr val="14365D"/>
            </a:solidFill>
            <a:prstDash val="solid"/>
          </a:ln>
        </p:spPr>
      </p:sp>
      <p:pic>
        <p:nvPicPr>
          <p:cNvPr id="25" name="fitur 5 ikon" descr="preencoded.png">    </p:cNvPr>
          <p:cNvPicPr>
            <a:picLocks noChangeAspect="1"/>
          </p:cNvPicPr>
          <p:nvPr/>
        </p:nvPicPr>
        <p:blipFill>
          <a:blip r:embed="rId5"/>
          <a:stretch>
            <a:fillRect/>
          </a:stretch>
        </p:blipFill>
        <p:spPr>
          <a:xfrm>
            <a:off x="4723028" y="4080510"/>
            <a:ext cx="342900" cy="342900"/>
          </a:xfrm>
          <a:prstGeom prst="rect">
            <a:avLst/>
          </a:prstGeom>
        </p:spPr>
      </p:pic>
      <p:sp>
        <p:nvSpPr>
          <p:cNvPr id="26" name="fitur judul 5"/>
          <p:cNvSpPr txBox="1"/>
          <p:nvPr/>
        </p:nvSpPr>
        <p:spPr>
          <a:xfrm>
            <a:off x="5374538" y="3954780"/>
            <a:ext cx="2311298" cy="594360"/>
          </a:xfrm>
          <a:prstGeom prst="rect">
            <a:avLst/>
          </a:prstGeom>
          <a:noFill/>
          <a:ln/>
        </p:spPr>
        <p:txBody>
          <a:bodyPr wrap="square" lIns="0" tIns="0" rIns="0" bIns="0" rtlCol="0" anchor="ctr"/>
          <a:lstStyle/>
          <a:p>
            <a:pPr indent="0" marL="0">
              <a:buNone/>
            </a:pPr>
            <a:r>
              <a:rPr lang="en-US" sz="1700" b="1" dirty="0">
                <a:solidFill>
                  <a:srgbClr val="14365D"/>
                </a:solidFill>
                <a:latin typeface="Calibri" pitchFamily="34" charset="0"/>
                <a:ea typeface="Calibri" pitchFamily="34" charset="-122"/>
                <a:cs typeface="Calibri" pitchFamily="34" charset="-120"/>
              </a:rPr>
              <a:t>Mode latihan</a:t>
            </a:r>
            <a:endParaRPr lang="en-US" sz="1700" dirty="0"/>
          </a:p>
        </p:txBody>
      </p:sp>
      <p:sp>
        <p:nvSpPr>
          <p:cNvPr id="27" name="fitur isi 5"/>
          <p:cNvSpPr txBox="1"/>
          <p:nvPr/>
        </p:nvSpPr>
        <p:spPr>
          <a:xfrm>
            <a:off x="4551578" y="4732020"/>
            <a:ext cx="3088538" cy="98298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Mencoba layar evakuasi dari titik di peta tanpa hitung mundur.</a:t>
            </a:r>
            <a:endParaRPr lang="en-US" sz="1400" dirty="0"/>
          </a:p>
        </p:txBody>
      </p:sp>
      <p:sp>
        <p:nvSpPr>
          <p:cNvPr id="28" name="fitur kartu 6"/>
          <p:cNvSpPr/>
          <p:nvPr/>
        </p:nvSpPr>
        <p:spPr>
          <a:xfrm>
            <a:off x="8097317" y="3680460"/>
            <a:ext cx="3545738" cy="2171700"/>
          </a:xfrm>
          <a:prstGeom prst="roundRect">
            <a:avLst>
              <a:gd name="adj" fmla="val 3368"/>
            </a:avLst>
          </a:prstGeom>
          <a:solidFill>
            <a:srgbClr val="EEF2F7"/>
          </a:solidFill>
          <a:ln w="12700">
            <a:solidFill>
              <a:srgbClr val="EEF2F7"/>
            </a:solidFill>
            <a:prstDash val="solid"/>
          </a:ln>
        </p:spPr>
      </p:sp>
      <p:sp>
        <p:nvSpPr>
          <p:cNvPr id="29" name="fitur 6 lingkaran"/>
          <p:cNvSpPr/>
          <p:nvPr/>
        </p:nvSpPr>
        <p:spPr>
          <a:xfrm>
            <a:off x="8325917" y="3909060"/>
            <a:ext cx="685800" cy="685800"/>
          </a:xfrm>
          <a:prstGeom prst="ellipse">
            <a:avLst/>
          </a:prstGeom>
          <a:solidFill>
            <a:srgbClr val="14365D"/>
          </a:solidFill>
          <a:ln w="12700">
            <a:solidFill>
              <a:srgbClr val="14365D"/>
            </a:solidFill>
            <a:prstDash val="solid"/>
          </a:ln>
        </p:spPr>
      </p:sp>
      <p:pic>
        <p:nvPicPr>
          <p:cNvPr id="30" name="fitur 6 ikon" descr="preencoded.png">    </p:cNvPr>
          <p:cNvPicPr>
            <a:picLocks noChangeAspect="1"/>
          </p:cNvPicPr>
          <p:nvPr/>
        </p:nvPicPr>
        <p:blipFill>
          <a:blip r:embed="rId6"/>
          <a:stretch>
            <a:fillRect/>
          </a:stretch>
        </p:blipFill>
        <p:spPr>
          <a:xfrm>
            <a:off x="8497367" y="4080510"/>
            <a:ext cx="342900" cy="342900"/>
          </a:xfrm>
          <a:prstGeom prst="rect">
            <a:avLst/>
          </a:prstGeom>
        </p:spPr>
      </p:pic>
      <p:sp>
        <p:nvSpPr>
          <p:cNvPr id="31" name="fitur judul 6"/>
          <p:cNvSpPr txBox="1"/>
          <p:nvPr/>
        </p:nvSpPr>
        <p:spPr>
          <a:xfrm>
            <a:off x="9148877" y="3954780"/>
            <a:ext cx="2311298" cy="594360"/>
          </a:xfrm>
          <a:prstGeom prst="rect">
            <a:avLst/>
          </a:prstGeom>
          <a:noFill/>
          <a:ln/>
        </p:spPr>
        <p:txBody>
          <a:bodyPr wrap="square" lIns="0" tIns="0" rIns="0" bIns="0" rtlCol="0" anchor="ctr"/>
          <a:lstStyle/>
          <a:p>
            <a:pPr indent="0" marL="0">
              <a:buNone/>
            </a:pPr>
            <a:r>
              <a:rPr lang="en-US" sz="1700" b="1" dirty="0">
                <a:solidFill>
                  <a:srgbClr val="14365D"/>
                </a:solidFill>
                <a:latin typeface="Calibri" pitchFamily="34" charset="0"/>
                <a:ea typeface="Calibri" pitchFamily="34" charset="-122"/>
                <a:cs typeface="Calibri" pitchFamily="34" charset="-120"/>
              </a:rPr>
              <a:t>Nomor darurat dan pencarian</a:t>
            </a:r>
            <a:endParaRPr lang="en-US" sz="1700" dirty="0"/>
          </a:p>
        </p:txBody>
      </p:sp>
      <p:sp>
        <p:nvSpPr>
          <p:cNvPr id="32" name="fitur isi 6"/>
          <p:cNvSpPr txBox="1"/>
          <p:nvPr/>
        </p:nvSpPr>
        <p:spPr>
          <a:xfrm>
            <a:off x="8325917" y="4732020"/>
            <a:ext cx="3088538" cy="98298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112, 119, 115 di Beranda; cari TES, TEA, kelurahan secara luring.</a:t>
            </a:r>
            <a:endParaRPr lang="en-US" sz="1400" dirty="0"/>
          </a:p>
        </p:txBody>
      </p:sp>
      <p:sp>
        <p:nvSpPr>
          <p:cNvPr id="33"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L 6.3, Tabel 6.3, Gambar 7.4.</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Server dan dashboard RKSP untuk BPBD</a:t>
            </a:r>
            <a:endParaRPr lang="en-US" sz="3000" dirty="0"/>
          </a:p>
        </p:txBody>
      </p:sp>
      <p:pic>
        <p:nvPicPr>
          <p:cNvPr id="3" name="rksp Dashboard" descr="C:\Users\Lenovo\AppData\Local\Temp\claude\c--gemastik\520da942-8140-47c0-a16f-9bde4b92cbe5\scratchpad\deck\aset\rksp_dashboard.png">    </p:cNvPr>
          <p:cNvPicPr>
            <a:picLocks noChangeAspect="1"/>
          </p:cNvPicPr>
          <p:nvPr/>
        </p:nvPicPr>
        <p:blipFill>
          <a:blip r:embed="rId1"/>
          <a:stretch>
            <a:fillRect/>
          </a:stretch>
        </p:blipFill>
        <p:spPr>
          <a:xfrm>
            <a:off x="4343400" y="1281989"/>
            <a:ext cx="3611880" cy="1733702"/>
          </a:xfrm>
          <a:prstGeom prst="rect">
            <a:avLst/>
          </a:prstGeom>
        </p:spPr>
      </p:pic>
      <p:sp>
        <p:nvSpPr>
          <p:cNvPr id="4" name="label rksp 1"/>
          <p:cNvSpPr txBox="1"/>
          <p:nvPr/>
        </p:nvSpPr>
        <p:spPr>
          <a:xfrm>
            <a:off x="4343400" y="3108960"/>
            <a:ext cx="3611880" cy="320040"/>
          </a:xfrm>
          <a:prstGeom prst="rect">
            <a:avLst/>
          </a:prstGeom>
          <a:noFill/>
          <a:ln/>
        </p:spPr>
        <p:txBody>
          <a:bodyPr wrap="square" lIns="0" tIns="0" rIns="0" bIns="0" rtlCol="0" anchor="t"/>
          <a:lstStyle/>
          <a:p>
            <a:pPr algn="ctr" indent="0" marL="0">
              <a:buNone/>
            </a:pPr>
            <a:r>
              <a:rPr lang="en-US" sz="1200" dirty="0">
                <a:solidFill>
                  <a:srgbClr val="5D6670"/>
                </a:solidFill>
                <a:latin typeface="Calibri" pitchFamily="34" charset="0"/>
                <a:ea typeface="Calibri" pitchFamily="34" charset="-122"/>
                <a:cs typeface="Calibri" pitchFamily="34" charset="-120"/>
              </a:rPr>
              <a:t>Dashboard</a:t>
            </a:r>
            <a:endParaRPr lang="en-US" sz="1200" dirty="0"/>
          </a:p>
        </p:txBody>
      </p:sp>
      <p:pic>
        <p:nvPicPr>
          <p:cNvPr id="5" name="rksp Kirim peringatan latihan" descr="C:\Users\Lenovo\AppData\Local\Temp\claude\c--gemastik\520da942-8140-47c0-a16f-9bde4b92cbe5\scratchpad\deck\aset\rksp_latihan.png">    </p:cNvPr>
          <p:cNvPicPr>
            <a:picLocks noChangeAspect="1"/>
          </p:cNvPicPr>
          <p:nvPr/>
        </p:nvPicPr>
        <p:blipFill>
          <a:blip r:embed="rId2"/>
          <a:stretch>
            <a:fillRect/>
          </a:stretch>
        </p:blipFill>
        <p:spPr>
          <a:xfrm>
            <a:off x="8046720" y="1277976"/>
            <a:ext cx="3611880" cy="1741729"/>
          </a:xfrm>
          <a:prstGeom prst="rect">
            <a:avLst/>
          </a:prstGeom>
        </p:spPr>
      </p:pic>
      <p:sp>
        <p:nvSpPr>
          <p:cNvPr id="6" name="label rksp 2"/>
          <p:cNvSpPr txBox="1"/>
          <p:nvPr/>
        </p:nvSpPr>
        <p:spPr>
          <a:xfrm>
            <a:off x="8046720" y="3108960"/>
            <a:ext cx="3611880" cy="320040"/>
          </a:xfrm>
          <a:prstGeom prst="rect">
            <a:avLst/>
          </a:prstGeom>
          <a:noFill/>
          <a:ln/>
        </p:spPr>
        <p:txBody>
          <a:bodyPr wrap="square" lIns="0" tIns="0" rIns="0" bIns="0" rtlCol="0" anchor="t"/>
          <a:lstStyle/>
          <a:p>
            <a:pPr algn="ctr" indent="0" marL="0">
              <a:buNone/>
            </a:pPr>
            <a:r>
              <a:rPr lang="en-US" sz="1200" dirty="0">
                <a:solidFill>
                  <a:srgbClr val="5D6670"/>
                </a:solidFill>
                <a:latin typeface="Calibri" pitchFamily="34" charset="0"/>
                <a:ea typeface="Calibri" pitchFamily="34" charset="-122"/>
                <a:cs typeface="Calibri" pitchFamily="34" charset="-120"/>
              </a:rPr>
              <a:t>Kirim peringatan latihan</a:t>
            </a:r>
            <a:endParaRPr lang="en-US" sz="1200" dirty="0"/>
          </a:p>
        </p:txBody>
      </p:sp>
      <p:pic>
        <p:nvPicPr>
          <p:cNvPr id="7" name="rksp Rekap lapor selamat" descr="C:\Users\Lenovo\AppData\Local\Temp\claude\c--gemastik\520da942-8140-47c0-a16f-9bde4b92cbe5\scratchpad\deck\aset\rksp_rekap.png">    </p:cNvPr>
          <p:cNvPicPr>
            <a:picLocks noChangeAspect="1"/>
          </p:cNvPicPr>
          <p:nvPr/>
        </p:nvPicPr>
        <p:blipFill>
          <a:blip r:embed="rId3"/>
          <a:stretch>
            <a:fillRect/>
          </a:stretch>
        </p:blipFill>
        <p:spPr>
          <a:xfrm>
            <a:off x="4343400" y="3613709"/>
            <a:ext cx="3611880" cy="1733702"/>
          </a:xfrm>
          <a:prstGeom prst="rect">
            <a:avLst/>
          </a:prstGeom>
        </p:spPr>
      </p:pic>
      <p:sp>
        <p:nvSpPr>
          <p:cNvPr id="8" name="label rksp 3"/>
          <p:cNvSpPr txBox="1"/>
          <p:nvPr/>
        </p:nvSpPr>
        <p:spPr>
          <a:xfrm>
            <a:off x="4343400" y="5440680"/>
            <a:ext cx="3611880" cy="320040"/>
          </a:xfrm>
          <a:prstGeom prst="rect">
            <a:avLst/>
          </a:prstGeom>
          <a:noFill/>
          <a:ln/>
        </p:spPr>
        <p:txBody>
          <a:bodyPr wrap="square" lIns="0" tIns="0" rIns="0" bIns="0" rtlCol="0" anchor="t"/>
          <a:lstStyle/>
          <a:p>
            <a:pPr algn="ctr" indent="0" marL="0">
              <a:buNone/>
            </a:pPr>
            <a:r>
              <a:rPr lang="en-US" sz="1200" dirty="0">
                <a:solidFill>
                  <a:srgbClr val="5D6670"/>
                </a:solidFill>
                <a:latin typeface="Calibri" pitchFamily="34" charset="0"/>
                <a:ea typeface="Calibri" pitchFamily="34" charset="-122"/>
                <a:cs typeface="Calibri" pitchFamily="34" charset="-120"/>
              </a:rPr>
              <a:t>Rekap lapor selamat</a:t>
            </a:r>
            <a:endParaRPr lang="en-US" sz="1200" dirty="0"/>
          </a:p>
        </p:txBody>
      </p:sp>
      <p:pic>
        <p:nvPicPr>
          <p:cNvPr id="9" name="rksp Laporan kendala" descr="C:\Users\Lenovo\AppData\Local\Temp\claude\c--gemastik\520da942-8140-47c0-a16f-9bde4b92cbe5\scratchpad\deck\aset\rksp_kendala.png">    </p:cNvPr>
          <p:cNvPicPr>
            <a:picLocks noChangeAspect="1"/>
          </p:cNvPicPr>
          <p:nvPr/>
        </p:nvPicPr>
        <p:blipFill>
          <a:blip r:embed="rId4"/>
          <a:stretch>
            <a:fillRect/>
          </a:stretch>
        </p:blipFill>
        <p:spPr>
          <a:xfrm>
            <a:off x="8046720" y="3620732"/>
            <a:ext cx="3611880" cy="1719656"/>
          </a:xfrm>
          <a:prstGeom prst="rect">
            <a:avLst/>
          </a:prstGeom>
        </p:spPr>
      </p:pic>
      <p:sp>
        <p:nvSpPr>
          <p:cNvPr id="10" name="label rksp 4"/>
          <p:cNvSpPr txBox="1"/>
          <p:nvPr/>
        </p:nvSpPr>
        <p:spPr>
          <a:xfrm>
            <a:off x="8046720" y="5440680"/>
            <a:ext cx="3611880" cy="320040"/>
          </a:xfrm>
          <a:prstGeom prst="rect">
            <a:avLst/>
          </a:prstGeom>
          <a:noFill/>
          <a:ln/>
        </p:spPr>
        <p:txBody>
          <a:bodyPr wrap="square" lIns="0" tIns="0" rIns="0" bIns="0" rtlCol="0" anchor="t"/>
          <a:lstStyle/>
          <a:p>
            <a:pPr algn="ctr" indent="0" marL="0">
              <a:buNone/>
            </a:pPr>
            <a:r>
              <a:rPr lang="en-US" sz="1200" dirty="0">
                <a:solidFill>
                  <a:srgbClr val="5D6670"/>
                </a:solidFill>
                <a:latin typeface="Calibri" pitchFamily="34" charset="0"/>
                <a:ea typeface="Calibri" pitchFamily="34" charset="-122"/>
                <a:cs typeface="Calibri" pitchFamily="34" charset="-120"/>
              </a:rPr>
              <a:t>Laporan kendala</a:t>
            </a:r>
            <a:endParaRPr lang="en-US" sz="1200" dirty="0"/>
          </a:p>
        </p:txBody>
      </p:sp>
      <p:sp>
        <p:nvSpPr>
          <p:cNvPr id="11" name="isi server"/>
          <p:cNvSpPr txBox="1"/>
          <p:nvPr/>
        </p:nvSpPr>
        <p:spPr>
          <a:xfrm>
            <a:off x="548640" y="1280160"/>
            <a:ext cx="3566160" cy="45720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B2433"/>
                </a:solidFill>
                <a:latin typeface="Calibri" pitchFamily="34" charset="0"/>
                <a:ea typeface="Calibri" pitchFamily="34" charset="-122"/>
                <a:cs typeface="Calibri" pitchFamily="34" charset="-120"/>
              </a:rPr>
              <a:t>Layanan: versi data, daftar tempat, informasi BMKG, lapor selamat, laporan jalan</a:t>
            </a:r>
            <a:endParaRPr lang="en-US" sz="1500" dirty="0"/>
          </a:p>
          <a:p>
            <a:pPr marL="342900" indent="-342900">
              <a:spcAft>
                <a:spcPts val="600"/>
              </a:spcAft>
              <a:buSzPct val="100000"/>
              <a:buChar char="•"/>
            </a:pPr>
            <a:r>
              <a:rPr lang="en-US" sz="1500" dirty="0">
                <a:solidFill>
                  <a:srgbClr val="1B2433"/>
                </a:solidFill>
                <a:latin typeface="Calibri" pitchFamily="34" charset="0"/>
                <a:ea typeface="Calibri" pitchFamily="34" charset="-122"/>
                <a:cs typeface="Calibri" pitchFamily="34" charset="-120"/>
              </a:rPr>
              <a:t>Laporan jalan terkonfirmasi bila 3 ponsel melaporkan ruas yang sama dalam 15 menit, ≤ 50 m</a:t>
            </a:r>
            <a:endParaRPr lang="en-US" sz="1500" dirty="0"/>
          </a:p>
          <a:p>
            <a:pPr marL="342900" indent="-342900">
              <a:spcAft>
                <a:spcPts val="600"/>
              </a:spcAft>
              <a:buSzPct val="100000"/>
              <a:buChar char="•"/>
            </a:pPr>
            <a:r>
              <a:rPr lang="en-US" sz="1500" dirty="0">
                <a:solidFill>
                  <a:srgbClr val="1B2433"/>
                </a:solidFill>
                <a:latin typeface="Calibri" pitchFamily="34" charset="0"/>
                <a:ea typeface="Calibri" pitchFamily="34" charset="-122"/>
                <a:cs typeface="Calibri" pitchFamily="34" charset="-120"/>
              </a:rPr>
              <a:t>Peringatan latihan berlabel LATIHAN; info gempa terasa dari BMKG</a:t>
            </a:r>
            <a:endParaRPr lang="en-US" sz="1500" dirty="0"/>
          </a:p>
          <a:p>
            <a:pPr marL="342900" indent="-342900">
              <a:spcAft>
                <a:spcPts val="600"/>
              </a:spcAft>
              <a:buSzPct val="100000"/>
              <a:buChar char="•"/>
            </a:pPr>
            <a:r>
              <a:rPr lang="en-US" sz="1500" dirty="0">
                <a:solidFill>
                  <a:srgbClr val="1B2433"/>
                </a:solidFill>
                <a:latin typeface="Calibri" pitchFamily="34" charset="0"/>
                <a:ea typeface="Calibri" pitchFamily="34" charset="-122"/>
                <a:cs typeface="Calibri" pitchFamily="34" charset="-120"/>
              </a:rPr>
              <a:t>Dashboard masih prototipe yang dioperasikan tim</a:t>
            </a:r>
            <a:endParaRPr lang="en-US" sz="1500" dirty="0"/>
          </a:p>
        </p:txBody>
      </p:sp>
      <p:sp>
        <p:nvSpPr>
          <p:cNvPr id="12"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L 6.4, 7.7, Gambar 6.1 dan 7.5.</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Data wilayah diperbarui tanpa memasang ulang aplikasi</a:t>
            </a:r>
            <a:endParaRPr lang="en-US" sz="3000" dirty="0"/>
          </a:p>
        </p:txBody>
      </p:sp>
      <p:sp>
        <p:nvSpPr>
          <p:cNvPr id="3" name="tahap 1 bulatan"/>
          <p:cNvSpPr/>
          <p:nvPr/>
        </p:nvSpPr>
        <p:spPr>
          <a:xfrm>
            <a:off x="548640" y="1280160"/>
            <a:ext cx="548640" cy="548640"/>
          </a:xfrm>
          <a:prstGeom prst="ellipse">
            <a:avLst/>
          </a:prstGeom>
          <a:solidFill>
            <a:srgbClr val="14365D"/>
          </a:solidFill>
          <a:ln w="12700">
            <a:solidFill>
              <a:srgbClr val="14365D"/>
            </a:solidFill>
            <a:prstDash val="solid"/>
          </a:ln>
        </p:spPr>
      </p:sp>
      <p:sp>
        <p:nvSpPr>
          <p:cNvPr id="4" name="tahap 1 nomor"/>
          <p:cNvSpPr txBox="1"/>
          <p:nvPr/>
        </p:nvSpPr>
        <p:spPr>
          <a:xfrm>
            <a:off x="548640" y="12801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5" name="judul tahap 1"/>
          <p:cNvSpPr txBox="1"/>
          <p:nvPr/>
        </p:nvSpPr>
        <p:spPr>
          <a:xfrm>
            <a:off x="1280160" y="1280160"/>
            <a:ext cx="4480560" cy="365760"/>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BPBD</a:t>
            </a:r>
            <a:endParaRPr lang="en-US" sz="1700" dirty="0"/>
          </a:p>
        </p:txBody>
      </p:sp>
      <p:sp>
        <p:nvSpPr>
          <p:cNvPr id="6" name="isi tahap 1"/>
          <p:cNvSpPr txBox="1"/>
          <p:nvPr/>
        </p:nvSpPr>
        <p:spPr>
          <a:xfrm>
            <a:off x="1280160" y="1664208"/>
            <a:ext cx="4480560" cy="6858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Menyerahkan perubahan peta bahaya, TES, TEA, atau daya tampung</a:t>
            </a:r>
            <a:endParaRPr lang="en-US" sz="1400" dirty="0"/>
          </a:p>
        </p:txBody>
      </p:sp>
      <p:sp>
        <p:nvSpPr>
          <p:cNvPr id="7" name="tahap 2 bulatan"/>
          <p:cNvSpPr/>
          <p:nvPr/>
        </p:nvSpPr>
        <p:spPr>
          <a:xfrm>
            <a:off x="548640" y="2395728"/>
            <a:ext cx="548640" cy="548640"/>
          </a:xfrm>
          <a:prstGeom prst="ellipse">
            <a:avLst/>
          </a:prstGeom>
          <a:solidFill>
            <a:srgbClr val="14365D"/>
          </a:solidFill>
          <a:ln w="12700">
            <a:solidFill>
              <a:srgbClr val="14365D"/>
            </a:solidFill>
            <a:prstDash val="solid"/>
          </a:ln>
        </p:spPr>
      </p:sp>
      <p:sp>
        <p:nvSpPr>
          <p:cNvPr id="8" name="tahap 2 nomor"/>
          <p:cNvSpPr txBox="1"/>
          <p:nvPr/>
        </p:nvSpPr>
        <p:spPr>
          <a:xfrm>
            <a:off x="548640" y="239572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9" name="judul tahap 2"/>
          <p:cNvSpPr txBox="1"/>
          <p:nvPr/>
        </p:nvSpPr>
        <p:spPr>
          <a:xfrm>
            <a:off x="1280160" y="2395728"/>
            <a:ext cx="4480560" cy="365760"/>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Tim</a:t>
            </a:r>
            <a:endParaRPr lang="en-US" sz="1700" dirty="0"/>
          </a:p>
        </p:txBody>
      </p:sp>
      <p:sp>
        <p:nvSpPr>
          <p:cNvPr id="10" name="isi tahap 2"/>
          <p:cNvSpPr txBox="1"/>
          <p:nvPr/>
        </p:nvSpPr>
        <p:spPr>
          <a:xfrm>
            <a:off x="1280160" y="2779776"/>
            <a:ext cx="4480560" cy="6858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Membangun ulang basis data dengan skrip yang sama dan merangkum perubahannya</a:t>
            </a:r>
            <a:endParaRPr lang="en-US" sz="1400" dirty="0"/>
          </a:p>
        </p:txBody>
      </p:sp>
      <p:sp>
        <p:nvSpPr>
          <p:cNvPr id="11" name="tahap 3 bulatan"/>
          <p:cNvSpPr/>
          <p:nvPr/>
        </p:nvSpPr>
        <p:spPr>
          <a:xfrm>
            <a:off x="548640" y="3511296"/>
            <a:ext cx="548640" cy="548640"/>
          </a:xfrm>
          <a:prstGeom prst="ellipse">
            <a:avLst/>
          </a:prstGeom>
          <a:solidFill>
            <a:srgbClr val="14365D"/>
          </a:solidFill>
          <a:ln w="12700">
            <a:solidFill>
              <a:srgbClr val="14365D"/>
            </a:solidFill>
            <a:prstDash val="solid"/>
          </a:ln>
        </p:spPr>
      </p:sp>
      <p:sp>
        <p:nvSpPr>
          <p:cNvPr id="12" name="tahap 3 nomor"/>
          <p:cNvSpPr txBox="1"/>
          <p:nvPr/>
        </p:nvSpPr>
        <p:spPr>
          <a:xfrm>
            <a:off x="548640" y="3511296"/>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3" name="judul tahap 3"/>
          <p:cNvSpPr txBox="1"/>
          <p:nvPr/>
        </p:nvSpPr>
        <p:spPr>
          <a:xfrm>
            <a:off x="1280160" y="3511296"/>
            <a:ext cx="4480560" cy="365760"/>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BPBD</a:t>
            </a:r>
            <a:endParaRPr lang="en-US" sz="1700" dirty="0"/>
          </a:p>
        </p:txBody>
      </p:sp>
      <p:sp>
        <p:nvSpPr>
          <p:cNvPr id="14" name="isi tahap 3"/>
          <p:cNvSpPr txBox="1"/>
          <p:nvPr/>
        </p:nvSpPr>
        <p:spPr>
          <a:xfrm>
            <a:off x="1280160" y="3895344"/>
            <a:ext cx="4480560" cy="6858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Menyetujui ringkasan; operator mengunggah lewat "Pembaruan DB"</a:t>
            </a:r>
            <a:endParaRPr lang="en-US" sz="1400" dirty="0"/>
          </a:p>
        </p:txBody>
      </p:sp>
      <p:sp>
        <p:nvSpPr>
          <p:cNvPr id="15" name="tahap 4 bulatan"/>
          <p:cNvSpPr/>
          <p:nvPr/>
        </p:nvSpPr>
        <p:spPr>
          <a:xfrm>
            <a:off x="548640" y="4626864"/>
            <a:ext cx="548640" cy="548640"/>
          </a:xfrm>
          <a:prstGeom prst="ellipse">
            <a:avLst/>
          </a:prstGeom>
          <a:solidFill>
            <a:srgbClr val="2F7F9C"/>
          </a:solidFill>
          <a:ln w="12700">
            <a:solidFill>
              <a:srgbClr val="2F7F9C"/>
            </a:solidFill>
            <a:prstDash val="solid"/>
          </a:ln>
        </p:spPr>
      </p:sp>
      <p:sp>
        <p:nvSpPr>
          <p:cNvPr id="16" name="tahap 4 nomor"/>
          <p:cNvSpPr txBox="1"/>
          <p:nvPr/>
        </p:nvSpPr>
        <p:spPr>
          <a:xfrm>
            <a:off x="548640" y="4626864"/>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judul tahap 4"/>
          <p:cNvSpPr txBox="1"/>
          <p:nvPr/>
        </p:nvSpPr>
        <p:spPr>
          <a:xfrm>
            <a:off x="1280160" y="4626864"/>
            <a:ext cx="4480560" cy="365760"/>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Ponsel</a:t>
            </a:r>
            <a:endParaRPr lang="en-US" sz="1700" dirty="0"/>
          </a:p>
        </p:txBody>
      </p:sp>
      <p:sp>
        <p:nvSpPr>
          <p:cNvPr id="18" name="isi tahap 4"/>
          <p:cNvSpPr txBox="1"/>
          <p:nvPr/>
        </p:nvSpPr>
        <p:spPr>
          <a:xfrm>
            <a:off x="1280160" y="5010912"/>
            <a:ext cx="4480560" cy="6858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Cek versi sekali sehari; pakai paket hanya bila SHA-256 dan susunan data sesuai</a:t>
            </a:r>
            <a:endParaRPr lang="en-US" sz="1400" dirty="0"/>
          </a:p>
        </p:txBody>
      </p:sp>
      <p:pic>
        <p:nvPicPr>
          <p:cNvPr id="19" name="rksp pembaruan" descr="C:\Users\Lenovo\AppData\Local\Temp\claude\c--gemastik\520da942-8140-47c0-a16f-9bde4b92cbe5\scratchpad\deck\aset\rksp_pembaruan.png">    </p:cNvPr>
          <p:cNvPicPr>
            <a:picLocks noChangeAspect="1"/>
          </p:cNvPicPr>
          <p:nvPr/>
        </p:nvPicPr>
        <p:blipFill>
          <a:blip r:embed="rId1"/>
          <a:stretch>
            <a:fillRect/>
          </a:stretch>
        </p:blipFill>
        <p:spPr>
          <a:xfrm>
            <a:off x="5943600" y="1388648"/>
            <a:ext cx="5696712" cy="2709103"/>
          </a:xfrm>
          <a:prstGeom prst="rect">
            <a:avLst/>
          </a:prstGeom>
        </p:spPr>
      </p:pic>
      <p:sp>
        <p:nvSpPr>
          <p:cNvPr id="20" name="kartu hasil pembaruan"/>
          <p:cNvSpPr/>
          <p:nvPr/>
        </p:nvSpPr>
        <p:spPr>
          <a:xfrm>
            <a:off x="5943600" y="4480560"/>
            <a:ext cx="5696712" cy="1325880"/>
          </a:xfrm>
          <a:prstGeom prst="roundRect">
            <a:avLst>
              <a:gd name="adj" fmla="val 5517"/>
            </a:avLst>
          </a:prstGeom>
          <a:solidFill>
            <a:srgbClr val="EEF2F7"/>
          </a:solidFill>
          <a:ln w="12700">
            <a:solidFill>
              <a:srgbClr val="EEF2F7"/>
            </a:solidFill>
            <a:prstDash val="solid"/>
          </a:ln>
        </p:spPr>
      </p:sp>
      <p:sp>
        <p:nvSpPr>
          <p:cNvPr id="21" name="isi hasil pembaruan"/>
          <p:cNvSpPr txBox="1"/>
          <p:nvPr/>
        </p:nvSpPr>
        <p:spPr>
          <a:xfrm>
            <a:off x="6172200" y="4572000"/>
            <a:ext cx="5257800" cy="1143000"/>
          </a:xfrm>
          <a:prstGeom prst="rect">
            <a:avLst/>
          </a:prstGeom>
          <a:noFill/>
          <a:ln/>
        </p:spPr>
        <p:txBody>
          <a:bodyPr wrap="square" lIns="0" tIns="0" rIns="0" bIns="0" rtlCol="0" anchor="ctr"/>
          <a:lstStyle/>
          <a:p>
            <a:pPr indent="0" marL="0">
              <a:buNone/>
            </a:pPr>
            <a:r>
              <a:rPr lang="en-US" sz="1400" dirty="0">
                <a:solidFill>
                  <a:srgbClr val="1B2433"/>
                </a:solidFill>
                <a:latin typeface="Calibri" pitchFamily="34" charset="0"/>
                <a:ea typeface="Calibri" pitchFamily="34" charset="-122"/>
                <a:cs typeface="Calibri" pitchFamily="34" charset="-120"/>
              </a:rPr>
              <a:t>Bila pemeriksaan gagal, ponsel tetap memakai data lama. Paket 2026.10.16 berhasil diunduh dan diaktifkan; versi final aplikasi membawa paket 2026.10.18.</a:t>
            </a:r>
            <a:endParaRPr lang="en-US" sz="1400" dirty="0"/>
          </a:p>
        </p:txBody>
      </p:sp>
      <p:sp>
        <p:nvSpPr>
          <p:cNvPr id="22"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L 2.4, Tabel 2.2, Tabel 6.4.</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Arahan siap di bawah 1 detik pada semua ponsel uji</a:t>
            </a:r>
            <a:endParaRPr lang="en-US" sz="3000" dirty="0"/>
          </a:p>
        </p:txBody>
      </p:sp>
      <p:graphicFrame>
        <p:nvGraphicFramePr>
          <p:cNvPr id="3" name="grafik waktu ponsel" descr=""/>
          <p:cNvGraphicFramePr/>
          <p:nvPr/>
        </p:nvGraphicFramePr>
        <p:xfrm>
          <a:off x="548640" y="1234440"/>
          <a:ext cx="6766560" cy="4526280"/>
        </p:xfrm>
        <a:graphic xmlns:a="http://schemas.openxmlformats.org/drawingml/2006/main">
          <a:graphicData uri="http://schemas.openxmlformats.org/drawingml/2006/chart">
            <c:chart xmlns:c="http://schemas.openxmlformats.org/drawingml/2006/chart" r:id="rId1"/>
          </a:graphicData>
        </a:graphic>
      </p:graphicFrame>
      <p:sp>
        <p:nvSpPr>
          <p:cNvPr id="4" name="uji teknis 1 angka"/>
          <p:cNvSpPr txBox="1"/>
          <p:nvPr/>
        </p:nvSpPr>
        <p:spPr>
          <a:xfrm>
            <a:off x="7680960" y="1280160"/>
            <a:ext cx="3977640" cy="444500"/>
          </a:xfrm>
          <a:prstGeom prst="rect">
            <a:avLst/>
          </a:prstGeom>
          <a:noFill/>
          <a:ln/>
        </p:spPr>
        <p:txBody>
          <a:bodyPr wrap="square" lIns="0" tIns="0" rIns="0" bIns="0" rtlCol="0" anchor="b"/>
          <a:lstStyle/>
          <a:p>
            <a:pPr indent="0" marL="0">
              <a:buNone/>
            </a:pPr>
            <a:r>
              <a:rPr lang="en-US" sz="2800" b="1" dirty="0">
                <a:solidFill>
                  <a:srgbClr val="14365D"/>
                </a:solidFill>
                <a:latin typeface="Arial" pitchFamily="34" charset="0"/>
                <a:ea typeface="Arial" pitchFamily="34" charset="-122"/>
                <a:cs typeface="Arial" pitchFamily="34" charset="-120"/>
              </a:rPr>
              <a:t>481–960 ms</a:t>
            </a:r>
            <a:endParaRPr lang="en-US" sz="2800" dirty="0"/>
          </a:p>
        </p:txBody>
      </p:sp>
      <p:sp>
        <p:nvSpPr>
          <p:cNvPr id="5" name="uji teknis 1 label"/>
          <p:cNvSpPr txBox="1"/>
          <p:nvPr/>
        </p:nvSpPr>
        <p:spPr>
          <a:xfrm>
            <a:off x="7680960" y="1797812"/>
            <a:ext cx="397764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arahan tampil dalam mode pesawat sejak layar dibuka (satu ponsel)</a:t>
            </a:r>
            <a:endParaRPr lang="en-US" sz="1400" dirty="0"/>
          </a:p>
        </p:txBody>
      </p:sp>
      <p:sp>
        <p:nvSpPr>
          <p:cNvPr id="6" name="uji teknis 2 angka"/>
          <p:cNvSpPr txBox="1"/>
          <p:nvPr/>
        </p:nvSpPr>
        <p:spPr>
          <a:xfrm>
            <a:off x="7680960" y="2423160"/>
            <a:ext cx="3977640" cy="444500"/>
          </a:xfrm>
          <a:prstGeom prst="rect">
            <a:avLst/>
          </a:prstGeom>
          <a:noFill/>
          <a:ln/>
        </p:spPr>
        <p:txBody>
          <a:bodyPr wrap="square" lIns="0" tIns="0" rIns="0" bIns="0" rtlCol="0" anchor="b"/>
          <a:lstStyle/>
          <a:p>
            <a:pPr indent="0" marL="0">
              <a:buNone/>
            </a:pPr>
            <a:r>
              <a:rPr lang="en-US" sz="2800" b="1" dirty="0">
                <a:solidFill>
                  <a:srgbClr val="14365D"/>
                </a:solidFill>
                <a:latin typeface="Arial" pitchFamily="34" charset="0"/>
                <a:ea typeface="Arial" pitchFamily="34" charset="-122"/>
                <a:cs typeface="Arial" pitchFamily="34" charset="-120"/>
              </a:rPr>
              <a:t>80–801 ms</a:t>
            </a:r>
            <a:endParaRPr lang="en-US" sz="2800" dirty="0"/>
          </a:p>
        </p:txBody>
      </p:sp>
      <p:sp>
        <p:nvSpPr>
          <p:cNvPr id="7" name="uji teknis 2 label"/>
          <p:cNvSpPr txBox="1"/>
          <p:nvPr/>
        </p:nvSpPr>
        <p:spPr>
          <a:xfrm>
            <a:off x="7680960" y="2940812"/>
            <a:ext cx="397764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empat ponsel, 15 koordinat, data 2026.10.18</a:t>
            </a:r>
            <a:endParaRPr lang="en-US" sz="1400" dirty="0"/>
          </a:p>
        </p:txBody>
      </p:sp>
      <p:sp>
        <p:nvSpPr>
          <p:cNvPr id="8" name="uji teknis 3 angka"/>
          <p:cNvSpPr txBox="1"/>
          <p:nvPr/>
        </p:nvSpPr>
        <p:spPr>
          <a:xfrm>
            <a:off x="7680960" y="3566160"/>
            <a:ext cx="3977640" cy="444500"/>
          </a:xfrm>
          <a:prstGeom prst="rect">
            <a:avLst/>
          </a:prstGeom>
          <a:noFill/>
          <a:ln/>
        </p:spPr>
        <p:txBody>
          <a:bodyPr wrap="square" lIns="0" tIns="0" rIns="0" bIns="0" rtlCol="0" anchor="b"/>
          <a:lstStyle/>
          <a:p>
            <a:pPr indent="0" marL="0">
              <a:buNone/>
            </a:pPr>
            <a:r>
              <a:rPr lang="en-US" sz="2800" b="1" dirty="0">
                <a:solidFill>
                  <a:srgbClr val="2E8B57"/>
                </a:solidFill>
                <a:latin typeface="Arial" pitchFamily="34" charset="0"/>
                <a:ea typeface="Arial" pitchFamily="34" charset="-122"/>
                <a:cs typeface="Arial" pitchFamily="34" charset="-120"/>
              </a:rPr>
              <a:t>531 / 531</a:t>
            </a:r>
            <a:endParaRPr lang="en-US" sz="2800" dirty="0"/>
          </a:p>
        </p:txBody>
      </p:sp>
      <p:sp>
        <p:nvSpPr>
          <p:cNvPr id="9" name="uji teknis 3 label"/>
          <p:cNvSpPr txBox="1"/>
          <p:nvPr/>
        </p:nvSpPr>
        <p:spPr>
          <a:xfrm>
            <a:off x="7680960" y="4083812"/>
            <a:ext cx="397764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kasus uji unit lulus</a:t>
            </a:r>
            <a:endParaRPr lang="en-US" sz="1400" dirty="0"/>
          </a:p>
        </p:txBody>
      </p:sp>
      <p:sp>
        <p:nvSpPr>
          <p:cNvPr id="10" name="uji teknis 4 angka"/>
          <p:cNvSpPr txBox="1"/>
          <p:nvPr/>
        </p:nvSpPr>
        <p:spPr>
          <a:xfrm>
            <a:off x="7680960" y="4709160"/>
            <a:ext cx="3977640" cy="444500"/>
          </a:xfrm>
          <a:prstGeom prst="rect">
            <a:avLst/>
          </a:prstGeom>
          <a:noFill/>
          <a:ln/>
        </p:spPr>
        <p:txBody>
          <a:bodyPr wrap="square" lIns="0" tIns="0" rIns="0" bIns="0" rtlCol="0" anchor="b"/>
          <a:lstStyle/>
          <a:p>
            <a:pPr indent="0" marL="0">
              <a:buNone/>
            </a:pPr>
            <a:r>
              <a:rPr lang="en-US" sz="2800" b="1" dirty="0">
                <a:solidFill>
                  <a:srgbClr val="14365D"/>
                </a:solidFill>
                <a:latin typeface="Arial" pitchFamily="34" charset="0"/>
                <a:ea typeface="Arial" pitchFamily="34" charset="-122"/>
                <a:cs typeface="Arial" pitchFamily="34" charset="-120"/>
              </a:rPr>
              <a:t>36,97 MB</a:t>
            </a:r>
            <a:endParaRPr lang="en-US" sz="2800" dirty="0"/>
          </a:p>
        </p:txBody>
      </p:sp>
      <p:sp>
        <p:nvSpPr>
          <p:cNvPr id="11" name="uji teknis 4 label"/>
          <p:cNvSpPr txBox="1"/>
          <p:nvPr/>
        </p:nvSpPr>
        <p:spPr>
          <a:xfrm>
            <a:off x="7680960" y="5226812"/>
            <a:ext cx="397764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basis data; APK arm64 34,6 MB</a:t>
            </a:r>
            <a:endParaRPr lang="en-US" sz="1400" dirty="0"/>
          </a:p>
        </p:txBody>
      </p:sp>
      <p:sp>
        <p:nvSpPr>
          <p:cNvPr id="12"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Tujuh ponsel Android 14–16, data 2026.10.16; selisih pemrosesan terbesar 675 ms (L 6.6.1, Tabel 6.5; M Gambar 3).</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Semua peserta memahami arah dalam 5–8 detik</a:t>
            </a:r>
            <a:endParaRPr lang="en-US" sz="3000" dirty="0"/>
          </a:p>
        </p:txBody>
      </p:sp>
      <p:sp>
        <p:nvSpPr>
          <p:cNvPr id="3" name="kartu tahap 1"/>
          <p:cNvSpPr/>
          <p:nvPr/>
        </p:nvSpPr>
        <p:spPr>
          <a:xfrm>
            <a:off x="548640" y="1280160"/>
            <a:ext cx="4572000" cy="4480560"/>
          </a:xfrm>
          <a:prstGeom prst="roundRect">
            <a:avLst>
              <a:gd name="adj" fmla="val 1633"/>
            </a:avLst>
          </a:prstGeom>
          <a:solidFill>
            <a:srgbClr val="EEF2F7"/>
          </a:solidFill>
          <a:ln w="12700">
            <a:solidFill>
              <a:srgbClr val="EEF2F7"/>
            </a:solidFill>
            <a:prstDash val="solid"/>
          </a:ln>
        </p:spPr>
      </p:sp>
      <p:sp>
        <p:nvSpPr>
          <p:cNvPr id="4" name="judul tahap 1"/>
          <p:cNvSpPr txBox="1"/>
          <p:nvPr/>
        </p:nvSpPr>
        <p:spPr>
          <a:xfrm>
            <a:off x="822960" y="1463040"/>
            <a:ext cx="4023360" cy="411480"/>
          </a:xfrm>
          <a:prstGeom prst="rect">
            <a:avLst/>
          </a:prstGeom>
          <a:noFill/>
          <a:ln/>
        </p:spPr>
        <p:txBody>
          <a:bodyPr wrap="square" lIns="0" tIns="0" rIns="0" bIns="0" rtlCol="0" anchor="t"/>
          <a:lstStyle/>
          <a:p>
            <a:pPr indent="0" marL="0">
              <a:buNone/>
            </a:pPr>
            <a:r>
              <a:rPr lang="en-US" sz="1800" b="1" dirty="0">
                <a:solidFill>
                  <a:srgbClr val="14365D"/>
                </a:solidFill>
                <a:latin typeface="Calibri" pitchFamily="34" charset="0"/>
                <a:ea typeface="Calibri" pitchFamily="34" charset="-122"/>
                <a:cs typeface="Calibri" pitchFamily="34" charset="-120"/>
              </a:rPr>
              <a:t>Tahap 1 · Agustus 2026</a:t>
            </a:r>
            <a:endParaRPr lang="en-US" sz="1800" dirty="0"/>
          </a:p>
        </p:txBody>
      </p:sp>
      <p:sp>
        <p:nvSpPr>
          <p:cNvPr id="5" name="sub tahap 1"/>
          <p:cNvSpPr txBox="1"/>
          <p:nvPr/>
        </p:nvSpPr>
        <p:spPr>
          <a:xfrm>
            <a:off x="822960" y="1874520"/>
            <a:ext cx="4023360" cy="36576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Lima calon pengguna di Masjid Al Hakim, zona merah</a:t>
            </a:r>
            <a:endParaRPr lang="en-US" sz="1400" dirty="0"/>
          </a:p>
        </p:txBody>
      </p:sp>
      <p:sp>
        <p:nvSpPr>
          <p:cNvPr id="6" name="tahap 1 peta angka"/>
          <p:cNvSpPr txBox="1"/>
          <p:nvPr/>
        </p:nvSpPr>
        <p:spPr>
          <a:xfrm>
            <a:off x="822960" y="2377440"/>
            <a:ext cx="1920240" cy="444500"/>
          </a:xfrm>
          <a:prstGeom prst="rect">
            <a:avLst/>
          </a:prstGeom>
          <a:noFill/>
          <a:ln/>
        </p:spPr>
        <p:txBody>
          <a:bodyPr wrap="square" lIns="0" tIns="0" rIns="0" bIns="0" rtlCol="0" anchor="b"/>
          <a:lstStyle/>
          <a:p>
            <a:pPr indent="0" marL="0">
              <a:buNone/>
            </a:pPr>
            <a:r>
              <a:rPr lang="en-US" sz="2800" b="1" dirty="0">
                <a:solidFill>
                  <a:srgbClr val="D9472F"/>
                </a:solidFill>
                <a:latin typeface="Arial" pitchFamily="34" charset="0"/>
                <a:ea typeface="Arial" pitchFamily="34" charset="-122"/>
                <a:cs typeface="Arial" pitchFamily="34" charset="-120"/>
              </a:rPr>
              <a:t>27–89 s</a:t>
            </a:r>
            <a:endParaRPr lang="en-US" sz="2800" dirty="0"/>
          </a:p>
        </p:txBody>
      </p:sp>
      <p:sp>
        <p:nvSpPr>
          <p:cNvPr id="7" name="tahap 1 peta label"/>
          <p:cNvSpPr txBox="1"/>
          <p:nvPr/>
        </p:nvSpPr>
        <p:spPr>
          <a:xfrm>
            <a:off x="822960" y="2895092"/>
            <a:ext cx="192024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peta resmi; 1 peserta tidak berhasil</a:t>
            </a:r>
            <a:endParaRPr lang="en-US" sz="1400" dirty="0"/>
          </a:p>
        </p:txBody>
      </p:sp>
      <p:sp>
        <p:nvSpPr>
          <p:cNvPr id="8" name="tahap 1 aplikasi angka"/>
          <p:cNvSpPr txBox="1"/>
          <p:nvPr/>
        </p:nvSpPr>
        <p:spPr>
          <a:xfrm>
            <a:off x="2926080" y="2377440"/>
            <a:ext cx="1920240" cy="444500"/>
          </a:xfrm>
          <a:prstGeom prst="rect">
            <a:avLst/>
          </a:prstGeom>
          <a:noFill/>
          <a:ln/>
        </p:spPr>
        <p:txBody>
          <a:bodyPr wrap="square" lIns="0" tIns="0" rIns="0" bIns="0" rtlCol="0" anchor="b"/>
          <a:lstStyle/>
          <a:p>
            <a:pPr indent="0" marL="0">
              <a:buNone/>
            </a:pPr>
            <a:r>
              <a:rPr lang="en-US" sz="2800" b="1" dirty="0">
                <a:solidFill>
                  <a:srgbClr val="2E8B57"/>
                </a:solidFill>
                <a:latin typeface="Arial" pitchFamily="34" charset="0"/>
                <a:ea typeface="Arial" pitchFamily="34" charset="-122"/>
                <a:cs typeface="Arial" pitchFamily="34" charset="-120"/>
              </a:rPr>
              <a:t>18 s</a:t>
            </a:r>
            <a:endParaRPr lang="en-US" sz="2800" dirty="0"/>
          </a:p>
        </p:txBody>
      </p:sp>
      <p:sp>
        <p:nvSpPr>
          <p:cNvPr id="9" name="tahap 1 aplikasi label"/>
          <p:cNvSpPr txBox="1"/>
          <p:nvPr/>
        </p:nvSpPr>
        <p:spPr>
          <a:xfrm>
            <a:off x="2926080" y="2895092"/>
            <a:ext cx="192024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median aplikasi versi awal (8–57 s)</a:t>
            </a:r>
            <a:endParaRPr lang="en-US" sz="1400" dirty="0"/>
          </a:p>
        </p:txBody>
      </p:sp>
      <p:sp>
        <p:nvSpPr>
          <p:cNvPr id="10" name="masukan"/>
          <p:cNvSpPr txBox="1"/>
          <p:nvPr/>
        </p:nvSpPr>
        <p:spPr>
          <a:xfrm>
            <a:off x="822960" y="3931920"/>
            <a:ext cx="4023360" cy="164592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Masukan: perbesaran peta (3 peserta), tampilan awal lebih sederhana, nomor darurat, ikon lebih jelas, warna lebih nyaman. Semua menjadi perubahan desain V4.</a:t>
            </a:r>
            <a:endParaRPr lang="en-US" sz="1400" dirty="0"/>
          </a:p>
        </p:txBody>
      </p:sp>
      <p:sp>
        <p:nvSpPr>
          <p:cNvPr id="11" name="judul tahap 2"/>
          <p:cNvSpPr txBox="1"/>
          <p:nvPr/>
        </p:nvSpPr>
        <p:spPr>
          <a:xfrm>
            <a:off x="5440680" y="1280160"/>
            <a:ext cx="6217920" cy="411480"/>
          </a:xfrm>
          <a:prstGeom prst="rect">
            <a:avLst/>
          </a:prstGeom>
          <a:noFill/>
          <a:ln/>
        </p:spPr>
        <p:txBody>
          <a:bodyPr wrap="square" lIns="0" tIns="0" rIns="0" bIns="0" rtlCol="0" anchor="t"/>
          <a:lstStyle/>
          <a:p>
            <a:pPr indent="0" marL="0">
              <a:buNone/>
            </a:pPr>
            <a:r>
              <a:rPr lang="en-US" sz="1800" b="1" dirty="0">
                <a:solidFill>
                  <a:srgbClr val="14365D"/>
                </a:solidFill>
                <a:latin typeface="Calibri" pitchFamily="34" charset="0"/>
                <a:ea typeface="Calibri" pitchFamily="34" charset="-122"/>
                <a:cs typeface="Calibri" pitchFamily="34" charset="-120"/>
              </a:rPr>
              <a:t>Tahap 2 · 11–22 Oktober 2026</a:t>
            </a:r>
            <a:endParaRPr lang="en-US" sz="1800" dirty="0"/>
          </a:p>
        </p:txBody>
      </p:sp>
      <p:sp>
        <p:nvSpPr>
          <p:cNvPr id="12" name="sub tahap 2"/>
          <p:cNvSpPr txBox="1"/>
          <p:nvPr/>
        </p:nvSpPr>
        <p:spPr>
          <a:xfrm>
            <a:off x="5440680" y="1691640"/>
            <a:ext cx="6217920" cy="54864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25 peserta di Masjid Al Hakim, UNP, Masjid Raya Padang, dan Pantai Ujung Batu; aplikasi dalam mode pesawat</a:t>
            </a:r>
            <a:endParaRPr lang="en-US" sz="1400" dirty="0"/>
          </a:p>
        </p:txBody>
      </p:sp>
      <p:graphicFrame>
        <p:nvGraphicFramePr>
          <p:cNvPr id="29" name="tabel tahap 2"/>
          <p:cNvGraphicFramePr>
            <a:graphicFrameLocks noGrp="1"/>
          </p:cNvGraphicFramePr>
          <p:nvPr>
            <p:extLst>
              <p:ext uri="{D42A27DB-BD31-4B8C-83A1-F6EECF244321}">
                <p14:modId xmlns:p14="http://schemas.microsoft.com/office/powerpoint/2010/main" val="1579011935"/>
              </p:ext>
            </p:extLst>
          </p:nvPr>
        </p:nvGraphicFramePr>
        <p:xfrm>
          <a:off x="5440680" y="2377440"/>
          <a:ext cx="6217920" cy="914400"/>
        </p:xfrm>
        <a:graphic>
          <a:graphicData uri="http://schemas.openxmlformats.org/drawingml/2006/table">
            <a:tbl>
              <a:tblPr/>
              <a:tblGrid>
                <a:gridCol w="2011680"/>
                <a:gridCol w="2103120"/>
                <a:gridCol w="210312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Aspek</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Aplikasi</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Peta cetak</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r>
              <a:tr h="457200">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Arah benar</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25 dari 25 (100%)</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20 dari 25</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457200">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Tidak berhasil</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Waktu tercatat</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5–8 detik (15 peserta)</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10–58 detik (15 peserta)</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bl>
          </a:graphicData>
        </a:graphic>
      </p:graphicFrame>
      <p:sp>
        <p:nvSpPr>
          <p:cNvPr id="14" name="uji jalan kaki"/>
          <p:cNvSpPr txBox="1"/>
          <p:nvPr/>
        </p:nvSpPr>
        <p:spPr>
          <a:xfrm>
            <a:off x="5440680" y="4434840"/>
            <a:ext cx="6217920" cy="731520"/>
          </a:xfrm>
          <a:prstGeom prst="rect">
            <a:avLst/>
          </a:prstGeom>
          <a:noFill/>
          <a:ln/>
        </p:spPr>
        <p:txBody>
          <a:bodyPr wrap="square" lIns="0" tIns="0" rIns="0" bIns="0" rtlCol="0" anchor="t"/>
          <a:lstStyle/>
          <a:p>
            <a:pPr indent="0" marL="0">
              <a:buNone/>
            </a:pPr>
            <a:r>
              <a:rPr lang="en-US" sz="1400" b="1" dirty="0">
                <a:solidFill>
                  <a:srgbClr val="14365D"/>
                </a:solidFill>
                <a:latin typeface="Calibri" pitchFamily="34" charset="0"/>
                <a:ea typeface="Calibri" pitchFamily="34" charset="-122"/>
                <a:cs typeface="Calibri" pitchFamily="34" charset="-120"/>
              </a:rPr>
              <a:t>Uji jalan kaki: </a:t>
            </a:r>
            <a:pPr indent="0" marL="0">
              <a:buNone/>
            </a:pPr>
            <a:r>
              <a:rPr lang="en-US" sz="1400" dirty="0">
                <a:solidFill>
                  <a:srgbClr val="1B2433"/>
                </a:solidFill>
                <a:latin typeface="Calibri" pitchFamily="34" charset="0"/>
                <a:ea typeface="Calibri" pitchFamily="34" charset="-122"/>
                <a:cs typeface="Calibri" pitchFamily="34" charset="-120"/>
              </a:rPr>
              <a:t>dua peserta tiba di TES dalam 9 dan 7 menit (perkiraan aplikasi 18 dan 12 menit); satu di antaranya dalam mode pesawat.</a:t>
            </a:r>
            <a:endParaRPr lang="en-US" sz="1400" dirty="0"/>
          </a:p>
        </p:txBody>
      </p:sp>
      <p:sp>
        <p:nvSpPr>
          <p:cNvPr id="15" name="catatan uji"/>
          <p:cNvSpPr txBox="1"/>
          <p:nvPr/>
        </p:nvSpPr>
        <p:spPr>
          <a:xfrm>
            <a:off x="5440680" y="5212080"/>
            <a:ext cx="6217920" cy="457200"/>
          </a:xfrm>
          <a:prstGeom prst="rect">
            <a:avLst/>
          </a:prstGeom>
          <a:noFill/>
          <a:ln/>
        </p:spPr>
        <p:txBody>
          <a:bodyPr wrap="square" lIns="0" tIns="0" rIns="0" bIns="0" rtlCol="0" anchor="t"/>
          <a:lstStyle/>
          <a:p>
            <a:pPr indent="0" marL="0">
              <a:buNone/>
            </a:pPr>
            <a:r>
              <a:rPr lang="en-US" sz="1200" i="1" dirty="0">
                <a:solidFill>
                  <a:srgbClr val="7C8590"/>
                </a:solidFill>
                <a:latin typeface="Calibri" pitchFamily="34" charset="0"/>
                <a:ea typeface="Calibri" pitchFamily="34" charset="-122"/>
                <a:cs typeface="Calibri" pitchFamily="34" charset="-120"/>
              </a:rPr>
              <a:t>Durasi peta dan aplikasi tidak dibandingkan langsung karena urutan dan lokasi tugasnya berbeda.</a:t>
            </a:r>
            <a:endParaRPr lang="en-US" sz="1200" dirty="0"/>
          </a:p>
        </p:txBody>
      </p:sp>
      <p:sp>
        <p:nvSpPr>
          <p:cNvPr id="16"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L 6.6.2, Tabel 6.6–6.7; M III-C, Tabel II.</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Aturan Siaga Padang menambah warga yang sempat</a:t>
            </a:r>
            <a:endParaRPr lang="en-US" sz="3000" dirty="0"/>
          </a:p>
        </p:txBody>
      </p:sp>
      <p:graphicFrame>
        <p:nvGraphicFramePr>
          <p:cNvPr id="3" name="grafik keterjangkauan" descr=""/>
          <p:cNvGraphicFramePr/>
          <p:nvPr/>
        </p:nvGraphicFramePr>
        <p:xfrm>
          <a:off x="548640" y="1234440"/>
          <a:ext cx="548640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grafik kelebihan" descr=""/>
          <p:cNvGraphicFramePr/>
          <p:nvPr/>
        </p:nvGraphicFramePr>
        <p:xfrm>
          <a:off x="6172200" y="1234440"/>
          <a:ext cx="5486400" cy="4206240"/>
        </p:xfrm>
        <a:graphic xmlns:a="http://schemas.openxmlformats.org/drawingml/2006/main">
          <a:graphicData uri="http://schemas.openxmlformats.org/drawingml/2006/chart">
            <c:chart xmlns:c="http://schemas.openxmlformats.org/drawingml/2006/chart" r:id="rId2"/>
          </a:graphicData>
        </a:graphic>
      </p:graphicFrame>
      <p:sp>
        <p:nvSpPr>
          <p:cNvPr id="5" name="keterangan keterjangkauan"/>
          <p:cNvSpPr txBox="1"/>
          <p:nvPr/>
        </p:nvSpPr>
        <p:spPr>
          <a:xfrm>
            <a:off x="548640" y="5486400"/>
            <a:ext cx="11094415" cy="45720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Tujuan seluruh penduduk pada aturan terbaru: zona hijau 51,4%, TEA 3,1%, TES 45,5%. Kelebihan beban turun 24,2%; TES terlampaui 43 → 45.</a:t>
            </a:r>
            <a:endParaRPr lang="en-US" sz="1400" dirty="0"/>
          </a:p>
        </p:txBody>
      </p:sp>
      <p:sp>
        <p:nvSpPr>
          <p:cNvPr id="6"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Proyeksi 313.862 jiwa, 0,894 m/s, berangkat saat gempa; 78,7% mencapai tujuan tercepat dalam 20 menit; bukan prediksi waktu tiba tsunami (L Tabel 5.8; M Tabel III).</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Peta beban TES menunjukkan lokasi prioritas</a:t>
            </a:r>
            <a:endParaRPr lang="en-US" sz="3000" dirty="0"/>
          </a:p>
        </p:txBody>
      </p:sp>
      <p:pic>
        <p:nvPicPr>
          <p:cNvPr id="3" name="peta beban tes" descr="C:\Users\Lenovo\AppData\Local\Temp\claude\c--gemastik\520da942-8140-47c0-a16f-9bde4b92cbe5\scratchpad\deck\aset\beban.png">    </p:cNvPr>
          <p:cNvPicPr>
            <a:picLocks noChangeAspect="1"/>
          </p:cNvPicPr>
          <p:nvPr/>
        </p:nvPicPr>
        <p:blipFill>
          <a:blip r:embed="rId1"/>
          <a:stretch>
            <a:fillRect/>
          </a:stretch>
        </p:blipFill>
        <p:spPr>
          <a:xfrm>
            <a:off x="548640" y="1198216"/>
            <a:ext cx="6309360" cy="4553007"/>
          </a:xfrm>
          <a:prstGeom prst="rect">
            <a:avLst/>
          </a:prstGeom>
        </p:spPr>
      </p:pic>
      <p:sp>
        <p:nvSpPr>
          <p:cNvPr id="4" name="beban 1 angka"/>
          <p:cNvSpPr txBox="1"/>
          <p:nvPr/>
        </p:nvSpPr>
        <p:spPr>
          <a:xfrm>
            <a:off x="7223760" y="1280160"/>
            <a:ext cx="4434840" cy="476250"/>
          </a:xfrm>
          <a:prstGeom prst="rect">
            <a:avLst/>
          </a:prstGeom>
          <a:noFill/>
          <a:ln/>
        </p:spPr>
        <p:txBody>
          <a:bodyPr wrap="square" lIns="0" tIns="0" rIns="0" bIns="0" rtlCol="0" anchor="b"/>
          <a:lstStyle/>
          <a:p>
            <a:pPr indent="0" marL="0">
              <a:buNone/>
            </a:pPr>
            <a:r>
              <a:rPr lang="en-US" sz="3000" b="1" dirty="0">
                <a:solidFill>
                  <a:srgbClr val="14365D"/>
                </a:solidFill>
                <a:latin typeface="Arial" pitchFamily="34" charset="0"/>
                <a:ea typeface="Arial" pitchFamily="34" charset="-122"/>
                <a:cs typeface="Arial" pitchFamily="34" charset="-120"/>
              </a:rPr>
              <a:t>122 TES</a:t>
            </a:r>
            <a:endParaRPr lang="en-US" sz="3000" dirty="0"/>
          </a:p>
        </p:txBody>
      </p:sp>
      <p:sp>
        <p:nvSpPr>
          <p:cNvPr id="5" name="beban 1 label"/>
          <p:cNvSpPr txBox="1"/>
          <p:nvPr/>
        </p:nvSpPr>
        <p:spPr>
          <a:xfrm>
            <a:off x="7223760" y="1829562"/>
            <a:ext cx="443484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menerima beban dari 89.158 jiwa yang dibagi menurut daya tampung</a:t>
            </a:r>
            <a:endParaRPr lang="en-US" sz="1400" dirty="0"/>
          </a:p>
        </p:txBody>
      </p:sp>
      <p:sp>
        <p:nvSpPr>
          <p:cNvPr id="6" name="beban 2 angka"/>
          <p:cNvSpPr txBox="1"/>
          <p:nvPr/>
        </p:nvSpPr>
        <p:spPr>
          <a:xfrm>
            <a:off x="7223760" y="2606040"/>
            <a:ext cx="4434840" cy="476250"/>
          </a:xfrm>
          <a:prstGeom prst="rect">
            <a:avLst/>
          </a:prstGeom>
          <a:noFill/>
          <a:ln/>
        </p:spPr>
        <p:txBody>
          <a:bodyPr wrap="square" lIns="0" tIns="0" rIns="0" bIns="0" rtlCol="0" anchor="b"/>
          <a:lstStyle/>
          <a:p>
            <a:pPr indent="0" marL="0">
              <a:buNone/>
            </a:pPr>
            <a:r>
              <a:rPr lang="en-US" sz="3000" b="1" dirty="0">
                <a:solidFill>
                  <a:srgbClr val="D9472F"/>
                </a:solidFill>
                <a:latin typeface="Arial" pitchFamily="34" charset="0"/>
                <a:ea typeface="Arial" pitchFamily="34" charset="-122"/>
                <a:cs typeface="Arial" pitchFamily="34" charset="-120"/>
              </a:rPr>
              <a:t>37 TES</a:t>
            </a:r>
            <a:endParaRPr lang="en-US" sz="3000" dirty="0"/>
          </a:p>
        </p:txBody>
      </p:sp>
      <p:sp>
        <p:nvSpPr>
          <p:cNvPr id="7" name="beban 2 label"/>
          <p:cNvSpPr txBox="1"/>
          <p:nvPr/>
        </p:nvSpPr>
        <p:spPr>
          <a:xfrm>
            <a:off x="7223760" y="3155442"/>
            <a:ext cx="443484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melebihi daya tampung, total kelebihan 23.442 jiwa</a:t>
            </a:r>
            <a:endParaRPr lang="en-US" sz="1400" dirty="0"/>
          </a:p>
        </p:txBody>
      </p:sp>
      <p:sp>
        <p:nvSpPr>
          <p:cNvPr id="8" name="beban 3 angka"/>
          <p:cNvSpPr txBox="1"/>
          <p:nvPr/>
        </p:nvSpPr>
        <p:spPr>
          <a:xfrm>
            <a:off x="7223760" y="3931920"/>
            <a:ext cx="4434840" cy="476250"/>
          </a:xfrm>
          <a:prstGeom prst="rect">
            <a:avLst/>
          </a:prstGeom>
          <a:noFill/>
          <a:ln/>
        </p:spPr>
        <p:txBody>
          <a:bodyPr wrap="square" lIns="0" tIns="0" rIns="0" bIns="0" rtlCol="0" anchor="b"/>
          <a:lstStyle/>
          <a:p>
            <a:pPr indent="0" marL="0">
              <a:buNone/>
            </a:pPr>
            <a:r>
              <a:rPr lang="en-US" sz="3000" b="1" dirty="0">
                <a:solidFill>
                  <a:srgbClr val="D9472F"/>
                </a:solidFill>
                <a:latin typeface="Arial" pitchFamily="34" charset="0"/>
                <a:ea typeface="Arial" pitchFamily="34" charset="-122"/>
                <a:cs typeface="Arial" pitchFamily="34" charset="-120"/>
              </a:rPr>
              <a:t>21 TES</a:t>
            </a:r>
            <a:endParaRPr lang="en-US" sz="3000" dirty="0"/>
          </a:p>
        </p:txBody>
      </p:sp>
      <p:sp>
        <p:nvSpPr>
          <p:cNvPr id="9" name="beban 3 label"/>
          <p:cNvSpPr txBox="1"/>
          <p:nvPr/>
        </p:nvSpPr>
        <p:spPr>
          <a:xfrm>
            <a:off x="7223760" y="4481322"/>
            <a:ext cx="443484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menerima lebih dari dua kali daya tampungnya</a:t>
            </a:r>
            <a:endParaRPr lang="en-US" sz="1400" dirty="0"/>
          </a:p>
        </p:txBody>
      </p:sp>
      <p:sp>
        <p:nvSpPr>
          <p:cNvPr id="10" name="keterangan beban"/>
          <p:cNvSpPr txBox="1"/>
          <p:nvPr/>
        </p:nvSpPr>
        <p:spPr>
          <a:xfrm>
            <a:off x="7223760" y="5257800"/>
            <a:ext cx="4434840" cy="73152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Kelebihan terkumpul di pesisir utara dan pusat kota, saat semua TES yang terjangkau dalam 15 menit sudah penuh.</a:t>
            </a:r>
            <a:endParaRPr lang="en-US" sz="1400" dirty="0"/>
          </a:p>
        </p:txBody>
      </p:sp>
      <p:sp>
        <p:nvSpPr>
          <p:cNvPr id="11"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L 5.7.4; M Gambar 4.</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Manfaat yang sudah terukur</a:t>
            </a:r>
            <a:endParaRPr lang="en-US" sz="3000" dirty="0"/>
          </a:p>
        </p:txBody>
      </p:sp>
      <p:graphicFrame>
        <p:nvGraphicFramePr>
          <p:cNvPr id="32" name="tabel manfaat"/>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3657600"/>
                <a:gridCol w="3291840"/>
                <a:gridCol w="4142232"/>
              </a:tblGrid>
              <a:tr h="6858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Penerima dan manfaat</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Indikator</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Hasil</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r>
              <a:tr h="685800">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Warga zona merah: arahan saat internet tidak ada</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Fungsi inti mode pesawat; waktu arahan</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Arahan 481–960 ms; maks. 884 ms pada tujuh ponsel</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685800">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Warga zona merah: memahami arah berikutnya</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Ketepatan arah dan waktu tugas</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25 dari 25 benar; 5–8 detik (15 peserta)</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685800">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Pendatang dan wisatawan</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Ketepatan arah peserta yang berlibur</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Keempat wisatawan menunjuk arah yang benar</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685800">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Keluarga: titik temu sebelum kejadian</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Rencana tersimpan dan dibagikan luring</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Rencana dan kode QR tersedia; impor QR diuji</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685800">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BPBD: pembaruan data dan perencanaan</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Pemeriksaan paket; wilayah prioritas</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Paket 2026.10.16 terpasang; 78,7% terjangkau 20 menit</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bl>
          </a:graphicData>
        </a:graphic>
      </p:graphicFrame>
      <p:sp>
        <p:nvSpPr>
          <p:cNvPr id="4" name="kerangka"/>
          <p:cNvSpPr txBox="1"/>
          <p:nvPr/>
        </p:nvSpPr>
        <p:spPr>
          <a:xfrm>
            <a:off x="548640" y="5440680"/>
            <a:ext cx="11094415" cy="45720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Kerangka penilaian: model logika W. K. Kellogg Foundation (keluaran, hasil, dampak) dan ISO 9241-11:2018 (efektivitas, efisiensi, kepuasan).</a:t>
            </a:r>
            <a:endParaRPr lang="en-US" sz="1400" dirty="0"/>
          </a:p>
        </p:txBody>
      </p:sp>
      <p:sp>
        <p:nvSpPr>
          <p:cNvPr id="5"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L 2.3, Tabel 2.1.</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Hasil analisis siap dipakai BPBD Kota Padang</a:t>
            </a:r>
            <a:endParaRPr lang="en-US" sz="3000" dirty="0"/>
          </a:p>
        </p:txBody>
      </p:sp>
      <p:sp>
        <p:nvSpPr>
          <p:cNvPr id="3" name="kartu kelurahan"/>
          <p:cNvSpPr/>
          <p:nvPr/>
        </p:nvSpPr>
        <p:spPr>
          <a:xfrm>
            <a:off x="548640" y="1280160"/>
            <a:ext cx="3657600" cy="4480560"/>
          </a:xfrm>
          <a:prstGeom prst="roundRect">
            <a:avLst>
              <a:gd name="adj" fmla="val 2000"/>
            </a:avLst>
          </a:prstGeom>
          <a:solidFill>
            <a:srgbClr val="14365D"/>
          </a:solidFill>
          <a:ln w="12700">
            <a:solidFill>
              <a:srgbClr val="14365D"/>
            </a:solidFill>
            <a:prstDash val="solid"/>
          </a:ln>
        </p:spPr>
      </p:sp>
      <p:sp>
        <p:nvSpPr>
          <p:cNvPr id="4" name="judul kelurahan"/>
          <p:cNvSpPr txBox="1"/>
          <p:nvPr/>
        </p:nvSpPr>
        <p:spPr>
          <a:xfrm>
            <a:off x="822960" y="1463040"/>
            <a:ext cx="3108960" cy="731520"/>
          </a:xfrm>
          <a:prstGeom prst="rect">
            <a:avLst/>
          </a:prstGeom>
          <a:noFill/>
          <a:ln/>
        </p:spPr>
        <p:txBody>
          <a:bodyPr wrap="square" lIns="0" tIns="0" rIns="0" bIns="0" rtlCol="0" anchor="t"/>
          <a:lstStyle/>
          <a:p>
            <a:pPr indent="0" marL="0">
              <a:buNone/>
            </a:pPr>
            <a:r>
              <a:rPr lang="en-US" sz="1700" b="1" dirty="0">
                <a:solidFill>
                  <a:srgbClr val="F5B700"/>
                </a:solidFill>
                <a:latin typeface="Calibri" pitchFamily="34" charset="0"/>
                <a:ea typeface="Calibri" pitchFamily="34" charset="-122"/>
                <a:cs typeface="Calibri" pitchFamily="34" charset="-120"/>
              </a:rPr>
              <a:t>Kelurahan prioritas tempat evakuasi tambahan</a:t>
            </a:r>
            <a:endParaRPr lang="en-US" sz="1700" dirty="0"/>
          </a:p>
        </p:txBody>
      </p:sp>
      <p:sp>
        <p:nvSpPr>
          <p:cNvPr id="5" name="daftar kelurahan"/>
          <p:cNvSpPr txBox="1"/>
          <p:nvPr/>
        </p:nvSpPr>
        <p:spPr>
          <a:xfrm>
            <a:off x="822960" y="2286000"/>
            <a:ext cx="3108960" cy="237744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600" dirty="0">
                <a:solidFill>
                  <a:srgbClr val="FFFFFF"/>
                </a:solidFill>
                <a:latin typeface="Calibri" pitchFamily="34" charset="0"/>
                <a:ea typeface="Calibri" pitchFamily="34" charset="-122"/>
                <a:cs typeface="Calibri" pitchFamily="34" charset="-120"/>
              </a:rPr>
              <a:t>Batang Kabung</a:t>
            </a:r>
            <a:endParaRPr lang="en-US" sz="1600" dirty="0"/>
          </a:p>
          <a:p>
            <a:pPr marL="342900" indent="-342900">
              <a:spcAft>
                <a:spcPts val="800"/>
              </a:spcAft>
              <a:buSzPct val="100000"/>
              <a:buFont typeface="+mj-lt"/>
              <a:buAutoNum type="arabicPeriod" startAt="1"/>
            </a:pPr>
            <a:r>
              <a:rPr lang="en-US" sz="1600" dirty="0">
                <a:solidFill>
                  <a:srgbClr val="FFFFFF"/>
                </a:solidFill>
                <a:latin typeface="Calibri" pitchFamily="34" charset="0"/>
                <a:ea typeface="Calibri" pitchFamily="34" charset="-122"/>
                <a:cs typeface="Calibri" pitchFamily="34" charset="-120"/>
              </a:rPr>
              <a:t>Padang Sarai</a:t>
            </a:r>
            <a:endParaRPr lang="en-US" sz="1600" dirty="0"/>
          </a:p>
          <a:p>
            <a:pPr marL="342900" indent="-342900">
              <a:spcAft>
                <a:spcPts val="800"/>
              </a:spcAft>
              <a:buSzPct val="100000"/>
              <a:buFont typeface="+mj-lt"/>
              <a:buAutoNum type="arabicPeriod" startAt="1"/>
            </a:pPr>
            <a:r>
              <a:rPr lang="en-US" sz="1600" dirty="0">
                <a:solidFill>
                  <a:srgbClr val="FFFFFF"/>
                </a:solidFill>
                <a:latin typeface="Calibri" pitchFamily="34" charset="0"/>
                <a:ea typeface="Calibri" pitchFamily="34" charset="-122"/>
                <a:cs typeface="Calibri" pitchFamily="34" charset="-120"/>
              </a:rPr>
              <a:t>Parupuk Tabing</a:t>
            </a:r>
            <a:endParaRPr lang="en-US" sz="1600" dirty="0"/>
          </a:p>
          <a:p>
            <a:pPr marL="342900" indent="-342900">
              <a:spcAft>
                <a:spcPts val="800"/>
              </a:spcAft>
              <a:buSzPct val="100000"/>
              <a:buFont typeface="+mj-lt"/>
              <a:buAutoNum type="arabicPeriod" startAt="1"/>
            </a:pPr>
            <a:r>
              <a:rPr lang="en-US" sz="1600" dirty="0">
                <a:solidFill>
                  <a:srgbClr val="FFFFFF"/>
                </a:solidFill>
                <a:latin typeface="Calibri" pitchFamily="34" charset="0"/>
                <a:ea typeface="Calibri" pitchFamily="34" charset="-122"/>
                <a:cs typeface="Calibri" pitchFamily="34" charset="-120"/>
              </a:rPr>
              <a:t>Pasir Nan Tigo</a:t>
            </a:r>
            <a:endParaRPr lang="en-US" sz="1600" dirty="0"/>
          </a:p>
          <a:p>
            <a:pPr marL="342900" indent="-342900">
              <a:spcAft>
                <a:spcPts val="800"/>
              </a:spcAft>
              <a:buSzPct val="100000"/>
              <a:buFont typeface="+mj-lt"/>
              <a:buAutoNum type="arabicPeriod" startAt="1"/>
            </a:pPr>
            <a:r>
              <a:rPr lang="en-US" sz="1600" dirty="0">
                <a:solidFill>
                  <a:srgbClr val="FFFFFF"/>
                </a:solidFill>
                <a:latin typeface="Calibri" pitchFamily="34" charset="0"/>
                <a:ea typeface="Calibri" pitchFamily="34" charset="-122"/>
                <a:cs typeface="Calibri" pitchFamily="34" charset="-120"/>
              </a:rPr>
              <a:t>Dadok Tunggul Hitam</a:t>
            </a:r>
            <a:endParaRPr lang="en-US" sz="1600" dirty="0"/>
          </a:p>
        </p:txBody>
      </p:sp>
      <p:sp>
        <p:nvSpPr>
          <p:cNvPr id="6" name="keterangan kelurahan"/>
          <p:cNvSpPr txBox="1"/>
          <p:nvPr/>
        </p:nvSpPr>
        <p:spPr>
          <a:xfrm>
            <a:off x="822960" y="4754880"/>
            <a:ext cx="3108960" cy="822960"/>
          </a:xfrm>
          <a:prstGeom prst="rect">
            <a:avLst/>
          </a:prstGeom>
          <a:noFill/>
          <a:ln/>
        </p:spPr>
        <p:txBody>
          <a:bodyPr wrap="square" lIns="0" tIns="0" rIns="0" bIns="0" rtlCol="0" anchor="t"/>
          <a:lstStyle/>
          <a:p>
            <a:pPr indent="0" marL="0">
              <a:buNone/>
            </a:pPr>
            <a:r>
              <a:rPr lang="en-US" sz="1300" dirty="0">
                <a:solidFill>
                  <a:srgbClr val="CADCFC"/>
                </a:solidFill>
                <a:latin typeface="Calibri" pitchFamily="34" charset="0"/>
                <a:ea typeface="Calibri" pitchFamily="34" charset="-122"/>
                <a:cs typeface="Calibri" pitchFamily="34" charset="-120"/>
              </a:rPr>
              <a:t>Jumlah penduduk terbesar yang belum dapat mencapai tempat evakuasi dalam 20 menit.</a:t>
            </a:r>
            <a:endParaRPr lang="en-US" sz="1300" dirty="0"/>
          </a:p>
        </p:txBody>
      </p:sp>
      <p:sp>
        <p:nvSpPr>
          <p:cNvPr id="7" name="manfaat bpbd 1 lingkaran"/>
          <p:cNvSpPr/>
          <p:nvPr/>
        </p:nvSpPr>
        <p:spPr>
          <a:xfrm>
            <a:off x="4572000" y="1280160"/>
            <a:ext cx="685800" cy="685800"/>
          </a:xfrm>
          <a:prstGeom prst="ellipse">
            <a:avLst/>
          </a:prstGeom>
          <a:solidFill>
            <a:srgbClr val="14365D"/>
          </a:solidFill>
          <a:ln w="12700">
            <a:solidFill>
              <a:srgbClr val="14365D"/>
            </a:solidFill>
            <a:prstDash val="solid"/>
          </a:ln>
        </p:spPr>
      </p:sp>
      <p:pic>
        <p:nvPicPr>
          <p:cNvPr id="8" name="manfaat bpbd 1 ikon" descr="preencoded.png">    </p:cNvPr>
          <p:cNvPicPr>
            <a:picLocks noChangeAspect="1"/>
          </p:cNvPicPr>
          <p:nvPr/>
        </p:nvPicPr>
        <p:blipFill>
          <a:blip r:embed="rId1"/>
          <a:stretch>
            <a:fillRect/>
          </a:stretch>
        </p:blipFill>
        <p:spPr>
          <a:xfrm>
            <a:off x="4743450" y="1451610"/>
            <a:ext cx="342900" cy="342900"/>
          </a:xfrm>
          <a:prstGeom prst="rect">
            <a:avLst/>
          </a:prstGeom>
        </p:spPr>
      </p:pic>
      <p:sp>
        <p:nvSpPr>
          <p:cNvPr id="9" name="manfaat bpbd judul 1"/>
          <p:cNvSpPr txBox="1"/>
          <p:nvPr/>
        </p:nvSpPr>
        <p:spPr>
          <a:xfrm>
            <a:off x="5486400" y="1280160"/>
            <a:ext cx="6153912" cy="384048"/>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Dukungan BPBD</a:t>
            </a:r>
            <a:endParaRPr lang="en-US" sz="1700" dirty="0"/>
          </a:p>
        </p:txBody>
      </p:sp>
      <p:sp>
        <p:nvSpPr>
          <p:cNvPr id="10" name="manfaat bpbd isi 1"/>
          <p:cNvSpPr txBox="1"/>
          <p:nvPr/>
        </p:nvSpPr>
        <p:spPr>
          <a:xfrm>
            <a:off x="5486400" y="1673352"/>
            <a:ext cx="6153912" cy="658368"/>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BPBD menyatakan dukungan dan kesediaan melanjutkan kerja sama setelah kompetisi.</a:t>
            </a:r>
            <a:endParaRPr lang="en-US" sz="1400" dirty="0"/>
          </a:p>
        </p:txBody>
      </p:sp>
      <p:sp>
        <p:nvSpPr>
          <p:cNvPr id="11" name="manfaat bpbd 2 lingkaran"/>
          <p:cNvSpPr/>
          <p:nvPr/>
        </p:nvSpPr>
        <p:spPr>
          <a:xfrm>
            <a:off x="4572000" y="2395728"/>
            <a:ext cx="685800" cy="685800"/>
          </a:xfrm>
          <a:prstGeom prst="ellipse">
            <a:avLst/>
          </a:prstGeom>
          <a:solidFill>
            <a:srgbClr val="14365D"/>
          </a:solidFill>
          <a:ln w="12700">
            <a:solidFill>
              <a:srgbClr val="14365D"/>
            </a:solidFill>
            <a:prstDash val="solid"/>
          </a:ln>
        </p:spPr>
      </p:sp>
      <p:pic>
        <p:nvPicPr>
          <p:cNvPr id="12" name="manfaat bpbd 2 ikon" descr="preencoded.png">    </p:cNvPr>
          <p:cNvPicPr>
            <a:picLocks noChangeAspect="1"/>
          </p:cNvPicPr>
          <p:nvPr/>
        </p:nvPicPr>
        <p:blipFill>
          <a:blip r:embed="rId2"/>
          <a:stretch>
            <a:fillRect/>
          </a:stretch>
        </p:blipFill>
        <p:spPr>
          <a:xfrm>
            <a:off x="4743450" y="2567178"/>
            <a:ext cx="342900" cy="342900"/>
          </a:xfrm>
          <a:prstGeom prst="rect">
            <a:avLst/>
          </a:prstGeom>
        </p:spPr>
      </p:pic>
      <p:sp>
        <p:nvSpPr>
          <p:cNvPr id="13" name="manfaat bpbd judul 2"/>
          <p:cNvSpPr txBox="1"/>
          <p:nvPr/>
        </p:nvSpPr>
        <p:spPr>
          <a:xfrm>
            <a:off x="5486400" y="2395728"/>
            <a:ext cx="6153912" cy="384048"/>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Simulasi rutin</a:t>
            </a:r>
            <a:endParaRPr lang="en-US" sz="1700" dirty="0"/>
          </a:p>
        </p:txBody>
      </p:sp>
      <p:sp>
        <p:nvSpPr>
          <p:cNvPr id="14" name="manfaat bpbd isi 2"/>
          <p:cNvSpPr txBox="1"/>
          <p:nvPr/>
        </p:nvSpPr>
        <p:spPr>
          <a:xfrm>
            <a:off x="5486400" y="2788920"/>
            <a:ext cx="6153912" cy="658368"/>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Mode latihan dapat dipakai dalam simulasi evakuasi Pemerintah Kota Padang.</a:t>
            </a:r>
            <a:endParaRPr lang="en-US" sz="1400" dirty="0"/>
          </a:p>
        </p:txBody>
      </p:sp>
      <p:sp>
        <p:nvSpPr>
          <p:cNvPr id="15" name="manfaat bpbd 3 lingkaran"/>
          <p:cNvSpPr/>
          <p:nvPr/>
        </p:nvSpPr>
        <p:spPr>
          <a:xfrm>
            <a:off x="4572000" y="3511296"/>
            <a:ext cx="685800" cy="685800"/>
          </a:xfrm>
          <a:prstGeom prst="ellipse">
            <a:avLst/>
          </a:prstGeom>
          <a:solidFill>
            <a:srgbClr val="14365D"/>
          </a:solidFill>
          <a:ln w="12700">
            <a:solidFill>
              <a:srgbClr val="14365D"/>
            </a:solidFill>
            <a:prstDash val="solid"/>
          </a:ln>
        </p:spPr>
      </p:sp>
      <p:pic>
        <p:nvPicPr>
          <p:cNvPr id="16" name="manfaat bpbd 3 ikon" descr="preencoded.png">    </p:cNvPr>
          <p:cNvPicPr>
            <a:picLocks noChangeAspect="1"/>
          </p:cNvPicPr>
          <p:nvPr/>
        </p:nvPicPr>
        <p:blipFill>
          <a:blip r:embed="rId3"/>
          <a:stretch>
            <a:fillRect/>
          </a:stretch>
        </p:blipFill>
        <p:spPr>
          <a:xfrm>
            <a:off x="4743450" y="3682746"/>
            <a:ext cx="342900" cy="342900"/>
          </a:xfrm>
          <a:prstGeom prst="rect">
            <a:avLst/>
          </a:prstGeom>
        </p:spPr>
      </p:pic>
      <p:sp>
        <p:nvSpPr>
          <p:cNvPr id="17" name="manfaat bpbd judul 3"/>
          <p:cNvSpPr txBox="1"/>
          <p:nvPr/>
        </p:nvSpPr>
        <p:spPr>
          <a:xfrm>
            <a:off x="5486400" y="3511296"/>
            <a:ext cx="6153912" cy="384048"/>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Analisis dapat diulang</a:t>
            </a:r>
            <a:endParaRPr lang="en-US" sz="1700" dirty="0"/>
          </a:p>
        </p:txBody>
      </p:sp>
      <p:sp>
        <p:nvSpPr>
          <p:cNvPr id="18" name="manfaat bpbd isi 3"/>
          <p:cNvSpPr txBox="1"/>
          <p:nvPr/>
        </p:nvSpPr>
        <p:spPr>
          <a:xfrm>
            <a:off x="5486400" y="3904488"/>
            <a:ext cx="6153912" cy="658368"/>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Hasil dicatat bersama versi data, sebaran penduduk, dan laju berjalan.</a:t>
            </a:r>
            <a:endParaRPr lang="en-US" sz="1400" dirty="0"/>
          </a:p>
        </p:txBody>
      </p:sp>
      <p:sp>
        <p:nvSpPr>
          <p:cNvPr id="19" name="manfaat bpbd 4 lingkaran"/>
          <p:cNvSpPr/>
          <p:nvPr/>
        </p:nvSpPr>
        <p:spPr>
          <a:xfrm>
            <a:off x="4572000" y="4626864"/>
            <a:ext cx="685800" cy="685800"/>
          </a:xfrm>
          <a:prstGeom prst="ellipse">
            <a:avLst/>
          </a:prstGeom>
          <a:solidFill>
            <a:srgbClr val="2E8B57"/>
          </a:solidFill>
          <a:ln w="12700">
            <a:solidFill>
              <a:srgbClr val="2E8B57"/>
            </a:solidFill>
            <a:prstDash val="solid"/>
          </a:ln>
        </p:spPr>
      </p:sp>
      <p:pic>
        <p:nvPicPr>
          <p:cNvPr id="20" name="manfaat bpbd 4 ikon" descr="preencoded.png">    </p:cNvPr>
          <p:cNvPicPr>
            <a:picLocks noChangeAspect="1"/>
          </p:cNvPicPr>
          <p:nvPr/>
        </p:nvPicPr>
        <p:blipFill>
          <a:blip r:embed="rId4"/>
          <a:stretch>
            <a:fillRect/>
          </a:stretch>
        </p:blipFill>
        <p:spPr>
          <a:xfrm>
            <a:off x="4743450" y="4798314"/>
            <a:ext cx="342900" cy="342900"/>
          </a:xfrm>
          <a:prstGeom prst="rect">
            <a:avLst/>
          </a:prstGeom>
        </p:spPr>
      </p:pic>
      <p:sp>
        <p:nvSpPr>
          <p:cNvPr id="21" name="manfaat bpbd judul 4"/>
          <p:cNvSpPr txBox="1"/>
          <p:nvPr/>
        </p:nvSpPr>
        <p:spPr>
          <a:xfrm>
            <a:off x="5486400" y="4626864"/>
            <a:ext cx="6153912" cy="384048"/>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Sejalan dengan SDGs</a:t>
            </a:r>
            <a:endParaRPr lang="en-US" sz="1700" dirty="0"/>
          </a:p>
        </p:txBody>
      </p:sp>
      <p:sp>
        <p:nvSpPr>
          <p:cNvPr id="22" name="manfaat bpbd isi 4"/>
          <p:cNvSpPr txBox="1"/>
          <p:nvPr/>
        </p:nvSpPr>
        <p:spPr>
          <a:xfrm>
            <a:off x="5486400" y="5020056"/>
            <a:ext cx="6153912" cy="658368"/>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Target 11.5, 11.b, dan 13.1 tentang ketahanan kota dan kapasitas menghadapi bahaya.</a:t>
            </a:r>
            <a:endParaRPr lang="en-US" sz="1400" dirty="0"/>
          </a:p>
        </p:txBody>
      </p:sp>
      <p:sp>
        <p:nvSpPr>
          <p:cNvPr id="23"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L 2.4, 5.7.4; M III-D.</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14365D"/>
                </a:solidFill>
                <a:latin typeface="Arial" pitchFamily="34" charset="0"/>
                <a:ea typeface="Arial" pitchFamily="34" charset="-122"/>
                <a:cs typeface="Arial" pitchFamily="34" charset="-120"/>
              </a:rPr>
              <a:t>Ruang lingkup saat ini dan langkah berikutnya</a:t>
            </a:r>
            <a:endParaRPr lang="en-US" sz="3000" dirty="0"/>
          </a:p>
        </p:txBody>
      </p:sp>
      <p:sp>
        <p:nvSpPr>
          <p:cNvPr id="3" name="kartu lingkup 1"/>
          <p:cNvSpPr/>
          <p:nvPr/>
        </p:nvSpPr>
        <p:spPr>
          <a:xfrm>
            <a:off x="548640" y="1280160"/>
            <a:ext cx="3566160" cy="2331720"/>
          </a:xfrm>
          <a:prstGeom prst="roundRect">
            <a:avLst>
              <a:gd name="adj" fmla="val 3137"/>
            </a:avLst>
          </a:prstGeom>
          <a:solidFill>
            <a:srgbClr val="EEF2F7"/>
          </a:solidFill>
          <a:ln w="12700">
            <a:solidFill>
              <a:srgbClr val="EEF2F7"/>
            </a:solidFill>
            <a:prstDash val="solid"/>
          </a:ln>
        </p:spPr>
      </p:sp>
      <p:sp>
        <p:nvSpPr>
          <p:cNvPr id="4" name="lingkup 1 lingkaran"/>
          <p:cNvSpPr/>
          <p:nvPr/>
        </p:nvSpPr>
        <p:spPr>
          <a:xfrm>
            <a:off x="822960" y="1508760"/>
            <a:ext cx="685800" cy="685800"/>
          </a:xfrm>
          <a:prstGeom prst="ellipse">
            <a:avLst/>
          </a:prstGeom>
          <a:solidFill>
            <a:srgbClr val="2E8B57"/>
          </a:solidFill>
          <a:ln w="12700">
            <a:solidFill>
              <a:srgbClr val="2E8B57"/>
            </a:solidFill>
            <a:prstDash val="solid"/>
          </a:ln>
        </p:spPr>
      </p:sp>
      <p:pic>
        <p:nvPicPr>
          <p:cNvPr id="5" name="lingkup 1 ikon" descr="preencoded.png">    </p:cNvPr>
          <p:cNvPicPr>
            <a:picLocks noChangeAspect="1"/>
          </p:cNvPicPr>
          <p:nvPr/>
        </p:nvPicPr>
        <p:blipFill>
          <a:blip r:embed="rId1"/>
          <a:stretch>
            <a:fillRect/>
          </a:stretch>
        </p:blipFill>
        <p:spPr>
          <a:xfrm>
            <a:off x="994410" y="1680210"/>
            <a:ext cx="342900" cy="342900"/>
          </a:xfrm>
          <a:prstGeom prst="rect">
            <a:avLst/>
          </a:prstGeom>
        </p:spPr>
      </p:pic>
      <p:sp>
        <p:nvSpPr>
          <p:cNvPr id="6" name="judul lingkup 1"/>
          <p:cNvSpPr txBox="1"/>
          <p:nvPr/>
        </p:nvSpPr>
        <p:spPr>
          <a:xfrm>
            <a:off x="1691640" y="1645920"/>
            <a:ext cx="2194560" cy="411480"/>
          </a:xfrm>
          <a:prstGeom prst="rect">
            <a:avLst/>
          </a:prstGeom>
          <a:noFill/>
          <a:ln/>
        </p:spPr>
        <p:txBody>
          <a:bodyPr wrap="square" lIns="0" tIns="0" rIns="0" bIns="0" rtlCol="0" anchor="t"/>
          <a:lstStyle/>
          <a:p>
            <a:pPr indent="0" marL="0">
              <a:buNone/>
            </a:pPr>
            <a:r>
              <a:rPr lang="en-US" sz="1800" b="1" dirty="0">
                <a:solidFill>
                  <a:srgbClr val="14365D"/>
                </a:solidFill>
                <a:latin typeface="Calibri" pitchFamily="34" charset="0"/>
                <a:ea typeface="Calibri" pitchFamily="34" charset="-122"/>
                <a:cs typeface="Calibri" pitchFamily="34" charset="-120"/>
              </a:rPr>
              <a:t>Android</a:t>
            </a:r>
            <a:endParaRPr lang="en-US" sz="1800" dirty="0"/>
          </a:p>
        </p:txBody>
      </p:sp>
      <p:sp>
        <p:nvSpPr>
          <p:cNvPr id="7" name="isi lingkup 1"/>
          <p:cNvSpPr txBox="1"/>
          <p:nvPr/>
        </p:nvSpPr>
        <p:spPr>
          <a:xfrm>
            <a:off x="822960" y="2331720"/>
            <a:ext cx="3063240" cy="123444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Dikembangkan untuk Android 6.0 ke atas, platform mayoritas di Indonesia; paket data yang sama dapat dipakai platform lain.</a:t>
            </a:r>
            <a:endParaRPr lang="en-US" sz="1400" dirty="0"/>
          </a:p>
        </p:txBody>
      </p:sp>
      <p:sp>
        <p:nvSpPr>
          <p:cNvPr id="8" name="kartu lingkup 2"/>
          <p:cNvSpPr/>
          <p:nvPr/>
        </p:nvSpPr>
        <p:spPr>
          <a:xfrm>
            <a:off x="4297680" y="1280160"/>
            <a:ext cx="3566160" cy="2331720"/>
          </a:xfrm>
          <a:prstGeom prst="roundRect">
            <a:avLst>
              <a:gd name="adj" fmla="val 3137"/>
            </a:avLst>
          </a:prstGeom>
          <a:solidFill>
            <a:srgbClr val="EEF2F7"/>
          </a:solidFill>
          <a:ln w="12700">
            <a:solidFill>
              <a:srgbClr val="EEF2F7"/>
            </a:solidFill>
            <a:prstDash val="solid"/>
          </a:ln>
        </p:spPr>
      </p:sp>
      <p:sp>
        <p:nvSpPr>
          <p:cNvPr id="9" name="lingkup 2 lingkaran"/>
          <p:cNvSpPr/>
          <p:nvPr/>
        </p:nvSpPr>
        <p:spPr>
          <a:xfrm>
            <a:off x="4572000" y="1508760"/>
            <a:ext cx="685800" cy="685800"/>
          </a:xfrm>
          <a:prstGeom prst="ellipse">
            <a:avLst/>
          </a:prstGeom>
          <a:solidFill>
            <a:srgbClr val="14365D"/>
          </a:solidFill>
          <a:ln w="12700">
            <a:solidFill>
              <a:srgbClr val="14365D"/>
            </a:solidFill>
            <a:prstDash val="solid"/>
          </a:ln>
        </p:spPr>
      </p:sp>
      <p:pic>
        <p:nvPicPr>
          <p:cNvPr id="10" name="lingkup 2 ikon" descr="preencoded.png">    </p:cNvPr>
          <p:cNvPicPr>
            <a:picLocks noChangeAspect="1"/>
          </p:cNvPicPr>
          <p:nvPr/>
        </p:nvPicPr>
        <p:blipFill>
          <a:blip r:embed="rId2"/>
          <a:stretch>
            <a:fillRect/>
          </a:stretch>
        </p:blipFill>
        <p:spPr>
          <a:xfrm>
            <a:off x="4743450" y="1680210"/>
            <a:ext cx="342900" cy="342900"/>
          </a:xfrm>
          <a:prstGeom prst="rect">
            <a:avLst/>
          </a:prstGeom>
        </p:spPr>
      </p:pic>
      <p:sp>
        <p:nvSpPr>
          <p:cNvPr id="11" name="judul lingkup 2"/>
          <p:cNvSpPr txBox="1"/>
          <p:nvPr/>
        </p:nvSpPr>
        <p:spPr>
          <a:xfrm>
            <a:off x="5440680" y="1645920"/>
            <a:ext cx="2194560" cy="411480"/>
          </a:xfrm>
          <a:prstGeom prst="rect">
            <a:avLst/>
          </a:prstGeom>
          <a:noFill/>
          <a:ln/>
        </p:spPr>
        <p:txBody>
          <a:bodyPr wrap="square" lIns="0" tIns="0" rIns="0" bIns="0" rtlCol="0" anchor="t"/>
          <a:lstStyle/>
          <a:p>
            <a:pPr indent="0" marL="0">
              <a:buNone/>
            </a:pPr>
            <a:r>
              <a:rPr lang="en-US" sz="1800" b="1" dirty="0">
                <a:solidFill>
                  <a:srgbClr val="14365D"/>
                </a:solidFill>
                <a:latin typeface="Calibri" pitchFamily="34" charset="0"/>
                <a:ea typeface="Calibri" pitchFamily="34" charset="-122"/>
                <a:cs typeface="Calibri" pitchFamily="34" charset="-120"/>
              </a:rPr>
              <a:t>Peta terbuka</a:t>
            </a:r>
            <a:endParaRPr lang="en-US" sz="1800" dirty="0"/>
          </a:p>
        </p:txBody>
      </p:sp>
      <p:sp>
        <p:nvSpPr>
          <p:cNvPr id="12" name="isi lingkup 2"/>
          <p:cNvSpPr txBox="1"/>
          <p:nvPr/>
        </p:nvSpPr>
        <p:spPr>
          <a:xfrm>
            <a:off x="4572000" y="2331720"/>
            <a:ext cx="3063240" cy="123444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Jalan dan peta dasar dari OpenStreetMap; kelengkapan jalan kecil dan nama jalan dapat ditingkatkan bersama BPBD dan komunitas.</a:t>
            </a:r>
            <a:endParaRPr lang="en-US" sz="1400" dirty="0"/>
          </a:p>
        </p:txBody>
      </p:sp>
      <p:sp>
        <p:nvSpPr>
          <p:cNvPr id="13" name="kartu lingkup 3"/>
          <p:cNvSpPr/>
          <p:nvPr/>
        </p:nvSpPr>
        <p:spPr>
          <a:xfrm>
            <a:off x="8046720" y="1280160"/>
            <a:ext cx="3566160" cy="2331720"/>
          </a:xfrm>
          <a:prstGeom prst="roundRect">
            <a:avLst>
              <a:gd name="adj" fmla="val 3137"/>
            </a:avLst>
          </a:prstGeom>
          <a:solidFill>
            <a:srgbClr val="EEF2F7"/>
          </a:solidFill>
          <a:ln w="12700">
            <a:solidFill>
              <a:srgbClr val="EEF2F7"/>
            </a:solidFill>
            <a:prstDash val="solid"/>
          </a:ln>
        </p:spPr>
      </p:sp>
      <p:sp>
        <p:nvSpPr>
          <p:cNvPr id="14" name="lingkup 3 lingkaran"/>
          <p:cNvSpPr/>
          <p:nvPr/>
        </p:nvSpPr>
        <p:spPr>
          <a:xfrm>
            <a:off x="8321040" y="1508760"/>
            <a:ext cx="685800" cy="685800"/>
          </a:xfrm>
          <a:prstGeom prst="ellipse">
            <a:avLst/>
          </a:prstGeom>
          <a:solidFill>
            <a:srgbClr val="14365D"/>
          </a:solidFill>
          <a:ln w="12700">
            <a:solidFill>
              <a:srgbClr val="14365D"/>
            </a:solidFill>
            <a:prstDash val="solid"/>
          </a:ln>
        </p:spPr>
      </p:sp>
      <p:pic>
        <p:nvPicPr>
          <p:cNvPr id="15" name="lingkup 3 ikon" descr="preencoded.png">    </p:cNvPr>
          <p:cNvPicPr>
            <a:picLocks noChangeAspect="1"/>
          </p:cNvPicPr>
          <p:nvPr/>
        </p:nvPicPr>
        <p:blipFill>
          <a:blip r:embed="rId3"/>
          <a:stretch>
            <a:fillRect/>
          </a:stretch>
        </p:blipFill>
        <p:spPr>
          <a:xfrm>
            <a:off x="8492490" y="1680210"/>
            <a:ext cx="342900" cy="342900"/>
          </a:xfrm>
          <a:prstGeom prst="rect">
            <a:avLst/>
          </a:prstGeom>
        </p:spPr>
      </p:pic>
      <p:sp>
        <p:nvSpPr>
          <p:cNvPr id="16" name="judul lingkup 3"/>
          <p:cNvSpPr txBox="1"/>
          <p:nvPr/>
        </p:nvSpPr>
        <p:spPr>
          <a:xfrm>
            <a:off x="9189720" y="1645920"/>
            <a:ext cx="2194560" cy="411480"/>
          </a:xfrm>
          <a:prstGeom prst="rect">
            <a:avLst/>
          </a:prstGeom>
          <a:noFill/>
          <a:ln/>
        </p:spPr>
        <p:txBody>
          <a:bodyPr wrap="square" lIns="0" tIns="0" rIns="0" bIns="0" rtlCol="0" anchor="t"/>
          <a:lstStyle/>
          <a:p>
            <a:pPr indent="0" marL="0">
              <a:buNone/>
            </a:pPr>
            <a:r>
              <a:rPr lang="en-US" sz="1800" b="1" dirty="0">
                <a:solidFill>
                  <a:srgbClr val="14365D"/>
                </a:solidFill>
                <a:latin typeface="Calibri" pitchFamily="34" charset="0"/>
                <a:ea typeface="Calibri" pitchFamily="34" charset="-122"/>
                <a:cs typeface="Calibri" pitchFamily="34" charset="-120"/>
              </a:rPr>
              <a:t>Kota Padang</a:t>
            </a:r>
            <a:endParaRPr lang="en-US" sz="1800" dirty="0"/>
          </a:p>
        </p:txBody>
      </p:sp>
      <p:sp>
        <p:nvSpPr>
          <p:cNvPr id="17" name="isi lingkup 3"/>
          <p:cNvSpPr txBox="1"/>
          <p:nvPr/>
        </p:nvSpPr>
        <p:spPr>
          <a:xfrm>
            <a:off x="8321040" y="2331720"/>
            <a:ext cx="3063240" cy="123444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Cakupan berfokus pada Kota Padang; wilayah pesisir lain dapat ditambahkan sebagai paket data baru.</a:t>
            </a:r>
            <a:endParaRPr lang="en-US" sz="1400" dirty="0"/>
          </a:p>
        </p:txBody>
      </p:sp>
      <p:sp>
        <p:nvSpPr>
          <p:cNvPr id="18" name="judul rencana"/>
          <p:cNvSpPr txBox="1"/>
          <p:nvPr/>
        </p:nvSpPr>
        <p:spPr>
          <a:xfrm>
            <a:off x="548640" y="3840480"/>
            <a:ext cx="11094415" cy="411480"/>
          </a:xfrm>
          <a:prstGeom prst="rect">
            <a:avLst/>
          </a:prstGeom>
          <a:noFill/>
          <a:ln/>
        </p:spPr>
        <p:txBody>
          <a:bodyPr wrap="square" lIns="0" tIns="0" rIns="0" bIns="0" rtlCol="0" anchor="t"/>
          <a:lstStyle/>
          <a:p>
            <a:pPr indent="0" marL="0">
              <a:buNone/>
            </a:pPr>
            <a:r>
              <a:rPr lang="en-US" sz="2000" b="1" dirty="0">
                <a:solidFill>
                  <a:srgbClr val="14365D"/>
                </a:solidFill>
                <a:latin typeface="Calibri" pitchFamily="34" charset="0"/>
                <a:ea typeface="Calibri" pitchFamily="34" charset="-122"/>
                <a:cs typeface="Calibri" pitchFamily="34" charset="-120"/>
              </a:rPr>
              <a:t>Rencana pengembangan</a:t>
            </a:r>
            <a:endParaRPr lang="en-US" sz="2000" dirty="0"/>
          </a:p>
        </p:txBody>
      </p:sp>
      <p:sp>
        <p:nvSpPr>
          <p:cNvPr id="19" name="rencana 1 bulatan"/>
          <p:cNvSpPr/>
          <p:nvPr/>
        </p:nvSpPr>
        <p:spPr>
          <a:xfrm>
            <a:off x="548640" y="4462272"/>
            <a:ext cx="365760" cy="365760"/>
          </a:xfrm>
          <a:prstGeom prst="ellipse">
            <a:avLst/>
          </a:prstGeom>
          <a:solidFill>
            <a:srgbClr val="F5B700"/>
          </a:solidFill>
          <a:ln w="12700">
            <a:solidFill>
              <a:srgbClr val="F5B700"/>
            </a:solidFill>
            <a:prstDash val="solid"/>
          </a:ln>
        </p:spPr>
      </p:sp>
      <p:sp>
        <p:nvSpPr>
          <p:cNvPr id="20" name="rencana 1 nomor"/>
          <p:cNvSpPr txBox="1"/>
          <p:nvPr/>
        </p:nvSpPr>
        <p:spPr>
          <a:xfrm>
            <a:off x="548640" y="4462272"/>
            <a:ext cx="365760" cy="365760"/>
          </a:xfrm>
          <a:prstGeom prst="rect">
            <a:avLst/>
          </a:prstGeom>
          <a:noFill/>
          <a:ln/>
        </p:spPr>
        <p:txBody>
          <a:bodyPr wrap="square" lIns="0" tIns="0" rIns="0" bIns="0" rtlCol="0" anchor="ctr"/>
          <a:lstStyle/>
          <a:p>
            <a:pPr algn="ctr" indent="0" marL="0">
              <a:buNone/>
            </a:pPr>
            <a:r>
              <a:rPr lang="en-US" sz="1300" b="1" dirty="0">
                <a:solidFill>
                  <a:srgbClr val="14365D"/>
                </a:solidFill>
                <a:latin typeface="Calibri" pitchFamily="34" charset="0"/>
                <a:ea typeface="Calibri" pitchFamily="34" charset="-122"/>
                <a:cs typeface="Calibri" pitchFamily="34" charset="-120"/>
              </a:rPr>
              <a:t>1</a:t>
            </a:r>
            <a:endParaRPr lang="en-US" sz="1300" dirty="0"/>
          </a:p>
        </p:txBody>
      </p:sp>
      <p:sp>
        <p:nvSpPr>
          <p:cNvPr id="21" name="isi rencana 1"/>
          <p:cNvSpPr txBox="1"/>
          <p:nvPr/>
        </p:nvSpPr>
        <p:spPr>
          <a:xfrm>
            <a:off x="1051560" y="4389120"/>
            <a:ext cx="3108960" cy="548640"/>
          </a:xfrm>
          <a:prstGeom prst="rect">
            <a:avLst/>
          </a:prstGeom>
          <a:noFill/>
          <a:ln/>
        </p:spPr>
        <p:txBody>
          <a:bodyPr wrap="square" lIns="0" tIns="0" rIns="0" bIns="0" rtlCol="0" anchor="ctr"/>
          <a:lstStyle/>
          <a:p>
            <a:pPr indent="0" marL="0">
              <a:buNone/>
            </a:pPr>
            <a:r>
              <a:rPr lang="en-US" sz="1400" dirty="0">
                <a:solidFill>
                  <a:srgbClr val="1B2433"/>
                </a:solidFill>
                <a:latin typeface="Calibri" pitchFamily="34" charset="0"/>
                <a:ea typeface="Calibri" pitchFamily="34" charset="-122"/>
                <a:cs typeface="Calibri" pitchFamily="34" charset="-120"/>
              </a:rPr>
              <a:t>Simulasi evakuasi lapangan bersama BPBD</a:t>
            </a:r>
            <a:endParaRPr lang="en-US" sz="1400" dirty="0"/>
          </a:p>
        </p:txBody>
      </p:sp>
      <p:sp>
        <p:nvSpPr>
          <p:cNvPr id="22" name="rencana 2 bulatan"/>
          <p:cNvSpPr/>
          <p:nvPr/>
        </p:nvSpPr>
        <p:spPr>
          <a:xfrm>
            <a:off x="4297680" y="4462272"/>
            <a:ext cx="365760" cy="365760"/>
          </a:xfrm>
          <a:prstGeom prst="ellipse">
            <a:avLst/>
          </a:prstGeom>
          <a:solidFill>
            <a:srgbClr val="F5B700"/>
          </a:solidFill>
          <a:ln w="12700">
            <a:solidFill>
              <a:srgbClr val="F5B700"/>
            </a:solidFill>
            <a:prstDash val="solid"/>
          </a:ln>
        </p:spPr>
      </p:sp>
      <p:sp>
        <p:nvSpPr>
          <p:cNvPr id="23" name="rencana 2 nomor"/>
          <p:cNvSpPr txBox="1"/>
          <p:nvPr/>
        </p:nvSpPr>
        <p:spPr>
          <a:xfrm>
            <a:off x="4297680" y="4462272"/>
            <a:ext cx="365760" cy="365760"/>
          </a:xfrm>
          <a:prstGeom prst="rect">
            <a:avLst/>
          </a:prstGeom>
          <a:noFill/>
          <a:ln/>
        </p:spPr>
        <p:txBody>
          <a:bodyPr wrap="square" lIns="0" tIns="0" rIns="0" bIns="0" rtlCol="0" anchor="ctr"/>
          <a:lstStyle/>
          <a:p>
            <a:pPr algn="ctr" indent="0" marL="0">
              <a:buNone/>
            </a:pPr>
            <a:r>
              <a:rPr lang="en-US" sz="1300" b="1" dirty="0">
                <a:solidFill>
                  <a:srgbClr val="14365D"/>
                </a:solidFill>
                <a:latin typeface="Calibri" pitchFamily="34" charset="0"/>
                <a:ea typeface="Calibri" pitchFamily="34" charset="-122"/>
                <a:cs typeface="Calibri" pitchFamily="34" charset="-120"/>
              </a:rPr>
              <a:t>2</a:t>
            </a:r>
            <a:endParaRPr lang="en-US" sz="1300" dirty="0"/>
          </a:p>
        </p:txBody>
      </p:sp>
      <p:sp>
        <p:nvSpPr>
          <p:cNvPr id="24" name="isi rencana 2"/>
          <p:cNvSpPr txBox="1"/>
          <p:nvPr/>
        </p:nvSpPr>
        <p:spPr>
          <a:xfrm>
            <a:off x="4800600" y="4389120"/>
            <a:ext cx="3108960" cy="548640"/>
          </a:xfrm>
          <a:prstGeom prst="rect">
            <a:avLst/>
          </a:prstGeom>
          <a:noFill/>
          <a:ln/>
        </p:spPr>
        <p:txBody>
          <a:bodyPr wrap="square" lIns="0" tIns="0" rIns="0" bIns="0" rtlCol="0" anchor="ctr"/>
          <a:lstStyle/>
          <a:p>
            <a:pPr indent="0" marL="0">
              <a:buNone/>
            </a:pPr>
            <a:r>
              <a:rPr lang="en-US" sz="1400" dirty="0">
                <a:solidFill>
                  <a:srgbClr val="1B2433"/>
                </a:solidFill>
                <a:latin typeface="Calibri" pitchFamily="34" charset="0"/>
                <a:ea typeface="Calibri" pitchFamily="34" charset="-122"/>
                <a:cs typeface="Calibri" pitchFamily="34" charset="-120"/>
              </a:rPr>
              <a:t>Uji dengan lansia dan penyandang disabilitas</a:t>
            </a:r>
            <a:endParaRPr lang="en-US" sz="1400" dirty="0"/>
          </a:p>
        </p:txBody>
      </p:sp>
      <p:sp>
        <p:nvSpPr>
          <p:cNvPr id="25" name="rencana 3 bulatan"/>
          <p:cNvSpPr/>
          <p:nvPr/>
        </p:nvSpPr>
        <p:spPr>
          <a:xfrm>
            <a:off x="8046720" y="4462272"/>
            <a:ext cx="365760" cy="365760"/>
          </a:xfrm>
          <a:prstGeom prst="ellipse">
            <a:avLst/>
          </a:prstGeom>
          <a:solidFill>
            <a:srgbClr val="F5B700"/>
          </a:solidFill>
          <a:ln w="12700">
            <a:solidFill>
              <a:srgbClr val="F5B700"/>
            </a:solidFill>
            <a:prstDash val="solid"/>
          </a:ln>
        </p:spPr>
      </p:sp>
      <p:sp>
        <p:nvSpPr>
          <p:cNvPr id="26" name="rencana 3 nomor"/>
          <p:cNvSpPr txBox="1"/>
          <p:nvPr/>
        </p:nvSpPr>
        <p:spPr>
          <a:xfrm>
            <a:off x="8046720" y="4462272"/>
            <a:ext cx="365760" cy="365760"/>
          </a:xfrm>
          <a:prstGeom prst="rect">
            <a:avLst/>
          </a:prstGeom>
          <a:noFill/>
          <a:ln/>
        </p:spPr>
        <p:txBody>
          <a:bodyPr wrap="square" lIns="0" tIns="0" rIns="0" bIns="0" rtlCol="0" anchor="ctr"/>
          <a:lstStyle/>
          <a:p>
            <a:pPr algn="ctr" indent="0" marL="0">
              <a:buNone/>
            </a:pPr>
            <a:r>
              <a:rPr lang="en-US" sz="1300" b="1" dirty="0">
                <a:solidFill>
                  <a:srgbClr val="14365D"/>
                </a:solidFill>
                <a:latin typeface="Calibri" pitchFamily="34" charset="0"/>
                <a:ea typeface="Calibri" pitchFamily="34" charset="-122"/>
                <a:cs typeface="Calibri" pitchFamily="34" charset="-120"/>
              </a:rPr>
              <a:t>3</a:t>
            </a:r>
            <a:endParaRPr lang="en-US" sz="1300" dirty="0"/>
          </a:p>
        </p:txBody>
      </p:sp>
      <p:sp>
        <p:nvSpPr>
          <p:cNvPr id="27" name="isi rencana 3"/>
          <p:cNvSpPr txBox="1"/>
          <p:nvPr/>
        </p:nvSpPr>
        <p:spPr>
          <a:xfrm>
            <a:off x="8549640" y="4389120"/>
            <a:ext cx="3108960" cy="548640"/>
          </a:xfrm>
          <a:prstGeom prst="rect">
            <a:avLst/>
          </a:prstGeom>
          <a:noFill/>
          <a:ln/>
        </p:spPr>
        <p:txBody>
          <a:bodyPr wrap="square" lIns="0" tIns="0" rIns="0" bIns="0" rtlCol="0" anchor="ctr"/>
          <a:lstStyle/>
          <a:p>
            <a:pPr indent="0" marL="0">
              <a:buNone/>
            </a:pPr>
            <a:r>
              <a:rPr lang="en-US" sz="1400" dirty="0">
                <a:solidFill>
                  <a:srgbClr val="1B2433"/>
                </a:solidFill>
                <a:latin typeface="Calibri" pitchFamily="34" charset="0"/>
                <a:ea typeface="Calibri" pitchFamily="34" charset="-122"/>
                <a:cs typeface="Calibri" pitchFamily="34" charset="-120"/>
              </a:rPr>
              <a:t>Pengukuran GPS di 30 titik lapangan</a:t>
            </a:r>
            <a:endParaRPr lang="en-US" sz="1400" dirty="0"/>
          </a:p>
        </p:txBody>
      </p:sp>
      <p:sp>
        <p:nvSpPr>
          <p:cNvPr id="28" name="rencana 4 bulatan"/>
          <p:cNvSpPr/>
          <p:nvPr/>
        </p:nvSpPr>
        <p:spPr>
          <a:xfrm>
            <a:off x="548640" y="5239512"/>
            <a:ext cx="365760" cy="365760"/>
          </a:xfrm>
          <a:prstGeom prst="ellipse">
            <a:avLst/>
          </a:prstGeom>
          <a:solidFill>
            <a:srgbClr val="F5B700"/>
          </a:solidFill>
          <a:ln w="12700">
            <a:solidFill>
              <a:srgbClr val="F5B700"/>
            </a:solidFill>
            <a:prstDash val="solid"/>
          </a:ln>
        </p:spPr>
      </p:sp>
      <p:sp>
        <p:nvSpPr>
          <p:cNvPr id="29" name="rencana 4 nomor"/>
          <p:cNvSpPr txBox="1"/>
          <p:nvPr/>
        </p:nvSpPr>
        <p:spPr>
          <a:xfrm>
            <a:off x="548640" y="5239512"/>
            <a:ext cx="365760" cy="365760"/>
          </a:xfrm>
          <a:prstGeom prst="rect">
            <a:avLst/>
          </a:prstGeom>
          <a:noFill/>
          <a:ln/>
        </p:spPr>
        <p:txBody>
          <a:bodyPr wrap="square" lIns="0" tIns="0" rIns="0" bIns="0" rtlCol="0" anchor="ctr"/>
          <a:lstStyle/>
          <a:p>
            <a:pPr algn="ctr" indent="0" marL="0">
              <a:buNone/>
            </a:pPr>
            <a:r>
              <a:rPr lang="en-US" sz="1300" b="1" dirty="0">
                <a:solidFill>
                  <a:srgbClr val="14365D"/>
                </a:solidFill>
                <a:latin typeface="Calibri" pitchFamily="34" charset="0"/>
                <a:ea typeface="Calibri" pitchFamily="34" charset="-122"/>
                <a:cs typeface="Calibri" pitchFamily="34" charset="-120"/>
              </a:rPr>
              <a:t>4</a:t>
            </a:r>
            <a:endParaRPr lang="en-US" sz="1300" dirty="0"/>
          </a:p>
        </p:txBody>
      </p:sp>
      <p:sp>
        <p:nvSpPr>
          <p:cNvPr id="30" name="isi rencana 4"/>
          <p:cNvSpPr txBox="1"/>
          <p:nvPr/>
        </p:nvSpPr>
        <p:spPr>
          <a:xfrm>
            <a:off x="1051560" y="5166360"/>
            <a:ext cx="3108960" cy="548640"/>
          </a:xfrm>
          <a:prstGeom prst="rect">
            <a:avLst/>
          </a:prstGeom>
          <a:noFill/>
          <a:ln/>
        </p:spPr>
        <p:txBody>
          <a:bodyPr wrap="square" lIns="0" tIns="0" rIns="0" bIns="0" rtlCol="0" anchor="ctr"/>
          <a:lstStyle/>
          <a:p>
            <a:pPr indent="0" marL="0">
              <a:buNone/>
            </a:pPr>
            <a:r>
              <a:rPr lang="en-US" sz="1400" dirty="0">
                <a:solidFill>
                  <a:srgbClr val="1B2433"/>
                </a:solidFill>
                <a:latin typeface="Calibri" pitchFamily="34" charset="0"/>
                <a:ea typeface="Calibri" pitchFamily="34" charset="-122"/>
                <a:cs typeface="Calibri" pitchFamily="34" charset="-120"/>
              </a:rPr>
              <a:t>Uji ponsel RAM 4 GB atau kurang</a:t>
            </a:r>
            <a:endParaRPr lang="en-US" sz="1400" dirty="0"/>
          </a:p>
        </p:txBody>
      </p:sp>
      <p:sp>
        <p:nvSpPr>
          <p:cNvPr id="31" name="rencana 5 bulatan"/>
          <p:cNvSpPr/>
          <p:nvPr/>
        </p:nvSpPr>
        <p:spPr>
          <a:xfrm>
            <a:off x="4297680" y="5239512"/>
            <a:ext cx="365760" cy="365760"/>
          </a:xfrm>
          <a:prstGeom prst="ellipse">
            <a:avLst/>
          </a:prstGeom>
          <a:solidFill>
            <a:srgbClr val="F5B700"/>
          </a:solidFill>
          <a:ln w="12700">
            <a:solidFill>
              <a:srgbClr val="F5B700"/>
            </a:solidFill>
            <a:prstDash val="solid"/>
          </a:ln>
        </p:spPr>
      </p:sp>
      <p:sp>
        <p:nvSpPr>
          <p:cNvPr id="32" name="rencana 5 nomor"/>
          <p:cNvSpPr txBox="1"/>
          <p:nvPr/>
        </p:nvSpPr>
        <p:spPr>
          <a:xfrm>
            <a:off x="4297680" y="5239512"/>
            <a:ext cx="365760" cy="365760"/>
          </a:xfrm>
          <a:prstGeom prst="rect">
            <a:avLst/>
          </a:prstGeom>
          <a:noFill/>
          <a:ln/>
        </p:spPr>
        <p:txBody>
          <a:bodyPr wrap="square" lIns="0" tIns="0" rIns="0" bIns="0" rtlCol="0" anchor="ctr"/>
          <a:lstStyle/>
          <a:p>
            <a:pPr algn="ctr" indent="0" marL="0">
              <a:buNone/>
            </a:pPr>
            <a:r>
              <a:rPr lang="en-US" sz="1300" b="1" dirty="0">
                <a:solidFill>
                  <a:srgbClr val="14365D"/>
                </a:solidFill>
                <a:latin typeface="Calibri" pitchFamily="34" charset="0"/>
                <a:ea typeface="Calibri" pitchFamily="34" charset="-122"/>
                <a:cs typeface="Calibri" pitchFamily="34" charset="-120"/>
              </a:rPr>
              <a:t>5</a:t>
            </a:r>
            <a:endParaRPr lang="en-US" sz="1300" dirty="0"/>
          </a:p>
        </p:txBody>
      </p:sp>
      <p:sp>
        <p:nvSpPr>
          <p:cNvPr id="33" name="isi rencana 5"/>
          <p:cNvSpPr txBox="1"/>
          <p:nvPr/>
        </p:nvSpPr>
        <p:spPr>
          <a:xfrm>
            <a:off x="4800600" y="5166360"/>
            <a:ext cx="3108960" cy="548640"/>
          </a:xfrm>
          <a:prstGeom prst="rect">
            <a:avLst/>
          </a:prstGeom>
          <a:noFill/>
          <a:ln/>
        </p:spPr>
        <p:txBody>
          <a:bodyPr wrap="square" lIns="0" tIns="0" rIns="0" bIns="0" rtlCol="0" anchor="ctr"/>
          <a:lstStyle/>
          <a:p>
            <a:pPr indent="0" marL="0">
              <a:buNone/>
            </a:pPr>
            <a:r>
              <a:rPr lang="en-US" sz="1400" dirty="0">
                <a:solidFill>
                  <a:srgbClr val="1B2433"/>
                </a:solidFill>
                <a:latin typeface="Calibri" pitchFamily="34" charset="0"/>
                <a:ea typeface="Calibri" pitchFamily="34" charset="-122"/>
                <a:cs typeface="Calibri" pitchFamily="34" charset="-120"/>
              </a:rPr>
              <a:t>Standar luas per orang untuk daya tampung TES</a:t>
            </a:r>
            <a:endParaRPr lang="en-US" sz="1400" dirty="0"/>
          </a:p>
        </p:txBody>
      </p:sp>
      <p:sp>
        <p:nvSpPr>
          <p:cNvPr id="34" name="rencana 6 bulatan"/>
          <p:cNvSpPr/>
          <p:nvPr/>
        </p:nvSpPr>
        <p:spPr>
          <a:xfrm>
            <a:off x="8046720" y="5239512"/>
            <a:ext cx="365760" cy="365760"/>
          </a:xfrm>
          <a:prstGeom prst="ellipse">
            <a:avLst/>
          </a:prstGeom>
          <a:solidFill>
            <a:srgbClr val="F5B700"/>
          </a:solidFill>
          <a:ln w="12700">
            <a:solidFill>
              <a:srgbClr val="F5B700"/>
            </a:solidFill>
            <a:prstDash val="solid"/>
          </a:ln>
        </p:spPr>
      </p:sp>
      <p:sp>
        <p:nvSpPr>
          <p:cNvPr id="35" name="rencana 6 nomor"/>
          <p:cNvSpPr txBox="1"/>
          <p:nvPr/>
        </p:nvSpPr>
        <p:spPr>
          <a:xfrm>
            <a:off x="8046720" y="5239512"/>
            <a:ext cx="365760" cy="365760"/>
          </a:xfrm>
          <a:prstGeom prst="rect">
            <a:avLst/>
          </a:prstGeom>
          <a:noFill/>
          <a:ln/>
        </p:spPr>
        <p:txBody>
          <a:bodyPr wrap="square" lIns="0" tIns="0" rIns="0" bIns="0" rtlCol="0" anchor="ctr"/>
          <a:lstStyle/>
          <a:p>
            <a:pPr algn="ctr" indent="0" marL="0">
              <a:buNone/>
            </a:pPr>
            <a:r>
              <a:rPr lang="en-US" sz="1300" b="1" dirty="0">
                <a:solidFill>
                  <a:srgbClr val="14365D"/>
                </a:solidFill>
                <a:latin typeface="Calibri" pitchFamily="34" charset="0"/>
                <a:ea typeface="Calibri" pitchFamily="34" charset="-122"/>
                <a:cs typeface="Calibri" pitchFamily="34" charset="-120"/>
              </a:rPr>
              <a:t>6</a:t>
            </a:r>
            <a:endParaRPr lang="en-US" sz="1300" dirty="0"/>
          </a:p>
        </p:txBody>
      </p:sp>
      <p:sp>
        <p:nvSpPr>
          <p:cNvPr id="36" name="isi rencana 6"/>
          <p:cNvSpPr txBox="1"/>
          <p:nvPr/>
        </p:nvSpPr>
        <p:spPr>
          <a:xfrm>
            <a:off x="8549640" y="5166360"/>
            <a:ext cx="3108960" cy="548640"/>
          </a:xfrm>
          <a:prstGeom prst="rect">
            <a:avLst/>
          </a:prstGeom>
          <a:noFill/>
          <a:ln/>
        </p:spPr>
        <p:txBody>
          <a:bodyPr wrap="square" lIns="0" tIns="0" rIns="0" bIns="0" rtlCol="0" anchor="ctr"/>
          <a:lstStyle/>
          <a:p>
            <a:pPr indent="0" marL="0">
              <a:buNone/>
            </a:pPr>
            <a:r>
              <a:rPr lang="en-US" sz="1400" dirty="0">
                <a:solidFill>
                  <a:srgbClr val="1B2433"/>
                </a:solidFill>
                <a:latin typeface="Calibri" pitchFamily="34" charset="0"/>
                <a:ea typeface="Calibri" pitchFamily="34" charset="-122"/>
                <a:cs typeface="Calibri" pitchFamily="34" charset="-120"/>
              </a:rPr>
              <a:t>Perhitungan antrean dengan simulasi berbasis agen</a:t>
            </a:r>
            <a:endParaRPr lang="en-US" sz="1400" dirty="0"/>
          </a:p>
        </p:txBody>
      </p:sp>
      <p:sp>
        <p:nvSpPr>
          <p:cNvPr id="37"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L 3.1–3.2, 6.8; M III-E, IV.</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412480" cy="1737360"/>
          </a:xfrm>
          <a:prstGeom prst="rect">
            <a:avLst/>
          </a:prstGeom>
          <a:noFill/>
          <a:ln/>
        </p:spPr>
        <p:txBody>
          <a:bodyPr wrap="square" lIns="0" tIns="0" rIns="0" bIns="0" rtlCol="0" anchor="b"/>
          <a:lstStyle/>
          <a:p>
            <a:pPr algn="l" indent="0" marL="0">
              <a:buNone/>
            </a:pPr>
            <a:r>
              <a:rPr lang="en-US" sz="4400" b="1" dirty="0">
                <a:solidFill>
                  <a:srgbClr val="FFFFFF"/>
                </a:solidFill>
                <a:latin typeface="Arial" pitchFamily="34" charset="0"/>
                <a:ea typeface="Arial" pitchFamily="34" charset="-122"/>
                <a:cs typeface="Arial" pitchFamily="34" charset="-120"/>
              </a:rPr>
              <a:t>Tahu arah, sebelum terlambat</a:t>
            </a:r>
            <a:endParaRPr lang="en-US" sz="4400" dirty="0"/>
          </a:p>
        </p:txBody>
      </p:sp>
      <p:sp>
        <p:nvSpPr>
          <p:cNvPr id="3" name="Text 0"/>
          <p:cNvSpPr/>
          <p:nvPr>
            <p:ph idx="101" type="body" hasCustomPrompt="1"/>
          </p:nvPr>
        </p:nvSpPr>
        <p:spPr>
          <a:xfrm>
            <a:off x="548640" y="3703320"/>
            <a:ext cx="8412480" cy="91440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Siaga Padang menyajikan arahan evakuasi dari posisi pengguna dalam kurang dari 1 detik, tanpa sinyal, sesuai aturan BPBD.</a:t>
            </a:r>
            <a:endParaRPr lang="en-US" sz="2000" dirty="0"/>
          </a:p>
        </p:txBody>
      </p:sp>
      <p:sp>
        <p:nvSpPr>
          <p:cNvPr id="4" name="simbol penutup lingkaran"/>
          <p:cNvSpPr/>
          <p:nvPr/>
        </p:nvSpPr>
        <p:spPr>
          <a:xfrm>
            <a:off x="9509760" y="1920240"/>
            <a:ext cx="2011680" cy="2011680"/>
          </a:xfrm>
          <a:prstGeom prst="ellipse">
            <a:avLst/>
          </a:prstGeom>
          <a:solidFill>
            <a:srgbClr val="F5B700"/>
          </a:solidFill>
          <a:ln w="12700">
            <a:solidFill>
              <a:srgbClr val="F5B700"/>
            </a:solidFill>
            <a:prstDash val="solid"/>
          </a:ln>
        </p:spPr>
      </p:sp>
      <p:pic>
        <p:nvPicPr>
          <p:cNvPr id="5" name="simbol penutup ikon" descr="preencoded.png">    </p:cNvPr>
          <p:cNvPicPr>
            <a:picLocks noChangeAspect="1"/>
          </p:cNvPicPr>
          <p:nvPr/>
        </p:nvPicPr>
        <p:blipFill>
          <a:blip r:embed="rId1"/>
          <a:stretch>
            <a:fillRect/>
          </a:stretch>
        </p:blipFill>
        <p:spPr>
          <a:xfrm>
            <a:off x="10012680" y="2423160"/>
            <a:ext cx="1005840" cy="1005840"/>
          </a:xfrm>
          <a:prstGeom prst="rect">
            <a:avLst/>
          </a:prstGeom>
        </p:spPr>
      </p:pic>
      <p:sp>
        <p:nvSpPr>
          <p:cNvPr id="6" name="terima kasih"/>
          <p:cNvSpPr txBox="1"/>
          <p:nvPr/>
        </p:nvSpPr>
        <p:spPr>
          <a:xfrm>
            <a:off x="548640" y="5120640"/>
            <a:ext cx="5486400" cy="548640"/>
          </a:xfrm>
          <a:prstGeom prst="rect">
            <a:avLst/>
          </a:prstGeom>
          <a:noFill/>
          <a:ln/>
        </p:spPr>
        <p:txBody>
          <a:bodyPr wrap="square" lIns="0" tIns="0" rIns="0" bIns="0" rtlCol="0" anchor="t"/>
          <a:lstStyle/>
          <a:p>
            <a:pPr indent="0" marL="0">
              <a:buNone/>
            </a:pPr>
            <a:r>
              <a:rPr lang="en-US" sz="2400" b="1" dirty="0">
                <a:solidFill>
                  <a:srgbClr val="F5B700"/>
                </a:solidFill>
                <a:latin typeface="Calibri" pitchFamily="34" charset="0"/>
                <a:ea typeface="Calibri" pitchFamily="34" charset="-122"/>
                <a:cs typeface="Calibri" pitchFamily="34" charset="-120"/>
              </a:rPr>
              <a:t>Terima kasih</a:t>
            </a: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2468880"/>
            <a:ext cx="8412480" cy="1005840"/>
          </a:xfrm>
          <a:prstGeom prst="rect">
            <a:avLst/>
          </a:prstGeom>
          <a:noFill/>
          <a:ln/>
        </p:spPr>
        <p:txBody>
          <a:bodyPr wrap="square" lIns="0" tIns="0" rIns="0" bIns="0" rtlCol="0" anchor="b"/>
          <a:lstStyle/>
          <a:p>
            <a:pPr algn="l" indent="0" marL="0">
              <a:buNone/>
            </a:pPr>
            <a:r>
              <a:rPr lang="en-US" sz="4000" b="1" dirty="0">
                <a:solidFill>
                  <a:srgbClr val="FFFFFF"/>
                </a:solidFill>
                <a:latin typeface="Arial" pitchFamily="34" charset="0"/>
                <a:ea typeface="Arial" pitchFamily="34" charset="-122"/>
                <a:cs typeface="Arial" pitchFamily="34" charset="-120"/>
              </a:rPr>
              <a:t>Lampiran tanya jawab</a:t>
            </a:r>
            <a:endParaRPr lang="en-US" sz="4000" dirty="0"/>
          </a:p>
        </p:txBody>
      </p:sp>
      <p:sp>
        <p:nvSpPr>
          <p:cNvPr id="3" name="Text 0"/>
          <p:cNvSpPr/>
          <p:nvPr>
            <p:ph idx="101" type="body" hasCustomPrompt="1"/>
          </p:nvPr>
        </p:nvSpPr>
        <p:spPr>
          <a:xfrm>
            <a:off x="548640" y="3566160"/>
            <a:ext cx="8412480" cy="914400"/>
          </a:xfrm>
          <a:prstGeom prst="rect">
            <a:avLst/>
          </a:prstGeom>
          <a:noFill/>
          <a:ln/>
        </p:spPr>
        <p:txBody>
          <a:bodyPr wrap="square" lIns="0" tIns="0" rIns="0" bIns="0" rtlCol="0" anchor="t"/>
          <a:lstStyle/>
          <a:p>
            <a:pPr algn="l" indent="0" marL="0">
              <a:buNone/>
            </a:pPr>
            <a:r>
              <a:rPr lang="en-US" sz="1800" dirty="0">
                <a:solidFill>
                  <a:srgbClr val="CADCFC"/>
                </a:solidFill>
                <a:latin typeface="Calibri" pitchFamily="34" charset="0"/>
                <a:ea typeface="Calibri" pitchFamily="34" charset="-122"/>
                <a:cs typeface="Calibri" pitchFamily="34" charset="-120"/>
              </a:rPr>
              <a:t>Slide cadangan B1–B23 untuk menjawab pertanyaan juri</a:t>
            </a:r>
            <a:endParaRPr lang="en-US" sz="1800" dirty="0"/>
          </a:p>
        </p:txBody>
      </p:sp>
      <p:sp>
        <p:nvSpPr>
          <p:cNvPr id="4" name="simbol lampiran lingkaran"/>
          <p:cNvSpPr/>
          <p:nvPr/>
        </p:nvSpPr>
        <p:spPr>
          <a:xfrm>
            <a:off x="9144000" y="2194560"/>
            <a:ext cx="1828800" cy="1828800"/>
          </a:xfrm>
          <a:prstGeom prst="ellipse">
            <a:avLst/>
          </a:prstGeom>
          <a:solidFill>
            <a:srgbClr val="F5B700"/>
          </a:solidFill>
          <a:ln w="12700">
            <a:solidFill>
              <a:srgbClr val="F5B700"/>
            </a:solidFill>
            <a:prstDash val="solid"/>
          </a:ln>
        </p:spPr>
      </p:sp>
      <p:pic>
        <p:nvPicPr>
          <p:cNvPr id="5" name="simbol lampiran ikon" descr="preencoded.png">    </p:cNvPr>
          <p:cNvPicPr>
            <a:picLocks noChangeAspect="1"/>
          </p:cNvPicPr>
          <p:nvPr/>
        </p:nvPicPr>
        <p:blipFill>
          <a:blip r:embed="rId1"/>
          <a:stretch>
            <a:fillRect/>
          </a:stretch>
        </p:blipFill>
        <p:spPr>
          <a:xfrm>
            <a:off x="9601200" y="2651760"/>
            <a:ext cx="914400" cy="914400"/>
          </a:xfrm>
          <a:prstGeom prst="rect">
            <a:avLst/>
          </a:prstGeom>
        </p:spPr>
      </p:pic>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F5B700"/>
                </a:solidFill>
                <a:latin typeface="Arial" pitchFamily="34" charset="0"/>
                <a:ea typeface="Arial" pitchFamily="34" charset="-122"/>
                <a:cs typeface="Arial" pitchFamily="34" charset="-120"/>
              </a:rPr>
              <a:t>B1  </a:t>
            </a:r>
            <a:pPr algn="l" indent="0" marL="0">
              <a:buNone/>
            </a:pPr>
            <a:r>
              <a:rPr lang="en-US" sz="3000" b="1" dirty="0">
                <a:solidFill>
                  <a:srgbClr val="14365D"/>
                </a:solidFill>
                <a:latin typeface="Arial" pitchFamily="34" charset="0"/>
                <a:ea typeface="Arial" pitchFamily="34" charset="-122"/>
                <a:cs typeface="Arial" pitchFamily="34" charset="-120"/>
              </a:rPr>
              <a:t>Mengapa jalur dihitung di awal, bukan di ponsel</a:t>
            </a:r>
            <a:endParaRPr lang="en-US" sz="3000" dirty="0"/>
          </a:p>
        </p:txBody>
      </p:sp>
      <p:graphicFrame>
        <p:nvGraphicFramePr>
          <p:cNvPr id="37" name="tabel prakomputasi"/>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2103120"/>
                <a:gridCol w="4480560"/>
                <a:gridCol w="4507992"/>
              </a:tblGrid>
              <a:tr h="6858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Aspek</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Dihitung di ponsel saat darurat</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Prakomputasi Siaga Padang</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r>
              <a:tr h="685800">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Waktu</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Ponsel menelusuri graf saat darurat</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Ponsel membaca jalur tersimpan; 80–884 ms</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685800">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Konsistensi</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Bisa berbeda antarponsel atau versi</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Tujuan dan waktu tempuh identik pada 7 ponsel</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685800">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Aturan BPBD</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Harus dijalankan ulang di ponsel</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Sudah diperiksa saat data dibangun</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685800">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Beban ponsel</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Perhitungan berat saat baterai paling dibutuhkan</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Hanya pembacaan basis data lokal</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685800">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Penilaian BPBD</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Sulit diaudit per ponsel</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Data yang sama dipakai simulator dan analisis</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bl>
          </a:graphicData>
        </a:graphic>
      </p:graphicFrame>
      <p:sp>
        <p:nvSpPr>
          <p:cNvPr id="4"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L 5.7, 6.3, Tabel 6.5.</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F5B700"/>
                </a:solidFill>
                <a:latin typeface="Arial" pitchFamily="34" charset="0"/>
                <a:ea typeface="Arial" pitchFamily="34" charset="-122"/>
                <a:cs typeface="Arial" pitchFamily="34" charset="-120"/>
              </a:rPr>
              <a:t>B2  </a:t>
            </a:r>
            <a:pPr algn="l" indent="0" marL="0">
              <a:buNone/>
            </a:pPr>
            <a:r>
              <a:rPr lang="en-US" sz="3000" b="1" dirty="0">
                <a:solidFill>
                  <a:srgbClr val="14365D"/>
                </a:solidFill>
                <a:latin typeface="Arial" pitchFamily="34" charset="0"/>
                <a:ea typeface="Arial" pitchFamily="34" charset="-122"/>
                <a:cs typeface="Arial" pitchFamily="34" charset="-120"/>
              </a:rPr>
              <a:t>Ketelitian GPS dan posisi di luar jalan</a:t>
            </a:r>
            <a:endParaRPr lang="en-US" sz="3000" dirty="0"/>
          </a:p>
        </p:txBody>
      </p:sp>
      <p:pic>
        <p:nvPicPr>
          <p:cNvPr id="3" name="layar masuk jalan" descr="C:\Users\Lenovo\AppData\Local\Temp\claude\c--gemastik\520da942-8140-47c0-a16f-9bde4b92cbe5\scratchpad\deck\aset\evakuasi.png">    </p:cNvPr>
          <p:cNvPicPr>
            <a:picLocks noChangeAspect="1"/>
          </p:cNvPicPr>
          <p:nvPr/>
        </p:nvPicPr>
        <p:blipFill>
          <a:blip r:embed="rId1"/>
          <a:stretch>
            <a:fillRect/>
          </a:stretch>
        </p:blipFill>
        <p:spPr>
          <a:xfrm>
            <a:off x="548640" y="1256665"/>
            <a:ext cx="2103120" cy="4527550"/>
          </a:xfrm>
          <a:prstGeom prst="rect">
            <a:avLst/>
          </a:prstGeom>
        </p:spPr>
      </p:pic>
      <p:sp>
        <p:nvSpPr>
          <p:cNvPr id="4" name="gps 1 lingkaran"/>
          <p:cNvSpPr/>
          <p:nvPr/>
        </p:nvSpPr>
        <p:spPr>
          <a:xfrm>
            <a:off x="3017520" y="1234440"/>
            <a:ext cx="594360" cy="594360"/>
          </a:xfrm>
          <a:prstGeom prst="ellipse">
            <a:avLst/>
          </a:prstGeom>
          <a:solidFill>
            <a:srgbClr val="14365D"/>
          </a:solidFill>
          <a:ln w="12700">
            <a:solidFill>
              <a:srgbClr val="14365D"/>
            </a:solidFill>
            <a:prstDash val="solid"/>
          </a:ln>
        </p:spPr>
      </p:sp>
      <p:pic>
        <p:nvPicPr>
          <p:cNvPr id="5" name="gps 1 ikon" descr="preencoded.png">    </p:cNvPr>
          <p:cNvPicPr>
            <a:picLocks noChangeAspect="1"/>
          </p:cNvPicPr>
          <p:nvPr/>
        </p:nvPicPr>
        <p:blipFill>
          <a:blip r:embed="rId2"/>
          <a:stretch>
            <a:fillRect/>
          </a:stretch>
        </p:blipFill>
        <p:spPr>
          <a:xfrm>
            <a:off x="3166110" y="1383030"/>
            <a:ext cx="297180" cy="297180"/>
          </a:xfrm>
          <a:prstGeom prst="rect">
            <a:avLst/>
          </a:prstGeom>
        </p:spPr>
      </p:pic>
      <p:sp>
        <p:nvSpPr>
          <p:cNvPr id="6" name="gps judul 1"/>
          <p:cNvSpPr txBox="1"/>
          <p:nvPr/>
        </p:nvSpPr>
        <p:spPr>
          <a:xfrm>
            <a:off x="3840480" y="1234440"/>
            <a:ext cx="7799832" cy="384048"/>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Status "Belum pasti"</a:t>
            </a:r>
            <a:endParaRPr lang="en-US" sz="1700" dirty="0"/>
          </a:p>
        </p:txBody>
      </p:sp>
      <p:sp>
        <p:nvSpPr>
          <p:cNvPr id="7" name="gps isi 1"/>
          <p:cNvSpPr txBox="1"/>
          <p:nvPr/>
        </p:nvSpPr>
        <p:spPr>
          <a:xfrm>
            <a:off x="3840480" y="1627632"/>
            <a:ext cx="7799832" cy="4572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Bila pembacaan posisi belum cukup untuk menentukan zona.</a:t>
            </a:r>
            <a:endParaRPr lang="en-US" sz="1400" dirty="0"/>
          </a:p>
        </p:txBody>
      </p:sp>
      <p:sp>
        <p:nvSpPr>
          <p:cNvPr id="8" name="gps 2 lingkaran"/>
          <p:cNvSpPr/>
          <p:nvPr/>
        </p:nvSpPr>
        <p:spPr>
          <a:xfrm>
            <a:off x="3017520" y="2148840"/>
            <a:ext cx="594360" cy="594360"/>
          </a:xfrm>
          <a:prstGeom prst="ellipse">
            <a:avLst/>
          </a:prstGeom>
          <a:solidFill>
            <a:srgbClr val="14365D"/>
          </a:solidFill>
          <a:ln w="12700">
            <a:solidFill>
              <a:srgbClr val="14365D"/>
            </a:solidFill>
            <a:prstDash val="solid"/>
          </a:ln>
        </p:spPr>
      </p:sp>
      <p:pic>
        <p:nvPicPr>
          <p:cNvPr id="9" name="gps 2 ikon" descr="preencoded.png">    </p:cNvPr>
          <p:cNvPicPr>
            <a:picLocks noChangeAspect="1"/>
          </p:cNvPicPr>
          <p:nvPr/>
        </p:nvPicPr>
        <p:blipFill>
          <a:blip r:embed="rId3"/>
          <a:stretch>
            <a:fillRect/>
          </a:stretch>
        </p:blipFill>
        <p:spPr>
          <a:xfrm>
            <a:off x="3166110" y="2297430"/>
            <a:ext cx="297180" cy="297180"/>
          </a:xfrm>
          <a:prstGeom prst="rect">
            <a:avLst/>
          </a:prstGeom>
        </p:spPr>
      </p:pic>
      <p:sp>
        <p:nvSpPr>
          <p:cNvPr id="10" name="gps judul 2"/>
          <p:cNvSpPr txBox="1"/>
          <p:nvPr/>
        </p:nvSpPr>
        <p:spPr>
          <a:xfrm>
            <a:off x="3840480" y="2148840"/>
            <a:ext cx="7799832" cy="384048"/>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Garis ke titik masuk</a:t>
            </a:r>
            <a:endParaRPr lang="en-US" sz="1700" dirty="0"/>
          </a:p>
        </p:txBody>
      </p:sp>
      <p:sp>
        <p:nvSpPr>
          <p:cNvPr id="11" name="gps isi 2"/>
          <p:cNvSpPr txBox="1"/>
          <p:nvPr/>
        </p:nvSpPr>
        <p:spPr>
          <a:xfrm>
            <a:off x="3840480" y="2542032"/>
            <a:ext cx="7799832" cy="4572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Posisi lebih dari 18 m dari jalur: garis putus-putus "Masuk jalan di sini".</a:t>
            </a:r>
            <a:endParaRPr lang="en-US" sz="1400" dirty="0"/>
          </a:p>
        </p:txBody>
      </p:sp>
      <p:sp>
        <p:nvSpPr>
          <p:cNvPr id="12" name="gps 3 lingkaran"/>
          <p:cNvSpPr/>
          <p:nvPr/>
        </p:nvSpPr>
        <p:spPr>
          <a:xfrm>
            <a:off x="3017520" y="3063240"/>
            <a:ext cx="594360" cy="594360"/>
          </a:xfrm>
          <a:prstGeom prst="ellipse">
            <a:avLst/>
          </a:prstGeom>
          <a:solidFill>
            <a:srgbClr val="14365D"/>
          </a:solidFill>
          <a:ln w="12700">
            <a:solidFill>
              <a:srgbClr val="14365D"/>
            </a:solidFill>
            <a:prstDash val="solid"/>
          </a:ln>
        </p:spPr>
      </p:sp>
      <p:pic>
        <p:nvPicPr>
          <p:cNvPr id="13" name="gps 3 ikon" descr="preencoded.png">    </p:cNvPr>
          <p:cNvPicPr>
            <a:picLocks noChangeAspect="1"/>
          </p:cNvPicPr>
          <p:nvPr/>
        </p:nvPicPr>
        <p:blipFill>
          <a:blip r:embed="rId4"/>
          <a:stretch>
            <a:fillRect/>
          </a:stretch>
        </p:blipFill>
        <p:spPr>
          <a:xfrm>
            <a:off x="3166110" y="3211830"/>
            <a:ext cx="297180" cy="297180"/>
          </a:xfrm>
          <a:prstGeom prst="rect">
            <a:avLst/>
          </a:prstGeom>
        </p:spPr>
      </p:pic>
      <p:sp>
        <p:nvSpPr>
          <p:cNvPr id="14" name="gps judul 3"/>
          <p:cNvSpPr txBox="1"/>
          <p:nvPr/>
        </p:nvSpPr>
        <p:spPr>
          <a:xfrm>
            <a:off x="3840480" y="3063240"/>
            <a:ext cx="7799832" cy="384048"/>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Status zona stabil</a:t>
            </a:r>
            <a:endParaRPr lang="en-US" sz="1700" dirty="0"/>
          </a:p>
        </p:txBody>
      </p:sp>
      <p:sp>
        <p:nvSpPr>
          <p:cNvPr id="15" name="gps isi 3"/>
          <p:cNvSpPr txBox="1"/>
          <p:nvPr/>
        </p:nvSpPr>
        <p:spPr>
          <a:xfrm>
            <a:off x="3840480" y="3456432"/>
            <a:ext cx="7799832" cy="4572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Status berubah setelah bergerak 12 m dan dua pembacaan menunjukkan zona yang sama.</a:t>
            </a:r>
            <a:endParaRPr lang="en-US" sz="1400" dirty="0"/>
          </a:p>
        </p:txBody>
      </p:sp>
      <p:sp>
        <p:nvSpPr>
          <p:cNvPr id="16" name="gps 4 lingkaran"/>
          <p:cNvSpPr/>
          <p:nvPr/>
        </p:nvSpPr>
        <p:spPr>
          <a:xfrm>
            <a:off x="3017520" y="3977640"/>
            <a:ext cx="594360" cy="594360"/>
          </a:xfrm>
          <a:prstGeom prst="ellipse">
            <a:avLst/>
          </a:prstGeom>
          <a:solidFill>
            <a:srgbClr val="14365D"/>
          </a:solidFill>
          <a:ln w="12700">
            <a:solidFill>
              <a:srgbClr val="14365D"/>
            </a:solidFill>
            <a:prstDash val="solid"/>
          </a:ln>
        </p:spPr>
      </p:sp>
      <p:pic>
        <p:nvPicPr>
          <p:cNvPr id="17" name="gps 4 ikon" descr="preencoded.png">    </p:cNvPr>
          <p:cNvPicPr>
            <a:picLocks noChangeAspect="1"/>
          </p:cNvPicPr>
          <p:nvPr/>
        </p:nvPicPr>
        <p:blipFill>
          <a:blip r:embed="rId5"/>
          <a:stretch>
            <a:fillRect/>
          </a:stretch>
        </p:blipFill>
        <p:spPr>
          <a:xfrm>
            <a:off x="3166110" y="4126230"/>
            <a:ext cx="297180" cy="297180"/>
          </a:xfrm>
          <a:prstGeom prst="rect">
            <a:avLst/>
          </a:prstGeom>
        </p:spPr>
      </p:pic>
      <p:sp>
        <p:nvSpPr>
          <p:cNvPr id="18" name="gps judul 4"/>
          <p:cNvSpPr txBox="1"/>
          <p:nvPr/>
        </p:nvSpPr>
        <p:spPr>
          <a:xfrm>
            <a:off x="3840480" y="3977640"/>
            <a:ext cx="7799832" cy="384048"/>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Kedatangan butuh ketelitian</a:t>
            </a:r>
            <a:endParaRPr lang="en-US" sz="1700" dirty="0"/>
          </a:p>
        </p:txBody>
      </p:sp>
      <p:sp>
        <p:nvSpPr>
          <p:cNvPr id="19" name="gps isi 4"/>
          <p:cNvSpPr txBox="1"/>
          <p:nvPr/>
        </p:nvSpPr>
        <p:spPr>
          <a:xfrm>
            <a:off x="3840480" y="4370832"/>
            <a:ext cx="7799832" cy="4572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Tiga pembacaan ≤ 20 m dari tujuan dengan kesalahan posisi ≤ 35 m.</a:t>
            </a:r>
            <a:endParaRPr lang="en-US" sz="1400" dirty="0"/>
          </a:p>
        </p:txBody>
      </p:sp>
      <p:sp>
        <p:nvSpPr>
          <p:cNvPr id="20" name="gps 5 lingkaran"/>
          <p:cNvSpPr/>
          <p:nvPr/>
        </p:nvSpPr>
        <p:spPr>
          <a:xfrm>
            <a:off x="3017520" y="4892040"/>
            <a:ext cx="594360" cy="594360"/>
          </a:xfrm>
          <a:prstGeom prst="ellipse">
            <a:avLst/>
          </a:prstGeom>
          <a:solidFill>
            <a:srgbClr val="2F7F9C"/>
          </a:solidFill>
          <a:ln w="12700">
            <a:solidFill>
              <a:srgbClr val="2F7F9C"/>
            </a:solidFill>
            <a:prstDash val="solid"/>
          </a:ln>
        </p:spPr>
      </p:sp>
      <p:pic>
        <p:nvPicPr>
          <p:cNvPr id="21" name="gps 5 ikon" descr="preencoded.png">    </p:cNvPr>
          <p:cNvPicPr>
            <a:picLocks noChangeAspect="1"/>
          </p:cNvPicPr>
          <p:nvPr/>
        </p:nvPicPr>
        <p:blipFill>
          <a:blip r:embed="rId6"/>
          <a:stretch>
            <a:fillRect/>
          </a:stretch>
        </p:blipFill>
        <p:spPr>
          <a:xfrm>
            <a:off x="3166110" y="5040630"/>
            <a:ext cx="297180" cy="297180"/>
          </a:xfrm>
          <a:prstGeom prst="rect">
            <a:avLst/>
          </a:prstGeom>
        </p:spPr>
      </p:pic>
      <p:sp>
        <p:nvSpPr>
          <p:cNvPr id="22" name="gps judul 5"/>
          <p:cNvSpPr txBox="1"/>
          <p:nvPr/>
        </p:nvSpPr>
        <p:spPr>
          <a:xfrm>
            <a:off x="3840480" y="4892040"/>
            <a:ext cx="7799832" cy="384048"/>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Langkah berikutnya</a:t>
            </a:r>
            <a:endParaRPr lang="en-US" sz="1700" dirty="0"/>
          </a:p>
        </p:txBody>
      </p:sp>
      <p:sp>
        <p:nvSpPr>
          <p:cNvPr id="23" name="gps isi 5"/>
          <p:cNvSpPr txBox="1"/>
          <p:nvPr/>
        </p:nvSpPr>
        <p:spPr>
          <a:xfrm>
            <a:off x="3840480" y="5285232"/>
            <a:ext cx="7799832" cy="4572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Pengukuran GPS di 30 titik lapangan untuk melengkapi uji koordinat tetap.</a:t>
            </a:r>
            <a:endParaRPr lang="en-US" sz="1400" dirty="0"/>
          </a:p>
        </p:txBody>
      </p:sp>
      <p:sp>
        <p:nvSpPr>
          <p:cNvPr id="24"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L 5.7.5, 5.9, 6.3, Tabel 6.8.</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F5B700"/>
                </a:solidFill>
                <a:latin typeface="Arial" pitchFamily="34" charset="0"/>
                <a:ea typeface="Arial" pitchFamily="34" charset="-122"/>
                <a:cs typeface="Arial" pitchFamily="34" charset="-120"/>
              </a:rPr>
              <a:t>B3  </a:t>
            </a:r>
            <a:pPr algn="l" indent="0" marL="0">
              <a:buNone/>
            </a:pPr>
            <a:r>
              <a:rPr lang="en-US" sz="3000" b="1" dirty="0">
                <a:solidFill>
                  <a:srgbClr val="14365D"/>
                </a:solidFill>
                <a:latin typeface="Arial" pitchFamily="34" charset="0"/>
                <a:ea typeface="Arial" pitchFamily="34" charset="-122"/>
                <a:cs typeface="Arial" pitchFamily="34" charset="-120"/>
              </a:rPr>
              <a:t>Jika jalan rusak atau terhalang</a:t>
            </a:r>
            <a:endParaRPr lang="en-US" sz="3000" dirty="0"/>
          </a:p>
        </p:txBody>
      </p:sp>
      <p:graphicFrame>
        <p:nvGraphicFramePr>
          <p:cNvPr id="39" name="tabel jalur gagal"/>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474720"/>
                <a:gridCol w="7616952"/>
              </a:tblGrid>
              <a:tr h="65836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Kondisi</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Perilaku aplikasi</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r>
              <a:tr h="658368">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Jalur prioritas tersedia</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Menampilkan jalur ke tujuan menurut urutan pemilihan</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658368">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Pengguna mengambil jalan lain</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Membandingkan jalur dari jalan baru dengan kembali; jalur lama dipakai bila menghemat ≥ 1 menit</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658368">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Jalur pertama terhalang</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Jalan memutar dari simpul sekitar yang tidak lebih dekat ke pantai; bila tidak ada, tujuan lain</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658368">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Alternatif juga terhalang</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Membaca tujuan urutan lain yang belum dipakai</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658368">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Laporan warga mengonfirmasi ruas terhalang</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Jalur dialihkan dan perubahannya diumumkan (butuh jaringan)</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658368">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Tidak ada alternatif lokal</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Garis arah "Bukan rute jalan. Jauhi pantai."; ikuti rambu dan petugas</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bl>
          </a:graphicData>
        </a:graphic>
      </p:graphicFrame>
      <p:sp>
        <p:nvSpPr>
          <p:cNvPr id="4"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L 5.8, Tabel 5.9.</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F5B700"/>
                </a:solidFill>
                <a:latin typeface="Arial" pitchFamily="34" charset="0"/>
                <a:ea typeface="Arial" pitchFamily="34" charset="-122"/>
                <a:cs typeface="Arial" pitchFamily="34" charset="-120"/>
              </a:rPr>
              <a:t>B4  </a:t>
            </a:r>
            <a:pPr algn="l" indent="0" marL="0">
              <a:buNone/>
            </a:pPr>
            <a:r>
              <a:rPr lang="en-US" sz="3000" b="1" dirty="0">
                <a:solidFill>
                  <a:srgbClr val="14365D"/>
                </a:solidFill>
                <a:latin typeface="Arial" pitchFamily="34" charset="0"/>
                <a:ea typeface="Arial" pitchFamily="34" charset="-122"/>
                <a:cs typeface="Arial" pitchFamily="34" charset="-120"/>
              </a:rPr>
              <a:t>Dari mana laju 0,894 m/s dan batas 15 menit</a:t>
            </a:r>
            <a:endParaRPr lang="en-US" sz="3000" dirty="0"/>
          </a:p>
        </p:txBody>
      </p:sp>
      <p:sp>
        <p:nvSpPr>
          <p:cNvPr id="3" name="laju angka"/>
          <p:cNvSpPr txBox="1"/>
          <p:nvPr/>
        </p:nvSpPr>
        <p:spPr>
          <a:xfrm>
            <a:off x="548640" y="1325880"/>
            <a:ext cx="3383280" cy="539750"/>
          </a:xfrm>
          <a:prstGeom prst="rect">
            <a:avLst/>
          </a:prstGeom>
          <a:noFill/>
          <a:ln/>
        </p:spPr>
        <p:txBody>
          <a:bodyPr wrap="square" lIns="0" tIns="0" rIns="0" bIns="0" rtlCol="0" anchor="b"/>
          <a:lstStyle/>
          <a:p>
            <a:pPr indent="0" marL="0">
              <a:buNone/>
            </a:pPr>
            <a:r>
              <a:rPr lang="en-US" sz="3400" b="1" dirty="0">
                <a:solidFill>
                  <a:srgbClr val="14365D"/>
                </a:solidFill>
                <a:latin typeface="Arial" pitchFamily="34" charset="0"/>
                <a:ea typeface="Arial" pitchFamily="34" charset="-122"/>
                <a:cs typeface="Arial" pitchFamily="34" charset="-120"/>
              </a:rPr>
              <a:t>0,894 m/s</a:t>
            </a:r>
            <a:endParaRPr lang="en-US" sz="3400" dirty="0"/>
          </a:p>
        </p:txBody>
      </p:sp>
      <p:sp>
        <p:nvSpPr>
          <p:cNvPr id="4" name="laju label"/>
          <p:cNvSpPr txBox="1"/>
          <p:nvPr/>
        </p:nvSpPr>
        <p:spPr>
          <a:xfrm>
            <a:off x="548640" y="1938782"/>
            <a:ext cx="338328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 3,2 km/jam, laju orang dengan mobilitas terbatas (FEMA P-646), juga dirujuk BPBD</a:t>
            </a:r>
            <a:endParaRPr lang="en-US" sz="1400" dirty="0"/>
          </a:p>
        </p:txBody>
      </p:sp>
      <p:sp>
        <p:nvSpPr>
          <p:cNvPr id="5" name="batas angka"/>
          <p:cNvSpPr txBox="1"/>
          <p:nvPr/>
        </p:nvSpPr>
        <p:spPr>
          <a:xfrm>
            <a:off x="4343400" y="1325880"/>
            <a:ext cx="3383280" cy="539750"/>
          </a:xfrm>
          <a:prstGeom prst="rect">
            <a:avLst/>
          </a:prstGeom>
          <a:noFill/>
          <a:ln/>
        </p:spPr>
        <p:txBody>
          <a:bodyPr wrap="square" lIns="0" tIns="0" rIns="0" bIns="0" rtlCol="0" anchor="b"/>
          <a:lstStyle/>
          <a:p>
            <a:pPr indent="0" marL="0">
              <a:buNone/>
            </a:pPr>
            <a:r>
              <a:rPr lang="en-US" sz="3400" b="1" dirty="0">
                <a:solidFill>
                  <a:srgbClr val="D9472F"/>
                </a:solidFill>
                <a:latin typeface="Arial" pitchFamily="34" charset="0"/>
                <a:ea typeface="Arial" pitchFamily="34" charset="-122"/>
                <a:cs typeface="Arial" pitchFamily="34" charset="-120"/>
              </a:rPr>
              <a:t>20 − 5 menit</a:t>
            </a:r>
            <a:endParaRPr lang="en-US" sz="3400" dirty="0"/>
          </a:p>
        </p:txBody>
      </p:sp>
      <p:sp>
        <p:nvSpPr>
          <p:cNvPr id="6" name="batas label"/>
          <p:cNvSpPr txBox="1"/>
          <p:nvPr/>
        </p:nvSpPr>
        <p:spPr>
          <a:xfrm>
            <a:off x="4343400" y="1938782"/>
            <a:ext cx="338328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batas 20 menit dari acuan BPBD 20–30 menit, dikurangi cadangan hambatan 5 menit</a:t>
            </a:r>
            <a:endParaRPr lang="en-US" sz="1400" dirty="0"/>
          </a:p>
        </p:txBody>
      </p:sp>
      <p:sp>
        <p:nvSpPr>
          <p:cNvPr id="7" name="jarak angka"/>
          <p:cNvSpPr txBox="1"/>
          <p:nvPr/>
        </p:nvSpPr>
        <p:spPr>
          <a:xfrm>
            <a:off x="8138160" y="1325880"/>
            <a:ext cx="3474720" cy="539750"/>
          </a:xfrm>
          <a:prstGeom prst="rect">
            <a:avLst/>
          </a:prstGeom>
          <a:noFill/>
          <a:ln/>
        </p:spPr>
        <p:txBody>
          <a:bodyPr wrap="square" lIns="0" tIns="0" rIns="0" bIns="0" rtlCol="0" anchor="b"/>
          <a:lstStyle/>
          <a:p>
            <a:pPr indent="0" marL="0">
              <a:buNone/>
            </a:pPr>
            <a:r>
              <a:rPr lang="en-US" sz="3400" b="1" dirty="0">
                <a:solidFill>
                  <a:srgbClr val="2F7F9C"/>
                </a:solidFill>
                <a:latin typeface="Arial" pitchFamily="34" charset="0"/>
                <a:ea typeface="Arial" pitchFamily="34" charset="-122"/>
                <a:cs typeface="Arial" pitchFamily="34" charset="-120"/>
              </a:rPr>
              <a:t>≈ 0,80 km</a:t>
            </a:r>
            <a:endParaRPr lang="en-US" sz="3400" dirty="0"/>
          </a:p>
        </p:txBody>
      </p:sp>
      <p:sp>
        <p:nvSpPr>
          <p:cNvPr id="8" name="jarak label"/>
          <p:cNvSpPr txBox="1"/>
          <p:nvPr/>
        </p:nvSpPr>
        <p:spPr>
          <a:xfrm>
            <a:off x="8138160" y="1938782"/>
            <a:ext cx="347472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jarak yang terjangkau dalam 15 menit sepanjang jalan</a:t>
            </a:r>
            <a:endParaRPr lang="en-US" sz="1400" dirty="0"/>
          </a:p>
        </p:txBody>
      </p:sp>
      <p:graphicFrame>
        <p:nvGraphicFramePr>
          <p:cNvPr id="40" name="tabel jalan kaki"/>
          <p:cNvGraphicFramePr>
            <a:graphicFrameLocks noGrp="1"/>
          </p:cNvGraphicFramePr>
          <p:nvPr>
            <p:extLst>
              <p:ext uri="{D42A27DB-BD31-4B8C-83A1-F6EECF244321}">
                <p14:modId xmlns:p14="http://schemas.microsoft.com/office/powerpoint/2010/main" val="1579011935"/>
              </p:ext>
            </p:extLst>
          </p:nvPr>
        </p:nvGraphicFramePr>
        <p:xfrm>
          <a:off x="548640" y="3474720"/>
          <a:ext cx="11094415" cy="914400"/>
        </p:xfrm>
        <a:graphic>
          <a:graphicData uri="http://schemas.openxmlformats.org/drawingml/2006/table">
            <a:tbl>
              <a:tblPr/>
              <a:tblGrid>
                <a:gridCol w="6519672"/>
                <a:gridCol w="2286000"/>
                <a:gridCol w="2286000"/>
              </a:tblGrid>
              <a:tr h="54864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Uji jalan kaki (22 Oktober 2026)</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Waktu nyata</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Perkiraan aplikasi</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r>
              <a:tr h="548640">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Masjid Al Hakim → Hotel Bintang (internet menyala)</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9 menit</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18 menit</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548640">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Jl. Tuanku Imam Bonjol → Youth Center (mode pesawat)</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7 menit</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12 menit</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bl>
          </a:graphicData>
        </a:graphic>
      </p:graphicFrame>
      <p:sp>
        <p:nvSpPr>
          <p:cNvPr id="10" name="catatan laju"/>
          <p:cNvSpPr txBox="1"/>
          <p:nvPr/>
        </p:nvSpPr>
        <p:spPr>
          <a:xfrm>
            <a:off x="548640" y="5257800"/>
            <a:ext cx="11094415" cy="54864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Perkiraan sengaja konservatif agar orang dengan mobilitas terbatas tetap sempat; waktu nyata bergantung pada kecepatan dan kondisi perjalanan.</a:t>
            </a:r>
            <a:endParaRPr lang="en-US" sz="1400" dirty="0"/>
          </a:p>
        </p:txBody>
      </p:sp>
      <p:sp>
        <p:nvSpPr>
          <p:cNvPr id="11"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L 1.4, 5.7.3, 6.6.2.</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F5B700"/>
                </a:solidFill>
                <a:latin typeface="Arial" pitchFamily="34" charset="0"/>
                <a:ea typeface="Arial" pitchFamily="34" charset="-122"/>
                <a:cs typeface="Arial" pitchFamily="34" charset="-120"/>
              </a:rPr>
              <a:t>B5  </a:t>
            </a:r>
            <a:pPr algn="l" indent="0" marL="0">
              <a:buNone/>
            </a:pPr>
            <a:r>
              <a:rPr lang="en-US" sz="3000" b="1" dirty="0">
                <a:solidFill>
                  <a:srgbClr val="14365D"/>
                </a:solidFill>
                <a:latin typeface="Arial" pitchFamily="34" charset="0"/>
                <a:ea typeface="Arial" pitchFamily="34" charset="-122"/>
                <a:cs typeface="Arial" pitchFamily="34" charset="-120"/>
              </a:rPr>
              <a:t>Mengapa TEA dan zona hijau tidak dibatasi kapasitas</a:t>
            </a:r>
            <a:endParaRPr lang="en-US" sz="3000" dirty="0"/>
          </a:p>
        </p:txBody>
      </p:sp>
      <p:sp>
        <p:nvSpPr>
          <p:cNvPr id="3" name="kartu tes"/>
          <p:cNvSpPr/>
          <p:nvPr/>
        </p:nvSpPr>
        <p:spPr>
          <a:xfrm>
            <a:off x="548640" y="1280160"/>
            <a:ext cx="5440680" cy="4480560"/>
          </a:xfrm>
          <a:prstGeom prst="roundRect">
            <a:avLst>
              <a:gd name="adj" fmla="val 1633"/>
            </a:avLst>
          </a:prstGeom>
          <a:solidFill>
            <a:srgbClr val="EEF2F7"/>
          </a:solidFill>
          <a:ln w="12700">
            <a:solidFill>
              <a:srgbClr val="EEF2F7"/>
            </a:solidFill>
            <a:prstDash val="solid"/>
          </a:ln>
        </p:spPr>
      </p:sp>
      <p:sp>
        <p:nvSpPr>
          <p:cNvPr id="4" name="tes lingkaran"/>
          <p:cNvSpPr/>
          <p:nvPr/>
        </p:nvSpPr>
        <p:spPr>
          <a:xfrm>
            <a:off x="822960" y="1508760"/>
            <a:ext cx="777240" cy="777240"/>
          </a:xfrm>
          <a:prstGeom prst="ellipse">
            <a:avLst/>
          </a:prstGeom>
          <a:solidFill>
            <a:srgbClr val="14365D"/>
          </a:solidFill>
          <a:ln w="12700">
            <a:solidFill>
              <a:srgbClr val="14365D"/>
            </a:solidFill>
            <a:prstDash val="solid"/>
          </a:ln>
        </p:spPr>
      </p:sp>
      <p:pic>
        <p:nvPicPr>
          <p:cNvPr id="5" name="tes ikon" descr="preencoded.png">    </p:cNvPr>
          <p:cNvPicPr>
            <a:picLocks noChangeAspect="1"/>
          </p:cNvPicPr>
          <p:nvPr/>
        </p:nvPicPr>
        <p:blipFill>
          <a:blip r:embed="rId1"/>
          <a:stretch>
            <a:fillRect/>
          </a:stretch>
        </p:blipFill>
        <p:spPr>
          <a:xfrm>
            <a:off x="1017270" y="1703070"/>
            <a:ext cx="388620" cy="388620"/>
          </a:xfrm>
          <a:prstGeom prst="rect">
            <a:avLst/>
          </a:prstGeom>
        </p:spPr>
      </p:pic>
      <p:sp>
        <p:nvSpPr>
          <p:cNvPr id="6" name="judul tes"/>
          <p:cNvSpPr txBox="1"/>
          <p:nvPr/>
        </p:nvSpPr>
        <p:spPr>
          <a:xfrm>
            <a:off x="1828800" y="1645920"/>
            <a:ext cx="4023360" cy="457200"/>
          </a:xfrm>
          <a:prstGeom prst="rect">
            <a:avLst/>
          </a:prstGeom>
          <a:noFill/>
          <a:ln/>
        </p:spPr>
        <p:txBody>
          <a:bodyPr wrap="square" lIns="0" tIns="0" rIns="0" bIns="0" rtlCol="0" anchor="t"/>
          <a:lstStyle/>
          <a:p>
            <a:pPr indent="0" marL="0">
              <a:buNone/>
            </a:pPr>
            <a:r>
              <a:rPr lang="en-US" sz="1900" b="1" dirty="0">
                <a:solidFill>
                  <a:srgbClr val="14365D"/>
                </a:solidFill>
                <a:latin typeface="Calibri" pitchFamily="34" charset="0"/>
                <a:ea typeface="Calibri" pitchFamily="34" charset="-122"/>
                <a:cs typeface="Calibri" pitchFamily="34" charset="-120"/>
              </a:rPr>
              <a:t>TES: dibatasi daya tampung</a:t>
            </a:r>
            <a:endParaRPr lang="en-US" sz="1900" dirty="0"/>
          </a:p>
        </p:txBody>
      </p:sp>
      <p:sp>
        <p:nvSpPr>
          <p:cNvPr id="7" name="isi tes"/>
          <p:cNvSpPr txBox="1"/>
          <p:nvPr/>
        </p:nvSpPr>
        <p:spPr>
          <a:xfrm>
            <a:off x="822960" y="2514600"/>
            <a:ext cx="4892040" cy="30175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B2433"/>
                </a:solidFill>
                <a:latin typeface="Calibri" pitchFamily="34" charset="0"/>
                <a:ea typeface="Calibri" pitchFamily="34" charset="-122"/>
                <a:cs typeface="Calibri" pitchFamily="34" charset="-120"/>
              </a:rPr>
              <a:t>Gedung atau bukit dengan ruang aman terbatas</a:t>
            </a:r>
            <a:endParaRPr lang="en-US" sz="1500" dirty="0"/>
          </a:p>
          <a:p>
            <a:pPr marL="342900" indent="-342900">
              <a:spcAft>
                <a:spcPts val="600"/>
              </a:spcAft>
              <a:buSzPct val="100000"/>
              <a:buChar char="•"/>
            </a:pPr>
            <a:r>
              <a:rPr lang="en-US" sz="1500" dirty="0">
                <a:solidFill>
                  <a:srgbClr val="1B2433"/>
                </a:solidFill>
                <a:latin typeface="Calibri" pitchFamily="34" charset="0"/>
                <a:ea typeface="Calibri" pitchFamily="34" charset="-122"/>
                <a:cs typeface="Calibri" pitchFamily="34" charset="-120"/>
              </a:rPr>
              <a:t>Kelebihan beban berisiko tinggi saat tsunami</a:t>
            </a:r>
            <a:endParaRPr lang="en-US" sz="1500" dirty="0"/>
          </a:p>
          <a:p>
            <a:pPr marL="342900" indent="-342900">
              <a:spcAft>
                <a:spcPts val="600"/>
              </a:spcAft>
              <a:buSzPct val="100000"/>
              <a:buChar char="•"/>
            </a:pPr>
            <a:r>
              <a:rPr lang="en-US" sz="1500" dirty="0">
                <a:solidFill>
                  <a:srgbClr val="1B2433"/>
                </a:solidFill>
                <a:latin typeface="Calibri" pitchFamily="34" charset="0"/>
                <a:ea typeface="Calibri" pitchFamily="34" charset="-122"/>
                <a:cs typeface="Calibri" pitchFamily="34" charset="-120"/>
              </a:rPr>
              <a:t>Warga dibagi dengan porsi menurut daya tampung</a:t>
            </a:r>
            <a:endParaRPr lang="en-US" sz="1500" dirty="0"/>
          </a:p>
          <a:p>
            <a:pPr marL="342900" indent="-342900">
              <a:spcAft>
                <a:spcPts val="600"/>
              </a:spcAft>
              <a:buSzPct val="100000"/>
              <a:buChar char="•"/>
            </a:pPr>
            <a:r>
              <a:rPr lang="en-US" sz="1500" dirty="0">
                <a:solidFill>
                  <a:srgbClr val="1B2433"/>
                </a:solidFill>
                <a:latin typeface="Calibri" pitchFamily="34" charset="0"/>
                <a:ea typeface="Calibri" pitchFamily="34" charset="-122"/>
                <a:cs typeface="Calibri" pitchFamily="34" charset="-120"/>
              </a:rPr>
              <a:t>TES tanpa angka hanya cadangan</a:t>
            </a:r>
            <a:endParaRPr lang="en-US" sz="1500" dirty="0"/>
          </a:p>
        </p:txBody>
      </p:sp>
      <p:sp>
        <p:nvSpPr>
          <p:cNvPr id="8" name="kartu tea"/>
          <p:cNvSpPr/>
          <p:nvPr/>
        </p:nvSpPr>
        <p:spPr>
          <a:xfrm>
            <a:off x="6199632" y="1280160"/>
            <a:ext cx="5440680" cy="4480560"/>
          </a:xfrm>
          <a:prstGeom prst="roundRect">
            <a:avLst>
              <a:gd name="adj" fmla="val 1633"/>
            </a:avLst>
          </a:prstGeom>
          <a:solidFill>
            <a:srgbClr val="E6F2EC"/>
          </a:solidFill>
          <a:ln w="12700">
            <a:solidFill>
              <a:srgbClr val="E6F2EC"/>
            </a:solidFill>
            <a:prstDash val="solid"/>
          </a:ln>
        </p:spPr>
      </p:sp>
      <p:sp>
        <p:nvSpPr>
          <p:cNvPr id="9" name="tea lingkaran"/>
          <p:cNvSpPr/>
          <p:nvPr/>
        </p:nvSpPr>
        <p:spPr>
          <a:xfrm>
            <a:off x="6473952" y="1508760"/>
            <a:ext cx="777240" cy="777240"/>
          </a:xfrm>
          <a:prstGeom prst="ellipse">
            <a:avLst/>
          </a:prstGeom>
          <a:solidFill>
            <a:srgbClr val="2E8B57"/>
          </a:solidFill>
          <a:ln w="12700">
            <a:solidFill>
              <a:srgbClr val="2E8B57"/>
            </a:solidFill>
            <a:prstDash val="solid"/>
          </a:ln>
        </p:spPr>
      </p:sp>
      <p:pic>
        <p:nvPicPr>
          <p:cNvPr id="10" name="tea ikon" descr="preencoded.png">    </p:cNvPr>
          <p:cNvPicPr>
            <a:picLocks noChangeAspect="1"/>
          </p:cNvPicPr>
          <p:nvPr/>
        </p:nvPicPr>
        <p:blipFill>
          <a:blip r:embed="rId2"/>
          <a:stretch>
            <a:fillRect/>
          </a:stretch>
        </p:blipFill>
        <p:spPr>
          <a:xfrm>
            <a:off x="6668262" y="1703070"/>
            <a:ext cx="388620" cy="388620"/>
          </a:xfrm>
          <a:prstGeom prst="rect">
            <a:avLst/>
          </a:prstGeom>
        </p:spPr>
      </p:pic>
      <p:sp>
        <p:nvSpPr>
          <p:cNvPr id="11" name="judul tea"/>
          <p:cNvSpPr txBox="1"/>
          <p:nvPr/>
        </p:nvSpPr>
        <p:spPr>
          <a:xfrm>
            <a:off x="7479792" y="1645920"/>
            <a:ext cx="4023360" cy="457200"/>
          </a:xfrm>
          <a:prstGeom prst="rect">
            <a:avLst/>
          </a:prstGeom>
          <a:noFill/>
          <a:ln/>
        </p:spPr>
        <p:txBody>
          <a:bodyPr wrap="square" lIns="0" tIns="0" rIns="0" bIns="0" rtlCol="0" anchor="t"/>
          <a:lstStyle/>
          <a:p>
            <a:pPr indent="0" marL="0">
              <a:buNone/>
            </a:pPr>
            <a:r>
              <a:rPr lang="en-US" sz="1900" b="1" dirty="0">
                <a:solidFill>
                  <a:srgbClr val="2E8B57"/>
                </a:solidFill>
                <a:latin typeface="Calibri" pitchFamily="34" charset="0"/>
                <a:ea typeface="Calibri" pitchFamily="34" charset="-122"/>
                <a:cs typeface="Calibri" pitchFamily="34" charset="-120"/>
              </a:rPr>
              <a:t>TEA dan zona hijau: tidak dibatasi</a:t>
            </a:r>
            <a:endParaRPr lang="en-US" sz="1900" dirty="0"/>
          </a:p>
        </p:txBody>
      </p:sp>
      <p:sp>
        <p:nvSpPr>
          <p:cNvPr id="12" name="isi tea"/>
          <p:cNvSpPr txBox="1"/>
          <p:nvPr/>
        </p:nvSpPr>
        <p:spPr>
          <a:xfrm>
            <a:off x="6473952" y="2514600"/>
            <a:ext cx="4892040" cy="30175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B2433"/>
                </a:solidFill>
                <a:latin typeface="Calibri" pitchFamily="34" charset="0"/>
                <a:ea typeface="Calibri" pitchFamily="34" charset="-122"/>
                <a:cs typeface="Calibri" pitchFamily="34" charset="-120"/>
              </a:rPr>
              <a:t>Lahan terbuka di luar wilayah bahaya</a:t>
            </a:r>
            <a:endParaRPr lang="en-US" sz="1500" dirty="0"/>
          </a:p>
          <a:p>
            <a:pPr marL="342900" indent="-342900">
              <a:spcAft>
                <a:spcPts val="600"/>
              </a:spcAft>
              <a:buSzPct val="100000"/>
              <a:buChar char="•"/>
            </a:pPr>
            <a:r>
              <a:rPr lang="en-US" sz="1500" dirty="0">
                <a:solidFill>
                  <a:srgbClr val="1B2433"/>
                </a:solidFill>
                <a:latin typeface="Calibri" pitchFamily="34" charset="0"/>
                <a:ea typeface="Calibri" pitchFamily="34" charset="-122"/>
                <a:cs typeface="Calibri" pitchFamily="34" charset="-120"/>
              </a:rPr>
              <a:t>Angka kapasitas TEA untuk logistik pengungsian, bukan batas keselamatan</a:t>
            </a:r>
            <a:endParaRPr lang="en-US" sz="1500" dirty="0"/>
          </a:p>
          <a:p>
            <a:pPr marL="342900" indent="-342900">
              <a:spcAft>
                <a:spcPts val="600"/>
              </a:spcAft>
              <a:buSzPct val="100000"/>
              <a:buChar char="•"/>
            </a:pPr>
            <a:r>
              <a:rPr lang="en-US" sz="1500" dirty="0">
                <a:solidFill>
                  <a:srgbClr val="1B2433"/>
                </a:solidFill>
                <a:latin typeface="Calibri" pitchFamily="34" charset="0"/>
                <a:ea typeface="Calibri" pitchFamily="34" charset="-122"/>
                <a:cs typeface="Calibri" pitchFamily="34" charset="-120"/>
              </a:rPr>
              <a:t>Memindahkan warga yang sudah aman karena kuota justru berbahaya</a:t>
            </a:r>
            <a:endParaRPr lang="en-US" sz="1500" dirty="0"/>
          </a:p>
          <a:p>
            <a:pPr marL="342900" indent="-342900">
              <a:spcAft>
                <a:spcPts val="600"/>
              </a:spcAft>
              <a:buSzPct val="100000"/>
              <a:buChar char="•"/>
            </a:pPr>
            <a:r>
              <a:rPr lang="en-US" sz="1500" dirty="0">
                <a:solidFill>
                  <a:srgbClr val="1B2433"/>
                </a:solidFill>
                <a:latin typeface="Calibri" pitchFamily="34" charset="0"/>
                <a:ea typeface="Calibri" pitchFamily="34" charset="-122"/>
                <a:cs typeface="Calibri" pitchFamily="34" charset="-120"/>
              </a:rPr>
              <a:t>Karena itu keluar zona merah selalu didahulukan bila sempat</a:t>
            </a:r>
            <a:endParaRPr lang="en-US" sz="1500" dirty="0"/>
          </a:p>
        </p:txBody>
      </p:sp>
      <p:sp>
        <p:nvSpPr>
          <p:cNvPr id="13"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docs/kebijakan_kapasitas_tes_tea.md; L 5.7.3.</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F5B700"/>
                </a:solidFill>
                <a:latin typeface="Arial" pitchFamily="34" charset="0"/>
                <a:ea typeface="Arial" pitchFamily="34" charset="-122"/>
                <a:cs typeface="Arial" pitchFamily="34" charset="-120"/>
              </a:rPr>
              <a:t>B6  </a:t>
            </a:r>
            <a:pPr algn="l" indent="0" marL="0">
              <a:buNone/>
            </a:pPr>
            <a:r>
              <a:rPr lang="en-US" sz="3000" b="1" dirty="0">
                <a:solidFill>
                  <a:srgbClr val="14365D"/>
                </a:solidFill>
                <a:latin typeface="Arial" pitchFamily="34" charset="0"/>
                <a:ea typeface="Arial" pitchFamily="34" charset="-122"/>
                <a:cs typeface="Arial" pitchFamily="34" charset="-120"/>
              </a:rPr>
              <a:t>Data daya tampung TES</a:t>
            </a:r>
            <a:endParaRPr lang="en-US" sz="3000" dirty="0"/>
          </a:p>
        </p:txBody>
      </p:sp>
      <p:graphicFrame>
        <p:nvGraphicFramePr>
          <p:cNvPr id="42" name="tabel daya tampung"/>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4206240"/>
                <a:gridCol w="1645920"/>
                <a:gridCol w="2743200"/>
                <a:gridCol w="2496312"/>
              </a:tblGrid>
              <a:tr h="54864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Sumber TES</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Jumlah</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Punya angka daya tampung</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Total daya tampung</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r>
              <a:tr h="548640">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Daftar BPBD 2019</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45</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32</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48.930 jiwa</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548640">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Kesepakatan warga (Kelurahan Tangguh)</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199</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135</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107.050 jiwa</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1B2433"/>
                          </a:solidFill>
                          <a:latin typeface="Calibri" pitchFamily="34" charset="0"/>
                          <a:ea typeface="Calibri" pitchFamily="34" charset="-122"/>
                          <a:cs typeface="Calibri" pitchFamily="34" charset="-120"/>
                        </a:rPr>
                        <a:t>Jumlah</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tcPr>
                </a:tc>
                <a:tc>
                  <a:txBody>
                    <a:bodyPr/>
                    <a:lstStyle/>
                    <a:p>
                      <a:pPr indent="0" marL="0">
                        <a:buNone/>
                      </a:pPr>
                      <a:r>
                        <a:rPr lang="en-US" sz="1400" b="1" dirty="0">
                          <a:solidFill>
                            <a:srgbClr val="1B2433"/>
                          </a:solidFill>
                          <a:latin typeface="Calibri" pitchFamily="34" charset="0"/>
                          <a:ea typeface="Calibri" pitchFamily="34" charset="-122"/>
                          <a:cs typeface="Calibri" pitchFamily="34" charset="-120"/>
                        </a:rPr>
                        <a:t>244</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tcPr>
                </a:tc>
                <a:tc>
                  <a:txBody>
                    <a:bodyPr/>
                    <a:lstStyle/>
                    <a:p>
                      <a:pPr indent="0" marL="0">
                        <a:buNone/>
                      </a:pPr>
                      <a:r>
                        <a:rPr lang="en-US" sz="1400" b="1" dirty="0">
                          <a:solidFill>
                            <a:srgbClr val="1B2433"/>
                          </a:solidFill>
                          <a:latin typeface="Calibri" pitchFamily="34" charset="0"/>
                          <a:ea typeface="Calibri" pitchFamily="34" charset="-122"/>
                          <a:cs typeface="Calibri" pitchFamily="34" charset="-120"/>
                        </a:rPr>
                        <a:t>167</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tcPr>
                </a:tc>
                <a:tc>
                  <a:txBody>
                    <a:bodyPr/>
                    <a:lstStyle/>
                    <a:p>
                      <a:pPr indent="0" marL="0">
                        <a:buNone/>
                      </a:pPr>
                      <a:r>
                        <a:rPr lang="en-US" sz="1400" b="1" dirty="0">
                          <a:solidFill>
                            <a:srgbClr val="1B2433"/>
                          </a:solidFill>
                          <a:latin typeface="Calibri" pitchFamily="34" charset="0"/>
                          <a:ea typeface="Calibri" pitchFamily="34" charset="-122"/>
                          <a:cs typeface="Calibri" pitchFamily="34" charset="-120"/>
                        </a:rPr>
                        <a:t>155.980 jiwa</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tcPr>
                </a:tc>
              </a:tr>
            </a:tbl>
          </a:graphicData>
        </a:graphic>
      </p:graphicFrame>
      <p:sp>
        <p:nvSpPr>
          <p:cNvPr id="4" name="daya tampung 1 lingkaran"/>
          <p:cNvSpPr/>
          <p:nvPr/>
        </p:nvSpPr>
        <p:spPr>
          <a:xfrm>
            <a:off x="548640" y="3749040"/>
            <a:ext cx="548640" cy="548640"/>
          </a:xfrm>
          <a:prstGeom prst="ellipse">
            <a:avLst/>
          </a:prstGeom>
          <a:solidFill>
            <a:srgbClr val="7C8590"/>
          </a:solidFill>
          <a:ln w="12700">
            <a:solidFill>
              <a:srgbClr val="7C8590"/>
            </a:solidFill>
            <a:prstDash val="solid"/>
          </a:ln>
        </p:spPr>
      </p:sp>
      <p:pic>
        <p:nvPicPr>
          <p:cNvPr id="5" name="daya tampung 1 ikon" descr="preencoded.png">    </p:cNvPr>
          <p:cNvPicPr>
            <a:picLocks noChangeAspect="1"/>
          </p:cNvPicPr>
          <p:nvPr/>
        </p:nvPicPr>
        <p:blipFill>
          <a:blip r:embed="rId1"/>
          <a:stretch>
            <a:fillRect/>
          </a:stretch>
        </p:blipFill>
        <p:spPr>
          <a:xfrm>
            <a:off x="685800" y="3886200"/>
            <a:ext cx="274320" cy="274320"/>
          </a:xfrm>
          <a:prstGeom prst="rect">
            <a:avLst/>
          </a:prstGeom>
        </p:spPr>
      </p:pic>
      <p:sp>
        <p:nvSpPr>
          <p:cNvPr id="6" name="daya tampung judul 1"/>
          <p:cNvSpPr txBox="1"/>
          <p:nvPr/>
        </p:nvSpPr>
        <p:spPr>
          <a:xfrm>
            <a:off x="1325880" y="3749040"/>
            <a:ext cx="10317175" cy="384048"/>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77 TES tanpa angka</a:t>
            </a:r>
            <a:endParaRPr lang="en-US" sz="1700" dirty="0"/>
          </a:p>
        </p:txBody>
      </p:sp>
      <p:sp>
        <p:nvSpPr>
          <p:cNvPr id="7" name="daya tampung isi 1"/>
          <p:cNvSpPr txBox="1"/>
          <p:nvPr/>
        </p:nvSpPr>
        <p:spPr>
          <a:xfrm>
            <a:off x="1325880" y="4142232"/>
            <a:ext cx="10317175" cy="256032"/>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64 dari kesepakatan warga, 13 dari daftar BPBD; disimpan sebagai cadangan tanpa angka karangan.</a:t>
            </a:r>
            <a:endParaRPr lang="en-US" sz="1400" dirty="0"/>
          </a:p>
        </p:txBody>
      </p:sp>
      <p:sp>
        <p:nvSpPr>
          <p:cNvPr id="8" name="daya tampung 2 lingkaran"/>
          <p:cNvSpPr/>
          <p:nvPr/>
        </p:nvSpPr>
        <p:spPr>
          <a:xfrm>
            <a:off x="548640" y="4462272"/>
            <a:ext cx="548640" cy="548640"/>
          </a:xfrm>
          <a:prstGeom prst="ellipse">
            <a:avLst/>
          </a:prstGeom>
          <a:solidFill>
            <a:srgbClr val="14365D"/>
          </a:solidFill>
          <a:ln w="12700">
            <a:solidFill>
              <a:srgbClr val="14365D"/>
            </a:solidFill>
            <a:prstDash val="solid"/>
          </a:ln>
        </p:spPr>
      </p:sp>
      <p:pic>
        <p:nvPicPr>
          <p:cNvPr id="9" name="daya tampung 2 ikon" descr="preencoded.png">    </p:cNvPr>
          <p:cNvPicPr>
            <a:picLocks noChangeAspect="1"/>
          </p:cNvPicPr>
          <p:nvPr/>
        </p:nvPicPr>
        <p:blipFill>
          <a:blip r:embed="rId2"/>
          <a:stretch>
            <a:fillRect/>
          </a:stretch>
        </p:blipFill>
        <p:spPr>
          <a:xfrm>
            <a:off x="685800" y="4599432"/>
            <a:ext cx="274320" cy="274320"/>
          </a:xfrm>
          <a:prstGeom prst="rect">
            <a:avLst/>
          </a:prstGeom>
        </p:spPr>
      </p:pic>
      <p:sp>
        <p:nvSpPr>
          <p:cNvPr id="10" name="daya tampung judul 2"/>
          <p:cNvSpPr txBox="1"/>
          <p:nvPr/>
        </p:nvSpPr>
        <p:spPr>
          <a:xfrm>
            <a:off x="1325880" y="4462272"/>
            <a:ext cx="10317175" cy="384048"/>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Standar luas berbeda</a:t>
            </a:r>
            <a:endParaRPr lang="en-US" sz="1700" dirty="0"/>
          </a:p>
        </p:txBody>
      </p:sp>
      <p:sp>
        <p:nvSpPr>
          <p:cNvPr id="11" name="daya tampung isi 2"/>
          <p:cNvSpPr txBox="1"/>
          <p:nvPr/>
        </p:nvSpPr>
        <p:spPr>
          <a:xfrm>
            <a:off x="1325880" y="4855464"/>
            <a:ext cx="10317175" cy="256032"/>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Data 2019 memakai 0,5, 1, dan 2 m² per orang; angka kesepakatan warga umumnya kelipatan 50.</a:t>
            </a:r>
            <a:endParaRPr lang="en-US" sz="1400" dirty="0"/>
          </a:p>
        </p:txBody>
      </p:sp>
      <p:sp>
        <p:nvSpPr>
          <p:cNvPr id="12" name="daya tampung 3 lingkaran"/>
          <p:cNvSpPr/>
          <p:nvPr/>
        </p:nvSpPr>
        <p:spPr>
          <a:xfrm>
            <a:off x="548640" y="5175504"/>
            <a:ext cx="548640" cy="548640"/>
          </a:xfrm>
          <a:prstGeom prst="ellipse">
            <a:avLst/>
          </a:prstGeom>
          <a:solidFill>
            <a:srgbClr val="2E8B57"/>
          </a:solidFill>
          <a:ln w="12700">
            <a:solidFill>
              <a:srgbClr val="2E8B57"/>
            </a:solidFill>
            <a:prstDash val="solid"/>
          </a:ln>
        </p:spPr>
      </p:sp>
      <p:pic>
        <p:nvPicPr>
          <p:cNvPr id="13" name="daya tampung 3 ikon" descr="preencoded.png">    </p:cNvPr>
          <p:cNvPicPr>
            <a:picLocks noChangeAspect="1"/>
          </p:cNvPicPr>
          <p:nvPr/>
        </p:nvPicPr>
        <p:blipFill>
          <a:blip r:embed="rId3"/>
          <a:stretch>
            <a:fillRect/>
          </a:stretch>
        </p:blipFill>
        <p:spPr>
          <a:xfrm>
            <a:off x="685800" y="5312664"/>
            <a:ext cx="274320" cy="274320"/>
          </a:xfrm>
          <a:prstGeom prst="rect">
            <a:avLst/>
          </a:prstGeom>
        </p:spPr>
      </p:pic>
      <p:sp>
        <p:nvSpPr>
          <p:cNvPr id="14" name="daya tampung judul 3"/>
          <p:cNvSpPr txBox="1"/>
          <p:nvPr/>
        </p:nvSpPr>
        <p:spPr>
          <a:xfrm>
            <a:off x="1325880" y="5175504"/>
            <a:ext cx="10317175" cy="384048"/>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Langkah bersama BPBD</a:t>
            </a:r>
            <a:endParaRPr lang="en-US" sz="1700" dirty="0"/>
          </a:p>
        </p:txBody>
      </p:sp>
      <p:sp>
        <p:nvSpPr>
          <p:cNvPr id="15" name="daya tampung isi 3"/>
          <p:cNvSpPr txBox="1"/>
          <p:nvPr/>
        </p:nvSpPr>
        <p:spPr>
          <a:xfrm>
            <a:off x="1325880" y="5568696"/>
            <a:ext cx="10317175" cy="256032"/>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Penetapan satu standar luas per orang menjadi dasar pembaruan daya tampung seluruh TES.</a:t>
            </a:r>
            <a:endParaRPr lang="en-US" sz="1400" dirty="0"/>
          </a:p>
        </p:txBody>
      </p:sp>
      <p:sp>
        <p:nvSpPr>
          <p:cNvPr id="16"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L 1.5; basis data 2026.10.18 (tb_tes).</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F5B700"/>
                </a:solidFill>
                <a:latin typeface="Arial" pitchFamily="34" charset="0"/>
                <a:ea typeface="Arial" pitchFamily="34" charset="-122"/>
                <a:cs typeface="Arial" pitchFamily="34" charset="-120"/>
              </a:rPr>
              <a:t>B7  </a:t>
            </a:r>
            <a:pPr algn="l" indent="0" marL="0">
              <a:buNone/>
            </a:pPr>
            <a:r>
              <a:rPr lang="en-US" sz="3000" b="1" dirty="0">
                <a:solidFill>
                  <a:srgbClr val="14365D"/>
                </a:solidFill>
                <a:latin typeface="Arial" pitchFamily="34" charset="0"/>
                <a:ea typeface="Arial" pitchFamily="34" charset="-122"/>
                <a:cs typeface="Arial" pitchFamily="34" charset="-120"/>
              </a:rPr>
              <a:t>Mengapa ada dua angka kelebihan beban</a:t>
            </a:r>
            <a:endParaRPr lang="en-US" sz="3000" dirty="0"/>
          </a:p>
        </p:txBody>
      </p:sp>
      <p:sp>
        <p:nvSpPr>
          <p:cNvPr id="3" name="kartu angka 1"/>
          <p:cNvSpPr/>
          <p:nvPr/>
        </p:nvSpPr>
        <p:spPr>
          <a:xfrm>
            <a:off x="548640" y="1280160"/>
            <a:ext cx="5440680" cy="3291840"/>
          </a:xfrm>
          <a:prstGeom prst="roundRect">
            <a:avLst>
              <a:gd name="adj" fmla="val 2222"/>
            </a:avLst>
          </a:prstGeom>
          <a:solidFill>
            <a:srgbClr val="EEF2F7"/>
          </a:solidFill>
          <a:ln w="12700">
            <a:solidFill>
              <a:srgbClr val="EEF2F7"/>
            </a:solidFill>
            <a:prstDash val="solid"/>
          </a:ln>
        </p:spPr>
      </p:sp>
      <p:sp>
        <p:nvSpPr>
          <p:cNvPr id="4" name="judul angka 1"/>
          <p:cNvSpPr txBox="1"/>
          <p:nvPr/>
        </p:nvSpPr>
        <p:spPr>
          <a:xfrm>
            <a:off x="822960" y="1463040"/>
            <a:ext cx="4892040" cy="411480"/>
          </a:xfrm>
          <a:prstGeom prst="rect">
            <a:avLst/>
          </a:prstGeom>
          <a:noFill/>
          <a:ln/>
        </p:spPr>
        <p:txBody>
          <a:bodyPr wrap="square" lIns="0" tIns="0" rIns="0" bIns="0" rtlCol="0" anchor="t"/>
          <a:lstStyle/>
          <a:p>
            <a:pPr indent="0" marL="0">
              <a:buNone/>
            </a:pPr>
            <a:r>
              <a:rPr lang="en-US" sz="1900" b="1" dirty="0">
                <a:solidFill>
                  <a:srgbClr val="14365D"/>
                </a:solidFill>
                <a:latin typeface="Calibri" pitchFamily="34" charset="0"/>
                <a:ea typeface="Calibri" pitchFamily="34" charset="-122"/>
                <a:cs typeface="Calibri" pitchFamily="34" charset="-120"/>
              </a:rPr>
              <a:t>Kelompok pembagian</a:t>
            </a:r>
            <a:endParaRPr lang="en-US" sz="1900" dirty="0"/>
          </a:p>
        </p:txBody>
      </p:sp>
      <p:sp>
        <p:nvSpPr>
          <p:cNvPr id="5" name="cakupan angka 1"/>
          <p:cNvSpPr txBox="1"/>
          <p:nvPr/>
        </p:nvSpPr>
        <p:spPr>
          <a:xfrm>
            <a:off x="822960" y="1920240"/>
            <a:ext cx="4892040" cy="73152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89.158 jiwa yang tidak sempat keluar zona tetapi sempat ke TES berkapasitas</a:t>
            </a:r>
            <a:endParaRPr lang="en-US" sz="1400" dirty="0"/>
          </a:p>
        </p:txBody>
      </p:sp>
      <p:sp>
        <p:nvSpPr>
          <p:cNvPr id="6" name="tes angka 1 angka"/>
          <p:cNvSpPr txBox="1"/>
          <p:nvPr/>
        </p:nvSpPr>
        <p:spPr>
          <a:xfrm>
            <a:off x="822960" y="2743200"/>
            <a:ext cx="2286000" cy="476250"/>
          </a:xfrm>
          <a:prstGeom prst="rect">
            <a:avLst/>
          </a:prstGeom>
          <a:noFill/>
          <a:ln/>
        </p:spPr>
        <p:txBody>
          <a:bodyPr wrap="square" lIns="0" tIns="0" rIns="0" bIns="0" rtlCol="0" anchor="b"/>
          <a:lstStyle/>
          <a:p>
            <a:pPr indent="0" marL="0">
              <a:buNone/>
            </a:pPr>
            <a:r>
              <a:rPr lang="en-US" sz="3000" b="1" dirty="0">
                <a:solidFill>
                  <a:srgbClr val="14365D"/>
                </a:solidFill>
                <a:latin typeface="Arial" pitchFamily="34" charset="0"/>
                <a:ea typeface="Arial" pitchFamily="34" charset="-122"/>
                <a:cs typeface="Arial" pitchFamily="34" charset="-120"/>
              </a:rPr>
              <a:t>37 TES</a:t>
            </a:r>
            <a:endParaRPr lang="en-US" sz="3000" dirty="0"/>
          </a:p>
        </p:txBody>
      </p:sp>
      <p:sp>
        <p:nvSpPr>
          <p:cNvPr id="7" name="tes angka 1 label"/>
          <p:cNvSpPr txBox="1"/>
          <p:nvPr/>
        </p:nvSpPr>
        <p:spPr>
          <a:xfrm>
            <a:off x="822960" y="3292602"/>
            <a:ext cx="228600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melebihi daya tampung</a:t>
            </a:r>
            <a:endParaRPr lang="en-US" sz="1400" dirty="0"/>
          </a:p>
        </p:txBody>
      </p:sp>
      <p:sp>
        <p:nvSpPr>
          <p:cNvPr id="8" name="jiwa angka 1 angka"/>
          <p:cNvSpPr txBox="1"/>
          <p:nvPr/>
        </p:nvSpPr>
        <p:spPr>
          <a:xfrm>
            <a:off x="3291840" y="2743200"/>
            <a:ext cx="2468880" cy="476250"/>
          </a:xfrm>
          <a:prstGeom prst="rect">
            <a:avLst/>
          </a:prstGeom>
          <a:noFill/>
          <a:ln/>
        </p:spPr>
        <p:txBody>
          <a:bodyPr wrap="square" lIns="0" tIns="0" rIns="0" bIns="0" rtlCol="0" anchor="b"/>
          <a:lstStyle/>
          <a:p>
            <a:pPr indent="0" marL="0">
              <a:buNone/>
            </a:pPr>
            <a:r>
              <a:rPr lang="en-US" sz="3000" b="1" dirty="0">
                <a:solidFill>
                  <a:srgbClr val="14365D"/>
                </a:solidFill>
                <a:latin typeface="Arial" pitchFamily="34" charset="0"/>
                <a:ea typeface="Arial" pitchFamily="34" charset="-122"/>
                <a:cs typeface="Arial" pitchFamily="34" charset="-120"/>
              </a:rPr>
              <a:t>23.442 jiwa</a:t>
            </a:r>
            <a:endParaRPr lang="en-US" sz="3000" dirty="0"/>
          </a:p>
        </p:txBody>
      </p:sp>
      <p:sp>
        <p:nvSpPr>
          <p:cNvPr id="9" name="jiwa angka 1 label"/>
          <p:cNvSpPr txBox="1"/>
          <p:nvPr/>
        </p:nvSpPr>
        <p:spPr>
          <a:xfrm>
            <a:off x="3291840" y="3292602"/>
            <a:ext cx="246888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total kelebihan</a:t>
            </a:r>
            <a:endParaRPr lang="en-US" sz="1400" dirty="0"/>
          </a:p>
        </p:txBody>
      </p:sp>
      <p:sp>
        <p:nvSpPr>
          <p:cNvPr id="10" name="rujukan angka 1"/>
          <p:cNvSpPr txBox="1"/>
          <p:nvPr/>
        </p:nvSpPr>
        <p:spPr>
          <a:xfrm>
            <a:off x="822960" y="4160520"/>
            <a:ext cx="4892040" cy="320040"/>
          </a:xfrm>
          <a:prstGeom prst="rect">
            <a:avLst/>
          </a:prstGeom>
          <a:noFill/>
          <a:ln/>
        </p:spPr>
        <p:txBody>
          <a:bodyPr wrap="square" lIns="0" tIns="0" rIns="0" bIns="0" rtlCol="0" anchor="t"/>
          <a:lstStyle/>
          <a:p>
            <a:pPr indent="0" marL="0">
              <a:buNone/>
            </a:pPr>
            <a:r>
              <a:rPr lang="en-US" sz="1200" i="1" dirty="0">
                <a:solidFill>
                  <a:srgbClr val="7C8590"/>
                </a:solidFill>
                <a:latin typeface="Calibri" pitchFamily="34" charset="0"/>
                <a:ea typeface="Calibri" pitchFamily="34" charset="-122"/>
                <a:cs typeface="Calibri" pitchFamily="34" charset="-120"/>
              </a:rPr>
              <a:t>Gambar 4 makalah, peta beban</a:t>
            </a:r>
            <a:endParaRPr lang="en-US" sz="1200" dirty="0"/>
          </a:p>
        </p:txBody>
      </p:sp>
      <p:sp>
        <p:nvSpPr>
          <p:cNvPr id="11" name="kartu angka 2"/>
          <p:cNvSpPr/>
          <p:nvPr/>
        </p:nvSpPr>
        <p:spPr>
          <a:xfrm>
            <a:off x="6199632" y="1280160"/>
            <a:ext cx="5440680" cy="3291840"/>
          </a:xfrm>
          <a:prstGeom prst="roundRect">
            <a:avLst>
              <a:gd name="adj" fmla="val 2222"/>
            </a:avLst>
          </a:prstGeom>
          <a:solidFill>
            <a:srgbClr val="EEF2F7"/>
          </a:solidFill>
          <a:ln w="12700">
            <a:solidFill>
              <a:srgbClr val="EEF2F7"/>
            </a:solidFill>
            <a:prstDash val="solid"/>
          </a:ln>
        </p:spPr>
      </p:sp>
      <p:sp>
        <p:nvSpPr>
          <p:cNvPr id="12" name="judul angka 2"/>
          <p:cNvSpPr txBox="1"/>
          <p:nvPr/>
        </p:nvSpPr>
        <p:spPr>
          <a:xfrm>
            <a:off x="6473952" y="1463040"/>
            <a:ext cx="4892040" cy="411480"/>
          </a:xfrm>
          <a:prstGeom prst="rect">
            <a:avLst/>
          </a:prstGeom>
          <a:noFill/>
          <a:ln/>
        </p:spPr>
        <p:txBody>
          <a:bodyPr wrap="square" lIns="0" tIns="0" rIns="0" bIns="0" rtlCol="0" anchor="t"/>
          <a:lstStyle/>
          <a:p>
            <a:pPr indent="0" marL="0">
              <a:buNone/>
            </a:pPr>
            <a:r>
              <a:rPr lang="en-US" sz="1900" b="1" dirty="0">
                <a:solidFill>
                  <a:srgbClr val="D9472F"/>
                </a:solidFill>
                <a:latin typeface="Calibri" pitchFamily="34" charset="0"/>
                <a:ea typeface="Calibri" pitchFamily="34" charset="-122"/>
                <a:cs typeface="Calibri" pitchFamily="34" charset="-120"/>
              </a:rPr>
              <a:t>Proyeksi seluruh penduduk</a:t>
            </a:r>
            <a:endParaRPr lang="en-US" sz="1900" dirty="0"/>
          </a:p>
        </p:txBody>
      </p:sp>
      <p:sp>
        <p:nvSpPr>
          <p:cNvPr id="13" name="cakupan angka 2"/>
          <p:cNvSpPr txBox="1"/>
          <p:nvPr/>
        </p:nvSpPr>
        <p:spPr>
          <a:xfrm>
            <a:off x="6473952" y="1920240"/>
            <a:ext cx="4892040" cy="73152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313.862 jiwa di semua simpul zona merah, termasuk yang tempuhnya &gt; 15 menit</a:t>
            </a:r>
            <a:endParaRPr lang="en-US" sz="1400" dirty="0"/>
          </a:p>
        </p:txBody>
      </p:sp>
      <p:sp>
        <p:nvSpPr>
          <p:cNvPr id="14" name="tes angka 2 angka"/>
          <p:cNvSpPr txBox="1"/>
          <p:nvPr/>
        </p:nvSpPr>
        <p:spPr>
          <a:xfrm>
            <a:off x="6473952" y="2743200"/>
            <a:ext cx="2286000" cy="476250"/>
          </a:xfrm>
          <a:prstGeom prst="rect">
            <a:avLst/>
          </a:prstGeom>
          <a:noFill/>
          <a:ln/>
        </p:spPr>
        <p:txBody>
          <a:bodyPr wrap="square" lIns="0" tIns="0" rIns="0" bIns="0" rtlCol="0" anchor="b"/>
          <a:lstStyle/>
          <a:p>
            <a:pPr indent="0" marL="0">
              <a:buNone/>
            </a:pPr>
            <a:r>
              <a:rPr lang="en-US" sz="3000" b="1" dirty="0">
                <a:solidFill>
                  <a:srgbClr val="D9472F"/>
                </a:solidFill>
                <a:latin typeface="Arial" pitchFamily="34" charset="0"/>
                <a:ea typeface="Arial" pitchFamily="34" charset="-122"/>
                <a:cs typeface="Arial" pitchFamily="34" charset="-120"/>
              </a:rPr>
              <a:t>45 TES</a:t>
            </a:r>
            <a:endParaRPr lang="en-US" sz="3000" dirty="0"/>
          </a:p>
        </p:txBody>
      </p:sp>
      <p:sp>
        <p:nvSpPr>
          <p:cNvPr id="15" name="tes angka 2 label"/>
          <p:cNvSpPr txBox="1"/>
          <p:nvPr/>
        </p:nvSpPr>
        <p:spPr>
          <a:xfrm>
            <a:off x="6473952" y="3292602"/>
            <a:ext cx="228600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melebihi daya tampung</a:t>
            </a:r>
            <a:endParaRPr lang="en-US" sz="1400" dirty="0"/>
          </a:p>
        </p:txBody>
      </p:sp>
      <p:sp>
        <p:nvSpPr>
          <p:cNvPr id="16" name="jiwa angka 2 angka"/>
          <p:cNvSpPr txBox="1"/>
          <p:nvPr/>
        </p:nvSpPr>
        <p:spPr>
          <a:xfrm>
            <a:off x="8942832" y="2743200"/>
            <a:ext cx="2468880" cy="476250"/>
          </a:xfrm>
          <a:prstGeom prst="rect">
            <a:avLst/>
          </a:prstGeom>
          <a:noFill/>
          <a:ln/>
        </p:spPr>
        <p:txBody>
          <a:bodyPr wrap="square" lIns="0" tIns="0" rIns="0" bIns="0" rtlCol="0" anchor="b"/>
          <a:lstStyle/>
          <a:p>
            <a:pPr indent="0" marL="0">
              <a:buNone/>
            </a:pPr>
            <a:r>
              <a:rPr lang="en-US" sz="3000" b="1" dirty="0">
                <a:solidFill>
                  <a:srgbClr val="D9472F"/>
                </a:solidFill>
                <a:latin typeface="Arial" pitchFamily="34" charset="0"/>
                <a:ea typeface="Arial" pitchFamily="34" charset="-122"/>
                <a:cs typeface="Arial" pitchFamily="34" charset="-120"/>
              </a:rPr>
              <a:t>44.264 jiwa</a:t>
            </a:r>
            <a:endParaRPr lang="en-US" sz="3000" dirty="0"/>
          </a:p>
        </p:txBody>
      </p:sp>
      <p:sp>
        <p:nvSpPr>
          <p:cNvPr id="17" name="jiwa angka 2 label"/>
          <p:cNvSpPr txBox="1"/>
          <p:nvPr/>
        </p:nvSpPr>
        <p:spPr>
          <a:xfrm>
            <a:off x="8942832" y="3292602"/>
            <a:ext cx="2468880" cy="64008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total kelebihan</a:t>
            </a:r>
            <a:endParaRPr lang="en-US" sz="1400" dirty="0"/>
          </a:p>
        </p:txBody>
      </p:sp>
      <p:sp>
        <p:nvSpPr>
          <p:cNvPr id="18" name="rujukan angka 2"/>
          <p:cNvSpPr txBox="1"/>
          <p:nvPr/>
        </p:nvSpPr>
        <p:spPr>
          <a:xfrm>
            <a:off x="6473952" y="4160520"/>
            <a:ext cx="4892040" cy="320040"/>
          </a:xfrm>
          <a:prstGeom prst="rect">
            <a:avLst/>
          </a:prstGeom>
          <a:noFill/>
          <a:ln/>
        </p:spPr>
        <p:txBody>
          <a:bodyPr wrap="square" lIns="0" tIns="0" rIns="0" bIns="0" rtlCol="0" anchor="t"/>
          <a:lstStyle/>
          <a:p>
            <a:pPr indent="0" marL="0">
              <a:buNone/>
            </a:pPr>
            <a:r>
              <a:rPr lang="en-US" sz="1200" i="1" dirty="0">
                <a:solidFill>
                  <a:srgbClr val="7C8590"/>
                </a:solidFill>
                <a:latin typeface="Calibri" pitchFamily="34" charset="0"/>
                <a:ea typeface="Calibri" pitchFamily="34" charset="-122"/>
                <a:cs typeface="Calibri" pitchFamily="34" charset="-120"/>
              </a:rPr>
              <a:t>Tabel III makalah, Tabel 5.8 laporan</a:t>
            </a:r>
            <a:endParaRPr lang="en-US" sz="1200" dirty="0"/>
          </a:p>
        </p:txBody>
      </p:sp>
      <p:sp>
        <p:nvSpPr>
          <p:cNvPr id="19" name="kartu penyebab"/>
          <p:cNvSpPr/>
          <p:nvPr/>
        </p:nvSpPr>
        <p:spPr>
          <a:xfrm>
            <a:off x="548640" y="4800600"/>
            <a:ext cx="11094415" cy="1005840"/>
          </a:xfrm>
          <a:prstGeom prst="roundRect">
            <a:avLst>
              <a:gd name="adj" fmla="val 7273"/>
            </a:avLst>
          </a:prstGeom>
          <a:solidFill>
            <a:srgbClr val="14365D"/>
          </a:solidFill>
          <a:ln w="12700">
            <a:solidFill>
              <a:srgbClr val="14365D"/>
            </a:solidFill>
            <a:prstDash val="solid"/>
          </a:ln>
        </p:spPr>
      </p:sp>
      <p:sp>
        <p:nvSpPr>
          <p:cNvPr id="20" name="isi penyebab"/>
          <p:cNvSpPr txBox="1"/>
          <p:nvPr/>
        </p:nvSpPr>
        <p:spPr>
          <a:xfrm>
            <a:off x="822960" y="4864608"/>
            <a:ext cx="10545775" cy="8686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Kelebihan muncul ketika semua TES yang terjangkau dalam 15 menit dari suatu lokasi sudah penuh; warga tidak dikirim ke TES yang lebih jauh. Proyeksi seluruh penduduk juga memasukkan warga yang hanya punya tujuan cadangan.</a:t>
            </a:r>
            <a:endParaRPr lang="en-US" sz="14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F5B700"/>
                </a:solidFill>
                <a:latin typeface="Arial" pitchFamily="34" charset="0"/>
                <a:ea typeface="Arial" pitchFamily="34" charset="-122"/>
                <a:cs typeface="Arial" pitchFamily="34" charset="-120"/>
              </a:rPr>
              <a:t>B8  </a:t>
            </a:r>
            <a:pPr algn="l" indent="0" marL="0">
              <a:buNone/>
            </a:pPr>
            <a:r>
              <a:rPr lang="en-US" sz="3000" b="1" dirty="0">
                <a:solidFill>
                  <a:srgbClr val="14365D"/>
                </a:solidFill>
                <a:latin typeface="Arial" pitchFamily="34" charset="0"/>
                <a:ea typeface="Arial" pitchFamily="34" charset="-122"/>
                <a:cs typeface="Arial" pitchFamily="34" charset="-120"/>
              </a:rPr>
              <a:t>Rincian kelompok penduduk zona merah</a:t>
            </a:r>
            <a:endParaRPr lang="en-US" sz="3000" dirty="0"/>
          </a:p>
        </p:txBody>
      </p:sp>
      <p:graphicFrame>
        <p:nvGraphicFramePr>
          <p:cNvPr id="44" name="tabel kelompok"/>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605272"/>
                <a:gridCol w="1828800"/>
                <a:gridCol w="2011680"/>
                <a:gridCol w="1645920"/>
              </a:tblGrid>
              <a:tr h="56692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Kelompok (t = 0, batas 15 menit)</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Simpul</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Jiwa</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Porsi</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r>
              <a:tr h="566928">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Dibagi menurut daya tampung</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3.039</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89.158</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28,4%</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566928">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Keluar zona (TEA/zona hijau)</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3.275</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95.094</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30,3%</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Tidak ada TES yang sempat</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3.758</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95.184</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30,3%</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566928">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Hanya TES tanpa angka daya tampung</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616</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15.976</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5,1%</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Tanpa TES yang lolos aturan arah</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730</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18.451</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5,9%</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bl>
          </a:graphicData>
        </a:graphic>
      </p:graphicFrame>
      <p:sp>
        <p:nvSpPr>
          <p:cNvPr id="4" name="catatan kelompok"/>
          <p:cNvSpPr txBox="1"/>
          <p:nvPr/>
        </p:nvSpPr>
        <p:spPr>
          <a:xfrm>
            <a:off x="548640" y="4800600"/>
            <a:ext cx="11094415" cy="1097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3"/>
                </a:solidFill>
                <a:latin typeface="Calibri" pitchFamily="34" charset="0"/>
                <a:ea typeface="Calibri" pitchFamily="34" charset="-122"/>
                <a:cs typeface="Calibri" pitchFamily="34" charset="-120"/>
              </a:rPr>
              <a:t>Hanya kelompok pertama yang dibagi dengan program linear menurut daya tampung</a:t>
            </a:r>
            <a:endParaRPr lang="en-US" sz="1400" dirty="0"/>
          </a:p>
          <a:p>
            <a:pPr marL="342900" indent="-342900">
              <a:spcAft>
                <a:spcPts val="600"/>
              </a:spcAft>
              <a:buSzPct val="100000"/>
              <a:buChar char="•"/>
            </a:pPr>
            <a:r>
              <a:rPr lang="en-US" sz="1400" dirty="0">
                <a:solidFill>
                  <a:srgbClr val="1B2433"/>
                </a:solidFill>
                <a:latin typeface="Calibri" pitchFamily="34" charset="0"/>
                <a:ea typeface="Calibri" pitchFamily="34" charset="-122"/>
                <a:cs typeface="Calibri" pitchFamily="34" charset="-120"/>
              </a:rPr>
              <a:t>Kelompok keluar zona tetap diberi porsi TES cadangan dari sisa kapasitas, tanpa menambah beban</a:t>
            </a:r>
            <a:endParaRPr lang="en-US" sz="1400" dirty="0"/>
          </a:p>
          <a:p>
            <a:pPr marL="342900" indent="-342900">
              <a:spcAft>
                <a:spcPts val="600"/>
              </a:spcAft>
              <a:buSzPct val="100000"/>
              <a:buChar char="•"/>
            </a:pPr>
            <a:r>
              <a:rPr lang="en-US" sz="1400" dirty="0">
                <a:solidFill>
                  <a:srgbClr val="1B2433"/>
                </a:solidFill>
                <a:latin typeface="Calibri" pitchFamily="34" charset="0"/>
                <a:ea typeface="Calibri" pitchFamily="34" charset="-122"/>
                <a:cs typeface="Calibri" pitchFamily="34" charset="-120"/>
              </a:rPr>
              <a:t>Pengelompokan ini saat data dibangun dan berbeda dari hasil pemilihan Android pada Tabel III</a:t>
            </a:r>
            <a:endParaRPr lang="en-US" sz="1400" dirty="0"/>
          </a:p>
        </p:txBody>
      </p:sp>
      <p:sp>
        <p:nvSpPr>
          <p:cNvPr id="5"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L 5.7.4; docs/kontrak_porsi_tujuan.md. Total 313.862 jiwa pada 11.418 simpul.</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F5B700"/>
                </a:solidFill>
                <a:latin typeface="Arial" pitchFamily="34" charset="0"/>
                <a:ea typeface="Arial" pitchFamily="34" charset="-122"/>
                <a:cs typeface="Arial" pitchFamily="34" charset="-120"/>
              </a:rPr>
              <a:t>B9  </a:t>
            </a:r>
            <a:pPr algn="l" indent="0" marL="0">
              <a:buNone/>
            </a:pPr>
            <a:r>
              <a:rPr lang="en-US" sz="3000" b="1" dirty="0">
                <a:solidFill>
                  <a:srgbClr val="14365D"/>
                </a:solidFill>
                <a:latin typeface="Arial" pitchFamily="34" charset="0"/>
                <a:ea typeface="Arial" pitchFamily="34" charset="-122"/>
                <a:cs typeface="Arial" pitchFamily="34" charset="-120"/>
              </a:rPr>
              <a:t>Kode keluarga dan privasi</a:t>
            </a:r>
            <a:endParaRPr lang="en-US" sz="3000" dirty="0"/>
          </a:p>
        </p:txBody>
      </p:sp>
      <p:pic>
        <p:nvPicPr>
          <p:cNvPr id="3" name="layar qr keluarga" descr="C:\Users\Lenovo\AppData\Local\Temp\claude\c--gemastik\520da942-8140-47c0-a16f-9bde4b92cbe5\scratchpad\deck\aset\keluarga3.png">    </p:cNvPr>
          <p:cNvPicPr>
            <a:picLocks noChangeAspect="1"/>
          </p:cNvPicPr>
          <p:nvPr/>
        </p:nvPicPr>
        <p:blipFill>
          <a:blip r:embed="rId1"/>
          <a:stretch>
            <a:fillRect/>
          </a:stretch>
        </p:blipFill>
        <p:spPr>
          <a:xfrm>
            <a:off x="9456813" y="1234440"/>
            <a:ext cx="2145005" cy="4617720"/>
          </a:xfrm>
          <a:prstGeom prst="rect">
            <a:avLst/>
          </a:prstGeom>
        </p:spPr>
      </p:pic>
      <p:sp>
        <p:nvSpPr>
          <p:cNvPr id="4" name="privasi 1 lingkaran"/>
          <p:cNvSpPr/>
          <p:nvPr/>
        </p:nvSpPr>
        <p:spPr>
          <a:xfrm>
            <a:off x="548640" y="1280160"/>
            <a:ext cx="685800" cy="685800"/>
          </a:xfrm>
          <a:prstGeom prst="ellipse">
            <a:avLst/>
          </a:prstGeom>
          <a:solidFill>
            <a:srgbClr val="14365D"/>
          </a:solidFill>
          <a:ln w="12700">
            <a:solidFill>
              <a:srgbClr val="14365D"/>
            </a:solidFill>
            <a:prstDash val="solid"/>
          </a:ln>
        </p:spPr>
      </p:sp>
      <p:pic>
        <p:nvPicPr>
          <p:cNvPr id="5" name="privasi 1 ikon" descr="preencoded.png">    </p:cNvPr>
          <p:cNvPicPr>
            <a:picLocks noChangeAspect="1"/>
          </p:cNvPicPr>
          <p:nvPr/>
        </p:nvPicPr>
        <p:blipFill>
          <a:blip r:embed="rId2"/>
          <a:stretch>
            <a:fillRect/>
          </a:stretch>
        </p:blipFill>
        <p:spPr>
          <a:xfrm>
            <a:off x="720090" y="1451610"/>
            <a:ext cx="342900" cy="342900"/>
          </a:xfrm>
          <a:prstGeom prst="rect">
            <a:avLst/>
          </a:prstGeom>
        </p:spPr>
      </p:pic>
      <p:sp>
        <p:nvSpPr>
          <p:cNvPr id="6" name="privasi judul 1"/>
          <p:cNvSpPr txBox="1"/>
          <p:nvPr/>
        </p:nvSpPr>
        <p:spPr>
          <a:xfrm>
            <a:off x="1463040" y="1280160"/>
            <a:ext cx="7589520" cy="384048"/>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Kode keluarga tidak dikirim</a:t>
            </a:r>
            <a:endParaRPr lang="en-US" sz="1700" dirty="0"/>
          </a:p>
        </p:txBody>
      </p:sp>
      <p:sp>
        <p:nvSpPr>
          <p:cNvPr id="7" name="privasi isi 1"/>
          <p:cNvSpPr txBox="1"/>
          <p:nvPr/>
        </p:nvSpPr>
        <p:spPr>
          <a:xfrm>
            <a:off x="1463040" y="1673352"/>
            <a:ext cx="7589520" cy="6858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Ponsel membuat penanda 8 karakter dengan SHA-256; server menyimpan ringkasan HMAC dengan kunci rahasia.</a:t>
            </a:r>
            <a:endParaRPr lang="en-US" sz="1400" dirty="0"/>
          </a:p>
        </p:txBody>
      </p:sp>
      <p:sp>
        <p:nvSpPr>
          <p:cNvPr id="8" name="privasi 2 lingkaran"/>
          <p:cNvSpPr/>
          <p:nvPr/>
        </p:nvSpPr>
        <p:spPr>
          <a:xfrm>
            <a:off x="548640" y="2423160"/>
            <a:ext cx="685800" cy="685800"/>
          </a:xfrm>
          <a:prstGeom prst="ellipse">
            <a:avLst/>
          </a:prstGeom>
          <a:solidFill>
            <a:srgbClr val="14365D"/>
          </a:solidFill>
          <a:ln w="12700">
            <a:solidFill>
              <a:srgbClr val="14365D"/>
            </a:solidFill>
            <a:prstDash val="solid"/>
          </a:ln>
        </p:spPr>
      </p:sp>
      <p:pic>
        <p:nvPicPr>
          <p:cNvPr id="9" name="privasi 2 ikon" descr="preencoded.png">    </p:cNvPr>
          <p:cNvPicPr>
            <a:picLocks noChangeAspect="1"/>
          </p:cNvPicPr>
          <p:nvPr/>
        </p:nvPicPr>
        <p:blipFill>
          <a:blip r:embed="rId3"/>
          <a:stretch>
            <a:fillRect/>
          </a:stretch>
        </p:blipFill>
        <p:spPr>
          <a:xfrm>
            <a:off x="720090" y="2594610"/>
            <a:ext cx="342900" cy="342900"/>
          </a:xfrm>
          <a:prstGeom prst="rect">
            <a:avLst/>
          </a:prstGeom>
        </p:spPr>
      </p:pic>
      <p:sp>
        <p:nvSpPr>
          <p:cNvPr id="10" name="privasi judul 2"/>
          <p:cNvSpPr txBox="1"/>
          <p:nvPr/>
        </p:nvSpPr>
        <p:spPr>
          <a:xfrm>
            <a:off x="1463040" y="2423160"/>
            <a:ext cx="7589520" cy="384048"/>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Posisi tidak dilacak</a:t>
            </a:r>
            <a:endParaRPr lang="en-US" sz="1700" dirty="0"/>
          </a:p>
        </p:txBody>
      </p:sp>
      <p:sp>
        <p:nvSpPr>
          <p:cNvPr id="11" name="privasi isi 2"/>
          <p:cNvSpPr txBox="1"/>
          <p:nvPr/>
        </p:nvSpPr>
        <p:spPr>
          <a:xfrm>
            <a:off x="1463040" y="2816352"/>
            <a:ext cx="7589520" cy="6858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Rencana keluarga tidak memuat posisi anggota; kabar keluarga hanya nama, tempat, dan jam tiba.</a:t>
            </a:r>
            <a:endParaRPr lang="en-US" sz="1400" dirty="0"/>
          </a:p>
        </p:txBody>
      </p:sp>
      <p:sp>
        <p:nvSpPr>
          <p:cNvPr id="12" name="privasi 3 lingkaran"/>
          <p:cNvSpPr/>
          <p:nvPr/>
        </p:nvSpPr>
        <p:spPr>
          <a:xfrm>
            <a:off x="548640" y="3566160"/>
            <a:ext cx="685800" cy="685800"/>
          </a:xfrm>
          <a:prstGeom prst="ellipse">
            <a:avLst/>
          </a:prstGeom>
          <a:solidFill>
            <a:srgbClr val="14365D"/>
          </a:solidFill>
          <a:ln w="12700">
            <a:solidFill>
              <a:srgbClr val="14365D"/>
            </a:solidFill>
            <a:prstDash val="solid"/>
          </a:ln>
        </p:spPr>
      </p:sp>
      <p:pic>
        <p:nvPicPr>
          <p:cNvPr id="13" name="privasi 3 ikon" descr="preencoded.png">    </p:cNvPr>
          <p:cNvPicPr>
            <a:picLocks noChangeAspect="1"/>
          </p:cNvPicPr>
          <p:nvPr/>
        </p:nvPicPr>
        <p:blipFill>
          <a:blip r:embed="rId4"/>
          <a:stretch>
            <a:fillRect/>
          </a:stretch>
        </p:blipFill>
        <p:spPr>
          <a:xfrm>
            <a:off x="720090" y="3737610"/>
            <a:ext cx="342900" cy="342900"/>
          </a:xfrm>
          <a:prstGeom prst="rect">
            <a:avLst/>
          </a:prstGeom>
        </p:spPr>
      </p:pic>
      <p:sp>
        <p:nvSpPr>
          <p:cNvPr id="14" name="privasi judul 3"/>
          <p:cNvSpPr txBox="1"/>
          <p:nvPr/>
        </p:nvSpPr>
        <p:spPr>
          <a:xfrm>
            <a:off x="1463040" y="3566160"/>
            <a:ext cx="7589520" cy="384048"/>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Berbagi tanpa internet</a:t>
            </a:r>
            <a:endParaRPr lang="en-US" sz="1700" dirty="0"/>
          </a:p>
        </p:txBody>
      </p:sp>
      <p:sp>
        <p:nvSpPr>
          <p:cNvPr id="15" name="privasi isi 3"/>
          <p:cNvSpPr txBox="1"/>
          <p:nvPr/>
        </p:nvSpPr>
        <p:spPr>
          <a:xfrm>
            <a:off x="1463040" y="3959352"/>
            <a:ext cx="7589520" cy="6858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Rencana dan kode keluarga dibagikan lewat kode QR untuk dipindai ponsel anggota lain.</a:t>
            </a:r>
            <a:endParaRPr lang="en-US" sz="1400" dirty="0"/>
          </a:p>
        </p:txBody>
      </p:sp>
      <p:sp>
        <p:nvSpPr>
          <p:cNvPr id="16" name="privasi 4 lingkaran"/>
          <p:cNvSpPr/>
          <p:nvPr/>
        </p:nvSpPr>
        <p:spPr>
          <a:xfrm>
            <a:off x="548640" y="4709160"/>
            <a:ext cx="685800" cy="685800"/>
          </a:xfrm>
          <a:prstGeom prst="ellipse">
            <a:avLst/>
          </a:prstGeom>
          <a:solidFill>
            <a:srgbClr val="14365D"/>
          </a:solidFill>
          <a:ln w="12700">
            <a:solidFill>
              <a:srgbClr val="14365D"/>
            </a:solidFill>
            <a:prstDash val="solid"/>
          </a:ln>
        </p:spPr>
      </p:sp>
      <p:pic>
        <p:nvPicPr>
          <p:cNvPr id="17" name="privasi 4 ikon" descr="preencoded.png">    </p:cNvPr>
          <p:cNvPicPr>
            <a:picLocks noChangeAspect="1"/>
          </p:cNvPicPr>
          <p:nvPr/>
        </p:nvPicPr>
        <p:blipFill>
          <a:blip r:embed="rId5"/>
          <a:stretch>
            <a:fillRect/>
          </a:stretch>
        </p:blipFill>
        <p:spPr>
          <a:xfrm>
            <a:off x="720090" y="4880610"/>
            <a:ext cx="342900" cy="342900"/>
          </a:xfrm>
          <a:prstGeom prst="rect">
            <a:avLst/>
          </a:prstGeom>
        </p:spPr>
      </p:pic>
      <p:sp>
        <p:nvSpPr>
          <p:cNvPr id="18" name="privasi judul 4"/>
          <p:cNvSpPr txBox="1"/>
          <p:nvPr/>
        </p:nvSpPr>
        <p:spPr>
          <a:xfrm>
            <a:off x="1463040" y="4709160"/>
            <a:ext cx="7589520" cy="384048"/>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Kabar berlaku 24 jam</a:t>
            </a:r>
            <a:endParaRPr lang="en-US" sz="1700" dirty="0"/>
          </a:p>
        </p:txBody>
      </p:sp>
      <p:sp>
        <p:nvSpPr>
          <p:cNvPr id="19" name="privasi isi 4"/>
          <p:cNvSpPr txBox="1"/>
          <p:nvPr/>
        </p:nvSpPr>
        <p:spPr>
          <a:xfrm>
            <a:off x="1463040" y="5102352"/>
            <a:ext cx="7589520" cy="6858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Kabar dikirim otomatis saat tiba, tidak dikirim dalam mode latihan; disimpan bila belum ada jaringan.</a:t>
            </a:r>
            <a:endParaRPr lang="en-US" sz="1400" dirty="0"/>
          </a:p>
        </p:txBody>
      </p:sp>
      <p:sp>
        <p:nvSpPr>
          <p:cNvPr id="20"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L 6.3, Tabel 3.1, Gambar 7.4.</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F5B700"/>
                </a:solidFill>
                <a:latin typeface="Arial" pitchFamily="34" charset="0"/>
                <a:ea typeface="Arial" pitchFamily="34" charset="-122"/>
                <a:cs typeface="Arial" pitchFamily="34" charset="-120"/>
              </a:rPr>
              <a:t>B10  </a:t>
            </a:r>
            <a:pPr algn="l" indent="0" marL="0">
              <a:buNone/>
            </a:pPr>
            <a:r>
              <a:rPr lang="en-US" sz="3000" b="1" dirty="0">
                <a:solidFill>
                  <a:srgbClr val="14365D"/>
                </a:solidFill>
                <a:latin typeface="Arial" pitchFamily="34" charset="0"/>
                <a:ea typeface="Arial" pitchFamily="34" charset="-122"/>
                <a:cs typeface="Arial" pitchFamily="34" charset="-120"/>
              </a:rPr>
              <a:t>Keamanan dan keaslian pembaruan data</a:t>
            </a:r>
            <a:endParaRPr lang="en-US" sz="3000" dirty="0"/>
          </a:p>
        </p:txBody>
      </p:sp>
      <p:sp>
        <p:nvSpPr>
          <p:cNvPr id="3" name="keamanan kartu 1"/>
          <p:cNvSpPr/>
          <p:nvPr/>
        </p:nvSpPr>
        <p:spPr>
          <a:xfrm>
            <a:off x="548640" y="1280160"/>
            <a:ext cx="5432908" cy="1851660"/>
          </a:xfrm>
          <a:prstGeom prst="roundRect">
            <a:avLst>
              <a:gd name="adj" fmla="val 3951"/>
            </a:avLst>
          </a:prstGeom>
          <a:solidFill>
            <a:srgbClr val="EEF2F7"/>
          </a:solidFill>
          <a:ln w="12700">
            <a:solidFill>
              <a:srgbClr val="EEF2F7"/>
            </a:solidFill>
            <a:prstDash val="solid"/>
          </a:ln>
        </p:spPr>
      </p:sp>
      <p:sp>
        <p:nvSpPr>
          <p:cNvPr id="4" name="keamanan 1 lingkaran"/>
          <p:cNvSpPr/>
          <p:nvPr/>
        </p:nvSpPr>
        <p:spPr>
          <a:xfrm>
            <a:off x="777240" y="1508760"/>
            <a:ext cx="685800" cy="685800"/>
          </a:xfrm>
          <a:prstGeom prst="ellipse">
            <a:avLst/>
          </a:prstGeom>
          <a:solidFill>
            <a:srgbClr val="14365D"/>
          </a:solidFill>
          <a:ln w="12700">
            <a:solidFill>
              <a:srgbClr val="14365D"/>
            </a:solidFill>
            <a:prstDash val="solid"/>
          </a:ln>
        </p:spPr>
      </p:sp>
      <p:pic>
        <p:nvPicPr>
          <p:cNvPr id="5" name="keamanan 1 ikon" descr="preencoded.png">    </p:cNvPr>
          <p:cNvPicPr>
            <a:picLocks noChangeAspect="1"/>
          </p:cNvPicPr>
          <p:nvPr/>
        </p:nvPicPr>
        <p:blipFill>
          <a:blip r:embed="rId1"/>
          <a:stretch>
            <a:fillRect/>
          </a:stretch>
        </p:blipFill>
        <p:spPr>
          <a:xfrm>
            <a:off x="948690" y="1680210"/>
            <a:ext cx="342900" cy="342900"/>
          </a:xfrm>
          <a:prstGeom prst="rect">
            <a:avLst/>
          </a:prstGeom>
        </p:spPr>
      </p:pic>
      <p:sp>
        <p:nvSpPr>
          <p:cNvPr id="6" name="keamanan judul 1"/>
          <p:cNvSpPr txBox="1"/>
          <p:nvPr/>
        </p:nvSpPr>
        <p:spPr>
          <a:xfrm>
            <a:off x="1600200" y="1554480"/>
            <a:ext cx="4198468" cy="594360"/>
          </a:xfrm>
          <a:prstGeom prst="rect">
            <a:avLst/>
          </a:prstGeom>
          <a:noFill/>
          <a:ln/>
        </p:spPr>
        <p:txBody>
          <a:bodyPr wrap="square" lIns="0" tIns="0" rIns="0" bIns="0" rtlCol="0" anchor="ctr"/>
          <a:lstStyle/>
          <a:p>
            <a:pPr indent="0" marL="0">
              <a:buNone/>
            </a:pPr>
            <a:r>
              <a:rPr lang="en-US" sz="1700" b="1" dirty="0">
                <a:solidFill>
                  <a:srgbClr val="14365D"/>
                </a:solidFill>
                <a:latin typeface="Calibri" pitchFamily="34" charset="0"/>
                <a:ea typeface="Calibri" pitchFamily="34" charset="-122"/>
                <a:cs typeface="Calibri" pitchFamily="34" charset="-120"/>
              </a:rPr>
              <a:t>Persetujuan BPBD</a:t>
            </a:r>
            <a:endParaRPr lang="en-US" sz="1700" dirty="0"/>
          </a:p>
        </p:txBody>
      </p:sp>
      <p:sp>
        <p:nvSpPr>
          <p:cNvPr id="7" name="keamanan isi 1"/>
          <p:cNvSpPr txBox="1"/>
          <p:nvPr/>
        </p:nvSpPr>
        <p:spPr>
          <a:xfrm>
            <a:off x="777240" y="2331720"/>
            <a:ext cx="4975708" cy="66294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BPBD menyetujui ringkasan perubahan sebelum paket diterbitkan.</a:t>
            </a:r>
            <a:endParaRPr lang="en-US" sz="1400" dirty="0"/>
          </a:p>
        </p:txBody>
      </p:sp>
      <p:sp>
        <p:nvSpPr>
          <p:cNvPr id="8" name="keamanan kartu 2"/>
          <p:cNvSpPr/>
          <p:nvPr/>
        </p:nvSpPr>
        <p:spPr>
          <a:xfrm>
            <a:off x="6210148" y="1280160"/>
            <a:ext cx="5432908" cy="1851660"/>
          </a:xfrm>
          <a:prstGeom prst="roundRect">
            <a:avLst>
              <a:gd name="adj" fmla="val 3951"/>
            </a:avLst>
          </a:prstGeom>
          <a:solidFill>
            <a:srgbClr val="EEF2F7"/>
          </a:solidFill>
          <a:ln w="12700">
            <a:solidFill>
              <a:srgbClr val="EEF2F7"/>
            </a:solidFill>
            <a:prstDash val="solid"/>
          </a:ln>
        </p:spPr>
      </p:sp>
      <p:sp>
        <p:nvSpPr>
          <p:cNvPr id="9" name="keamanan 2 lingkaran"/>
          <p:cNvSpPr/>
          <p:nvPr/>
        </p:nvSpPr>
        <p:spPr>
          <a:xfrm>
            <a:off x="6438748" y="1508760"/>
            <a:ext cx="685800" cy="685800"/>
          </a:xfrm>
          <a:prstGeom prst="ellipse">
            <a:avLst/>
          </a:prstGeom>
          <a:solidFill>
            <a:srgbClr val="14365D"/>
          </a:solidFill>
          <a:ln w="12700">
            <a:solidFill>
              <a:srgbClr val="14365D"/>
            </a:solidFill>
            <a:prstDash val="solid"/>
          </a:ln>
        </p:spPr>
      </p:sp>
      <p:pic>
        <p:nvPicPr>
          <p:cNvPr id="10" name="keamanan 2 ikon" descr="preencoded.png">    </p:cNvPr>
          <p:cNvPicPr>
            <a:picLocks noChangeAspect="1"/>
          </p:cNvPicPr>
          <p:nvPr/>
        </p:nvPicPr>
        <p:blipFill>
          <a:blip r:embed="rId2"/>
          <a:stretch>
            <a:fillRect/>
          </a:stretch>
        </p:blipFill>
        <p:spPr>
          <a:xfrm>
            <a:off x="6610198" y="1680210"/>
            <a:ext cx="342900" cy="342900"/>
          </a:xfrm>
          <a:prstGeom prst="rect">
            <a:avLst/>
          </a:prstGeom>
        </p:spPr>
      </p:pic>
      <p:sp>
        <p:nvSpPr>
          <p:cNvPr id="11" name="keamanan judul 2"/>
          <p:cNvSpPr txBox="1"/>
          <p:nvPr/>
        </p:nvSpPr>
        <p:spPr>
          <a:xfrm>
            <a:off x="7261708" y="1554480"/>
            <a:ext cx="4198468" cy="594360"/>
          </a:xfrm>
          <a:prstGeom prst="rect">
            <a:avLst/>
          </a:prstGeom>
          <a:noFill/>
          <a:ln/>
        </p:spPr>
        <p:txBody>
          <a:bodyPr wrap="square" lIns="0" tIns="0" rIns="0" bIns="0" rtlCol="0" anchor="ctr"/>
          <a:lstStyle/>
          <a:p>
            <a:pPr indent="0" marL="0">
              <a:buNone/>
            </a:pPr>
            <a:r>
              <a:rPr lang="en-US" sz="1700" b="1" dirty="0">
                <a:solidFill>
                  <a:srgbClr val="14365D"/>
                </a:solidFill>
                <a:latin typeface="Calibri" pitchFamily="34" charset="0"/>
                <a:ea typeface="Calibri" pitchFamily="34" charset="-122"/>
                <a:cs typeface="Calibri" pitchFamily="34" charset="-120"/>
              </a:rPr>
              <a:t>Pemeriksaan di server</a:t>
            </a:r>
            <a:endParaRPr lang="en-US" sz="1700" dirty="0"/>
          </a:p>
        </p:txBody>
      </p:sp>
      <p:sp>
        <p:nvSpPr>
          <p:cNvPr id="12" name="keamanan isi 2"/>
          <p:cNvSpPr txBox="1"/>
          <p:nvPr/>
        </p:nvSpPr>
        <p:spPr>
          <a:xfrm>
            <a:off x="6438748" y="2331720"/>
            <a:ext cx="4975708" cy="66294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Checksum, struktur tabel, dan jumlah data diperiksa sebelum versi baru aktif.</a:t>
            </a:r>
            <a:endParaRPr lang="en-US" sz="1400" dirty="0"/>
          </a:p>
        </p:txBody>
      </p:sp>
      <p:sp>
        <p:nvSpPr>
          <p:cNvPr id="13" name="keamanan kartu 3"/>
          <p:cNvSpPr/>
          <p:nvPr/>
        </p:nvSpPr>
        <p:spPr>
          <a:xfrm>
            <a:off x="548640" y="3360420"/>
            <a:ext cx="5432908" cy="1851660"/>
          </a:xfrm>
          <a:prstGeom prst="roundRect">
            <a:avLst>
              <a:gd name="adj" fmla="val 3951"/>
            </a:avLst>
          </a:prstGeom>
          <a:solidFill>
            <a:srgbClr val="EEF2F7"/>
          </a:solidFill>
          <a:ln w="12700">
            <a:solidFill>
              <a:srgbClr val="EEF2F7"/>
            </a:solidFill>
            <a:prstDash val="solid"/>
          </a:ln>
        </p:spPr>
      </p:sp>
      <p:sp>
        <p:nvSpPr>
          <p:cNvPr id="14" name="keamanan 3 lingkaran"/>
          <p:cNvSpPr/>
          <p:nvPr/>
        </p:nvSpPr>
        <p:spPr>
          <a:xfrm>
            <a:off x="777240" y="3589020"/>
            <a:ext cx="685800" cy="685800"/>
          </a:xfrm>
          <a:prstGeom prst="ellipse">
            <a:avLst/>
          </a:prstGeom>
          <a:solidFill>
            <a:srgbClr val="14365D"/>
          </a:solidFill>
          <a:ln w="12700">
            <a:solidFill>
              <a:srgbClr val="14365D"/>
            </a:solidFill>
            <a:prstDash val="solid"/>
          </a:ln>
        </p:spPr>
      </p:sp>
      <p:pic>
        <p:nvPicPr>
          <p:cNvPr id="15" name="keamanan 3 ikon" descr="preencoded.png">    </p:cNvPr>
          <p:cNvPicPr>
            <a:picLocks noChangeAspect="1"/>
          </p:cNvPicPr>
          <p:nvPr/>
        </p:nvPicPr>
        <p:blipFill>
          <a:blip r:embed="rId3"/>
          <a:stretch>
            <a:fillRect/>
          </a:stretch>
        </p:blipFill>
        <p:spPr>
          <a:xfrm>
            <a:off x="948690" y="3760470"/>
            <a:ext cx="342900" cy="342900"/>
          </a:xfrm>
          <a:prstGeom prst="rect">
            <a:avLst/>
          </a:prstGeom>
        </p:spPr>
      </p:pic>
      <p:sp>
        <p:nvSpPr>
          <p:cNvPr id="16" name="keamanan judul 3"/>
          <p:cNvSpPr txBox="1"/>
          <p:nvPr/>
        </p:nvSpPr>
        <p:spPr>
          <a:xfrm>
            <a:off x="1600200" y="3634740"/>
            <a:ext cx="4198468" cy="594360"/>
          </a:xfrm>
          <a:prstGeom prst="rect">
            <a:avLst/>
          </a:prstGeom>
          <a:noFill/>
          <a:ln/>
        </p:spPr>
        <p:txBody>
          <a:bodyPr wrap="square" lIns="0" tIns="0" rIns="0" bIns="0" rtlCol="0" anchor="ctr"/>
          <a:lstStyle/>
          <a:p>
            <a:pPr indent="0" marL="0">
              <a:buNone/>
            </a:pPr>
            <a:r>
              <a:rPr lang="en-US" sz="1700" b="1" dirty="0">
                <a:solidFill>
                  <a:srgbClr val="14365D"/>
                </a:solidFill>
                <a:latin typeface="Calibri" pitchFamily="34" charset="0"/>
                <a:ea typeface="Calibri" pitchFamily="34" charset="-122"/>
                <a:cs typeface="Calibri" pitchFamily="34" charset="-120"/>
              </a:rPr>
              <a:t>Pemeriksaan di ponsel</a:t>
            </a:r>
            <a:endParaRPr lang="en-US" sz="1700" dirty="0"/>
          </a:p>
        </p:txBody>
      </p:sp>
      <p:sp>
        <p:nvSpPr>
          <p:cNvPr id="17" name="keamanan isi 3"/>
          <p:cNvSpPr txBox="1"/>
          <p:nvPr/>
        </p:nvSpPr>
        <p:spPr>
          <a:xfrm>
            <a:off x="777240" y="4411980"/>
            <a:ext cx="4975708" cy="66294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Ukuran, susunan data, dan SHA-256 harus sesuai nilai acuan paket.</a:t>
            </a:r>
            <a:endParaRPr lang="en-US" sz="1400" dirty="0"/>
          </a:p>
        </p:txBody>
      </p:sp>
      <p:sp>
        <p:nvSpPr>
          <p:cNvPr id="18" name="keamanan kartu 4"/>
          <p:cNvSpPr/>
          <p:nvPr/>
        </p:nvSpPr>
        <p:spPr>
          <a:xfrm>
            <a:off x="6210148" y="3360420"/>
            <a:ext cx="5432908" cy="1851660"/>
          </a:xfrm>
          <a:prstGeom prst="roundRect">
            <a:avLst>
              <a:gd name="adj" fmla="val 3951"/>
            </a:avLst>
          </a:prstGeom>
          <a:solidFill>
            <a:srgbClr val="EEF2F7"/>
          </a:solidFill>
          <a:ln w="12700">
            <a:solidFill>
              <a:srgbClr val="EEF2F7"/>
            </a:solidFill>
            <a:prstDash val="solid"/>
          </a:ln>
        </p:spPr>
      </p:sp>
      <p:sp>
        <p:nvSpPr>
          <p:cNvPr id="19" name="keamanan 4 lingkaran"/>
          <p:cNvSpPr/>
          <p:nvPr/>
        </p:nvSpPr>
        <p:spPr>
          <a:xfrm>
            <a:off x="6438748" y="3589020"/>
            <a:ext cx="685800" cy="685800"/>
          </a:xfrm>
          <a:prstGeom prst="ellipse">
            <a:avLst/>
          </a:prstGeom>
          <a:solidFill>
            <a:srgbClr val="14365D"/>
          </a:solidFill>
          <a:ln w="12700">
            <a:solidFill>
              <a:srgbClr val="14365D"/>
            </a:solidFill>
            <a:prstDash val="solid"/>
          </a:ln>
        </p:spPr>
      </p:sp>
      <p:pic>
        <p:nvPicPr>
          <p:cNvPr id="20" name="keamanan 4 ikon" descr="preencoded.png">    </p:cNvPr>
          <p:cNvPicPr>
            <a:picLocks noChangeAspect="1"/>
          </p:cNvPicPr>
          <p:nvPr/>
        </p:nvPicPr>
        <p:blipFill>
          <a:blip r:embed="rId4"/>
          <a:stretch>
            <a:fillRect/>
          </a:stretch>
        </p:blipFill>
        <p:spPr>
          <a:xfrm>
            <a:off x="6610198" y="3760470"/>
            <a:ext cx="342900" cy="342900"/>
          </a:xfrm>
          <a:prstGeom prst="rect">
            <a:avLst/>
          </a:prstGeom>
        </p:spPr>
      </p:pic>
      <p:sp>
        <p:nvSpPr>
          <p:cNvPr id="21" name="keamanan judul 4"/>
          <p:cNvSpPr txBox="1"/>
          <p:nvPr/>
        </p:nvSpPr>
        <p:spPr>
          <a:xfrm>
            <a:off x="7261708" y="3634740"/>
            <a:ext cx="4198468" cy="594360"/>
          </a:xfrm>
          <a:prstGeom prst="rect">
            <a:avLst/>
          </a:prstGeom>
          <a:noFill/>
          <a:ln/>
        </p:spPr>
        <p:txBody>
          <a:bodyPr wrap="square" lIns="0" tIns="0" rIns="0" bIns="0" rtlCol="0" anchor="ctr"/>
          <a:lstStyle/>
          <a:p>
            <a:pPr indent="0" marL="0">
              <a:buNone/>
            </a:pPr>
            <a:r>
              <a:rPr lang="en-US" sz="1700" b="1" dirty="0">
                <a:solidFill>
                  <a:srgbClr val="14365D"/>
                </a:solidFill>
                <a:latin typeface="Calibri" pitchFamily="34" charset="0"/>
                <a:ea typeface="Calibri" pitchFamily="34" charset="-122"/>
                <a:cs typeface="Calibri" pitchFamily="34" charset="-120"/>
              </a:rPr>
              <a:t>Gagal aman</a:t>
            </a:r>
            <a:endParaRPr lang="en-US" sz="1700" dirty="0"/>
          </a:p>
        </p:txBody>
      </p:sp>
      <p:sp>
        <p:nvSpPr>
          <p:cNvPr id="22" name="keamanan isi 4"/>
          <p:cNvSpPr txBox="1"/>
          <p:nvPr/>
        </p:nvSpPr>
        <p:spPr>
          <a:xfrm>
            <a:off x="6438748" y="4411980"/>
            <a:ext cx="4975708" cy="66294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Paket yang tidak sesuai ditolak; ponsel tetap memakai data lama.</a:t>
            </a:r>
            <a:endParaRPr lang="en-US" sz="1400" dirty="0"/>
          </a:p>
        </p:txBody>
      </p:sp>
      <p:sp>
        <p:nvSpPr>
          <p:cNvPr id="23" name="catatan checksum"/>
          <p:cNvSpPr txBox="1"/>
          <p:nvPr/>
        </p:nvSpPr>
        <p:spPr>
          <a:xfrm>
            <a:off x="548640" y="5394960"/>
            <a:ext cx="11094415" cy="50292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Checksum mendeteksi perubahan atau kerusakan berkas; kesesuaian isi dengan kondisi wilayah tetap memerlukan pemeriksaan BPBD.</a:t>
            </a:r>
            <a:endParaRPr lang="en-US" sz="1400" dirty="0"/>
          </a:p>
        </p:txBody>
      </p:sp>
      <p:sp>
        <p:nvSpPr>
          <p:cNvPr id="24"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L 2.4, Tabel 2.2.</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F5B700"/>
                </a:solidFill>
                <a:latin typeface="Arial" pitchFamily="34" charset="0"/>
                <a:ea typeface="Arial" pitchFamily="34" charset="-122"/>
                <a:cs typeface="Arial" pitchFamily="34" charset="-120"/>
              </a:rPr>
              <a:t>B11  </a:t>
            </a:r>
            <a:pPr algn="l" indent="0" marL="0">
              <a:buNone/>
            </a:pPr>
            <a:r>
              <a:rPr lang="en-US" sz="3000" b="1" dirty="0">
                <a:solidFill>
                  <a:srgbClr val="14365D"/>
                </a:solidFill>
                <a:latin typeface="Arial" pitchFamily="34" charset="0"/>
                <a:ea typeface="Arial" pitchFamily="34" charset="-122"/>
                <a:cs typeface="Arial" pitchFamily="34" charset="-120"/>
              </a:rPr>
              <a:t>Kewenangan dan peringatan palsu</a:t>
            </a:r>
            <a:endParaRPr lang="en-US" sz="3000" dirty="0"/>
          </a:p>
        </p:txBody>
      </p:sp>
      <p:graphicFrame>
        <p:nvGraphicFramePr>
          <p:cNvPr id="47" name="tabel kewenangan"/>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2926080"/>
                <a:gridCol w="8165592"/>
              </a:tblGrid>
              <a:tr h="65836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Fungsi</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Yang dilakukan aplikasi dan batasnya</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r>
              <a:tr h="658368">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Navigasi setelah gempa</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Memberi arah dari posisi pengguna sebagai pelengkap peringatan resmi BMKG</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658368">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Membuka layar evakuasi</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Dibuka pengguna atau oleh peringatan resmi; sensor getaran tidak dipakai untuk menyimpulkan gempa</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658368">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Tujuan evakuasi resmi</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TES dan TEA dari BPBD dan kesepakatan warga, sumber ditampilkan; penetapan tetap kewenangan BPBD</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658368">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Kondisi lapangan</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Rambu dan arahan petugas didahulukan bila berbeda dari data</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658368">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Status posisi</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Zona merah atau hijau menurut peta BPBD, bukan jaminan aman</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658368">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Akhir peringatan</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Hanya meneruskan kabar BMKG atau BPBD; keputusan kembali oleh pemerintah daerah</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bl>
          </a:graphicData>
        </a:graphic>
      </p:graphicFrame>
      <p:sp>
        <p:nvSpPr>
          <p:cNvPr id="4"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L 3.3, 3.5, Tabel 3.1.</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F5B700"/>
                </a:solidFill>
                <a:latin typeface="Arial" pitchFamily="34" charset="0"/>
                <a:ea typeface="Arial" pitchFamily="34" charset="-122"/>
                <a:cs typeface="Arial" pitchFamily="34" charset="-120"/>
              </a:rPr>
              <a:t>B12  </a:t>
            </a:r>
            <a:pPr algn="l" indent="0" marL="0">
              <a:buNone/>
            </a:pPr>
            <a:r>
              <a:rPr lang="en-US" sz="3000" b="1" dirty="0">
                <a:solidFill>
                  <a:srgbClr val="14365D"/>
                </a:solidFill>
                <a:latin typeface="Arial" pitchFamily="34" charset="0"/>
                <a:ea typeface="Arial" pitchFamily="34" charset="-122"/>
                <a:cs typeface="Arial" pitchFamily="34" charset="-120"/>
              </a:rPr>
              <a:t>Asumsi operasional</a:t>
            </a:r>
            <a:endParaRPr lang="en-US" sz="3000" dirty="0"/>
          </a:p>
        </p:txBody>
      </p:sp>
      <p:sp>
        <p:nvSpPr>
          <p:cNvPr id="3" name="daftar asumsi"/>
          <p:cNvSpPr txBox="1"/>
          <p:nvPr/>
        </p:nvSpPr>
        <p:spPr>
          <a:xfrm>
            <a:off x="548640" y="1280160"/>
            <a:ext cx="6766560" cy="457200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600" dirty="0">
                <a:solidFill>
                  <a:srgbClr val="1B2433"/>
                </a:solidFill>
                <a:latin typeface="Calibri" pitchFamily="34" charset="0"/>
                <a:ea typeface="Calibri" pitchFamily="34" charset="-122"/>
                <a:cs typeface="Calibri" pitchFamily="34" charset="-120"/>
              </a:rPr>
              <a:t>Aplikasi dan paket data wilayah sudah terpasang sebelum kejadian</a:t>
            </a:r>
            <a:endParaRPr lang="en-US" sz="1600" dirty="0"/>
          </a:p>
          <a:p>
            <a:pPr marL="342900" indent="-342900">
              <a:spcAft>
                <a:spcPts val="1000"/>
              </a:spcAft>
              <a:buSzPct val="100000"/>
              <a:buFont typeface="+mj-lt"/>
              <a:buAutoNum type="arabicPeriod" startAt="1"/>
            </a:pPr>
            <a:r>
              <a:rPr lang="en-US" sz="1600" dirty="0">
                <a:solidFill>
                  <a:srgbClr val="1B2433"/>
                </a:solidFill>
                <a:latin typeface="Calibri" pitchFamily="34" charset="0"/>
                <a:ea typeface="Calibri" pitchFamily="34" charset="-122"/>
                <a:cs typeface="Calibri" pitchFamily="34" charset="-120"/>
              </a:rPr>
              <a:t>Izin lokasi diberikan dan GPS dapat memperoleh posisi</a:t>
            </a:r>
            <a:endParaRPr lang="en-US" sz="1600" dirty="0"/>
          </a:p>
          <a:p>
            <a:pPr marL="342900" indent="-342900">
              <a:spcAft>
                <a:spcPts val="1000"/>
              </a:spcAft>
              <a:buSzPct val="100000"/>
              <a:buFont typeface="+mj-lt"/>
              <a:buAutoNum type="arabicPeriod" startAt="1"/>
            </a:pPr>
            <a:r>
              <a:rPr lang="en-US" sz="1600" dirty="0">
                <a:solidFill>
                  <a:srgbClr val="1B2433"/>
                </a:solidFill>
                <a:latin typeface="Calibri" pitchFamily="34" charset="0"/>
                <a:ea typeface="Calibri" pitchFamily="34" charset="-122"/>
                <a:cs typeface="Calibri" pitchFamily="34" charset="-120"/>
              </a:rPr>
              <a:t>Ponsel menyala dan dayanya memadai</a:t>
            </a:r>
            <a:endParaRPr lang="en-US" sz="1600" dirty="0"/>
          </a:p>
          <a:p>
            <a:pPr marL="342900" indent="-342900">
              <a:spcAft>
                <a:spcPts val="1000"/>
              </a:spcAft>
              <a:buSzPct val="100000"/>
              <a:buFont typeface="+mj-lt"/>
              <a:buAutoNum type="arabicPeriod" startAt="1"/>
            </a:pPr>
            <a:r>
              <a:rPr lang="en-US" sz="1600" dirty="0">
                <a:solidFill>
                  <a:srgbClr val="1B2433"/>
                </a:solidFill>
                <a:latin typeface="Calibri" pitchFamily="34" charset="0"/>
                <a:ea typeface="Calibri" pitchFamily="34" charset="-122"/>
                <a:cs typeface="Calibri" pitchFamily="34" charset="-120"/>
              </a:rPr>
              <a:t>Pengguna memahami panah, simbol, atau teks singkat</a:t>
            </a:r>
            <a:endParaRPr lang="en-US" sz="1600" dirty="0"/>
          </a:p>
          <a:p>
            <a:pPr marL="342900" indent="-342900">
              <a:spcAft>
                <a:spcPts val="1000"/>
              </a:spcAft>
              <a:buSzPct val="100000"/>
              <a:buFont typeface="+mj-lt"/>
              <a:buAutoNum type="arabicPeriod" startAt="1"/>
            </a:pPr>
            <a:r>
              <a:rPr lang="en-US" sz="1600" dirty="0">
                <a:solidFill>
                  <a:srgbClr val="1B2433"/>
                </a:solidFill>
                <a:latin typeface="Calibri" pitchFamily="34" charset="0"/>
                <a:ea typeface="Calibri" pitchFamily="34" charset="-122"/>
                <a:cs typeface="Calibri" pitchFamily="34" charset="-120"/>
              </a:rPr>
              <a:t>Daya tampung mengikuti versi data, bukan sisa ruang saat kejadian</a:t>
            </a:r>
            <a:endParaRPr lang="en-US" sz="1600" dirty="0"/>
          </a:p>
          <a:p>
            <a:pPr marL="342900" indent="-342900">
              <a:spcAft>
                <a:spcPts val="1000"/>
              </a:spcAft>
              <a:buSzPct val="100000"/>
              <a:buFont typeface="+mj-lt"/>
              <a:buAutoNum type="arabicPeriod" startAt="1"/>
            </a:pPr>
            <a:r>
              <a:rPr lang="en-US" sz="1600" dirty="0">
                <a:solidFill>
                  <a:srgbClr val="1B2433"/>
                </a:solidFill>
                <a:latin typeface="Calibri" pitchFamily="34" charset="0"/>
                <a:ea typeface="Calibri" pitchFamily="34" charset="-122"/>
                <a:cs typeface="Calibri" pitchFamily="34" charset="-120"/>
              </a:rPr>
              <a:t>Peta dasar ikut terpasang; jalur tetap tergambar walau peta dasar tidak ada</a:t>
            </a:r>
            <a:endParaRPr lang="en-US" sz="1600" dirty="0"/>
          </a:p>
          <a:p>
            <a:pPr marL="342900" indent="-342900">
              <a:spcAft>
                <a:spcPts val="1000"/>
              </a:spcAft>
              <a:buSzPct val="100000"/>
              <a:buFont typeface="+mj-lt"/>
              <a:buAutoNum type="arabicPeriod" startAt="1"/>
            </a:pPr>
            <a:r>
              <a:rPr lang="en-US" sz="1600" dirty="0">
                <a:solidFill>
                  <a:srgbClr val="1B2433"/>
                </a:solidFill>
                <a:latin typeface="Calibri" pitchFamily="34" charset="0"/>
                <a:ea typeface="Calibri" pitchFamily="34" charset="-122"/>
                <a:cs typeface="Calibri" pitchFamily="34" charset="-120"/>
              </a:rPr>
              <a:t>Arah hadap dari kompas; saat berjalan, arah gerak GPS dipakai bila lebih andal</a:t>
            </a:r>
            <a:endParaRPr lang="en-US" sz="1600" dirty="0"/>
          </a:p>
        </p:txBody>
      </p:sp>
      <p:sp>
        <p:nvSpPr>
          <p:cNvPr id="4" name="kartu tindak lanjut"/>
          <p:cNvSpPr/>
          <p:nvPr/>
        </p:nvSpPr>
        <p:spPr>
          <a:xfrm>
            <a:off x="7680960" y="1280160"/>
            <a:ext cx="3959352" cy="4480560"/>
          </a:xfrm>
          <a:prstGeom prst="roundRect">
            <a:avLst>
              <a:gd name="adj" fmla="val 1848"/>
            </a:avLst>
          </a:prstGeom>
          <a:solidFill>
            <a:srgbClr val="14365D"/>
          </a:solidFill>
          <a:ln w="12700">
            <a:solidFill>
              <a:srgbClr val="14365D"/>
            </a:solidFill>
            <a:prstDash val="solid"/>
          </a:ln>
        </p:spPr>
      </p:sp>
      <p:sp>
        <p:nvSpPr>
          <p:cNvPr id="5" name="judul tindak lanjut"/>
          <p:cNvSpPr txBox="1"/>
          <p:nvPr/>
        </p:nvSpPr>
        <p:spPr>
          <a:xfrm>
            <a:off x="7955280" y="1508760"/>
            <a:ext cx="3474720" cy="411480"/>
          </a:xfrm>
          <a:prstGeom prst="rect">
            <a:avLst/>
          </a:prstGeom>
          <a:noFill/>
          <a:ln/>
        </p:spPr>
        <p:txBody>
          <a:bodyPr wrap="square" lIns="0" tIns="0" rIns="0" bIns="0" rtlCol="0" anchor="t"/>
          <a:lstStyle/>
          <a:p>
            <a:pPr indent="0" marL="0">
              <a:buNone/>
            </a:pPr>
            <a:r>
              <a:rPr lang="en-US" sz="1900" b="1" dirty="0">
                <a:solidFill>
                  <a:srgbClr val="F5B700"/>
                </a:solidFill>
                <a:latin typeface="Calibri" pitchFamily="34" charset="0"/>
                <a:ea typeface="Calibri" pitchFamily="34" charset="-122"/>
                <a:cs typeface="Calibri" pitchFamily="34" charset="-120"/>
              </a:rPr>
              <a:t>Karena itu</a:t>
            </a:r>
            <a:endParaRPr lang="en-US" sz="1900" dirty="0"/>
          </a:p>
        </p:txBody>
      </p:sp>
      <p:sp>
        <p:nvSpPr>
          <p:cNvPr id="6" name="isi tindak lanjut"/>
          <p:cNvSpPr txBox="1"/>
          <p:nvPr/>
        </p:nvSpPr>
        <p:spPr>
          <a:xfrm>
            <a:off x="7955280" y="2011680"/>
            <a:ext cx="3474720" cy="35661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Mode latihan dan sosialisasi bersama BPBD agar aplikasi dikenal sebelum darurat</a:t>
            </a:r>
            <a:endParaRPr lang="en-US" sz="1500" dirty="0"/>
          </a:p>
          <a:p>
            <a:pPr marL="342900" indent="-3429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Widget membuka arahan dengan satu sentuhan</a:t>
            </a:r>
            <a:endParaRPr lang="en-US" sz="1500" dirty="0"/>
          </a:p>
          <a:p>
            <a:pPr marL="342900" indent="-3429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Aplikasi dipakai tanpa membuat akun</a:t>
            </a:r>
            <a:endParaRPr lang="en-US" sz="1500" dirty="0"/>
          </a:p>
        </p:txBody>
      </p:sp>
      <p:sp>
        <p:nvSpPr>
          <p:cNvPr id="7"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L 3.6, 2.4.</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F5B700"/>
                </a:solidFill>
                <a:latin typeface="Arial" pitchFamily="34" charset="0"/>
                <a:ea typeface="Arial" pitchFamily="34" charset="-122"/>
                <a:cs typeface="Arial" pitchFamily="34" charset="-120"/>
              </a:rPr>
              <a:t>B13  </a:t>
            </a:r>
            <a:pPr algn="l" indent="0" marL="0">
              <a:buNone/>
            </a:pPr>
            <a:r>
              <a:rPr lang="en-US" sz="3000" b="1" dirty="0">
                <a:solidFill>
                  <a:srgbClr val="14365D"/>
                </a:solidFill>
                <a:latin typeface="Arial" pitchFamily="34" charset="0"/>
                <a:ea typeface="Arial" pitchFamily="34" charset="-122"/>
                <a:cs typeface="Arial" pitchFamily="34" charset="-120"/>
              </a:rPr>
              <a:t>Validitas uji pengguna</a:t>
            </a:r>
            <a:endParaRPr lang="en-US" sz="3000" dirty="0"/>
          </a:p>
        </p:txBody>
      </p:sp>
      <p:sp>
        <p:nvSpPr>
          <p:cNvPr id="3" name="validitas 1 lingkaran"/>
          <p:cNvSpPr/>
          <p:nvPr/>
        </p:nvSpPr>
        <p:spPr>
          <a:xfrm>
            <a:off x="548640" y="1234440"/>
            <a:ext cx="594360" cy="594360"/>
          </a:xfrm>
          <a:prstGeom prst="ellipse">
            <a:avLst/>
          </a:prstGeom>
          <a:solidFill>
            <a:srgbClr val="14365D"/>
          </a:solidFill>
          <a:ln w="12700">
            <a:solidFill>
              <a:srgbClr val="14365D"/>
            </a:solidFill>
            <a:prstDash val="solid"/>
          </a:ln>
        </p:spPr>
      </p:sp>
      <p:pic>
        <p:nvPicPr>
          <p:cNvPr id="4" name="validitas 1 ikon" descr="preencoded.png">    </p:cNvPr>
          <p:cNvPicPr>
            <a:picLocks noChangeAspect="1"/>
          </p:cNvPicPr>
          <p:nvPr/>
        </p:nvPicPr>
        <p:blipFill>
          <a:blip r:embed="rId1"/>
          <a:stretch>
            <a:fillRect/>
          </a:stretch>
        </p:blipFill>
        <p:spPr>
          <a:xfrm>
            <a:off x="697230" y="1383030"/>
            <a:ext cx="297180" cy="297180"/>
          </a:xfrm>
          <a:prstGeom prst="rect">
            <a:avLst/>
          </a:prstGeom>
        </p:spPr>
      </p:pic>
      <p:sp>
        <p:nvSpPr>
          <p:cNvPr id="5" name="validitas judul 1"/>
          <p:cNvSpPr txBox="1"/>
          <p:nvPr/>
        </p:nvSpPr>
        <p:spPr>
          <a:xfrm>
            <a:off x="1371600" y="1234440"/>
            <a:ext cx="10271455" cy="384048"/>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Tugas yang sama</a:t>
            </a:r>
            <a:endParaRPr lang="en-US" sz="1700" dirty="0"/>
          </a:p>
        </p:txBody>
      </p:sp>
      <p:sp>
        <p:nvSpPr>
          <p:cNvPr id="6" name="validitas isi 1"/>
          <p:cNvSpPr txBox="1"/>
          <p:nvPr/>
        </p:nvSpPr>
        <p:spPr>
          <a:xfrm>
            <a:off x="1371600" y="1627632"/>
            <a:ext cx="10271455" cy="4572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"Bayangkan gempa terasa lebih dari 30 detik. Sinyal HP tidak ada. Cari arah evakuasi, tunjuk, katakan Sudah."</a:t>
            </a:r>
            <a:endParaRPr lang="en-US" sz="1400" dirty="0"/>
          </a:p>
        </p:txBody>
      </p:sp>
      <p:sp>
        <p:nvSpPr>
          <p:cNvPr id="7" name="validitas 2 lingkaran"/>
          <p:cNvSpPr/>
          <p:nvPr/>
        </p:nvSpPr>
        <p:spPr>
          <a:xfrm>
            <a:off x="548640" y="2148840"/>
            <a:ext cx="594360" cy="594360"/>
          </a:xfrm>
          <a:prstGeom prst="ellipse">
            <a:avLst/>
          </a:prstGeom>
          <a:solidFill>
            <a:srgbClr val="14365D"/>
          </a:solidFill>
          <a:ln w="12700">
            <a:solidFill>
              <a:srgbClr val="14365D"/>
            </a:solidFill>
            <a:prstDash val="solid"/>
          </a:ln>
        </p:spPr>
      </p:sp>
      <p:pic>
        <p:nvPicPr>
          <p:cNvPr id="8" name="validitas 2 ikon" descr="preencoded.png">    </p:cNvPr>
          <p:cNvPicPr>
            <a:picLocks noChangeAspect="1"/>
          </p:cNvPicPr>
          <p:nvPr/>
        </p:nvPicPr>
        <p:blipFill>
          <a:blip r:embed="rId2"/>
          <a:stretch>
            <a:fillRect/>
          </a:stretch>
        </p:blipFill>
        <p:spPr>
          <a:xfrm>
            <a:off x="697230" y="2297430"/>
            <a:ext cx="297180" cy="297180"/>
          </a:xfrm>
          <a:prstGeom prst="rect">
            <a:avLst/>
          </a:prstGeom>
        </p:spPr>
      </p:pic>
      <p:sp>
        <p:nvSpPr>
          <p:cNvPr id="9" name="validitas judul 2"/>
          <p:cNvSpPr txBox="1"/>
          <p:nvPr/>
        </p:nvSpPr>
        <p:spPr>
          <a:xfrm>
            <a:off x="1371600" y="2148840"/>
            <a:ext cx="10271455" cy="384048"/>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Dinilai dari rekaman</a:t>
            </a:r>
            <a:endParaRPr lang="en-US" sz="1700" dirty="0"/>
          </a:p>
        </p:txBody>
      </p:sp>
      <p:sp>
        <p:nvSpPr>
          <p:cNvPr id="10" name="validitas isi 2"/>
          <p:cNvSpPr txBox="1"/>
          <p:nvPr/>
        </p:nvSpPr>
        <p:spPr>
          <a:xfrm>
            <a:off x="1371600" y="2542032"/>
            <a:ext cx="10271455" cy="4572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Waktu dihitung dari akhir instruksi sampai peserta menunjuk; hanya rekaman yang jelas dipakai.</a:t>
            </a:r>
            <a:endParaRPr lang="en-US" sz="1400" dirty="0"/>
          </a:p>
        </p:txBody>
      </p:sp>
      <p:sp>
        <p:nvSpPr>
          <p:cNvPr id="11" name="validitas 3 lingkaran"/>
          <p:cNvSpPr/>
          <p:nvPr/>
        </p:nvSpPr>
        <p:spPr>
          <a:xfrm>
            <a:off x="548640" y="3063240"/>
            <a:ext cx="594360" cy="594360"/>
          </a:xfrm>
          <a:prstGeom prst="ellipse">
            <a:avLst/>
          </a:prstGeom>
          <a:solidFill>
            <a:srgbClr val="14365D"/>
          </a:solidFill>
          <a:ln w="12700">
            <a:solidFill>
              <a:srgbClr val="14365D"/>
            </a:solidFill>
            <a:prstDash val="solid"/>
          </a:ln>
        </p:spPr>
      </p:sp>
      <p:pic>
        <p:nvPicPr>
          <p:cNvPr id="12" name="validitas 3 ikon" descr="preencoded.png">    </p:cNvPr>
          <p:cNvPicPr>
            <a:picLocks noChangeAspect="1"/>
          </p:cNvPicPr>
          <p:nvPr/>
        </p:nvPicPr>
        <p:blipFill>
          <a:blip r:embed="rId3"/>
          <a:stretch>
            <a:fillRect/>
          </a:stretch>
        </p:blipFill>
        <p:spPr>
          <a:xfrm>
            <a:off x="697230" y="3211830"/>
            <a:ext cx="297180" cy="297180"/>
          </a:xfrm>
          <a:prstGeom prst="rect">
            <a:avLst/>
          </a:prstGeom>
        </p:spPr>
      </p:pic>
      <p:sp>
        <p:nvSpPr>
          <p:cNvPr id="13" name="validitas judul 3"/>
          <p:cNvSpPr txBox="1"/>
          <p:nvPr/>
        </p:nvSpPr>
        <p:spPr>
          <a:xfrm>
            <a:off x="1371600" y="3063240"/>
            <a:ext cx="10271455" cy="384048"/>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Bias dikendalikan</a:t>
            </a:r>
            <a:endParaRPr lang="en-US" sz="1700" dirty="0"/>
          </a:p>
        </p:txBody>
      </p:sp>
      <p:sp>
        <p:nvSpPr>
          <p:cNvPr id="14" name="validitas isi 3"/>
          <p:cNvSpPr txBox="1"/>
          <p:nvPr/>
        </p:nvSpPr>
        <p:spPr>
          <a:xfrm>
            <a:off x="1371600" y="3456432"/>
            <a:ext cx="10271455" cy="4572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Waktu kelompok UNP tidak dihitung karena peserta bisa mendengar jawaban sebelumnya.</a:t>
            </a:r>
            <a:endParaRPr lang="en-US" sz="1400" dirty="0"/>
          </a:p>
        </p:txBody>
      </p:sp>
      <p:sp>
        <p:nvSpPr>
          <p:cNvPr id="15" name="validitas 4 lingkaran"/>
          <p:cNvSpPr/>
          <p:nvPr/>
        </p:nvSpPr>
        <p:spPr>
          <a:xfrm>
            <a:off x="548640" y="3977640"/>
            <a:ext cx="594360" cy="594360"/>
          </a:xfrm>
          <a:prstGeom prst="ellipse">
            <a:avLst/>
          </a:prstGeom>
          <a:solidFill>
            <a:srgbClr val="14365D"/>
          </a:solidFill>
          <a:ln w="12700">
            <a:solidFill>
              <a:srgbClr val="14365D"/>
            </a:solidFill>
            <a:prstDash val="solid"/>
          </a:ln>
        </p:spPr>
      </p:sp>
      <p:pic>
        <p:nvPicPr>
          <p:cNvPr id="16" name="validitas 4 ikon" descr="preencoded.png">    </p:cNvPr>
          <p:cNvPicPr>
            <a:picLocks noChangeAspect="1"/>
          </p:cNvPicPr>
          <p:nvPr/>
        </p:nvPicPr>
        <p:blipFill>
          <a:blip r:embed="rId4"/>
          <a:stretch>
            <a:fillRect/>
          </a:stretch>
        </p:blipFill>
        <p:spPr>
          <a:xfrm>
            <a:off x="697230" y="4126230"/>
            <a:ext cx="297180" cy="297180"/>
          </a:xfrm>
          <a:prstGeom prst="rect">
            <a:avLst/>
          </a:prstGeom>
        </p:spPr>
      </p:pic>
      <p:sp>
        <p:nvSpPr>
          <p:cNvPr id="17" name="validitas judul 4"/>
          <p:cNvSpPr txBox="1"/>
          <p:nvPr/>
        </p:nvSpPr>
        <p:spPr>
          <a:xfrm>
            <a:off x="1371600" y="3977640"/>
            <a:ext cx="10271455" cy="384048"/>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Tidak dibandingkan langsung</a:t>
            </a:r>
            <a:endParaRPr lang="en-US" sz="1700" dirty="0"/>
          </a:p>
        </p:txBody>
      </p:sp>
      <p:sp>
        <p:nvSpPr>
          <p:cNvPr id="18" name="validitas isi 4"/>
          <p:cNvSpPr txBox="1"/>
          <p:nvPr/>
        </p:nvSpPr>
        <p:spPr>
          <a:xfrm>
            <a:off x="1371600" y="4370832"/>
            <a:ext cx="10271455" cy="4572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Peta cetak dipakai lebih dulu dan lokasinya berbeda, jadi durasi keduanya dilaporkan terpisah.</a:t>
            </a:r>
            <a:endParaRPr lang="en-US" sz="1400" dirty="0"/>
          </a:p>
        </p:txBody>
      </p:sp>
      <p:sp>
        <p:nvSpPr>
          <p:cNvPr id="19" name="validitas 5 lingkaran"/>
          <p:cNvSpPr/>
          <p:nvPr/>
        </p:nvSpPr>
        <p:spPr>
          <a:xfrm>
            <a:off x="548640" y="4892040"/>
            <a:ext cx="594360" cy="594360"/>
          </a:xfrm>
          <a:prstGeom prst="ellipse">
            <a:avLst/>
          </a:prstGeom>
          <a:solidFill>
            <a:srgbClr val="2F7F9C"/>
          </a:solidFill>
          <a:ln w="12700">
            <a:solidFill>
              <a:srgbClr val="2F7F9C"/>
            </a:solidFill>
            <a:prstDash val="solid"/>
          </a:ln>
        </p:spPr>
      </p:sp>
      <p:pic>
        <p:nvPicPr>
          <p:cNvPr id="20" name="validitas 5 ikon" descr="preencoded.png">    </p:cNvPr>
          <p:cNvPicPr>
            <a:picLocks noChangeAspect="1"/>
          </p:cNvPicPr>
          <p:nvPr/>
        </p:nvPicPr>
        <p:blipFill>
          <a:blip r:embed="rId5"/>
          <a:stretch>
            <a:fillRect/>
          </a:stretch>
        </p:blipFill>
        <p:spPr>
          <a:xfrm>
            <a:off x="697230" y="5040630"/>
            <a:ext cx="297180" cy="297180"/>
          </a:xfrm>
          <a:prstGeom prst="rect">
            <a:avLst/>
          </a:prstGeom>
        </p:spPr>
      </p:pic>
      <p:sp>
        <p:nvSpPr>
          <p:cNvPr id="21" name="validitas judul 5"/>
          <p:cNvSpPr txBox="1"/>
          <p:nvPr/>
        </p:nvSpPr>
        <p:spPr>
          <a:xfrm>
            <a:off x="1371600" y="4892040"/>
            <a:ext cx="10271455" cy="384048"/>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Langkah berikutnya</a:t>
            </a:r>
            <a:endParaRPr lang="en-US" sz="1700" dirty="0"/>
          </a:p>
        </p:txBody>
      </p:sp>
      <p:sp>
        <p:nvSpPr>
          <p:cNvPr id="22" name="validitas isi 5"/>
          <p:cNvSpPr txBox="1"/>
          <p:nvPr/>
        </p:nvSpPr>
        <p:spPr>
          <a:xfrm>
            <a:off x="1371600" y="5285232"/>
            <a:ext cx="10271455" cy="4572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Evaluasi desain akhir dengan peserta lebih beragam, termasuk lansia dan penyandang disabilitas.</a:t>
            </a:r>
            <a:endParaRPr lang="en-US" sz="1400" dirty="0"/>
          </a:p>
        </p:txBody>
      </p:sp>
      <p:sp>
        <p:nvSpPr>
          <p:cNvPr id="23"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L 6.6.2; kriteria Tabel 4.3: ≥ 90% peserta mengenali tujuan dalam 10 detik.</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F5B700"/>
                </a:solidFill>
                <a:latin typeface="Arial" pitchFamily="34" charset="0"/>
                <a:ea typeface="Arial" pitchFamily="34" charset="-122"/>
                <a:cs typeface="Arial" pitchFamily="34" charset="-120"/>
              </a:rPr>
              <a:t>B14  </a:t>
            </a:r>
            <a:pPr algn="l" indent="0" marL="0">
              <a:buNone/>
            </a:pPr>
            <a:r>
              <a:rPr lang="en-US" sz="3000" b="1" dirty="0">
                <a:solidFill>
                  <a:srgbClr val="14365D"/>
                </a:solidFill>
                <a:latin typeface="Arial" pitchFamily="34" charset="0"/>
                <a:ea typeface="Arial" pitchFamily="34" charset="-122"/>
                <a:cs typeface="Arial" pitchFamily="34" charset="-120"/>
              </a:rPr>
              <a:t>Konsistensi antarponsel</a:t>
            </a:r>
            <a:endParaRPr lang="en-US" sz="3000" dirty="0"/>
          </a:p>
        </p:txBody>
      </p:sp>
      <p:graphicFrame>
        <p:nvGraphicFramePr>
          <p:cNvPr id="50" name="tabel ponsel"/>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2743200"/>
                <a:gridCol w="1097280"/>
                <a:gridCol w="3291840"/>
                <a:gridCol w="1325880"/>
                <a:gridCol w="1325880"/>
                <a:gridCol w="1307592"/>
              </a:tblGrid>
              <a:tr h="50292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Ponsel</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Android</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Prosesor</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Median</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P95</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Maks.</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r>
              <a:tr h="502920">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Infinix X6855</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16</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Helio G100 Ultimate</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706</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789</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884</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502920">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Samsung Galaxy A15</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14</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Helio G99</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454</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531</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624</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POCO F5</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Snapdragon 7+ Gen 2</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354</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414</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447</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502920">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Samsung Galaxy A55</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16</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Exynos 1480</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271</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333</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351</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Infinix GT 20 Pro</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Dimensity 8200</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240</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291</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294</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502920">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POCO F7</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16</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Snapdragon SM8735</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222</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267</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269</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Xiaomi 15</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16</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Snapdragon 8 Elite</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152</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209</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225</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bl>
          </a:graphicData>
        </a:graphic>
      </p:graphicFrame>
      <p:sp>
        <p:nvSpPr>
          <p:cNvPr id="4" name="catatan ponsel"/>
          <p:cNvSpPr txBox="1"/>
          <p:nvPr/>
        </p:nvSpPr>
        <p:spPr>
          <a:xfrm>
            <a:off x="548640" y="5440680"/>
            <a:ext cx="11094415" cy="502920"/>
          </a:xfrm>
          <a:prstGeom prst="rect">
            <a:avLst/>
          </a:prstGeom>
          <a:noFill/>
          <a:ln/>
        </p:spPr>
        <p:txBody>
          <a:bodyPr wrap="square" lIns="0" tIns="0" rIns="0" bIns="0" rtlCol="0" anchor="t"/>
          <a:lstStyle/>
          <a:p>
            <a:pPr indent="0" marL="0">
              <a:buNone/>
            </a:pPr>
            <a:r>
              <a:rPr lang="en-US" sz="1400" dirty="0">
                <a:solidFill>
                  <a:srgbClr val="5D6670"/>
                </a:solidFill>
                <a:latin typeface="Calibri" pitchFamily="34" charset="0"/>
                <a:ea typeface="Calibri" pitchFamily="34" charset="-122"/>
                <a:cs typeface="Calibri" pitchFamily="34" charset="-120"/>
              </a:rPr>
              <a:t>Waktu dalam milidetik sejak koordinat diterima. Pada 20 koordinat yang sama, simpul awal, zona, tujuan, jenis tujuan, dan waktu tempuh identik di semua ponsel; selisih pemrosesan terbesar 675 ms.</a:t>
            </a:r>
            <a:endParaRPr lang="en-US" sz="1400" dirty="0"/>
          </a:p>
        </p:txBody>
      </p:sp>
      <p:sp>
        <p:nvSpPr>
          <p:cNvPr id="5"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L Tabel 6.5, data 2026.10.16, versi debug.</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F5B700"/>
                </a:solidFill>
                <a:latin typeface="Arial" pitchFamily="34" charset="0"/>
                <a:ea typeface="Arial" pitchFamily="34" charset="-122"/>
                <a:cs typeface="Arial" pitchFamily="34" charset="-120"/>
              </a:rPr>
              <a:t>B15  </a:t>
            </a:r>
            <a:pPr algn="l" indent="0" marL="0">
              <a:buNone/>
            </a:pPr>
            <a:r>
              <a:rPr lang="en-US" sz="3000" b="1" dirty="0">
                <a:solidFill>
                  <a:srgbClr val="14365D"/>
                </a:solidFill>
                <a:latin typeface="Arial" pitchFamily="34" charset="0"/>
                <a:ea typeface="Arial" pitchFamily="34" charset="-122"/>
                <a:cs typeface="Arial" pitchFamily="34" charset="-120"/>
              </a:rPr>
              <a:t>Aksesibilitas dan kelompok rentan</a:t>
            </a:r>
            <a:endParaRPr lang="en-US" sz="3000" dirty="0"/>
          </a:p>
        </p:txBody>
      </p:sp>
      <p:sp>
        <p:nvSpPr>
          <p:cNvPr id="3" name="aksesibilitas kartu 1"/>
          <p:cNvSpPr/>
          <p:nvPr/>
        </p:nvSpPr>
        <p:spPr>
          <a:xfrm>
            <a:off x="548640" y="1280160"/>
            <a:ext cx="3545738" cy="2171700"/>
          </a:xfrm>
          <a:prstGeom prst="roundRect">
            <a:avLst>
              <a:gd name="adj" fmla="val 3368"/>
            </a:avLst>
          </a:prstGeom>
          <a:solidFill>
            <a:srgbClr val="EEF2F7"/>
          </a:solidFill>
          <a:ln w="12700">
            <a:solidFill>
              <a:srgbClr val="EEF2F7"/>
            </a:solidFill>
            <a:prstDash val="solid"/>
          </a:ln>
        </p:spPr>
      </p:sp>
      <p:sp>
        <p:nvSpPr>
          <p:cNvPr id="4" name="aksesibilitas 1 lingkaran"/>
          <p:cNvSpPr/>
          <p:nvPr/>
        </p:nvSpPr>
        <p:spPr>
          <a:xfrm>
            <a:off x="777240" y="1508760"/>
            <a:ext cx="685800" cy="685800"/>
          </a:xfrm>
          <a:prstGeom prst="ellipse">
            <a:avLst/>
          </a:prstGeom>
          <a:solidFill>
            <a:srgbClr val="14365D"/>
          </a:solidFill>
          <a:ln w="12700">
            <a:solidFill>
              <a:srgbClr val="14365D"/>
            </a:solidFill>
            <a:prstDash val="solid"/>
          </a:ln>
        </p:spPr>
      </p:sp>
      <p:pic>
        <p:nvPicPr>
          <p:cNvPr id="5" name="aksesibilitas 1 ikon" descr="preencoded.png">    </p:cNvPr>
          <p:cNvPicPr>
            <a:picLocks noChangeAspect="1"/>
          </p:cNvPicPr>
          <p:nvPr/>
        </p:nvPicPr>
        <p:blipFill>
          <a:blip r:embed="rId1"/>
          <a:stretch>
            <a:fillRect/>
          </a:stretch>
        </p:blipFill>
        <p:spPr>
          <a:xfrm>
            <a:off x="948690" y="1680210"/>
            <a:ext cx="342900" cy="342900"/>
          </a:xfrm>
          <a:prstGeom prst="rect">
            <a:avLst/>
          </a:prstGeom>
        </p:spPr>
      </p:pic>
      <p:sp>
        <p:nvSpPr>
          <p:cNvPr id="6" name="aksesibilitas judul 1"/>
          <p:cNvSpPr txBox="1"/>
          <p:nvPr/>
        </p:nvSpPr>
        <p:spPr>
          <a:xfrm>
            <a:off x="1600200" y="1554480"/>
            <a:ext cx="2311298" cy="594360"/>
          </a:xfrm>
          <a:prstGeom prst="rect">
            <a:avLst/>
          </a:prstGeom>
          <a:noFill/>
          <a:ln/>
        </p:spPr>
        <p:txBody>
          <a:bodyPr wrap="square" lIns="0" tIns="0" rIns="0" bIns="0" rtlCol="0" anchor="ctr"/>
          <a:lstStyle/>
          <a:p>
            <a:pPr indent="0" marL="0">
              <a:buNone/>
            </a:pPr>
            <a:r>
              <a:rPr lang="en-US" sz="1700" b="1" dirty="0">
                <a:solidFill>
                  <a:srgbClr val="14365D"/>
                </a:solidFill>
                <a:latin typeface="Calibri" pitchFamily="34" charset="0"/>
                <a:ea typeface="Calibri" pitchFamily="34" charset="-122"/>
                <a:cs typeface="Calibri" pitchFamily="34" charset="-120"/>
              </a:rPr>
              <a:t>Kontras warna</a:t>
            </a:r>
            <a:endParaRPr lang="en-US" sz="1700" dirty="0"/>
          </a:p>
        </p:txBody>
      </p:sp>
      <p:sp>
        <p:nvSpPr>
          <p:cNvPr id="7" name="aksesibilitas isi 1"/>
          <p:cNvSpPr txBox="1"/>
          <p:nvPr/>
        </p:nvSpPr>
        <p:spPr>
          <a:xfrm>
            <a:off x="777240" y="2331720"/>
            <a:ext cx="3088538" cy="98298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53 pasangan teks dan latar memenuhi WCAG 2.1 setelah satu warna diperbaiki.</a:t>
            </a:r>
            <a:endParaRPr lang="en-US" sz="1400" dirty="0"/>
          </a:p>
        </p:txBody>
      </p:sp>
      <p:sp>
        <p:nvSpPr>
          <p:cNvPr id="8" name="aksesibilitas kartu 2"/>
          <p:cNvSpPr/>
          <p:nvPr/>
        </p:nvSpPr>
        <p:spPr>
          <a:xfrm>
            <a:off x="4322978" y="1280160"/>
            <a:ext cx="3545738" cy="2171700"/>
          </a:xfrm>
          <a:prstGeom prst="roundRect">
            <a:avLst>
              <a:gd name="adj" fmla="val 3368"/>
            </a:avLst>
          </a:prstGeom>
          <a:solidFill>
            <a:srgbClr val="EEF2F7"/>
          </a:solidFill>
          <a:ln w="12700">
            <a:solidFill>
              <a:srgbClr val="EEF2F7"/>
            </a:solidFill>
            <a:prstDash val="solid"/>
          </a:ln>
        </p:spPr>
      </p:sp>
      <p:sp>
        <p:nvSpPr>
          <p:cNvPr id="9" name="aksesibilitas 2 lingkaran"/>
          <p:cNvSpPr/>
          <p:nvPr/>
        </p:nvSpPr>
        <p:spPr>
          <a:xfrm>
            <a:off x="4551578" y="1508760"/>
            <a:ext cx="685800" cy="685800"/>
          </a:xfrm>
          <a:prstGeom prst="ellipse">
            <a:avLst/>
          </a:prstGeom>
          <a:solidFill>
            <a:srgbClr val="14365D"/>
          </a:solidFill>
          <a:ln w="12700">
            <a:solidFill>
              <a:srgbClr val="14365D"/>
            </a:solidFill>
            <a:prstDash val="solid"/>
          </a:ln>
        </p:spPr>
      </p:sp>
      <p:pic>
        <p:nvPicPr>
          <p:cNvPr id="10" name="aksesibilitas 2 ikon" descr="preencoded.png">    </p:cNvPr>
          <p:cNvPicPr>
            <a:picLocks noChangeAspect="1"/>
          </p:cNvPicPr>
          <p:nvPr/>
        </p:nvPicPr>
        <p:blipFill>
          <a:blip r:embed="rId2"/>
          <a:stretch>
            <a:fillRect/>
          </a:stretch>
        </p:blipFill>
        <p:spPr>
          <a:xfrm>
            <a:off x="4723028" y="1680210"/>
            <a:ext cx="342900" cy="342900"/>
          </a:xfrm>
          <a:prstGeom prst="rect">
            <a:avLst/>
          </a:prstGeom>
        </p:spPr>
      </p:pic>
      <p:sp>
        <p:nvSpPr>
          <p:cNvPr id="11" name="aksesibilitas judul 2"/>
          <p:cNvSpPr txBox="1"/>
          <p:nvPr/>
        </p:nvSpPr>
        <p:spPr>
          <a:xfrm>
            <a:off x="5374538" y="1554480"/>
            <a:ext cx="2311298" cy="594360"/>
          </a:xfrm>
          <a:prstGeom prst="rect">
            <a:avLst/>
          </a:prstGeom>
          <a:noFill/>
          <a:ln/>
        </p:spPr>
        <p:txBody>
          <a:bodyPr wrap="square" lIns="0" tIns="0" rIns="0" bIns="0" rtlCol="0" anchor="ctr"/>
          <a:lstStyle/>
          <a:p>
            <a:pPr indent="0" marL="0">
              <a:buNone/>
            </a:pPr>
            <a:r>
              <a:rPr lang="en-US" sz="1700" b="1" dirty="0">
                <a:solidFill>
                  <a:srgbClr val="14365D"/>
                </a:solidFill>
                <a:latin typeface="Calibri" pitchFamily="34" charset="0"/>
                <a:ea typeface="Calibri" pitchFamily="34" charset="-122"/>
                <a:cs typeface="Calibri" pitchFamily="34" charset="-120"/>
              </a:rPr>
              <a:t>Huruf besar</a:t>
            </a:r>
            <a:endParaRPr lang="en-US" sz="1700" dirty="0"/>
          </a:p>
        </p:txBody>
      </p:sp>
      <p:sp>
        <p:nvSpPr>
          <p:cNvPr id="12" name="aksesibilitas isi 2"/>
          <p:cNvSpPr txBox="1"/>
          <p:nvPr/>
        </p:nvSpPr>
        <p:spPr>
          <a:xfrm>
            <a:off x="4551578" y="2331720"/>
            <a:ext cx="3088538" cy="98298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Pada huruf 200%, layar evakuasi membatasi 150% agar tombol utama tetap terlihat.</a:t>
            </a:r>
            <a:endParaRPr lang="en-US" sz="1400" dirty="0"/>
          </a:p>
        </p:txBody>
      </p:sp>
      <p:sp>
        <p:nvSpPr>
          <p:cNvPr id="13" name="aksesibilitas kartu 3"/>
          <p:cNvSpPr/>
          <p:nvPr/>
        </p:nvSpPr>
        <p:spPr>
          <a:xfrm>
            <a:off x="8097317" y="1280160"/>
            <a:ext cx="3545738" cy="2171700"/>
          </a:xfrm>
          <a:prstGeom prst="roundRect">
            <a:avLst>
              <a:gd name="adj" fmla="val 3368"/>
            </a:avLst>
          </a:prstGeom>
          <a:solidFill>
            <a:srgbClr val="EEF2F7"/>
          </a:solidFill>
          <a:ln w="12700">
            <a:solidFill>
              <a:srgbClr val="EEF2F7"/>
            </a:solidFill>
            <a:prstDash val="solid"/>
          </a:ln>
        </p:spPr>
      </p:sp>
      <p:sp>
        <p:nvSpPr>
          <p:cNvPr id="14" name="aksesibilitas 3 lingkaran"/>
          <p:cNvSpPr/>
          <p:nvPr/>
        </p:nvSpPr>
        <p:spPr>
          <a:xfrm>
            <a:off x="8325917" y="1508760"/>
            <a:ext cx="685800" cy="685800"/>
          </a:xfrm>
          <a:prstGeom prst="ellipse">
            <a:avLst/>
          </a:prstGeom>
          <a:solidFill>
            <a:srgbClr val="14365D"/>
          </a:solidFill>
          <a:ln w="12700">
            <a:solidFill>
              <a:srgbClr val="14365D"/>
            </a:solidFill>
            <a:prstDash val="solid"/>
          </a:ln>
        </p:spPr>
      </p:sp>
      <p:pic>
        <p:nvPicPr>
          <p:cNvPr id="15" name="aksesibilitas 3 ikon" descr="preencoded.png">    </p:cNvPr>
          <p:cNvPicPr>
            <a:picLocks noChangeAspect="1"/>
          </p:cNvPicPr>
          <p:nvPr/>
        </p:nvPicPr>
        <p:blipFill>
          <a:blip r:embed="rId3"/>
          <a:stretch>
            <a:fillRect/>
          </a:stretch>
        </p:blipFill>
        <p:spPr>
          <a:xfrm>
            <a:off x="8497367" y="1680210"/>
            <a:ext cx="342900" cy="342900"/>
          </a:xfrm>
          <a:prstGeom prst="rect">
            <a:avLst/>
          </a:prstGeom>
        </p:spPr>
      </p:pic>
      <p:sp>
        <p:nvSpPr>
          <p:cNvPr id="16" name="aksesibilitas judul 3"/>
          <p:cNvSpPr txBox="1"/>
          <p:nvPr/>
        </p:nvSpPr>
        <p:spPr>
          <a:xfrm>
            <a:off x="9148877" y="1554480"/>
            <a:ext cx="2311298" cy="594360"/>
          </a:xfrm>
          <a:prstGeom prst="rect">
            <a:avLst/>
          </a:prstGeom>
          <a:noFill/>
          <a:ln/>
        </p:spPr>
        <p:txBody>
          <a:bodyPr wrap="square" lIns="0" tIns="0" rIns="0" bIns="0" rtlCol="0" anchor="ctr"/>
          <a:lstStyle/>
          <a:p>
            <a:pPr indent="0" marL="0">
              <a:buNone/>
            </a:pPr>
            <a:r>
              <a:rPr lang="en-US" sz="1700" b="1" dirty="0">
                <a:solidFill>
                  <a:srgbClr val="14365D"/>
                </a:solidFill>
                <a:latin typeface="Calibri" pitchFamily="34" charset="0"/>
                <a:ea typeface="Calibri" pitchFamily="34" charset="-122"/>
                <a:cs typeface="Calibri" pitchFamily="34" charset="-120"/>
              </a:rPr>
              <a:t>Pembaca layar</a:t>
            </a:r>
            <a:endParaRPr lang="en-US" sz="1700" dirty="0"/>
          </a:p>
        </p:txBody>
      </p:sp>
      <p:sp>
        <p:nvSpPr>
          <p:cNvPr id="17" name="aksesibilitas isi 3"/>
          <p:cNvSpPr txBox="1"/>
          <p:nvPr/>
        </p:nvSpPr>
        <p:spPr>
          <a:xfrm>
            <a:off x="8325917" y="2331720"/>
            <a:ext cx="3088538" cy="98298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Label TalkBack dibacakan sebagai kalimat, misalnya "Sisa waktu 19 menit 55 detik".</a:t>
            </a:r>
            <a:endParaRPr lang="en-US" sz="1400" dirty="0"/>
          </a:p>
        </p:txBody>
      </p:sp>
      <p:sp>
        <p:nvSpPr>
          <p:cNvPr id="18" name="aksesibilitas kartu 4"/>
          <p:cNvSpPr/>
          <p:nvPr/>
        </p:nvSpPr>
        <p:spPr>
          <a:xfrm>
            <a:off x="548640" y="3680460"/>
            <a:ext cx="3545738" cy="2171700"/>
          </a:xfrm>
          <a:prstGeom prst="roundRect">
            <a:avLst>
              <a:gd name="adj" fmla="val 3368"/>
            </a:avLst>
          </a:prstGeom>
          <a:solidFill>
            <a:srgbClr val="EEF2F7"/>
          </a:solidFill>
          <a:ln w="12700">
            <a:solidFill>
              <a:srgbClr val="EEF2F7"/>
            </a:solidFill>
            <a:prstDash val="solid"/>
          </a:ln>
        </p:spPr>
      </p:sp>
      <p:sp>
        <p:nvSpPr>
          <p:cNvPr id="19" name="aksesibilitas 4 lingkaran"/>
          <p:cNvSpPr/>
          <p:nvPr/>
        </p:nvSpPr>
        <p:spPr>
          <a:xfrm>
            <a:off x="777240" y="3909060"/>
            <a:ext cx="685800" cy="685800"/>
          </a:xfrm>
          <a:prstGeom prst="ellipse">
            <a:avLst/>
          </a:prstGeom>
          <a:solidFill>
            <a:srgbClr val="14365D"/>
          </a:solidFill>
          <a:ln w="12700">
            <a:solidFill>
              <a:srgbClr val="14365D"/>
            </a:solidFill>
            <a:prstDash val="solid"/>
          </a:ln>
        </p:spPr>
      </p:sp>
      <p:pic>
        <p:nvPicPr>
          <p:cNvPr id="20" name="aksesibilitas 4 ikon" descr="preencoded.png">    </p:cNvPr>
          <p:cNvPicPr>
            <a:picLocks noChangeAspect="1"/>
          </p:cNvPicPr>
          <p:nvPr/>
        </p:nvPicPr>
        <p:blipFill>
          <a:blip r:embed="rId4"/>
          <a:stretch>
            <a:fillRect/>
          </a:stretch>
        </p:blipFill>
        <p:spPr>
          <a:xfrm>
            <a:off x="948690" y="4080510"/>
            <a:ext cx="342900" cy="342900"/>
          </a:xfrm>
          <a:prstGeom prst="rect">
            <a:avLst/>
          </a:prstGeom>
        </p:spPr>
      </p:pic>
      <p:sp>
        <p:nvSpPr>
          <p:cNvPr id="21" name="aksesibilitas judul 4"/>
          <p:cNvSpPr txBox="1"/>
          <p:nvPr/>
        </p:nvSpPr>
        <p:spPr>
          <a:xfrm>
            <a:off x="1600200" y="3954780"/>
            <a:ext cx="2311298" cy="594360"/>
          </a:xfrm>
          <a:prstGeom prst="rect">
            <a:avLst/>
          </a:prstGeom>
          <a:noFill/>
          <a:ln/>
        </p:spPr>
        <p:txBody>
          <a:bodyPr wrap="square" lIns="0" tIns="0" rIns="0" bIns="0" rtlCol="0" anchor="ctr"/>
          <a:lstStyle/>
          <a:p>
            <a:pPr indent="0" marL="0">
              <a:buNone/>
            </a:pPr>
            <a:r>
              <a:rPr lang="en-US" sz="1700" b="1" dirty="0">
                <a:solidFill>
                  <a:srgbClr val="14365D"/>
                </a:solidFill>
                <a:latin typeface="Calibri" pitchFamily="34" charset="0"/>
                <a:ea typeface="Calibri" pitchFamily="34" charset="-122"/>
                <a:cs typeface="Calibri" pitchFamily="34" charset="-120"/>
              </a:rPr>
              <a:t>Laju mobilitas terbatas</a:t>
            </a:r>
            <a:endParaRPr lang="en-US" sz="1700" dirty="0"/>
          </a:p>
        </p:txBody>
      </p:sp>
      <p:sp>
        <p:nvSpPr>
          <p:cNvPr id="22" name="aksesibilitas isi 4"/>
          <p:cNvSpPr txBox="1"/>
          <p:nvPr/>
        </p:nvSpPr>
        <p:spPr>
          <a:xfrm>
            <a:off x="777240" y="4732020"/>
            <a:ext cx="3088538" cy="98298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Waktu tempuh memakai 0,894 m/s agar perkiraan tetap aman untuk yang berjalan lambat.</a:t>
            </a:r>
            <a:endParaRPr lang="en-US" sz="1400" dirty="0"/>
          </a:p>
        </p:txBody>
      </p:sp>
      <p:sp>
        <p:nvSpPr>
          <p:cNvPr id="23" name="aksesibilitas kartu 5"/>
          <p:cNvSpPr/>
          <p:nvPr/>
        </p:nvSpPr>
        <p:spPr>
          <a:xfrm>
            <a:off x="4322978" y="3680460"/>
            <a:ext cx="3545738" cy="2171700"/>
          </a:xfrm>
          <a:prstGeom prst="roundRect">
            <a:avLst>
              <a:gd name="adj" fmla="val 3368"/>
            </a:avLst>
          </a:prstGeom>
          <a:solidFill>
            <a:srgbClr val="EEF2F7"/>
          </a:solidFill>
          <a:ln w="12700">
            <a:solidFill>
              <a:srgbClr val="EEF2F7"/>
            </a:solidFill>
            <a:prstDash val="solid"/>
          </a:ln>
        </p:spPr>
      </p:sp>
      <p:sp>
        <p:nvSpPr>
          <p:cNvPr id="24" name="aksesibilitas 5 lingkaran"/>
          <p:cNvSpPr/>
          <p:nvPr/>
        </p:nvSpPr>
        <p:spPr>
          <a:xfrm>
            <a:off x="4551578" y="3909060"/>
            <a:ext cx="685800" cy="685800"/>
          </a:xfrm>
          <a:prstGeom prst="ellipse">
            <a:avLst/>
          </a:prstGeom>
          <a:solidFill>
            <a:srgbClr val="14365D"/>
          </a:solidFill>
          <a:ln w="12700">
            <a:solidFill>
              <a:srgbClr val="14365D"/>
            </a:solidFill>
            <a:prstDash val="solid"/>
          </a:ln>
        </p:spPr>
      </p:sp>
      <p:pic>
        <p:nvPicPr>
          <p:cNvPr id="25" name="aksesibilitas 5 ikon" descr="preencoded.png">    </p:cNvPr>
          <p:cNvPicPr>
            <a:picLocks noChangeAspect="1"/>
          </p:cNvPicPr>
          <p:nvPr/>
        </p:nvPicPr>
        <p:blipFill>
          <a:blip r:embed="rId5"/>
          <a:stretch>
            <a:fillRect/>
          </a:stretch>
        </p:blipFill>
        <p:spPr>
          <a:xfrm>
            <a:off x="4723028" y="4080510"/>
            <a:ext cx="342900" cy="342900"/>
          </a:xfrm>
          <a:prstGeom prst="rect">
            <a:avLst/>
          </a:prstGeom>
        </p:spPr>
      </p:pic>
      <p:sp>
        <p:nvSpPr>
          <p:cNvPr id="26" name="aksesibilitas judul 5"/>
          <p:cNvSpPr txBox="1"/>
          <p:nvPr/>
        </p:nvSpPr>
        <p:spPr>
          <a:xfrm>
            <a:off x="5374538" y="3954780"/>
            <a:ext cx="2311298" cy="594360"/>
          </a:xfrm>
          <a:prstGeom prst="rect">
            <a:avLst/>
          </a:prstGeom>
          <a:noFill/>
          <a:ln/>
        </p:spPr>
        <p:txBody>
          <a:bodyPr wrap="square" lIns="0" tIns="0" rIns="0" bIns="0" rtlCol="0" anchor="ctr"/>
          <a:lstStyle/>
          <a:p>
            <a:pPr indent="0" marL="0">
              <a:buNone/>
            </a:pPr>
            <a:r>
              <a:rPr lang="en-US" sz="1700" b="1" dirty="0">
                <a:solidFill>
                  <a:srgbClr val="14365D"/>
                </a:solidFill>
                <a:latin typeface="Calibri" pitchFamily="34" charset="0"/>
                <a:ea typeface="Calibri" pitchFamily="34" charset="-122"/>
                <a:cs typeface="Calibri" pitchFamily="34" charset="-120"/>
              </a:rPr>
              <a:t>Area sentuh</a:t>
            </a:r>
            <a:endParaRPr lang="en-US" sz="1700" dirty="0"/>
          </a:p>
        </p:txBody>
      </p:sp>
      <p:sp>
        <p:nvSpPr>
          <p:cNvPr id="27" name="aksesibilitas isi 5"/>
          <p:cNvSpPr txBox="1"/>
          <p:nvPr/>
        </p:nvSpPr>
        <p:spPr>
          <a:xfrm>
            <a:off x="4551578" y="4732020"/>
            <a:ext cx="3088538" cy="98298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Tombol utama minimal 48 dp.</a:t>
            </a:r>
            <a:endParaRPr lang="en-US" sz="1400" dirty="0"/>
          </a:p>
        </p:txBody>
      </p:sp>
      <p:sp>
        <p:nvSpPr>
          <p:cNvPr id="28" name="aksesibilitas kartu 6"/>
          <p:cNvSpPr/>
          <p:nvPr/>
        </p:nvSpPr>
        <p:spPr>
          <a:xfrm>
            <a:off x="8097317" y="3680460"/>
            <a:ext cx="3545738" cy="2171700"/>
          </a:xfrm>
          <a:prstGeom prst="roundRect">
            <a:avLst>
              <a:gd name="adj" fmla="val 3368"/>
            </a:avLst>
          </a:prstGeom>
          <a:solidFill>
            <a:srgbClr val="EEF2F7"/>
          </a:solidFill>
          <a:ln w="12700">
            <a:solidFill>
              <a:srgbClr val="EEF2F7"/>
            </a:solidFill>
            <a:prstDash val="solid"/>
          </a:ln>
        </p:spPr>
      </p:sp>
      <p:sp>
        <p:nvSpPr>
          <p:cNvPr id="29" name="aksesibilitas 6 lingkaran"/>
          <p:cNvSpPr/>
          <p:nvPr/>
        </p:nvSpPr>
        <p:spPr>
          <a:xfrm>
            <a:off x="8325917" y="3909060"/>
            <a:ext cx="685800" cy="685800"/>
          </a:xfrm>
          <a:prstGeom prst="ellipse">
            <a:avLst/>
          </a:prstGeom>
          <a:solidFill>
            <a:srgbClr val="2F7F9C"/>
          </a:solidFill>
          <a:ln w="12700">
            <a:solidFill>
              <a:srgbClr val="2F7F9C"/>
            </a:solidFill>
            <a:prstDash val="solid"/>
          </a:ln>
        </p:spPr>
      </p:sp>
      <p:pic>
        <p:nvPicPr>
          <p:cNvPr id="30" name="aksesibilitas 6 ikon" descr="preencoded.png">    </p:cNvPr>
          <p:cNvPicPr>
            <a:picLocks noChangeAspect="1"/>
          </p:cNvPicPr>
          <p:nvPr/>
        </p:nvPicPr>
        <p:blipFill>
          <a:blip r:embed="rId6"/>
          <a:stretch>
            <a:fillRect/>
          </a:stretch>
        </p:blipFill>
        <p:spPr>
          <a:xfrm>
            <a:off x="8497367" y="4080510"/>
            <a:ext cx="342900" cy="342900"/>
          </a:xfrm>
          <a:prstGeom prst="rect">
            <a:avLst/>
          </a:prstGeom>
        </p:spPr>
      </p:pic>
      <p:sp>
        <p:nvSpPr>
          <p:cNvPr id="31" name="aksesibilitas judul 6"/>
          <p:cNvSpPr txBox="1"/>
          <p:nvPr/>
        </p:nvSpPr>
        <p:spPr>
          <a:xfrm>
            <a:off x="9148877" y="3954780"/>
            <a:ext cx="2311298" cy="594360"/>
          </a:xfrm>
          <a:prstGeom prst="rect">
            <a:avLst/>
          </a:prstGeom>
          <a:noFill/>
          <a:ln/>
        </p:spPr>
        <p:txBody>
          <a:bodyPr wrap="square" lIns="0" tIns="0" rIns="0" bIns="0" rtlCol="0" anchor="ctr"/>
          <a:lstStyle/>
          <a:p>
            <a:pPr indent="0" marL="0">
              <a:buNone/>
            </a:pPr>
            <a:r>
              <a:rPr lang="en-US" sz="1700" b="1" dirty="0">
                <a:solidFill>
                  <a:srgbClr val="14365D"/>
                </a:solidFill>
                <a:latin typeface="Calibri" pitchFamily="34" charset="0"/>
                <a:ea typeface="Calibri" pitchFamily="34" charset="-122"/>
                <a:cs typeface="Calibri" pitchFamily="34" charset="-120"/>
              </a:rPr>
              <a:t>Uji berikutnya</a:t>
            </a:r>
            <a:endParaRPr lang="en-US" sz="1700" dirty="0"/>
          </a:p>
        </p:txBody>
      </p:sp>
      <p:sp>
        <p:nvSpPr>
          <p:cNvPr id="32" name="aksesibilitas isi 6"/>
          <p:cNvSpPr txBox="1"/>
          <p:nvPr/>
        </p:nvSpPr>
        <p:spPr>
          <a:xfrm>
            <a:off x="8325917" y="4732020"/>
            <a:ext cx="3088538" cy="98298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Pelibatan lansia dan penyandang disabilitas dalam uji desain akhir.</a:t>
            </a:r>
            <a:endParaRPr lang="en-US" sz="1400" dirty="0"/>
          </a:p>
        </p:txBody>
      </p:sp>
      <p:sp>
        <p:nvSpPr>
          <p:cNvPr id="33"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L 5.9, Tabel 5.3, Tabel 6.5, 6.8.</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F5B700"/>
                </a:solidFill>
                <a:latin typeface="Arial" pitchFamily="34" charset="0"/>
                <a:ea typeface="Arial" pitchFamily="34" charset="-122"/>
                <a:cs typeface="Arial" pitchFamily="34" charset="-120"/>
              </a:rPr>
              <a:t>B16  </a:t>
            </a:r>
            <a:pPr algn="l" indent="0" marL="0">
              <a:buNone/>
            </a:pPr>
            <a:r>
              <a:rPr lang="en-US" sz="3000" b="1" dirty="0">
                <a:solidFill>
                  <a:srgbClr val="14365D"/>
                </a:solidFill>
                <a:latin typeface="Arial" pitchFamily="34" charset="0"/>
                <a:ea typeface="Arial" pitchFamily="34" charset="-122"/>
                <a:cs typeface="Arial" pitchFamily="34" charset="-120"/>
              </a:rPr>
              <a:t>Kebutuhan perangkat</a:t>
            </a:r>
            <a:endParaRPr lang="en-US" sz="3000" dirty="0"/>
          </a:p>
        </p:txBody>
      </p:sp>
      <p:graphicFrame>
        <p:nvGraphicFramePr>
          <p:cNvPr id="52" name="tabel perangkat"/>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2743200"/>
                <a:gridCol w="8348472"/>
              </a:tblGrid>
              <a:tr h="65836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Komponen</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Spesifikasi</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r>
              <a:tr h="658368">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Sistem operasi</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Android 6.0 (API 23) ke atas; diuji pada Android 14, 15, dan 16</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658368">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Ukuran aplikasi</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APK arm64 34,6 MB; APK universal 70,5 MB</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658368">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Data lokal</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Basis data 36,97 MB dan peta dasar 8,1 MB ikut terpasang</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658368">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Sensor</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GPS (Layanan Google Play, cadangan penyedia lokasi Android); vektor rotasi, magnetometer, akselerometer</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658368">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Jaringan</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Tidak diperlukan untuk navigasi; dipakai untuk peringatan, laporan, dan pembaruan</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658368">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Pengingat zona</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Memerlukan Layanan Google Play (geofence 500 m)</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bl>
          </a:graphicData>
        </a:graphic>
      </p:graphicFrame>
      <p:sp>
        <p:nvSpPr>
          <p:cNvPr id="4"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L 3.2, Tabel 6.1, Tabel 6.3, Tabel 6.5.</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F5B700"/>
                </a:solidFill>
                <a:latin typeface="Arial" pitchFamily="34" charset="0"/>
                <a:ea typeface="Arial" pitchFamily="34" charset="-122"/>
                <a:cs typeface="Arial" pitchFamily="34" charset="-120"/>
              </a:rPr>
              <a:t>B17  </a:t>
            </a:r>
            <a:pPr algn="l" indent="0" marL="0">
              <a:buNone/>
            </a:pPr>
            <a:r>
              <a:rPr lang="en-US" sz="3000" b="1" dirty="0">
                <a:solidFill>
                  <a:srgbClr val="14365D"/>
                </a:solidFill>
                <a:latin typeface="Arial" pitchFamily="34" charset="0"/>
                <a:ea typeface="Arial" pitchFamily="34" charset="-122"/>
                <a:cs typeface="Arial" pitchFamily="34" charset="-120"/>
              </a:rPr>
              <a:t>Mengapa OpenStreetMap</a:t>
            </a:r>
            <a:endParaRPr lang="en-US" sz="3000" dirty="0"/>
          </a:p>
        </p:txBody>
      </p:sp>
      <p:pic>
        <p:nvPicPr>
          <p:cNvPr id="3" name="peta jalan osm" descr="C:\Users\Lenovo\AppData\Local\Temp\claude\c--gemastik\520da942-8140-47c0-a16f-9bde4b92cbe5\scratchpad\deck\aset\jalan.png">    </p:cNvPr>
          <p:cNvPicPr>
            <a:picLocks noChangeAspect="1"/>
          </p:cNvPicPr>
          <p:nvPr/>
        </p:nvPicPr>
        <p:blipFill>
          <a:blip r:embed="rId1"/>
          <a:stretch>
            <a:fillRect/>
          </a:stretch>
        </p:blipFill>
        <p:spPr>
          <a:xfrm>
            <a:off x="6949440" y="1361499"/>
            <a:ext cx="4690872" cy="4363602"/>
          </a:xfrm>
          <a:prstGeom prst="rect">
            <a:avLst/>
          </a:prstGeom>
        </p:spPr>
      </p:pic>
      <p:sp>
        <p:nvSpPr>
          <p:cNvPr id="4" name="osm 1 lingkaran"/>
          <p:cNvSpPr/>
          <p:nvPr/>
        </p:nvSpPr>
        <p:spPr>
          <a:xfrm>
            <a:off x="548640" y="1280160"/>
            <a:ext cx="685800" cy="685800"/>
          </a:xfrm>
          <a:prstGeom prst="ellipse">
            <a:avLst/>
          </a:prstGeom>
          <a:solidFill>
            <a:srgbClr val="14365D"/>
          </a:solidFill>
          <a:ln w="12700">
            <a:solidFill>
              <a:srgbClr val="14365D"/>
            </a:solidFill>
            <a:prstDash val="solid"/>
          </a:ln>
        </p:spPr>
      </p:sp>
      <p:pic>
        <p:nvPicPr>
          <p:cNvPr id="5" name="osm 1 ikon" descr="preencoded.png">    </p:cNvPr>
          <p:cNvPicPr>
            <a:picLocks noChangeAspect="1"/>
          </p:cNvPicPr>
          <p:nvPr/>
        </p:nvPicPr>
        <p:blipFill>
          <a:blip r:embed="rId2"/>
          <a:stretch>
            <a:fillRect/>
          </a:stretch>
        </p:blipFill>
        <p:spPr>
          <a:xfrm>
            <a:off x="720090" y="1451610"/>
            <a:ext cx="342900" cy="342900"/>
          </a:xfrm>
          <a:prstGeom prst="rect">
            <a:avLst/>
          </a:prstGeom>
        </p:spPr>
      </p:pic>
      <p:sp>
        <p:nvSpPr>
          <p:cNvPr id="6" name="osm judul 1"/>
          <p:cNvSpPr txBox="1"/>
          <p:nvPr/>
        </p:nvSpPr>
        <p:spPr>
          <a:xfrm>
            <a:off x="1463040" y="1280160"/>
            <a:ext cx="5212080" cy="384048"/>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Data terbuka</a:t>
            </a:r>
            <a:endParaRPr lang="en-US" sz="1700" dirty="0"/>
          </a:p>
        </p:txBody>
      </p:sp>
      <p:sp>
        <p:nvSpPr>
          <p:cNvPr id="7" name="osm isi 1"/>
          <p:cNvSpPr txBox="1"/>
          <p:nvPr/>
        </p:nvSpPr>
        <p:spPr>
          <a:xfrm>
            <a:off x="1463040" y="1673352"/>
            <a:ext cx="5212080" cy="6858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Lisensi Open Database License dengan atribusi; dapat dipakai dan dibagikan ulang dalam aplikasi luring.</a:t>
            </a:r>
            <a:endParaRPr lang="en-US" sz="1400" dirty="0"/>
          </a:p>
        </p:txBody>
      </p:sp>
      <p:sp>
        <p:nvSpPr>
          <p:cNvPr id="8" name="osm 2 lingkaran"/>
          <p:cNvSpPr/>
          <p:nvPr/>
        </p:nvSpPr>
        <p:spPr>
          <a:xfrm>
            <a:off x="548640" y="2423160"/>
            <a:ext cx="685800" cy="685800"/>
          </a:xfrm>
          <a:prstGeom prst="ellipse">
            <a:avLst/>
          </a:prstGeom>
          <a:solidFill>
            <a:srgbClr val="14365D"/>
          </a:solidFill>
          <a:ln w="12700">
            <a:solidFill>
              <a:srgbClr val="14365D"/>
            </a:solidFill>
            <a:prstDash val="solid"/>
          </a:ln>
        </p:spPr>
      </p:sp>
      <p:pic>
        <p:nvPicPr>
          <p:cNvPr id="9" name="osm 2 ikon" descr="preencoded.png">    </p:cNvPr>
          <p:cNvPicPr>
            <a:picLocks noChangeAspect="1"/>
          </p:cNvPicPr>
          <p:nvPr/>
        </p:nvPicPr>
        <p:blipFill>
          <a:blip r:embed="rId3"/>
          <a:stretch>
            <a:fillRect/>
          </a:stretch>
        </p:blipFill>
        <p:spPr>
          <a:xfrm>
            <a:off x="720090" y="2594610"/>
            <a:ext cx="342900" cy="342900"/>
          </a:xfrm>
          <a:prstGeom prst="rect">
            <a:avLst/>
          </a:prstGeom>
        </p:spPr>
      </p:pic>
      <p:sp>
        <p:nvSpPr>
          <p:cNvPr id="10" name="osm judul 2"/>
          <p:cNvSpPr txBox="1"/>
          <p:nvPr/>
        </p:nvSpPr>
        <p:spPr>
          <a:xfrm>
            <a:off x="1463040" y="2423160"/>
            <a:ext cx="5212080" cy="384048"/>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Jaringan pejalan kaki lengkap</a:t>
            </a:r>
            <a:endParaRPr lang="en-US" sz="1700" dirty="0"/>
          </a:p>
        </p:txBody>
      </p:sp>
      <p:sp>
        <p:nvSpPr>
          <p:cNvPr id="11" name="osm isi 2"/>
          <p:cNvSpPr txBox="1"/>
          <p:nvPr/>
        </p:nvSpPr>
        <p:spPr>
          <a:xfrm>
            <a:off x="1463040" y="2816352"/>
            <a:ext cx="5212080" cy="6858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Jalan utama 431 km, jalan lingkungan 2.318 km, jalan setapak dan tangga 113 km.</a:t>
            </a:r>
            <a:endParaRPr lang="en-US" sz="1400" dirty="0"/>
          </a:p>
        </p:txBody>
      </p:sp>
      <p:sp>
        <p:nvSpPr>
          <p:cNvPr id="12" name="osm 3 lingkaran"/>
          <p:cNvSpPr/>
          <p:nvPr/>
        </p:nvSpPr>
        <p:spPr>
          <a:xfrm>
            <a:off x="548640" y="3566160"/>
            <a:ext cx="685800" cy="685800"/>
          </a:xfrm>
          <a:prstGeom prst="ellipse">
            <a:avLst/>
          </a:prstGeom>
          <a:solidFill>
            <a:srgbClr val="14365D"/>
          </a:solidFill>
          <a:ln w="12700">
            <a:solidFill>
              <a:srgbClr val="14365D"/>
            </a:solidFill>
            <a:prstDash val="solid"/>
          </a:ln>
        </p:spPr>
      </p:sp>
      <p:pic>
        <p:nvPicPr>
          <p:cNvPr id="13" name="osm 3 ikon" descr="preencoded.png">    </p:cNvPr>
          <p:cNvPicPr>
            <a:picLocks noChangeAspect="1"/>
          </p:cNvPicPr>
          <p:nvPr/>
        </p:nvPicPr>
        <p:blipFill>
          <a:blip r:embed="rId4"/>
          <a:stretch>
            <a:fillRect/>
          </a:stretch>
        </p:blipFill>
        <p:spPr>
          <a:xfrm>
            <a:off x="720090" y="3737610"/>
            <a:ext cx="342900" cy="342900"/>
          </a:xfrm>
          <a:prstGeom prst="rect">
            <a:avLst/>
          </a:prstGeom>
        </p:spPr>
      </p:pic>
      <p:sp>
        <p:nvSpPr>
          <p:cNvPr id="14" name="osm judul 3"/>
          <p:cNvSpPr txBox="1"/>
          <p:nvPr/>
        </p:nvSpPr>
        <p:spPr>
          <a:xfrm>
            <a:off x="1463040" y="3566160"/>
            <a:ext cx="5212080" cy="384048"/>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Garis pantai yang sama</a:t>
            </a:r>
            <a:endParaRPr lang="en-US" sz="1700" dirty="0"/>
          </a:p>
        </p:txBody>
      </p:sp>
      <p:sp>
        <p:nvSpPr>
          <p:cNvPr id="15" name="osm isi 3"/>
          <p:cNvSpPr txBox="1"/>
          <p:nvPr/>
        </p:nvSpPr>
        <p:spPr>
          <a:xfrm>
            <a:off x="1463040" y="3959352"/>
            <a:ext cx="5212080" cy="6858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Dipakai untuk jarak setiap simpul ke pantai dan aturan arah menjauhi pantai.</a:t>
            </a:r>
            <a:endParaRPr lang="en-US" sz="1400" dirty="0"/>
          </a:p>
        </p:txBody>
      </p:sp>
      <p:sp>
        <p:nvSpPr>
          <p:cNvPr id="16" name="osm 4 lingkaran"/>
          <p:cNvSpPr/>
          <p:nvPr/>
        </p:nvSpPr>
        <p:spPr>
          <a:xfrm>
            <a:off x="548640" y="4709160"/>
            <a:ext cx="685800" cy="685800"/>
          </a:xfrm>
          <a:prstGeom prst="ellipse">
            <a:avLst/>
          </a:prstGeom>
          <a:solidFill>
            <a:srgbClr val="2E8B57"/>
          </a:solidFill>
          <a:ln w="12700">
            <a:solidFill>
              <a:srgbClr val="2E8B57"/>
            </a:solidFill>
            <a:prstDash val="solid"/>
          </a:ln>
        </p:spPr>
      </p:sp>
      <p:pic>
        <p:nvPicPr>
          <p:cNvPr id="17" name="osm 4 ikon" descr="preencoded.png">    </p:cNvPr>
          <p:cNvPicPr>
            <a:picLocks noChangeAspect="1"/>
          </p:cNvPicPr>
          <p:nvPr/>
        </p:nvPicPr>
        <p:blipFill>
          <a:blip r:embed="rId5"/>
          <a:stretch>
            <a:fillRect/>
          </a:stretch>
        </p:blipFill>
        <p:spPr>
          <a:xfrm>
            <a:off x="720090" y="4880610"/>
            <a:ext cx="342900" cy="342900"/>
          </a:xfrm>
          <a:prstGeom prst="rect">
            <a:avLst/>
          </a:prstGeom>
        </p:spPr>
      </p:pic>
      <p:sp>
        <p:nvSpPr>
          <p:cNvPr id="18" name="osm judul 4"/>
          <p:cNvSpPr txBox="1"/>
          <p:nvPr/>
        </p:nvSpPr>
        <p:spPr>
          <a:xfrm>
            <a:off x="1463040" y="4709160"/>
            <a:ext cx="5212080" cy="384048"/>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Dapat dilengkapi</a:t>
            </a:r>
            <a:endParaRPr lang="en-US" sz="1700" dirty="0"/>
          </a:p>
        </p:txBody>
      </p:sp>
      <p:sp>
        <p:nvSpPr>
          <p:cNvPr id="19" name="osm isi 4"/>
          <p:cNvSpPr txBox="1"/>
          <p:nvPr/>
        </p:nvSpPr>
        <p:spPr>
          <a:xfrm>
            <a:off x="1463040" y="5102352"/>
            <a:ext cx="5212080" cy="6858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Jalan kecil dan nama jalan dapat ditambah lewat pemetaan bersama BPBD dan komunitas.</a:t>
            </a:r>
            <a:endParaRPr lang="en-US" sz="1400" dirty="0"/>
          </a:p>
        </p:txBody>
      </p:sp>
      <p:sp>
        <p:nvSpPr>
          <p:cNvPr id="20"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L 3.4, 3.6, 6.1, Gambar 5.4.</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F5B700"/>
                </a:solidFill>
                <a:latin typeface="Arial" pitchFamily="34" charset="0"/>
                <a:ea typeface="Arial" pitchFamily="34" charset="-122"/>
                <a:cs typeface="Arial" pitchFamily="34" charset="-120"/>
              </a:rPr>
              <a:t>B18  </a:t>
            </a:r>
            <a:pPr algn="l" indent="0" marL="0">
              <a:buNone/>
            </a:pPr>
            <a:r>
              <a:rPr lang="en-US" sz="3000" b="1" dirty="0">
                <a:solidFill>
                  <a:srgbClr val="14365D"/>
                </a:solidFill>
                <a:latin typeface="Arial" pitchFamily="34" charset="0"/>
                <a:ea typeface="Arial" pitchFamily="34" charset="-122"/>
                <a:cs typeface="Arial" pitchFamily="34" charset="-120"/>
              </a:rPr>
              <a:t>Replikasi ke kota pesisir lain</a:t>
            </a:r>
            <a:endParaRPr lang="en-US" sz="3000" dirty="0"/>
          </a:p>
        </p:txBody>
      </p:sp>
      <p:sp>
        <p:nvSpPr>
          <p:cNvPr id="3" name="kartu replikasi 1"/>
          <p:cNvSpPr/>
          <p:nvPr/>
        </p:nvSpPr>
        <p:spPr>
          <a:xfrm>
            <a:off x="548640" y="1463040"/>
            <a:ext cx="2011680" cy="2377440"/>
          </a:xfrm>
          <a:prstGeom prst="roundRect">
            <a:avLst>
              <a:gd name="adj" fmla="val 3636"/>
            </a:avLst>
          </a:prstGeom>
          <a:solidFill>
            <a:srgbClr val="EEF2F7"/>
          </a:solidFill>
          <a:ln w="12700">
            <a:solidFill>
              <a:srgbClr val="EEF2F7"/>
            </a:solidFill>
            <a:prstDash val="solid"/>
          </a:ln>
        </p:spPr>
      </p:sp>
      <p:sp>
        <p:nvSpPr>
          <p:cNvPr id="4" name="judul replikasi 1"/>
          <p:cNvSpPr txBox="1"/>
          <p:nvPr/>
        </p:nvSpPr>
        <p:spPr>
          <a:xfrm>
            <a:off x="731520" y="1645920"/>
            <a:ext cx="1645920" cy="731520"/>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Peta bahaya</a:t>
            </a:r>
            <a:endParaRPr lang="en-US" sz="1700" dirty="0"/>
          </a:p>
        </p:txBody>
      </p:sp>
      <p:sp>
        <p:nvSpPr>
          <p:cNvPr id="5" name="isi replikasi 1"/>
          <p:cNvSpPr txBox="1"/>
          <p:nvPr/>
        </p:nvSpPr>
        <p:spPr>
          <a:xfrm>
            <a:off x="731520" y="2423160"/>
            <a:ext cx="1645920" cy="132588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KRB atau peta evakuasi setempat</a:t>
            </a:r>
            <a:endParaRPr lang="en-US" sz="1400" dirty="0"/>
          </a:p>
        </p:txBody>
      </p:sp>
      <p:sp>
        <p:nvSpPr>
          <p:cNvPr id="6" name="kartu replikasi 2"/>
          <p:cNvSpPr/>
          <p:nvPr/>
        </p:nvSpPr>
        <p:spPr>
          <a:xfrm>
            <a:off x="2798064" y="1463040"/>
            <a:ext cx="2011680" cy="2377440"/>
          </a:xfrm>
          <a:prstGeom prst="roundRect">
            <a:avLst>
              <a:gd name="adj" fmla="val 3636"/>
            </a:avLst>
          </a:prstGeom>
          <a:solidFill>
            <a:srgbClr val="EEF2F7"/>
          </a:solidFill>
          <a:ln w="12700">
            <a:solidFill>
              <a:srgbClr val="EEF2F7"/>
            </a:solidFill>
            <a:prstDash val="solid"/>
          </a:ln>
        </p:spPr>
      </p:sp>
      <p:sp>
        <p:nvSpPr>
          <p:cNvPr id="7" name="judul replikasi 2"/>
          <p:cNvSpPr txBox="1"/>
          <p:nvPr/>
        </p:nvSpPr>
        <p:spPr>
          <a:xfrm>
            <a:off x="2980944" y="1645920"/>
            <a:ext cx="1645920" cy="731520"/>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Tempat evakuasi</a:t>
            </a:r>
            <a:endParaRPr lang="en-US" sz="1700" dirty="0"/>
          </a:p>
        </p:txBody>
      </p:sp>
      <p:sp>
        <p:nvSpPr>
          <p:cNvPr id="8" name="isi replikasi 2"/>
          <p:cNvSpPr txBox="1"/>
          <p:nvPr/>
        </p:nvSpPr>
        <p:spPr>
          <a:xfrm>
            <a:off x="2980944" y="2423160"/>
            <a:ext cx="1645920" cy="132588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Daftar TES, TEA, dan daya tampung</a:t>
            </a:r>
            <a:endParaRPr lang="en-US" sz="1400" dirty="0"/>
          </a:p>
        </p:txBody>
      </p:sp>
      <p:sp>
        <p:nvSpPr>
          <p:cNvPr id="9" name="kartu replikasi 3"/>
          <p:cNvSpPr/>
          <p:nvPr/>
        </p:nvSpPr>
        <p:spPr>
          <a:xfrm>
            <a:off x="5047488" y="1463040"/>
            <a:ext cx="2011680" cy="2377440"/>
          </a:xfrm>
          <a:prstGeom prst="roundRect">
            <a:avLst>
              <a:gd name="adj" fmla="val 3636"/>
            </a:avLst>
          </a:prstGeom>
          <a:solidFill>
            <a:srgbClr val="EEF2F7"/>
          </a:solidFill>
          <a:ln w="12700">
            <a:solidFill>
              <a:srgbClr val="EEF2F7"/>
            </a:solidFill>
            <a:prstDash val="solid"/>
          </a:ln>
        </p:spPr>
      </p:sp>
      <p:sp>
        <p:nvSpPr>
          <p:cNvPr id="10" name="judul replikasi 3"/>
          <p:cNvSpPr txBox="1"/>
          <p:nvPr/>
        </p:nvSpPr>
        <p:spPr>
          <a:xfrm>
            <a:off x="5230368" y="1645920"/>
            <a:ext cx="1645920" cy="731520"/>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Jaringan jalan</a:t>
            </a:r>
            <a:endParaRPr lang="en-US" sz="1700" dirty="0"/>
          </a:p>
        </p:txBody>
      </p:sp>
      <p:sp>
        <p:nvSpPr>
          <p:cNvPr id="11" name="isi replikasi 3"/>
          <p:cNvSpPr txBox="1"/>
          <p:nvPr/>
        </p:nvSpPr>
        <p:spPr>
          <a:xfrm>
            <a:off x="5230368" y="2423160"/>
            <a:ext cx="1645920" cy="132588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OpenStreetMap wilayah tersebut</a:t>
            </a:r>
            <a:endParaRPr lang="en-US" sz="1400" dirty="0"/>
          </a:p>
        </p:txBody>
      </p:sp>
      <p:sp>
        <p:nvSpPr>
          <p:cNvPr id="12" name="kartu replikasi 4"/>
          <p:cNvSpPr/>
          <p:nvPr/>
        </p:nvSpPr>
        <p:spPr>
          <a:xfrm>
            <a:off x="7296912" y="1463040"/>
            <a:ext cx="2011680" cy="2377440"/>
          </a:xfrm>
          <a:prstGeom prst="roundRect">
            <a:avLst>
              <a:gd name="adj" fmla="val 3636"/>
            </a:avLst>
          </a:prstGeom>
          <a:solidFill>
            <a:srgbClr val="EEF2F7"/>
          </a:solidFill>
          <a:ln w="12700">
            <a:solidFill>
              <a:srgbClr val="EEF2F7"/>
            </a:solidFill>
            <a:prstDash val="solid"/>
          </a:ln>
        </p:spPr>
      </p:sp>
      <p:sp>
        <p:nvSpPr>
          <p:cNvPr id="13" name="judul replikasi 4"/>
          <p:cNvSpPr txBox="1"/>
          <p:nvPr/>
        </p:nvSpPr>
        <p:spPr>
          <a:xfrm>
            <a:off x="7479792" y="1645920"/>
            <a:ext cx="1645920" cy="731520"/>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Skrip build</a:t>
            </a:r>
            <a:endParaRPr lang="en-US" sz="1700" dirty="0"/>
          </a:p>
        </p:txBody>
      </p:sp>
      <p:sp>
        <p:nvSpPr>
          <p:cNvPr id="14" name="isi replikasi 4"/>
          <p:cNvSpPr txBox="1"/>
          <p:nvPr/>
        </p:nvSpPr>
        <p:spPr>
          <a:xfrm>
            <a:off x="7479792" y="2423160"/>
            <a:ext cx="1645920" cy="132588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Alur pengolahan dan aturan yang sama</a:t>
            </a:r>
            <a:endParaRPr lang="en-US" sz="1400" dirty="0"/>
          </a:p>
        </p:txBody>
      </p:sp>
      <p:sp>
        <p:nvSpPr>
          <p:cNvPr id="15" name="kartu replikasi 5"/>
          <p:cNvSpPr/>
          <p:nvPr/>
        </p:nvSpPr>
        <p:spPr>
          <a:xfrm>
            <a:off x="9546336" y="1463040"/>
            <a:ext cx="2011680" cy="2377440"/>
          </a:xfrm>
          <a:prstGeom prst="roundRect">
            <a:avLst>
              <a:gd name="adj" fmla="val 3636"/>
            </a:avLst>
          </a:prstGeom>
          <a:solidFill>
            <a:srgbClr val="14365D"/>
          </a:solidFill>
          <a:ln w="12700">
            <a:solidFill>
              <a:srgbClr val="14365D"/>
            </a:solidFill>
            <a:prstDash val="solid"/>
          </a:ln>
        </p:spPr>
      </p:sp>
      <p:sp>
        <p:nvSpPr>
          <p:cNvPr id="16" name="judul replikasi 5"/>
          <p:cNvSpPr txBox="1"/>
          <p:nvPr/>
        </p:nvSpPr>
        <p:spPr>
          <a:xfrm>
            <a:off x="9729216" y="1645920"/>
            <a:ext cx="1645920" cy="731520"/>
          </a:xfrm>
          <a:prstGeom prst="rect">
            <a:avLst/>
          </a:prstGeom>
          <a:noFill/>
          <a:ln/>
        </p:spPr>
        <p:txBody>
          <a:bodyPr wrap="square" lIns="0" tIns="0" rIns="0" bIns="0" rtlCol="0" anchor="t"/>
          <a:lstStyle/>
          <a:p>
            <a:pPr indent="0" marL="0">
              <a:buNone/>
            </a:pPr>
            <a:r>
              <a:rPr lang="en-US" sz="1700" b="1" dirty="0">
                <a:solidFill>
                  <a:srgbClr val="F5B700"/>
                </a:solidFill>
                <a:latin typeface="Calibri" pitchFamily="34" charset="0"/>
                <a:ea typeface="Calibri" pitchFamily="34" charset="-122"/>
                <a:cs typeface="Calibri" pitchFamily="34" charset="-120"/>
              </a:rPr>
              <a:t>Paket data baru</a:t>
            </a:r>
            <a:endParaRPr lang="en-US" sz="1700" dirty="0"/>
          </a:p>
        </p:txBody>
      </p:sp>
      <p:sp>
        <p:nvSpPr>
          <p:cNvPr id="17" name="isi replikasi 5"/>
          <p:cNvSpPr txBox="1"/>
          <p:nvPr/>
        </p:nvSpPr>
        <p:spPr>
          <a:xfrm>
            <a:off x="9729216" y="2423160"/>
            <a:ext cx="1645920" cy="132588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Diunduh aplikasi tanpa mengubah kode</a:t>
            </a:r>
            <a:endParaRPr lang="en-US" sz="1400" dirty="0"/>
          </a:p>
        </p:txBody>
      </p:sp>
      <p:sp>
        <p:nvSpPr>
          <p:cNvPr id="18" name="catatan replikasi"/>
          <p:cNvSpPr txBox="1"/>
          <p:nvPr/>
        </p:nvSpPr>
        <p:spPr>
          <a:xfrm>
            <a:off x="548640" y="4206240"/>
            <a:ext cx="11094415" cy="822960"/>
          </a:xfrm>
          <a:prstGeom prst="rect">
            <a:avLst/>
          </a:prstGeom>
          <a:noFill/>
          <a:ln/>
        </p:spPr>
        <p:txBody>
          <a:bodyPr wrap="square" lIns="0" tIns="0" rIns="0" bIns="0" rtlCol="0" anchor="t"/>
          <a:lstStyle/>
          <a:p>
            <a:pPr indent="0" marL="0">
              <a:buNone/>
            </a:pPr>
            <a:r>
              <a:rPr lang="en-US" sz="1500" dirty="0">
                <a:solidFill>
                  <a:srgbClr val="5D6670"/>
                </a:solidFill>
                <a:latin typeface="Calibri" pitchFamily="34" charset="0"/>
                <a:ea typeface="Calibri" pitchFamily="34" charset="-122"/>
                <a:cs typeface="Calibri" pitchFamily="34" charset="-120"/>
              </a:rPr>
              <a:t>Data wilayah disusun sebagai paket yang dapat diganti tanpa mengubah kode atau memasang ulang aplikasi. Penetapan aturan evakuasi setempat tetap dilakukan bersama BPBD daerah tersebut.</a:t>
            </a:r>
            <a:endParaRPr lang="en-US" sz="1500" dirty="0"/>
          </a:p>
        </p:txBody>
      </p:sp>
      <p:sp>
        <p:nvSpPr>
          <p:cNvPr id="19"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L 2.4; M III-E.</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F5B700"/>
                </a:solidFill>
                <a:latin typeface="Arial" pitchFamily="34" charset="0"/>
                <a:ea typeface="Arial" pitchFamily="34" charset="-122"/>
                <a:cs typeface="Arial" pitchFamily="34" charset="-120"/>
              </a:rPr>
              <a:t>B19  </a:t>
            </a:r>
            <a:pPr algn="l" indent="0" marL="0">
              <a:buNone/>
            </a:pPr>
            <a:r>
              <a:rPr lang="en-US" sz="3000" b="1" dirty="0">
                <a:solidFill>
                  <a:srgbClr val="14365D"/>
                </a:solidFill>
                <a:latin typeface="Arial" pitchFamily="34" charset="0"/>
                <a:ea typeface="Arial" pitchFamily="34" charset="-122"/>
                <a:cs typeface="Arial" pitchFamily="34" charset="-120"/>
              </a:rPr>
              <a:t>Biaya dan skala server</a:t>
            </a:r>
            <a:endParaRPr lang="en-US" sz="3000" dirty="0"/>
          </a:p>
        </p:txBody>
      </p:sp>
      <p:pic>
        <p:nvPicPr>
          <p:cNvPr id="3" name="dokumentasi api" descr="C:\Users\Lenovo\AppData\Local\Temp\claude\c--gemastik\520da942-8140-47c0-a16f-9bde4b92cbe5\scratchpad\deck\aset\api_server.png">    </p:cNvPr>
          <p:cNvPicPr>
            <a:picLocks noChangeAspect="1"/>
          </p:cNvPicPr>
          <p:nvPr/>
        </p:nvPicPr>
        <p:blipFill>
          <a:blip r:embed="rId1"/>
          <a:stretch>
            <a:fillRect/>
          </a:stretch>
        </p:blipFill>
        <p:spPr>
          <a:xfrm>
            <a:off x="8412328" y="1188720"/>
            <a:ext cx="3045257" cy="4709160"/>
          </a:xfrm>
          <a:prstGeom prst="rect">
            <a:avLst/>
          </a:prstGeom>
        </p:spPr>
      </p:pic>
      <p:sp>
        <p:nvSpPr>
          <p:cNvPr id="4" name="server 1 lingkaran"/>
          <p:cNvSpPr/>
          <p:nvPr/>
        </p:nvSpPr>
        <p:spPr>
          <a:xfrm>
            <a:off x="548640" y="1280160"/>
            <a:ext cx="685800" cy="685800"/>
          </a:xfrm>
          <a:prstGeom prst="ellipse">
            <a:avLst/>
          </a:prstGeom>
          <a:solidFill>
            <a:srgbClr val="14365D"/>
          </a:solidFill>
          <a:ln w="12700">
            <a:solidFill>
              <a:srgbClr val="14365D"/>
            </a:solidFill>
            <a:prstDash val="solid"/>
          </a:ln>
        </p:spPr>
      </p:sp>
      <p:pic>
        <p:nvPicPr>
          <p:cNvPr id="5" name="server 1 ikon" descr="preencoded.png">    </p:cNvPr>
          <p:cNvPicPr>
            <a:picLocks noChangeAspect="1"/>
          </p:cNvPicPr>
          <p:nvPr/>
        </p:nvPicPr>
        <p:blipFill>
          <a:blip r:embed="rId2"/>
          <a:stretch>
            <a:fillRect/>
          </a:stretch>
        </p:blipFill>
        <p:spPr>
          <a:xfrm>
            <a:off x="720090" y="1451610"/>
            <a:ext cx="342900" cy="342900"/>
          </a:xfrm>
          <a:prstGeom prst="rect">
            <a:avLst/>
          </a:prstGeom>
        </p:spPr>
      </p:pic>
      <p:sp>
        <p:nvSpPr>
          <p:cNvPr id="6" name="server judul 1"/>
          <p:cNvSpPr txBox="1"/>
          <p:nvPr/>
        </p:nvSpPr>
        <p:spPr>
          <a:xfrm>
            <a:off x="1463040" y="1280160"/>
            <a:ext cx="6492240" cy="384048"/>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Navigasi tidak ke server</a:t>
            </a:r>
            <a:endParaRPr lang="en-US" sz="1700" dirty="0"/>
          </a:p>
        </p:txBody>
      </p:sp>
      <p:sp>
        <p:nvSpPr>
          <p:cNvPr id="7" name="server isi 1"/>
          <p:cNvSpPr txBox="1"/>
          <p:nvPr/>
        </p:nvSpPr>
        <p:spPr>
          <a:xfrm>
            <a:off x="1463040" y="1673352"/>
            <a:ext cx="6492240" cy="6858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Jalur, zona, dan tujuan dibaca di ponsel, sehingga lonjakan pengguna tidak menghentikan navigasi.</a:t>
            </a:r>
            <a:endParaRPr lang="en-US" sz="1400" dirty="0"/>
          </a:p>
        </p:txBody>
      </p:sp>
      <p:sp>
        <p:nvSpPr>
          <p:cNvPr id="8" name="server 2 lingkaran"/>
          <p:cNvSpPr/>
          <p:nvPr/>
        </p:nvSpPr>
        <p:spPr>
          <a:xfrm>
            <a:off x="548640" y="2423160"/>
            <a:ext cx="685800" cy="685800"/>
          </a:xfrm>
          <a:prstGeom prst="ellipse">
            <a:avLst/>
          </a:prstGeom>
          <a:solidFill>
            <a:srgbClr val="14365D"/>
          </a:solidFill>
          <a:ln w="12700">
            <a:solidFill>
              <a:srgbClr val="14365D"/>
            </a:solidFill>
            <a:prstDash val="solid"/>
          </a:ln>
        </p:spPr>
      </p:sp>
      <p:pic>
        <p:nvPicPr>
          <p:cNvPr id="9" name="server 2 ikon" descr="preencoded.png">    </p:cNvPr>
          <p:cNvPicPr>
            <a:picLocks noChangeAspect="1"/>
          </p:cNvPicPr>
          <p:nvPr/>
        </p:nvPicPr>
        <p:blipFill>
          <a:blip r:embed="rId3"/>
          <a:stretch>
            <a:fillRect/>
          </a:stretch>
        </p:blipFill>
        <p:spPr>
          <a:xfrm>
            <a:off x="720090" y="2594610"/>
            <a:ext cx="342900" cy="342900"/>
          </a:xfrm>
          <a:prstGeom prst="rect">
            <a:avLst/>
          </a:prstGeom>
        </p:spPr>
      </p:pic>
      <p:sp>
        <p:nvSpPr>
          <p:cNvPr id="10" name="server judul 2"/>
          <p:cNvSpPr txBox="1"/>
          <p:nvPr/>
        </p:nvSpPr>
        <p:spPr>
          <a:xfrm>
            <a:off x="1463040" y="2423160"/>
            <a:ext cx="6492240" cy="384048"/>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Server untuk pelengkap</a:t>
            </a:r>
            <a:endParaRPr lang="en-US" sz="1700" dirty="0"/>
          </a:p>
        </p:txBody>
      </p:sp>
      <p:sp>
        <p:nvSpPr>
          <p:cNvPr id="11" name="server isi 2"/>
          <p:cNvSpPr txBox="1"/>
          <p:nvPr/>
        </p:nvSpPr>
        <p:spPr>
          <a:xfrm>
            <a:off x="1463040" y="2816352"/>
            <a:ext cx="6492240" cy="6858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Versi data, daftar tempat, informasi BMKG, lapor selamat, laporan jalan, dan pembaruan.</a:t>
            </a:r>
            <a:endParaRPr lang="en-US" sz="1400" dirty="0"/>
          </a:p>
        </p:txBody>
      </p:sp>
      <p:sp>
        <p:nvSpPr>
          <p:cNvPr id="12" name="server 3 lingkaran"/>
          <p:cNvSpPr/>
          <p:nvPr/>
        </p:nvSpPr>
        <p:spPr>
          <a:xfrm>
            <a:off x="548640" y="3566160"/>
            <a:ext cx="685800" cy="685800"/>
          </a:xfrm>
          <a:prstGeom prst="ellipse">
            <a:avLst/>
          </a:prstGeom>
          <a:solidFill>
            <a:srgbClr val="14365D"/>
          </a:solidFill>
          <a:ln w="12700">
            <a:solidFill>
              <a:srgbClr val="14365D"/>
            </a:solidFill>
            <a:prstDash val="solid"/>
          </a:ln>
        </p:spPr>
      </p:sp>
      <p:pic>
        <p:nvPicPr>
          <p:cNvPr id="13" name="server 3 ikon" descr="preencoded.png">    </p:cNvPr>
          <p:cNvPicPr>
            <a:picLocks noChangeAspect="1"/>
          </p:cNvPicPr>
          <p:nvPr/>
        </p:nvPicPr>
        <p:blipFill>
          <a:blip r:embed="rId4"/>
          <a:stretch>
            <a:fillRect/>
          </a:stretch>
        </p:blipFill>
        <p:spPr>
          <a:xfrm>
            <a:off x="720090" y="3737610"/>
            <a:ext cx="342900" cy="342900"/>
          </a:xfrm>
          <a:prstGeom prst="rect">
            <a:avLst/>
          </a:prstGeom>
        </p:spPr>
      </p:pic>
      <p:sp>
        <p:nvSpPr>
          <p:cNvPr id="14" name="server judul 3"/>
          <p:cNvSpPr txBox="1"/>
          <p:nvPr/>
        </p:nvSpPr>
        <p:spPr>
          <a:xfrm>
            <a:off x="1463040" y="3566160"/>
            <a:ext cx="6492240" cy="384048"/>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Batas tunggu singkat</a:t>
            </a:r>
            <a:endParaRPr lang="en-US" sz="1700" dirty="0"/>
          </a:p>
        </p:txBody>
      </p:sp>
      <p:sp>
        <p:nvSpPr>
          <p:cNvPr id="15" name="server isi 3"/>
          <p:cNvSpPr txBox="1"/>
          <p:nvPr/>
        </p:nvSpPr>
        <p:spPr>
          <a:xfrm>
            <a:off x="1463040" y="3959352"/>
            <a:ext cx="6492240" cy="6858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1 detik untuk tersambung, 2 detik untuk menjawab; setelah itu aplikasi tetap memakai data lokal.</a:t>
            </a:r>
            <a:endParaRPr lang="en-US" sz="1400" dirty="0"/>
          </a:p>
        </p:txBody>
      </p:sp>
      <p:sp>
        <p:nvSpPr>
          <p:cNvPr id="16" name="server 4 lingkaran"/>
          <p:cNvSpPr/>
          <p:nvPr/>
        </p:nvSpPr>
        <p:spPr>
          <a:xfrm>
            <a:off x="548640" y="4709160"/>
            <a:ext cx="685800" cy="685800"/>
          </a:xfrm>
          <a:prstGeom prst="ellipse">
            <a:avLst/>
          </a:prstGeom>
          <a:solidFill>
            <a:srgbClr val="14365D"/>
          </a:solidFill>
          <a:ln w="12700">
            <a:solidFill>
              <a:srgbClr val="14365D"/>
            </a:solidFill>
            <a:prstDash val="solid"/>
          </a:ln>
        </p:spPr>
      </p:sp>
      <p:pic>
        <p:nvPicPr>
          <p:cNvPr id="17" name="server 4 ikon" descr="preencoded.png">    </p:cNvPr>
          <p:cNvPicPr>
            <a:picLocks noChangeAspect="1"/>
          </p:cNvPicPr>
          <p:nvPr/>
        </p:nvPicPr>
        <p:blipFill>
          <a:blip r:embed="rId5"/>
          <a:stretch>
            <a:fillRect/>
          </a:stretch>
        </p:blipFill>
        <p:spPr>
          <a:xfrm>
            <a:off x="720090" y="4880610"/>
            <a:ext cx="342900" cy="342900"/>
          </a:xfrm>
          <a:prstGeom prst="rect">
            <a:avLst/>
          </a:prstGeom>
        </p:spPr>
      </p:pic>
      <p:sp>
        <p:nvSpPr>
          <p:cNvPr id="18" name="server judul 4"/>
          <p:cNvSpPr txBox="1"/>
          <p:nvPr/>
        </p:nvSpPr>
        <p:spPr>
          <a:xfrm>
            <a:off x="1463040" y="4709160"/>
            <a:ext cx="6492240" cy="384048"/>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Peringatan lewat FCM</a:t>
            </a:r>
            <a:endParaRPr lang="en-US" sz="1700" dirty="0"/>
          </a:p>
        </p:txBody>
      </p:sp>
      <p:sp>
        <p:nvSpPr>
          <p:cNvPr id="19" name="server isi 4"/>
          <p:cNvSpPr txBox="1"/>
          <p:nvPr/>
        </p:nvSpPr>
        <p:spPr>
          <a:xfrm>
            <a:off x="1463040" y="5102352"/>
            <a:ext cx="6492240" cy="6858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Peringatan, info gempa terasa, dan kabar berakhir dikirim melalui Firebase Cloud Messaging.</a:t>
            </a:r>
            <a:endParaRPr lang="en-US" sz="1400" dirty="0"/>
          </a:p>
        </p:txBody>
      </p:sp>
      <p:sp>
        <p:nvSpPr>
          <p:cNvPr id="20"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L 5.4–5.5, 6.4, Gambar 6.1. Layanan /health dan /health/db aktif saat diperiksa 26 Oktober 2026.</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F5B700"/>
                </a:solidFill>
                <a:latin typeface="Arial" pitchFamily="34" charset="0"/>
                <a:ea typeface="Arial" pitchFamily="34" charset="-122"/>
                <a:cs typeface="Arial" pitchFamily="34" charset="-120"/>
              </a:rPr>
              <a:t>B20  </a:t>
            </a:r>
            <a:pPr algn="l" indent="0" marL="0">
              <a:buNone/>
            </a:pPr>
            <a:r>
              <a:rPr lang="en-US" sz="3000" b="1" dirty="0">
                <a:solidFill>
                  <a:srgbClr val="14365D"/>
                </a:solidFill>
                <a:latin typeface="Arial" pitchFamily="34" charset="0"/>
                <a:ea typeface="Arial" pitchFamily="34" charset="-122"/>
                <a:cs typeface="Arial" pitchFamily="34" charset="-120"/>
              </a:rPr>
              <a:t>Kendala implementasi dan solusinya</a:t>
            </a:r>
            <a:endParaRPr lang="en-US" sz="3000" dirty="0"/>
          </a:p>
        </p:txBody>
      </p:sp>
      <p:graphicFrame>
        <p:nvGraphicFramePr>
          <p:cNvPr id="56" name="tabel kendala"/>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4937760"/>
                <a:gridCol w="6153912"/>
              </a:tblGrid>
              <a:tr h="576072">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Kendala</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Penyelesaian</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r>
              <a:tr h="576072">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Garis jalur tampak zigzag</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Urutan koordinat ruas dibalik mengikuti arah perjalanan</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576072">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Data penyisihan mengarah ke pantai dan lewat jembatan</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Seluruh jalur dihitung ulang dengan aturan BPBD</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576072">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Notifikasi info gempa dibisukan XOS 16</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Prioritas dinaikkan dan kategori diubah menjadi pesan</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576072">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Sirene tidak berbunyi (notifikasi kedua dibisukan)</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Notifikasi sirene dikirim lebih dulu</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576072">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Ponsel senyap tidak bergetar</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Getaran dipicu langsung lewat fungsi alarm</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576072">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Status zona berganti-ganti di batas</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Berubah setelah bergerak 12 m dan dua pembacaan sama</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576072">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Tombol terdorong keluar pada huruf terbesar</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Pembesaran dibatasi 150% di layar evakuasi</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bl>
          </a:graphicData>
        </a:graphic>
      </p:graphicFrame>
      <p:sp>
        <p:nvSpPr>
          <p:cNvPr id="4"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L 6.7, Tabel 6.8.</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F5B700"/>
                </a:solidFill>
                <a:latin typeface="Arial" pitchFamily="34" charset="0"/>
                <a:ea typeface="Arial" pitchFamily="34" charset="-122"/>
                <a:cs typeface="Arial" pitchFamily="34" charset="-120"/>
              </a:rPr>
              <a:t>B21  </a:t>
            </a:r>
            <a:pPr algn="l" indent="0" marL="0">
              <a:buNone/>
            </a:pPr>
            <a:r>
              <a:rPr lang="en-US" sz="3000" b="1" dirty="0">
                <a:solidFill>
                  <a:srgbClr val="14365D"/>
                </a:solidFill>
                <a:latin typeface="Arial" pitchFamily="34" charset="0"/>
                <a:ea typeface="Arial" pitchFamily="34" charset="-122"/>
                <a:cs typeface="Arial" pitchFamily="34" charset="-120"/>
              </a:rPr>
              <a:t>Bukti kerja dan reproduksibilitas</a:t>
            </a:r>
            <a:endParaRPr lang="en-US" sz="3000" dirty="0"/>
          </a:p>
        </p:txBody>
      </p:sp>
      <p:graphicFrame>
        <p:nvGraphicFramePr>
          <p:cNvPr id="57" name="tabel bukti"/>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108960"/>
                <a:gridCol w="7982712"/>
              </a:tblGrid>
              <a:tr h="65836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Artefak</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Rujukan</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4365D"/>
                    </a:solidFill>
                  </a:tcPr>
                </a:tc>
              </a:tr>
              <a:tr h="658368">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Kode aplikasi dan server</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github.com/AkuSukaProject/siagapadang, versi 0.3.1, commit 2b912ce (PR #8, 28 Oktober 2026)</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658368">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Pembangun basis data</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github.com/AkuSukaProject/core-siaga-padang, tag db-2026.10.18, commit a152168</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658368">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Basis data final</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36.970.496 byte; SHA-256 diawali 173b8010</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658368">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Uji unit</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531 dari 531 kasus lulus pada commit 2b912ce</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658368">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Catatan uji</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Versi kode, ponsel, tanggal, dan versi data dicatat untuk setiap pengujian</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EF2F7"/>
                    </a:solidFill>
                  </a:tcPr>
                </a:tc>
              </a:tr>
              <a:tr h="658368">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Analisis keterjangkauan</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Dapat diulang dengan skrip audit_aturan_final.py beserta hasil per kelurahan</a:t>
                      </a:r>
                      <a:endParaRPr lang="en-US" sz="1400" dirty="0">
                        <a:latin typeface="Calibri" charset="0"/>
                        <a:ea typeface="Calibri" charset="0"/>
                        <a:cs typeface="Calibri" charset="0"/>
                      </a:endParaRPr>
                    </a:p>
                  </a:txBody>
                  <a:tcPr marL="76200" marR="76200" marT="38100" marB="3810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bl>
          </a:graphicData>
        </a:graphic>
      </p:graphicFrame>
      <p:sp>
        <p:nvSpPr>
          <p:cNvPr id="4"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L 4.5, 5.7.4, Tabel 6.2, Tabel 6.5.</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F5B700"/>
                </a:solidFill>
                <a:latin typeface="Arial" pitchFamily="34" charset="0"/>
                <a:ea typeface="Arial" pitchFamily="34" charset="-122"/>
                <a:cs typeface="Arial" pitchFamily="34" charset="-120"/>
              </a:rPr>
              <a:t>B22  </a:t>
            </a:r>
            <a:pPr algn="l" indent="0" marL="0">
              <a:buNone/>
            </a:pPr>
            <a:r>
              <a:rPr lang="en-US" sz="3000" b="1" dirty="0">
                <a:solidFill>
                  <a:srgbClr val="14365D"/>
                </a:solidFill>
                <a:latin typeface="Arial" pitchFamily="34" charset="0"/>
                <a:ea typeface="Arial" pitchFamily="34" charset="-122"/>
                <a:cs typeface="Arial" pitchFamily="34" charset="-120"/>
              </a:rPr>
              <a:t>Penggunaan kecerdasan artifisial</a:t>
            </a:r>
            <a:endParaRPr lang="en-US" sz="3000" dirty="0"/>
          </a:p>
        </p:txBody>
      </p:sp>
      <p:sp>
        <p:nvSpPr>
          <p:cNvPr id="3" name="kartu ai"/>
          <p:cNvSpPr/>
          <p:nvPr/>
        </p:nvSpPr>
        <p:spPr>
          <a:xfrm>
            <a:off x="548640" y="1280160"/>
            <a:ext cx="5440680" cy="2926080"/>
          </a:xfrm>
          <a:prstGeom prst="roundRect">
            <a:avLst>
              <a:gd name="adj" fmla="val 2500"/>
            </a:avLst>
          </a:prstGeom>
          <a:solidFill>
            <a:srgbClr val="EEF2F7"/>
          </a:solidFill>
          <a:ln w="12700">
            <a:solidFill>
              <a:srgbClr val="EEF2F7"/>
            </a:solidFill>
            <a:prstDash val="solid"/>
          </a:ln>
        </p:spPr>
      </p:sp>
      <p:sp>
        <p:nvSpPr>
          <p:cNvPr id="4" name="judul ai"/>
          <p:cNvSpPr txBox="1"/>
          <p:nvPr/>
        </p:nvSpPr>
        <p:spPr>
          <a:xfrm>
            <a:off x="822960" y="1463040"/>
            <a:ext cx="4892040" cy="411480"/>
          </a:xfrm>
          <a:prstGeom prst="rect">
            <a:avLst/>
          </a:prstGeom>
          <a:noFill/>
          <a:ln/>
        </p:spPr>
        <p:txBody>
          <a:bodyPr wrap="square" lIns="0" tIns="0" rIns="0" bIns="0" rtlCol="0" anchor="t"/>
          <a:lstStyle/>
          <a:p>
            <a:pPr indent="0" marL="0">
              <a:buNone/>
            </a:pPr>
            <a:r>
              <a:rPr lang="en-US" sz="1900" b="1" dirty="0">
                <a:solidFill>
                  <a:srgbClr val="14365D"/>
                </a:solidFill>
                <a:latin typeface="Calibri" pitchFamily="34" charset="0"/>
                <a:ea typeface="Calibri" pitchFamily="34" charset="-122"/>
                <a:cs typeface="Calibri" pitchFamily="34" charset="-120"/>
              </a:rPr>
              <a:t>Dibantu AI (Claude dan Codex)</a:t>
            </a:r>
            <a:endParaRPr lang="en-US" sz="1900" dirty="0"/>
          </a:p>
        </p:txBody>
      </p:sp>
      <p:sp>
        <p:nvSpPr>
          <p:cNvPr id="5" name="isi ai"/>
          <p:cNvSpPr txBox="1"/>
          <p:nvPr/>
        </p:nvSpPr>
        <p:spPr>
          <a:xfrm>
            <a:off x="822960" y="2011680"/>
            <a:ext cx="4892040" cy="20116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3"/>
                </a:solidFill>
                <a:latin typeface="Calibri" pitchFamily="34" charset="0"/>
                <a:ea typeface="Calibri" pitchFamily="34" charset="-122"/>
                <a:cs typeface="Calibri" pitchFamily="34" charset="-120"/>
              </a:rPr>
              <a:t>Penulisan dan pemeriksaan kode</a:t>
            </a:r>
            <a:endParaRPr lang="en-US" sz="1600" dirty="0"/>
          </a:p>
          <a:p>
            <a:pPr marL="342900" indent="-342900">
              <a:spcAft>
                <a:spcPts val="600"/>
              </a:spcAft>
              <a:buSzPct val="100000"/>
              <a:buChar char="•"/>
            </a:pPr>
            <a:r>
              <a:rPr lang="en-US" sz="1600" dirty="0">
                <a:solidFill>
                  <a:srgbClr val="1B2433"/>
                </a:solidFill>
                <a:latin typeface="Calibri" pitchFamily="34" charset="0"/>
                <a:ea typeface="Calibri" pitchFamily="34" charset="-122"/>
                <a:cs typeface="Calibri" pitchFamily="34" charset="-120"/>
              </a:rPr>
              <a:t>Penyusunan pengujian</a:t>
            </a:r>
            <a:endParaRPr lang="en-US" sz="1600" dirty="0"/>
          </a:p>
          <a:p>
            <a:pPr marL="342900" indent="-342900">
              <a:spcAft>
                <a:spcPts val="600"/>
              </a:spcAft>
              <a:buSzPct val="100000"/>
              <a:buChar char="•"/>
            </a:pPr>
            <a:r>
              <a:rPr lang="en-US" sz="1600" dirty="0">
                <a:solidFill>
                  <a:srgbClr val="1B2433"/>
                </a:solidFill>
                <a:latin typeface="Calibri" pitchFamily="34" charset="0"/>
                <a:ea typeface="Calibri" pitchFamily="34" charset="-122"/>
                <a:cs typeface="Calibri" pitchFamily="34" charset="-120"/>
              </a:rPr>
              <a:t>Pembahasan rancangan</a:t>
            </a:r>
            <a:endParaRPr lang="en-US" sz="1600" dirty="0"/>
          </a:p>
          <a:p>
            <a:pPr marL="342900" indent="-342900">
              <a:spcAft>
                <a:spcPts val="600"/>
              </a:spcAft>
              <a:buSzPct val="100000"/>
              <a:buChar char="•"/>
            </a:pPr>
            <a:r>
              <a:rPr lang="en-US" sz="1600" dirty="0">
                <a:solidFill>
                  <a:srgbClr val="1B2433"/>
                </a:solidFill>
                <a:latin typeface="Calibri" pitchFamily="34" charset="0"/>
                <a:ea typeface="Calibri" pitchFamily="34" charset="-122"/>
                <a:cs typeface="Calibri" pitchFamily="34" charset="-120"/>
              </a:rPr>
              <a:t>Penyuntingan draf laporan</a:t>
            </a:r>
            <a:endParaRPr lang="en-US" sz="1600" dirty="0"/>
          </a:p>
        </p:txBody>
      </p:sp>
      <p:sp>
        <p:nvSpPr>
          <p:cNvPr id="6" name="kartu tim"/>
          <p:cNvSpPr/>
          <p:nvPr/>
        </p:nvSpPr>
        <p:spPr>
          <a:xfrm>
            <a:off x="6199632" y="1280160"/>
            <a:ext cx="5440680" cy="2926080"/>
          </a:xfrm>
          <a:prstGeom prst="roundRect">
            <a:avLst>
              <a:gd name="adj" fmla="val 2500"/>
            </a:avLst>
          </a:prstGeom>
          <a:solidFill>
            <a:srgbClr val="14365D"/>
          </a:solidFill>
          <a:ln w="12700">
            <a:solidFill>
              <a:srgbClr val="14365D"/>
            </a:solidFill>
            <a:prstDash val="solid"/>
          </a:ln>
        </p:spPr>
      </p:sp>
      <p:sp>
        <p:nvSpPr>
          <p:cNvPr id="7" name="judul tim"/>
          <p:cNvSpPr txBox="1"/>
          <p:nvPr/>
        </p:nvSpPr>
        <p:spPr>
          <a:xfrm>
            <a:off x="6473952" y="1463040"/>
            <a:ext cx="4892040" cy="411480"/>
          </a:xfrm>
          <a:prstGeom prst="rect">
            <a:avLst/>
          </a:prstGeom>
          <a:noFill/>
          <a:ln/>
        </p:spPr>
        <p:txBody>
          <a:bodyPr wrap="square" lIns="0" tIns="0" rIns="0" bIns="0" rtlCol="0" anchor="t"/>
          <a:lstStyle/>
          <a:p>
            <a:pPr indent="0" marL="0">
              <a:buNone/>
            </a:pPr>
            <a:r>
              <a:rPr lang="en-US" sz="1900" b="1" dirty="0">
                <a:solidFill>
                  <a:srgbClr val="F5B700"/>
                </a:solidFill>
                <a:latin typeface="Calibri" pitchFamily="34" charset="0"/>
                <a:ea typeface="Calibri" pitchFamily="34" charset="-122"/>
                <a:cs typeface="Calibri" pitchFamily="34" charset="-120"/>
              </a:rPr>
              <a:t>Dilakukan tim</a:t>
            </a:r>
            <a:endParaRPr lang="en-US" sz="1900" dirty="0"/>
          </a:p>
        </p:txBody>
      </p:sp>
      <p:sp>
        <p:nvSpPr>
          <p:cNvPr id="8" name="isi tim"/>
          <p:cNvSpPr txBox="1"/>
          <p:nvPr/>
        </p:nvSpPr>
        <p:spPr>
          <a:xfrm>
            <a:off x="6473952" y="2011680"/>
            <a:ext cx="4892040" cy="20116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FFFFFF"/>
                </a:solidFill>
                <a:latin typeface="Calibri" pitchFamily="34" charset="0"/>
                <a:ea typeface="Calibri" pitchFamily="34" charset="-122"/>
                <a:cs typeface="Calibri" pitchFamily="34" charset="-120"/>
              </a:rPr>
              <a:t>Wawancara BPBD dan pengamatan pengguna</a:t>
            </a:r>
            <a:endParaRPr lang="en-US" sz="1600" dirty="0"/>
          </a:p>
          <a:p>
            <a:pPr marL="342900" indent="-342900">
              <a:spcAft>
                <a:spcPts val="600"/>
              </a:spcAft>
              <a:buSzPct val="100000"/>
              <a:buChar char="•"/>
            </a:pPr>
            <a:r>
              <a:rPr lang="en-US" sz="1600" dirty="0">
                <a:solidFill>
                  <a:srgbClr val="FFFFFF"/>
                </a:solidFill>
                <a:latin typeface="Calibri" pitchFamily="34" charset="0"/>
                <a:ea typeface="Calibri" pitchFamily="34" charset="-122"/>
                <a:cs typeface="Calibri" pitchFamily="34" charset="-120"/>
              </a:rPr>
              <a:t>Keputusan rancangan dan aturan evakuasi</a:t>
            </a:r>
            <a:endParaRPr lang="en-US" sz="1600" dirty="0"/>
          </a:p>
          <a:p>
            <a:pPr marL="342900" indent="-342900">
              <a:spcAft>
                <a:spcPts val="600"/>
              </a:spcAft>
              <a:buSzPct val="100000"/>
              <a:buChar char="•"/>
            </a:pPr>
            <a:r>
              <a:rPr lang="en-US" sz="1600" dirty="0">
                <a:solidFill>
                  <a:srgbClr val="FFFFFF"/>
                </a:solidFill>
                <a:latin typeface="Calibri" pitchFamily="34" charset="0"/>
                <a:ea typeface="Calibri" pitchFamily="34" charset="-122"/>
                <a:cs typeface="Calibri" pitchFamily="34" charset="-120"/>
              </a:rPr>
              <a:t>Pemeriksaan hasil dan pengujian sesuai cakupan</a:t>
            </a:r>
            <a:endParaRPr lang="en-US" sz="1600" dirty="0"/>
          </a:p>
          <a:p>
            <a:pPr marL="342900" indent="-342900">
              <a:spcAft>
                <a:spcPts val="600"/>
              </a:spcAft>
              <a:buSzPct val="100000"/>
              <a:buChar char="•"/>
            </a:pPr>
            <a:r>
              <a:rPr lang="en-US" sz="1600" dirty="0">
                <a:solidFill>
                  <a:srgbClr val="FFFFFF"/>
                </a:solidFill>
                <a:latin typeface="Calibri" pitchFamily="34" charset="0"/>
                <a:ea typeface="Calibri" pitchFamily="34" charset="-122"/>
                <a:cs typeface="Calibri" pitchFamily="34" charset="-120"/>
              </a:rPr>
              <a:t>Pernyataan transparansi dan riwayat perubahan</a:t>
            </a:r>
            <a:endParaRPr lang="en-US" sz="1600" dirty="0"/>
          </a:p>
        </p:txBody>
      </p:sp>
      <p:sp>
        <p:nvSpPr>
          <p:cNvPr id="9"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L 4.6; nama alat pendeteksi, tanggal, dan hasilnya di Lampiran III laporan.</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rgbClr val="F5B700"/>
                </a:solidFill>
                <a:latin typeface="Arial" pitchFamily="34" charset="0"/>
                <a:ea typeface="Arial" pitchFamily="34" charset="-122"/>
                <a:cs typeface="Arial" pitchFamily="34" charset="-120"/>
              </a:rPr>
              <a:t>B23  </a:t>
            </a:r>
            <a:pPr algn="l" indent="0" marL="0">
              <a:buNone/>
            </a:pPr>
            <a:r>
              <a:rPr lang="en-US" sz="3000" b="1" dirty="0">
                <a:solidFill>
                  <a:srgbClr val="14365D"/>
                </a:solidFill>
                <a:latin typeface="Arial" pitchFamily="34" charset="0"/>
                <a:ea typeface="Arial" pitchFamily="34" charset="-122"/>
                <a:cs typeface="Arial" pitchFamily="34" charset="-120"/>
              </a:rPr>
              <a:t>Evakuasi vertikal dan data TES</a:t>
            </a:r>
            <a:endParaRPr lang="en-US" sz="3000" dirty="0"/>
          </a:p>
        </p:txBody>
      </p:sp>
      <p:pic>
        <p:nvPicPr>
          <p:cNvPr id="3" name="rincian tes" descr="C:\Users\Lenovo\AppData\Local\Temp\claude\c--gemastik\520da942-8140-47c0-a16f-9bde4b92cbe5\scratchpad\deck\aset\rincian_tes.png">    </p:cNvPr>
          <p:cNvPicPr>
            <a:picLocks noChangeAspect="1"/>
          </p:cNvPicPr>
          <p:nvPr/>
        </p:nvPicPr>
        <p:blipFill>
          <a:blip r:embed="rId1"/>
          <a:stretch>
            <a:fillRect/>
          </a:stretch>
        </p:blipFill>
        <p:spPr>
          <a:xfrm>
            <a:off x="9456813" y="1234440"/>
            <a:ext cx="2145005" cy="4617720"/>
          </a:xfrm>
          <a:prstGeom prst="rect">
            <a:avLst/>
          </a:prstGeom>
        </p:spPr>
      </p:pic>
      <p:sp>
        <p:nvSpPr>
          <p:cNvPr id="4" name="vertikal 1 lingkaran"/>
          <p:cNvSpPr/>
          <p:nvPr/>
        </p:nvSpPr>
        <p:spPr>
          <a:xfrm>
            <a:off x="548640" y="1280160"/>
            <a:ext cx="685800" cy="685800"/>
          </a:xfrm>
          <a:prstGeom prst="ellipse">
            <a:avLst/>
          </a:prstGeom>
          <a:solidFill>
            <a:srgbClr val="14365D"/>
          </a:solidFill>
          <a:ln w="12700">
            <a:solidFill>
              <a:srgbClr val="14365D"/>
            </a:solidFill>
            <a:prstDash val="solid"/>
          </a:ln>
        </p:spPr>
      </p:sp>
      <p:pic>
        <p:nvPicPr>
          <p:cNvPr id="5" name="vertikal 1 ikon" descr="preencoded.png">    </p:cNvPr>
          <p:cNvPicPr>
            <a:picLocks noChangeAspect="1"/>
          </p:cNvPicPr>
          <p:nvPr/>
        </p:nvPicPr>
        <p:blipFill>
          <a:blip r:embed="rId2"/>
          <a:stretch>
            <a:fillRect/>
          </a:stretch>
        </p:blipFill>
        <p:spPr>
          <a:xfrm>
            <a:off x="720090" y="1451610"/>
            <a:ext cx="342900" cy="342900"/>
          </a:xfrm>
          <a:prstGeom prst="rect">
            <a:avLst/>
          </a:prstGeom>
        </p:spPr>
      </p:pic>
      <p:sp>
        <p:nvSpPr>
          <p:cNvPr id="6" name="vertikal judul 1"/>
          <p:cNvSpPr txBox="1"/>
          <p:nvPr/>
        </p:nvSpPr>
        <p:spPr>
          <a:xfrm>
            <a:off x="1463040" y="1280160"/>
            <a:ext cx="7589520" cy="384048"/>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Daftar mengikuti BPBD</a:t>
            </a:r>
            <a:endParaRPr lang="en-US" sz="1700" dirty="0"/>
          </a:p>
        </p:txBody>
      </p:sp>
      <p:sp>
        <p:nvSpPr>
          <p:cNvPr id="7" name="vertikal isi 1"/>
          <p:cNvSpPr txBox="1"/>
          <p:nvPr/>
        </p:nvSpPr>
        <p:spPr>
          <a:xfrm>
            <a:off x="1463040" y="1673352"/>
            <a:ext cx="7589520" cy="6858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Aplikasi tidak menetapkan bangunan baru sebagai tempat evakuasi dan tidak menilai kelayakan gedung dari jumlah lantainya.</a:t>
            </a:r>
            <a:endParaRPr lang="en-US" sz="1400" dirty="0"/>
          </a:p>
        </p:txBody>
      </p:sp>
      <p:sp>
        <p:nvSpPr>
          <p:cNvPr id="8" name="vertikal 2 lingkaran"/>
          <p:cNvSpPr/>
          <p:nvPr/>
        </p:nvSpPr>
        <p:spPr>
          <a:xfrm>
            <a:off x="548640" y="2423160"/>
            <a:ext cx="685800" cy="685800"/>
          </a:xfrm>
          <a:prstGeom prst="ellipse">
            <a:avLst/>
          </a:prstGeom>
          <a:solidFill>
            <a:srgbClr val="14365D"/>
          </a:solidFill>
          <a:ln w="12700">
            <a:solidFill>
              <a:srgbClr val="14365D"/>
            </a:solidFill>
            <a:prstDash val="solid"/>
          </a:ln>
        </p:spPr>
      </p:sp>
      <p:pic>
        <p:nvPicPr>
          <p:cNvPr id="9" name="vertikal 2 ikon" descr="preencoded.png">    </p:cNvPr>
          <p:cNvPicPr>
            <a:picLocks noChangeAspect="1"/>
          </p:cNvPicPr>
          <p:nvPr/>
        </p:nvPicPr>
        <p:blipFill>
          <a:blip r:embed="rId3"/>
          <a:stretch>
            <a:fillRect/>
          </a:stretch>
        </p:blipFill>
        <p:spPr>
          <a:xfrm>
            <a:off x="720090" y="2594610"/>
            <a:ext cx="342900" cy="342900"/>
          </a:xfrm>
          <a:prstGeom prst="rect">
            <a:avLst/>
          </a:prstGeom>
        </p:spPr>
      </p:pic>
      <p:sp>
        <p:nvSpPr>
          <p:cNvPr id="10" name="vertikal judul 2"/>
          <p:cNvSpPr txBox="1"/>
          <p:nvPr/>
        </p:nvSpPr>
        <p:spPr>
          <a:xfrm>
            <a:off x="1463040" y="2423160"/>
            <a:ext cx="7589520" cy="384048"/>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Tidak semua TES gedung</a:t>
            </a:r>
            <a:endParaRPr lang="en-US" sz="1700" dirty="0"/>
          </a:p>
        </p:txBody>
      </p:sp>
      <p:sp>
        <p:nvSpPr>
          <p:cNvPr id="11" name="vertikal isi 2"/>
          <p:cNvSpPr txBox="1"/>
          <p:nvPr/>
        </p:nvSpPr>
        <p:spPr>
          <a:xfrm>
            <a:off x="1463040" y="2816352"/>
            <a:ext cx="7589520" cy="6858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24 TES berupa bukit atau lahan terbuka, sehingga aplikasi memakai sebutan "Tempat evakuasi sementara".</a:t>
            </a:r>
            <a:endParaRPr lang="en-US" sz="1400" dirty="0"/>
          </a:p>
        </p:txBody>
      </p:sp>
      <p:sp>
        <p:nvSpPr>
          <p:cNvPr id="12" name="vertikal 3 lingkaran"/>
          <p:cNvSpPr/>
          <p:nvPr/>
        </p:nvSpPr>
        <p:spPr>
          <a:xfrm>
            <a:off x="548640" y="3566160"/>
            <a:ext cx="685800" cy="685800"/>
          </a:xfrm>
          <a:prstGeom prst="ellipse">
            <a:avLst/>
          </a:prstGeom>
          <a:solidFill>
            <a:srgbClr val="14365D"/>
          </a:solidFill>
          <a:ln w="12700">
            <a:solidFill>
              <a:srgbClr val="14365D"/>
            </a:solidFill>
            <a:prstDash val="solid"/>
          </a:ln>
        </p:spPr>
      </p:sp>
      <p:pic>
        <p:nvPicPr>
          <p:cNvPr id="13" name="vertikal 3 ikon" descr="preencoded.png">    </p:cNvPr>
          <p:cNvPicPr>
            <a:picLocks noChangeAspect="1"/>
          </p:cNvPicPr>
          <p:nvPr/>
        </p:nvPicPr>
        <p:blipFill>
          <a:blip r:embed="rId4"/>
          <a:stretch>
            <a:fillRect/>
          </a:stretch>
        </p:blipFill>
        <p:spPr>
          <a:xfrm>
            <a:off x="720090" y="3737610"/>
            <a:ext cx="342900" cy="342900"/>
          </a:xfrm>
          <a:prstGeom prst="rect">
            <a:avLst/>
          </a:prstGeom>
        </p:spPr>
      </p:pic>
      <p:sp>
        <p:nvSpPr>
          <p:cNvPr id="14" name="vertikal judul 3"/>
          <p:cNvSpPr txBox="1"/>
          <p:nvPr/>
        </p:nvSpPr>
        <p:spPr>
          <a:xfrm>
            <a:off x="1463040" y="3566160"/>
            <a:ext cx="7589520" cy="384048"/>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Sumber ditampilkan</a:t>
            </a:r>
            <a:endParaRPr lang="en-US" sz="1700" dirty="0"/>
          </a:p>
        </p:txBody>
      </p:sp>
      <p:sp>
        <p:nvSpPr>
          <p:cNvPr id="15" name="vertikal isi 3"/>
          <p:cNvSpPr txBox="1"/>
          <p:nvPr/>
        </p:nvSpPr>
        <p:spPr>
          <a:xfrm>
            <a:off x="1463040" y="3959352"/>
            <a:ext cx="7589520" cy="6858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Rincian TES menunjukkan sumber data, waktu tempuh, dan perbandingan dengan tujuan terpilih.</a:t>
            </a:r>
            <a:endParaRPr lang="en-US" sz="1400" dirty="0"/>
          </a:p>
        </p:txBody>
      </p:sp>
      <p:sp>
        <p:nvSpPr>
          <p:cNvPr id="16" name="vertikal 4 lingkaran"/>
          <p:cNvSpPr/>
          <p:nvPr/>
        </p:nvSpPr>
        <p:spPr>
          <a:xfrm>
            <a:off x="548640" y="4709160"/>
            <a:ext cx="685800" cy="685800"/>
          </a:xfrm>
          <a:prstGeom prst="ellipse">
            <a:avLst/>
          </a:prstGeom>
          <a:solidFill>
            <a:srgbClr val="7C8590"/>
          </a:solidFill>
          <a:ln w="12700">
            <a:solidFill>
              <a:srgbClr val="7C8590"/>
            </a:solidFill>
            <a:prstDash val="solid"/>
          </a:ln>
        </p:spPr>
      </p:sp>
      <p:pic>
        <p:nvPicPr>
          <p:cNvPr id="17" name="vertikal 4 ikon" descr="preencoded.png">    </p:cNvPr>
          <p:cNvPicPr>
            <a:picLocks noChangeAspect="1"/>
          </p:cNvPicPr>
          <p:nvPr/>
        </p:nvPicPr>
        <p:blipFill>
          <a:blip r:embed="rId5"/>
          <a:stretch>
            <a:fillRect/>
          </a:stretch>
        </p:blipFill>
        <p:spPr>
          <a:xfrm>
            <a:off x="720090" y="4880610"/>
            <a:ext cx="342900" cy="342900"/>
          </a:xfrm>
          <a:prstGeom prst="rect">
            <a:avLst/>
          </a:prstGeom>
        </p:spPr>
      </p:pic>
      <p:sp>
        <p:nvSpPr>
          <p:cNvPr id="18" name="vertikal judul 4"/>
          <p:cNvSpPr txBox="1"/>
          <p:nvPr/>
        </p:nvSpPr>
        <p:spPr>
          <a:xfrm>
            <a:off x="1463040" y="4709160"/>
            <a:ext cx="7589520" cy="384048"/>
          </a:xfrm>
          <a:prstGeom prst="rect">
            <a:avLst/>
          </a:prstGeom>
          <a:noFill/>
          <a:ln/>
        </p:spPr>
        <p:txBody>
          <a:bodyPr wrap="square" lIns="0" tIns="0" rIns="0" bIns="0" rtlCol="0" anchor="t"/>
          <a:lstStyle/>
          <a:p>
            <a:pPr indent="0" marL="0">
              <a:buNone/>
            </a:pPr>
            <a:r>
              <a:rPr lang="en-US" sz="1700" b="1" dirty="0">
                <a:solidFill>
                  <a:srgbClr val="14365D"/>
                </a:solidFill>
                <a:latin typeface="Calibri" pitchFamily="34" charset="0"/>
                <a:ea typeface="Calibri" pitchFamily="34" charset="-122"/>
                <a:cs typeface="Calibri" pitchFamily="34" charset="-120"/>
              </a:rPr>
              <a:t>Data yang masih dilengkapi</a:t>
            </a:r>
            <a:endParaRPr lang="en-US" sz="1700" dirty="0"/>
          </a:p>
        </p:txBody>
      </p:sp>
      <p:sp>
        <p:nvSpPr>
          <p:cNvPr id="19" name="vertikal isi 4"/>
          <p:cNvSpPr txBox="1"/>
          <p:nvPr/>
        </p:nvSpPr>
        <p:spPr>
          <a:xfrm>
            <a:off x="1463040" y="5102352"/>
            <a:ext cx="7589520" cy="685800"/>
          </a:xfrm>
          <a:prstGeom prst="rect">
            <a:avLst/>
          </a:prstGeom>
          <a:noFill/>
          <a:ln/>
        </p:spPr>
        <p:txBody>
          <a:bodyPr wrap="square" lIns="0" tIns="0" rIns="0" bIns="0" rtlCol="0" anchor="t"/>
          <a:lstStyle/>
          <a:p>
            <a:pPr indent="0" marL="0">
              <a:buNone/>
            </a:pPr>
            <a:r>
              <a:rPr lang="en-US" sz="1400" dirty="0">
                <a:solidFill>
                  <a:srgbClr val="1B2433"/>
                </a:solidFill>
                <a:latin typeface="Calibri" pitchFamily="34" charset="0"/>
                <a:ea typeface="Calibri" pitchFamily="34" charset="-122"/>
                <a:cs typeface="Calibri" pitchFamily="34" charset="-120"/>
              </a:rPr>
              <a:t>17 bangunan daftar BPBD 2019 menunggu koordinat; 14 TES memakai koordinat OpenStreetMap sambil menunggu konfirmasi.</a:t>
            </a:r>
            <a:endParaRPr lang="en-US" sz="1400" dirty="0"/>
          </a:p>
        </p:txBody>
      </p:sp>
      <p:sp>
        <p:nvSpPr>
          <p:cNvPr id="20" name="sumber"/>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7C8590"/>
                </a:solidFill>
                <a:latin typeface="Calibri" pitchFamily="34" charset="0"/>
                <a:ea typeface="Calibri" pitchFamily="34" charset="-122"/>
                <a:cs typeface="Calibri" pitchFamily="34" charset="-120"/>
              </a:rPr>
              <a:t>L 5.10, 6.2, Tabel 3.2, Gambar 7.2(c).</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0"/>
                </a:solidFill>
              </a:defRPr>
            </a:lvl1pPr>
          </a:lstStyle>
          <a:p>
            <a:pPr algn="l"/>
            <a:fld id="{F7021451-1387-4CA6-816F-3879F97B5CBC}" type="slidenum">
              <a:rPr b="0" lang="en-US"/>
              <a:t>58</a:t>
            </a:fld>
            <a:endParaRPr lang="en-US"/>
          </a:p>
        </p:txBody>
      </p:sp>
    </p:spTree>
  </p:cSld>
  <p:clrMapOvr>
    <a:masterClrMapping/>
  </p:clrMapOvr>
</p:sld>
</file>

<file path=ppt/theme/theme1.xml><?xml version="1.0" encoding="utf-8"?>
<a:theme xmlns:a="http://schemas.openxmlformats.org/drawingml/2006/main" name="Siaga Padang">
  <a:themeElements>
    <a:clrScheme name="Siaga Padang">
      <a:dk1>
        <a:srgbClr val="1B2433"/>
      </a:dk1>
      <a:lt1>
        <a:srgbClr val="FFFFFF"/>
      </a:lt1>
      <a:dk2>
        <a:srgbClr val="14365D"/>
      </a:dk2>
      <a:lt2>
        <a:srgbClr val="EEF2F7"/>
      </a:lt2>
      <a:accent1>
        <a:srgbClr val="14365D"/>
      </a:accent1>
      <a:accent2>
        <a:srgbClr val="F5B700"/>
      </a:accent2>
      <a:accent3>
        <a:srgbClr val="D9472F"/>
      </a:accent3>
      <a:accent4>
        <a:srgbClr val="2E8B57"/>
      </a:accent4>
      <a:accent5>
        <a:srgbClr val="2F7F9C"/>
      </a:accent5>
      <a:accent6>
        <a:srgbClr val="7C8590"/>
      </a:accent6>
      <a:hlink>
        <a:srgbClr val="2F7F9C"/>
      </a:hlink>
      <a:folHlink>
        <a:srgbClr val="14365D"/>
      </a:folHlink>
    </a:clrScheme>
    <a:fontScheme name="Siaga Padang">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Siaga Padang</dc:title>
  <dc:subject>PptxGenJS Presentation</dc:subject>
  <dc:creator>Tim Siaga Padang, Universitas Andalas</dc:creator>
  <cp:lastModifiedBy>Tim Siaga Padang, Universitas Andalas</cp:lastModifiedBy>
  <cp:revision>1</cp:revision>
  <dcterms:created xsi:type="dcterms:W3CDTF">2026-10-30T12:01:20Z</dcterms:created>
  <dcterms:modified xsi:type="dcterms:W3CDTF">2026-10-30T12:01:20Z</dcterms:modified>
</cp:coreProperties>
</file>