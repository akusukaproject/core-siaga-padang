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3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16"/>
    <p:sldId id="260" r:id="rId10"/>
    <p:sldId id="261" r:id="rId17"/>
    <p:sldId id="262" r:id="rId18"/>
    <p:sldId id="263" r:id="rId29"/>
    <p:sldId id="264" r:id="rId9"/>
    <p:sldId id="265" r:id="rId11"/>
    <p:sldId id="266" r:id="rId20"/>
    <p:sldId id="267" r:id="rId15"/>
    <p:sldId id="268" r:id="rId37"/>
    <p:sldId id="269" r:id="rId35"/>
    <p:sldId id="270" r:id="rId12"/>
    <p:sldId id="271" r:id="rId32"/>
    <p:sldId id="272" r:id="rId30"/>
    <p:sldId id="273" r:id="rId13"/>
    <p:sldId id="274" r:id="rId14"/>
    <p:sldId id="275" r:id="rId31"/>
    <p:sldId id="276" r:id="rId36"/>
    <p:sldId id="277" r:id="rId34"/>
    <p:sldId id="278" r:id="rId38"/>
    <p:sldId id="279" r:id="rId19"/>
    <p:sldId id="280" r:id="rId33"/>
    <p:sldId id="281" r:id="rId39"/>
  </p:sldIdLst>
  <p:sldSz cx="18288000" cy="10287000"/>
  <p:notesSz cx="6858000" cy="9144000"/>
  <p:embeddedFontLst>
    <p:embeddedFont>
      <p:font typeface="Codec Pro Ultra-Bold" charset="1" panose="00000700000000000000"/>
      <p:regular r:id="rId21"/>
    </p:embeddedFont>
    <p:embeddedFont>
      <p:font typeface="Codec Pro" charset="1" panose="00000500000000000000"/>
      <p:regular r:id="rId22"/>
    </p:embeddedFont>
    <p:embeddedFont>
      <p:font typeface="Helvetica World Bold" charset="1" panose="020B0800040000020004"/>
      <p:regular r:id="rId23"/>
    </p:embeddedFont>
    <p:embeddedFont>
      <p:font typeface="Open Sans Bold" charset="1" panose="020B0806030504020204"/>
      <p:regular r:id="rId24"/>
    </p:embeddedFont>
    <p:embeddedFont>
      <p:font typeface="Helvetica World" charset="1" panose="020B0500040000020004"/>
      <p:regular r:id="rId25"/>
    </p:embeddedFont>
    <p:embeddedFont>
      <p:font typeface="DM Sans Bold" charset="1" panose="00000000000000000000"/>
      <p:regular r:id="rId26"/>
    </p:embeddedFont>
    <p:embeddedFont>
      <p:font typeface="Canva Sans" charset="1" panose="020B0503030501040103"/>
      <p:regular r:id="rId27"/>
    </p:embeddedFont>
    <p:embeddedFont>
      <p:font typeface="Calibri (MS) Bold" charset="1" panose="020F0702030404030204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9.xml"/><Relationship Id="rId10" Type="http://schemas.openxmlformats.org/officeDocument/2006/relationships/slide" Target="slides/slide5.xml"/><Relationship Id="rId11" Type="http://schemas.openxmlformats.org/officeDocument/2006/relationships/slide" Target="slides/slide10.xml"/><Relationship Id="rId12" Type="http://schemas.openxmlformats.org/officeDocument/2006/relationships/slide" Target="slides/slide15.xml"/><Relationship Id="rId13" Type="http://schemas.openxmlformats.org/officeDocument/2006/relationships/slide" Target="slides/slide18.xml"/><Relationship Id="rId14" Type="http://schemas.openxmlformats.org/officeDocument/2006/relationships/slide" Target="slides/slide19.xml"/><Relationship Id="rId15" Type="http://schemas.openxmlformats.org/officeDocument/2006/relationships/slide" Target="slides/slide12.xml"/><Relationship Id="rId16" Type="http://schemas.openxmlformats.org/officeDocument/2006/relationships/slide" Target="slides/slide4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24.xml"/><Relationship Id="rId20" Type="http://schemas.openxmlformats.org/officeDocument/2006/relationships/slide" Target="slides/slide11.xml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font" Target="fonts/font24.fntdata"/><Relationship Id="rId25" Type="http://schemas.openxmlformats.org/officeDocument/2006/relationships/font" Target="fonts/font25.fntdata"/><Relationship Id="rId26" Type="http://schemas.openxmlformats.org/officeDocument/2006/relationships/font" Target="fonts/font26.fntdata"/><Relationship Id="rId27" Type="http://schemas.openxmlformats.org/officeDocument/2006/relationships/font" Target="fonts/font27.fntdata"/><Relationship Id="rId28" Type="http://schemas.openxmlformats.org/officeDocument/2006/relationships/font" Target="fonts/font28.fntdata"/><Relationship Id="rId29" Type="http://schemas.openxmlformats.org/officeDocument/2006/relationships/slide" Target="slides/slide8.xml"/><Relationship Id="rId30" Type="http://schemas.openxmlformats.org/officeDocument/2006/relationships/slide" Target="slides/slide17.xml"/><Relationship Id="rId31" Type="http://schemas.openxmlformats.org/officeDocument/2006/relationships/slide" Target="slides/slide20.xml"/><Relationship Id="rId32" Type="http://schemas.openxmlformats.org/officeDocument/2006/relationships/slide" Target="slides/slide16.xml"/><Relationship Id="rId33" Type="http://schemas.openxmlformats.org/officeDocument/2006/relationships/slide" Target="slides/slide25.xml"/><Relationship Id="rId34" Type="http://schemas.openxmlformats.org/officeDocument/2006/relationships/slide" Target="slides/slide22.xml"/><Relationship Id="rId35" Type="http://schemas.openxmlformats.org/officeDocument/2006/relationships/slide" Target="slides/slide14.xml"/><Relationship Id="rId36" Type="http://schemas.openxmlformats.org/officeDocument/2006/relationships/slide" Target="slides/slide21.xml"/><Relationship Id="rId37" Type="http://schemas.openxmlformats.org/officeDocument/2006/relationships/slide" Target="slides/slide13.xml"/><Relationship Id="rId38" Type="http://schemas.openxmlformats.org/officeDocument/2006/relationships/slide" Target="slides/slide23.xml"/><Relationship Id="rId39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3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eg"/><Relationship Id="rId3" Type="http://schemas.openxmlformats.org/officeDocument/2006/relationships/image" Target="../media/image30.png"/><Relationship Id="rId4" Type="http://schemas.openxmlformats.org/officeDocument/2006/relationships/image" Target="../media/image31.svg"/><Relationship Id="rId5" Type="http://schemas.openxmlformats.org/officeDocument/2006/relationships/image" Target="../media/image39.png"/><Relationship Id="rId6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Relationship Id="rId4" Type="http://schemas.openxmlformats.org/officeDocument/2006/relationships/image" Target="../media/image38.jpeg"/><Relationship Id="rId5" Type="http://schemas.openxmlformats.org/officeDocument/2006/relationships/image" Target="../media/image45.png"/><Relationship Id="rId6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Relationship Id="rId4" Type="http://schemas.openxmlformats.org/officeDocument/2006/relationships/image" Target="../media/image32.jpeg"/><Relationship Id="rId5" Type="http://schemas.openxmlformats.org/officeDocument/2006/relationships/image" Target="../media/image47.png"/><Relationship Id="rId6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eg"/><Relationship Id="rId3" Type="http://schemas.openxmlformats.org/officeDocument/2006/relationships/image" Target="../media/image30.png"/><Relationship Id="rId4" Type="http://schemas.openxmlformats.org/officeDocument/2006/relationships/image" Target="../media/image31.svg"/><Relationship Id="rId5" Type="http://schemas.openxmlformats.org/officeDocument/2006/relationships/image" Target="../media/image44.png"/><Relationship Id="rId6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4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13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Relationship Id="rId4" Type="http://schemas.openxmlformats.org/officeDocument/2006/relationships/image" Target="../media/image38.jpeg"/><Relationship Id="rId5" Type="http://schemas.openxmlformats.org/officeDocument/2006/relationships/image" Target="../media/image46.png"/><Relationship Id="rId6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43.png"/><Relationship Id="rId6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4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Relationship Id="rId4" Type="http://schemas.openxmlformats.org/officeDocument/2006/relationships/image" Target="../media/image37.jpeg"/><Relationship Id="rId5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41961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5777129" y="295964"/>
            <a:ext cx="2099969" cy="948923"/>
          </a:xfrm>
          <a:custGeom>
            <a:avLst/>
            <a:gdLst/>
            <a:ahLst/>
            <a:cxnLst/>
            <a:rect r="r" b="b" t="t" l="l"/>
            <a:pathLst>
              <a:path h="948923" w="2099969">
                <a:moveTo>
                  <a:pt x="0" y="0"/>
                </a:moveTo>
                <a:lnTo>
                  <a:pt x="2099968" y="0"/>
                </a:lnTo>
                <a:lnTo>
                  <a:pt x="2099968" y="948923"/>
                </a:lnTo>
                <a:lnTo>
                  <a:pt x="0" y="94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652000" y="355473"/>
            <a:ext cx="829905" cy="829905"/>
          </a:xfrm>
          <a:custGeom>
            <a:avLst/>
            <a:gdLst/>
            <a:ahLst/>
            <a:cxnLst/>
            <a:rect r="r" b="b" t="t" l="l"/>
            <a:pathLst>
              <a:path h="829905" w="829905">
                <a:moveTo>
                  <a:pt x="0" y="0"/>
                </a:moveTo>
                <a:lnTo>
                  <a:pt x="829905" y="0"/>
                </a:lnTo>
                <a:lnTo>
                  <a:pt x="829905" y="829905"/>
                </a:lnTo>
                <a:lnTo>
                  <a:pt x="0" y="829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227227" y="3458496"/>
            <a:ext cx="3599886" cy="3599886"/>
          </a:xfrm>
          <a:custGeom>
            <a:avLst/>
            <a:gdLst/>
            <a:ahLst/>
            <a:cxnLst/>
            <a:rect r="r" b="b" t="t" l="l"/>
            <a:pathLst>
              <a:path h="3599886" w="3599886">
                <a:moveTo>
                  <a:pt x="0" y="0"/>
                </a:moveTo>
                <a:lnTo>
                  <a:pt x="3599886" y="0"/>
                </a:lnTo>
                <a:lnTo>
                  <a:pt x="3599886" y="3599886"/>
                </a:lnTo>
                <a:lnTo>
                  <a:pt x="0" y="35998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1912189"/>
            <a:ext cx="11105332" cy="226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45"/>
              </a:lnSpc>
              <a:spcBef>
                <a:spcPct val="0"/>
              </a:spcBef>
            </a:pPr>
            <a:r>
              <a:rPr lang="en-US" b="true" sz="12175" spc="-608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Siaga Padang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38225" y="6735948"/>
            <a:ext cx="10436822" cy="2223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Tim AkuSukaProject — GEMASTIK XIX </a:t>
            </a:r>
          </a:p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Divisi VIII Pengembangan Perangkat Lunak</a:t>
            </a:r>
          </a:p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Mikail Samyth Habibillah, Muhammad Habib, Sheva Ramadhan</a:t>
            </a:r>
          </a:p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Dosen Pembimbing: Nisa Dwi Angresti, S.Si., M.Kom. </a:t>
            </a:r>
          </a:p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Universitas Andalas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496029" y="8863899"/>
            <a:ext cx="1274721" cy="4706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-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18090" y="3851398"/>
            <a:ext cx="12983572" cy="18082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48"/>
              </a:lnSpc>
              <a:spcBef>
                <a:spcPct val="0"/>
              </a:spcBef>
            </a:pPr>
            <a:r>
              <a:rPr lang="en-US" sz="4963" spc="-248">
                <a:solidFill>
                  <a:srgbClr val="FFFFFF"/>
                </a:solidFill>
                <a:latin typeface="Codec Pro"/>
                <a:ea typeface="Codec Pro"/>
                <a:cs typeface="Codec Pro"/>
                <a:sym typeface="Codec Pro"/>
              </a:rPr>
              <a:t>Sistem Navigasi Evakuasi Tsunami Luring Berbasis Pemodelan Pergerakan Kolektif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95205" y="525633"/>
            <a:ext cx="3380502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</a:pPr>
            <a:r>
              <a:rPr lang="en-US" sz="2099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AKUSUKAPROJECT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8222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45711" y="950181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8" y="0"/>
                </a:lnTo>
                <a:lnTo>
                  <a:pt x="565978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2211286" y="2763698"/>
            <a:ext cx="9460178" cy="4759603"/>
            <a:chOff x="0" y="0"/>
            <a:chExt cx="2491570" cy="125355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91570" cy="1253558"/>
            </a:xfrm>
            <a:custGeom>
              <a:avLst/>
              <a:gdLst/>
              <a:ahLst/>
              <a:cxnLst/>
              <a:rect r="r" b="b" t="t" l="l"/>
              <a:pathLst>
                <a:path h="1253558" w="2491570">
                  <a:moveTo>
                    <a:pt x="41737" y="0"/>
                  </a:moveTo>
                  <a:lnTo>
                    <a:pt x="2449833" y="0"/>
                  </a:lnTo>
                  <a:cubicBezTo>
                    <a:pt x="2472883" y="0"/>
                    <a:pt x="2491570" y="18686"/>
                    <a:pt x="2491570" y="41737"/>
                  </a:cubicBezTo>
                  <a:lnTo>
                    <a:pt x="2491570" y="1211821"/>
                  </a:lnTo>
                  <a:cubicBezTo>
                    <a:pt x="2491570" y="1234872"/>
                    <a:pt x="2472883" y="1253558"/>
                    <a:pt x="2449833" y="1253558"/>
                  </a:cubicBezTo>
                  <a:lnTo>
                    <a:pt x="41737" y="1253558"/>
                  </a:lnTo>
                  <a:cubicBezTo>
                    <a:pt x="30668" y="1253558"/>
                    <a:pt x="20052" y="1249161"/>
                    <a:pt x="12224" y="1241334"/>
                  </a:cubicBezTo>
                  <a:cubicBezTo>
                    <a:pt x="4397" y="1233506"/>
                    <a:pt x="0" y="1222890"/>
                    <a:pt x="0" y="1211821"/>
                  </a:cubicBezTo>
                  <a:lnTo>
                    <a:pt x="0" y="41737"/>
                  </a:lnTo>
                  <a:cubicBezTo>
                    <a:pt x="0" y="30668"/>
                    <a:pt x="4397" y="20052"/>
                    <a:pt x="12224" y="12224"/>
                  </a:cubicBezTo>
                  <a:cubicBezTo>
                    <a:pt x="20052" y="4397"/>
                    <a:pt x="30668" y="0"/>
                    <a:pt x="41737" y="0"/>
                  </a:cubicBezTo>
                  <a:close/>
                </a:path>
              </a:pathLst>
            </a:custGeom>
            <a:solidFill>
              <a:srgbClr val="DCE6EE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9525"/>
              <a:ext cx="2491570" cy="12440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82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5421887" y="457200"/>
            <a:ext cx="7770009" cy="1917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8"/>
              </a:lnSpc>
            </a:pPr>
            <a:r>
              <a:rPr lang="en-US" b="true" sz="8113" spc="-389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SIAGA PADANG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415081" y="244487"/>
            <a:ext cx="3800722" cy="1285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4"/>
              </a:lnSpc>
            </a:pPr>
            <a:r>
              <a:rPr lang="en-US" b="true" sz="3200" spc="-64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NAVIGASI EVAKUASI TSUNAMI LURING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64943" y="1047750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01934" y="3819857"/>
            <a:ext cx="8412480" cy="3840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20"/>
              </a:lnSpc>
            </a:pPr>
            <a:r>
              <a:rPr lang="en-US" sz="43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Latar Belakang</a:t>
            </a:r>
          </a:p>
          <a:p>
            <a:pPr algn="ctr">
              <a:lnSpc>
                <a:spcPts val="2800"/>
              </a:lnSpc>
              <a:spcBef>
                <a:spcPts val="18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Ancaman tsunami di Kota Padang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Peta saja belum cukup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Empat aturan evakuasi BPBD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Rumusan masalah dan tujuan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Solusi yang sudah ada</a:t>
            </a:r>
          </a:p>
        </p:txBody>
      </p:sp>
    </p:spTree>
  </p:cSld>
  <p:clrMapOvr>
    <a:masterClrMapping/>
  </p:clrMapOvr>
  <p:transition spd="fast">
    <p:cover dir="d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33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49369" y="1204989"/>
            <a:ext cx="11127097" cy="1049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b="true" sz="4383" spc="-21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TSUNAMI DAPAT TIBA KURANG DARI 30 MENIT SETELAH GEMPA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058905" y="2609589"/>
            <a:ext cx="4822663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69"/>
              </a:lnSpc>
            </a:pPr>
            <a:r>
              <a:rPr lang="en-US" sz="2699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SK</a:t>
            </a:r>
            <a:r>
              <a:rPr lang="en-US" sz="2699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ENARIO GEMPA MEGATHRUST MENTAWAI–SIBERUT (BMKG)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050051" y="4647083"/>
            <a:ext cx="429623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69"/>
              </a:lnSpc>
            </a:pPr>
            <a:r>
              <a:rPr lang="en-US" sz="2699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</a:t>
            </a:r>
            <a:r>
              <a:rPr lang="en-US" sz="2699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ERKIRAAN TINGGI TSUNAMI DI PESISIR KOTA PADANG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50051" y="6597513"/>
            <a:ext cx="4636863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69"/>
              </a:lnSpc>
            </a:pPr>
            <a:r>
              <a:rPr lang="en-US" sz="2699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W</a:t>
            </a:r>
            <a:r>
              <a:rPr lang="en-US" sz="2699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ILAYAH TERANCAM, 242.750 JIWA TERPAPAR (KRB)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050051" y="8541530"/>
            <a:ext cx="429623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69"/>
              </a:lnSpc>
            </a:pPr>
            <a:r>
              <a:rPr lang="en-US" sz="2699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JIWA</a:t>
            </a:r>
            <a:r>
              <a:rPr lang="en-US" sz="2699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KELOMPOK UMUR RENTAN DAN 637 PENYANDANG DISABILITAS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077283" y="2065429"/>
            <a:ext cx="3115001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</a:t>
            </a: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8,9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050051" y="4018434"/>
            <a:ext cx="253519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&gt;</a:t>
            </a: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10 M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050051" y="6024398"/>
            <a:ext cx="4048301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8</a:t>
            </a: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KEC · 55 KEL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068430" y="7993878"/>
            <a:ext cx="6375064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77.014</a:t>
            </a:r>
          </a:p>
        </p:txBody>
      </p:sp>
      <p:sp>
        <p:nvSpPr>
          <p:cNvPr name="AutoShape 11" id="11"/>
          <p:cNvSpPr/>
          <p:nvPr/>
        </p:nvSpPr>
        <p:spPr>
          <a:xfrm>
            <a:off x="12009791" y="3848791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12068430" y="5905335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12009791" y="7874815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3114626" y="9253538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918971" y="2781450"/>
            <a:ext cx="10287000" cy="5678424"/>
            <a:chOff x="0" y="0"/>
            <a:chExt cx="13716000" cy="7571232"/>
          </a:xfrm>
        </p:grpSpPr>
        <p:sp>
          <p:nvSpPr>
            <p:cNvPr name="Freeform 16" id="16" descr="C:\Users\Lenovo\AppData\Local\Temp\claude\c--gemastik\520da942-8140-47c0-a16f-9bde4b92cbe5\scratchpad\deck\aset\zona.png"/>
            <p:cNvSpPr/>
            <p:nvPr/>
          </p:nvSpPr>
          <p:spPr>
            <a:xfrm flipH="false" flipV="false" rot="0">
              <a:off x="0" y="0"/>
              <a:ext cx="13716000" cy="7571232"/>
            </a:xfrm>
            <a:custGeom>
              <a:avLst/>
              <a:gdLst/>
              <a:ahLst/>
              <a:cxnLst/>
              <a:rect r="r" b="b" t="t" l="l"/>
              <a:pathLst>
                <a:path h="7571232" w="13716000">
                  <a:moveTo>
                    <a:pt x="0" y="0"/>
                  </a:moveTo>
                  <a:lnTo>
                    <a:pt x="13716000" y="0"/>
                  </a:lnTo>
                  <a:lnTo>
                    <a:pt x="13716000" y="7571232"/>
                  </a:lnTo>
                  <a:lnTo>
                    <a:pt x="0" y="75712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455213" y="450562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635982" y="352993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003891"/>
            <a:ext cx="10967984" cy="2133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52"/>
              </a:lnSpc>
            </a:pPr>
            <a:r>
              <a:rPr lang="en-US" b="true" sz="9041" spc="-433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PETA SAJA BELUM CUKUP</a:t>
            </a:r>
          </a:p>
        </p:txBody>
      </p:sp>
      <p:sp>
        <p:nvSpPr>
          <p:cNvPr name="Freeform 39" id="3"/>
          <p:cNvSpPr/>
          <p:nvPr/>
        </p:nvSpPr>
        <p:spPr>
          <a:xfrm flipH="false" flipV="false" rot="0">
            <a:off x="751127" y="947166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564943" y="1020318"/>
            <a:ext cx="950976" cy="391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028700" y="4537521"/>
            <a:ext cx="4868957" cy="4720779"/>
            <a:chOff x="0" y="0"/>
            <a:chExt cx="1608503" cy="155955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08503" cy="1559552"/>
            </a:xfrm>
            <a:custGeom>
              <a:avLst/>
              <a:gdLst/>
              <a:ahLst/>
              <a:cxnLst/>
              <a:rect r="r" b="b" t="t" l="l"/>
              <a:pathLst>
                <a:path h="1559552" w="1608503">
                  <a:moveTo>
                    <a:pt x="0" y="0"/>
                  </a:moveTo>
                  <a:lnTo>
                    <a:pt x="1608503" y="0"/>
                  </a:lnTo>
                  <a:lnTo>
                    <a:pt x="1608503" y="1559552"/>
                  </a:lnTo>
                  <a:lnTo>
                    <a:pt x="0" y="1559552"/>
                  </a:lnTo>
                  <a:close/>
                </a:path>
              </a:pathLst>
            </a:custGeom>
            <a:blipFill>
              <a:blip r:embed="rId4"/>
              <a:stretch>
                <a:fillRect l="-11225" t="-28438" r="0" b="-24702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2649109" y="1028700"/>
            <a:ext cx="4610191" cy="5465256"/>
            <a:chOff x="0" y="0"/>
            <a:chExt cx="1508121" cy="178783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508122" cy="1787837"/>
            </a:xfrm>
            <a:custGeom>
              <a:avLst/>
              <a:gdLst/>
              <a:ahLst/>
              <a:cxnLst/>
              <a:rect r="r" b="b" t="t" l="l"/>
              <a:pathLst>
                <a:path h="1787837" w="1508122">
                  <a:moveTo>
                    <a:pt x="0" y="0"/>
                  </a:moveTo>
                  <a:lnTo>
                    <a:pt x="1508122" y="0"/>
                  </a:lnTo>
                  <a:lnTo>
                    <a:pt x="1508122" y="1787837"/>
                  </a:lnTo>
                  <a:lnTo>
                    <a:pt x="0" y="1787837"/>
                  </a:lnTo>
                  <a:close/>
                </a:path>
              </a:pathLst>
            </a:custGeom>
            <a:blipFill>
              <a:blip r:embed="rId5"/>
              <a:stretch>
                <a:fillRect l="-52697" t="-9625" r="-53546" b="-6286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6327817" y="4556571"/>
            <a:ext cx="4560902" cy="1937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9"/>
              </a:lnSpc>
            </a:pPr>
            <a:r>
              <a:rPr lang="en-US" b="true" sz="1799" spc="-35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PADA PENGUJIAN AWAL, EMPAT PESERTA BUTUH 27–89 DETIK UNTUK MENENTUKAN ARAH DENGAN PETA RESMI, DAN SATU PENDATANG TIDAK MENEMUKAN TUJUANNYA.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327817" y="6907435"/>
            <a:ext cx="3709723" cy="1341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PETA ZONA DAN RAMBU EVAKUASI SUDAH TERSEDIA, TETAPI WARGA HARUS MENEMUKAN POSISINYA LALU MENCOCOKKAN ARAH PETA DENGAN JALAN DI SEKITARNYA.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634497" y="6907435"/>
            <a:ext cx="3709723" cy="1151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PERINGATAN DI PONSEL MEMERLUKAN KONEKSI, PADAHAL JARINGAN TELEKOMUNIKASI BISA TERGANGGU SETELAH GEMPA.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299607" y="1371600"/>
            <a:ext cx="8778909" cy="2294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5"/>
              </a:lnSpc>
            </a:pPr>
            <a:r>
              <a:rPr lang="en-US" b="true" sz="7200" spc="-466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EMPAT ATURAN EVAKUASI BPBD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317229" y="6092346"/>
            <a:ext cx="329184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SEGERA EVAKUASI BILA GEMPA TERASA LEBIH DARI 30 DETIK, BAIK PELAN MAUPUN KUAT.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317229" y="8297545"/>
            <a:ext cx="329184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JEMBATAN SEBAIKNYA TIDAK DILALUI SELAMA MASIH ADA JALAN LAIN.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60268" y="6092346"/>
            <a:ext cx="329184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ARAH EVAKUASI TIDAK MENDEKATI DAN TIDAK SEJAJAR DENGAN GARIS PANTAI.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160268" y="8297545"/>
            <a:ext cx="3291840" cy="77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ZONA MERAH DAPAT TERLANDA TSUNAMI; ZONA HIJAU BERADA DI LUARNYA.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7229" y="5455662"/>
            <a:ext cx="329184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GEMPA LEBIH DARI 30 DETIK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317229" y="7660861"/>
            <a:ext cx="32918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HINDARI JEMBATAN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160268" y="5455662"/>
            <a:ext cx="32918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MENJAUHI PANTAI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160268" y="7660861"/>
            <a:ext cx="32918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ZONA MERAH DAN ZONA HIJAU</a:t>
            </a:r>
          </a:p>
        </p:txBody>
      </p:sp>
      <p:sp>
        <p:nvSpPr>
          <p:cNvPr name="AutoShape 12" id="12"/>
          <p:cNvSpPr/>
          <p:nvPr/>
        </p:nvSpPr>
        <p:spPr>
          <a:xfrm>
            <a:off x="9317229" y="7352340"/>
            <a:ext cx="6996948" cy="0"/>
          </a:xfrm>
          <a:prstGeom prst="line">
            <a:avLst/>
          </a:prstGeom>
          <a:ln cap="flat" w="9525">
            <a:solidFill>
              <a:srgbClr val="052593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pic>
        <p:nvPicPr>
          <p:cNvPr id="13" name="Picture 12" descr="peta_tes_resm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1024128"/>
            <a:ext cx="5760720" cy="822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4128" y="93726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00336C"/>
                </a:solidFill>
                <a:latin typeface="Helvetica World"/>
              </a:rPr>
              <a:t>Peta TES dan Lokasi Potensial Shelter, Pemerintah Kota Padang dan BPBD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17736" y="44805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042492"/>
                </a:solidFill>
                <a:latin typeface="Helvetica World"/>
              </a:rPr>
              <a:t>HASIL WAWANCARA DENGAN TIGA NARASUMBER BPBD KOTA PADANG, 28 SEPTEMBER–7 OKTOBER 2026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7215355"/>
            <a:ext cx="10499238" cy="2294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86"/>
              </a:lnSpc>
            </a:pPr>
            <a:r>
              <a:rPr lang="en-US" b="true" sz="9726" spc="-466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RUMUSAN MASALAH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1660507" y="1028700"/>
            <a:ext cx="5598793" cy="8229600"/>
            <a:chOff x="0" y="0"/>
            <a:chExt cx="1474579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474579" cy="2167467"/>
            </a:xfrm>
            <a:custGeom>
              <a:avLst/>
              <a:gdLst/>
              <a:ahLst/>
              <a:cxnLst/>
              <a:rect r="r" b="b" t="t" l="l"/>
              <a:pathLst>
                <a:path h="2167467" w="1474579">
                  <a:moveTo>
                    <a:pt x="0" y="0"/>
                  </a:moveTo>
                  <a:lnTo>
                    <a:pt x="1474579" y="0"/>
                  </a:lnTo>
                  <a:lnTo>
                    <a:pt x="1474579" y="2167467"/>
                  </a:lnTo>
                  <a:lnTo>
                    <a:pt x="0" y="2167467"/>
                  </a:lnTo>
                  <a:close/>
                </a:path>
              </a:pathLst>
            </a:custGeom>
            <a:ln w="9525" cap="sq">
              <a:solidFill>
                <a:srgbClr val="052593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1474579" cy="2148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049511" y="1361285"/>
            <a:ext cx="4868957" cy="5554655"/>
            <a:chOff x="0" y="0"/>
            <a:chExt cx="1608503" cy="18350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08503" cy="1835030"/>
            </a:xfrm>
            <a:custGeom>
              <a:avLst/>
              <a:gdLst/>
              <a:ahLst/>
              <a:cxnLst/>
              <a:rect r="r" b="b" t="t" l="l"/>
              <a:pathLst>
                <a:path h="1835030" w="1608503">
                  <a:moveTo>
                    <a:pt x="0" y="0"/>
                  </a:moveTo>
                  <a:lnTo>
                    <a:pt x="1608503" y="0"/>
                  </a:lnTo>
                  <a:lnTo>
                    <a:pt x="1608503" y="1835030"/>
                  </a:lnTo>
                  <a:lnTo>
                    <a:pt x="0" y="1835030"/>
                  </a:lnTo>
                  <a:close/>
                </a:path>
              </a:pathLst>
            </a:custGeom>
            <a:blipFill>
              <a:blip r:embed="rId2"/>
              <a:stretch>
                <a:fillRect l="0" t="-2746" r="0" b="-2746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2049511" y="7263503"/>
            <a:ext cx="4896985" cy="1661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9"/>
              </a:lnSpc>
            </a:pPr>
            <a:r>
              <a:rPr lang="en-US" b="true" sz="1799" spc="-35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TUJUAN: APLIKASI NAVIGASI EVAKUASI TSUNAMI YANG MEMBERI ARAHAN LURING DARI POSISI PENGGUNA, SESUAI ATURAN EVAKUASI SETEMPAT, UNTUK SELURUH ZONA MERAH KOTA PADANG.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401214" y="1449007"/>
            <a:ext cx="365760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BAGAIMANA MEMBERI ARAHAN EVAKUASI DARI POSISI PENGGUNA SAAT ITU, TANPA BERGANTUNG PADA TEMPAT TINGGALNYA?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29891" y="3430853"/>
            <a:ext cx="3657600" cy="1341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BAGAIMANA MENYAJIKAN ARAHAN YANG MUDAH DIPAHAMI SAAT TERTEKAN, WAKTU TERBATAS, ATAU PENCAHAYAAN KURANG?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029891" y="1449007"/>
            <a:ext cx="3657600" cy="77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BAGAIMANA MENJAGA ARAHAN TETAP CEPAT DIAKSES SAAT JARINGAN TELEKOMUNIKASI TIDAK TERSEDIA?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01214" y="3430853"/>
            <a:ext cx="3657600" cy="1151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BAGAIMANA MEMILIH TUJUAN YANG MENJAUHI PANTAI DAN TERJANGKAU, SERTA MENILAI BEBAN TEMPAT EVAKUASI?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401214" y="1038225"/>
            <a:ext cx="384048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01  ARAHAN DARI POSISI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29891" y="3020071"/>
            <a:ext cx="384048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04  MUDAH DIPAHAMI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29891" y="1038225"/>
            <a:ext cx="384048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02  TANPA JARINGAN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401214" y="3020071"/>
            <a:ext cx="384048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03  TUJUAN DAN DAYA TAMPUNG</a:t>
            </a:r>
          </a:p>
        </p:txBody>
      </p:sp>
      <p:sp>
        <p:nvSpPr>
          <p:cNvPr name="Freeform 39" id="17"/>
          <p:cNvSpPr/>
          <p:nvPr/>
        </p:nvSpPr>
        <p:spPr>
          <a:xfrm flipH="false" flipV="false" rot="0">
            <a:off x="751127" y="6175446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564943" y="6248598"/>
            <a:ext cx="950976" cy="391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AutoShape 19" id="19"/>
          <p:cNvSpPr/>
          <p:nvPr/>
        </p:nvSpPr>
        <p:spPr>
          <a:xfrm flipV="true">
            <a:off x="2401214" y="5377446"/>
            <a:ext cx="8320774" cy="0"/>
          </a:xfrm>
          <a:prstGeom prst="line">
            <a:avLst/>
          </a:prstGeom>
          <a:ln cap="flat" w="9525">
            <a:solidFill>
              <a:srgbClr val="052593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2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67881" y="6554615"/>
            <a:ext cx="8631549" cy="2932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75"/>
              </a:lnSpc>
            </a:pPr>
            <a:r>
              <a:rPr lang="en-US" b="true" sz="8430" spc="-404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SOLUSI YANG SUDAH ADA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1028700"/>
            <a:ext cx="8570729" cy="4114800"/>
            <a:chOff x="0" y="0"/>
            <a:chExt cx="3673160" cy="176348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673160" cy="1763481"/>
            </a:xfrm>
            <a:custGeom>
              <a:avLst/>
              <a:gdLst/>
              <a:ahLst/>
              <a:cxnLst/>
              <a:rect r="r" b="b" t="t" l="l"/>
              <a:pathLst>
                <a:path h="1763481" w="3673160">
                  <a:moveTo>
                    <a:pt x="0" y="0"/>
                  </a:moveTo>
                  <a:lnTo>
                    <a:pt x="3673160" y="0"/>
                  </a:lnTo>
                  <a:lnTo>
                    <a:pt x="3673160" y="1763481"/>
                  </a:lnTo>
                  <a:lnTo>
                    <a:pt x="0" y="1763481"/>
                  </a:lnTo>
                  <a:close/>
                </a:path>
              </a:pathLst>
            </a:custGeom>
            <a:blipFill>
              <a:blip r:embed="rId5"/>
              <a:srcRect t="33196" b="33196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328611" y="1028700"/>
            <a:ext cx="5930689" cy="7738101"/>
            <a:chOff x="0" y="0"/>
            <a:chExt cx="1561992" cy="20380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61992" cy="2038018"/>
            </a:xfrm>
            <a:custGeom>
              <a:avLst/>
              <a:gdLst/>
              <a:ahLst/>
              <a:cxnLst/>
              <a:rect r="r" b="b" t="t" l="l"/>
              <a:pathLst>
                <a:path h="2038018" w="1561992">
                  <a:moveTo>
                    <a:pt x="0" y="0"/>
                  </a:moveTo>
                  <a:lnTo>
                    <a:pt x="1561992" y="0"/>
                  </a:lnTo>
                  <a:lnTo>
                    <a:pt x="1561992" y="2038018"/>
                  </a:lnTo>
                  <a:lnTo>
                    <a:pt x="0" y="2038018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19050"/>
              <a:ext cx="1561992" cy="20189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4218920" y="1449232"/>
            <a:ext cx="2743200" cy="57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PETA RENCANA DAN LAPISAN JALUR; POSISI MASIH DICARI SENDIRI.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218920" y="2712772"/>
            <a:ext cx="2743200" cy="57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INFORMASI RISIKO, BELUM ADA NAVIGASI, BUTUH KONEKSI.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218920" y="4176645"/>
            <a:ext cx="2743200" cy="77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PERINGATAN RESMI, TIDAK MENENTUKAN JALUR DARI POSISI.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218920" y="5670800"/>
            <a:ext cx="2743200" cy="1151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JALUR SEBAGAI LAYANAN DARING; MODE LURING HANYA ARAH GARIS LURUS.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218920" y="7545955"/>
            <a:ext cx="2743200" cy="77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NAVIGASI UMUM; JALAN KAKI TIDAK LURING, TANPA ATURAN TES DAN TEA.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640909" y="1411132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PADANG SIGAP DAN RENEVAK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640909" y="2674672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INARISK (BNPB)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640909" y="4138545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INATEWS (BMKG)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40909" y="5632700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NVS DAN ZENKOKU HINANJO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640909" y="7507855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GOOGLE MAPS</a:t>
            </a:r>
          </a:p>
        </p:txBody>
      </p:sp>
      <p:sp>
        <p:nvSpPr>
          <p:cNvPr name="AutoShape 18" id="18"/>
          <p:cNvSpPr/>
          <p:nvPr/>
        </p:nvSpPr>
        <p:spPr>
          <a:xfrm>
            <a:off x="11640909" y="2347067"/>
            <a:ext cx="530461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1640909" y="3649715"/>
            <a:ext cx="530461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1640909" y="5304088"/>
            <a:ext cx="530461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1640909" y="7179243"/>
            <a:ext cx="530461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8" id="22"/>
          <p:cNvSpPr/>
          <p:nvPr/>
        </p:nvSpPr>
        <p:spPr>
          <a:xfrm flipH="false" flipV="false" rot="0">
            <a:off x="751127" y="5395698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564943" y="5468850"/>
            <a:ext cx="950976" cy="391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8222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45711" y="950181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8" y="0"/>
                </a:lnTo>
                <a:lnTo>
                  <a:pt x="565978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2211286" y="2763698"/>
            <a:ext cx="9460178" cy="4759603"/>
            <a:chOff x="0" y="0"/>
            <a:chExt cx="2491570" cy="125355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91570" cy="1253558"/>
            </a:xfrm>
            <a:custGeom>
              <a:avLst/>
              <a:gdLst/>
              <a:ahLst/>
              <a:cxnLst/>
              <a:rect r="r" b="b" t="t" l="l"/>
              <a:pathLst>
                <a:path h="1253558" w="2491570">
                  <a:moveTo>
                    <a:pt x="41737" y="0"/>
                  </a:moveTo>
                  <a:lnTo>
                    <a:pt x="2449833" y="0"/>
                  </a:lnTo>
                  <a:cubicBezTo>
                    <a:pt x="2472883" y="0"/>
                    <a:pt x="2491570" y="18686"/>
                    <a:pt x="2491570" y="41737"/>
                  </a:cubicBezTo>
                  <a:lnTo>
                    <a:pt x="2491570" y="1211821"/>
                  </a:lnTo>
                  <a:cubicBezTo>
                    <a:pt x="2491570" y="1234872"/>
                    <a:pt x="2472883" y="1253558"/>
                    <a:pt x="2449833" y="1253558"/>
                  </a:cubicBezTo>
                  <a:lnTo>
                    <a:pt x="41737" y="1253558"/>
                  </a:lnTo>
                  <a:cubicBezTo>
                    <a:pt x="30668" y="1253558"/>
                    <a:pt x="20052" y="1249161"/>
                    <a:pt x="12224" y="1241334"/>
                  </a:cubicBezTo>
                  <a:cubicBezTo>
                    <a:pt x="4397" y="1233506"/>
                    <a:pt x="0" y="1222890"/>
                    <a:pt x="0" y="1211821"/>
                  </a:cubicBezTo>
                  <a:lnTo>
                    <a:pt x="0" y="41737"/>
                  </a:lnTo>
                  <a:cubicBezTo>
                    <a:pt x="0" y="30668"/>
                    <a:pt x="4397" y="20052"/>
                    <a:pt x="12224" y="12224"/>
                  </a:cubicBezTo>
                  <a:cubicBezTo>
                    <a:pt x="20052" y="4397"/>
                    <a:pt x="30668" y="0"/>
                    <a:pt x="41737" y="0"/>
                  </a:cubicBezTo>
                  <a:close/>
                </a:path>
              </a:pathLst>
            </a:custGeom>
            <a:solidFill>
              <a:srgbClr val="DCE6EE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9525"/>
              <a:ext cx="2491570" cy="12440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82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5421887" y="457200"/>
            <a:ext cx="7770009" cy="1917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8"/>
              </a:lnSpc>
            </a:pPr>
            <a:r>
              <a:rPr lang="en-US" b="true" sz="8113" spc="-389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SIAGA PADANG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415081" y="244487"/>
            <a:ext cx="3800722" cy="1285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4"/>
              </a:lnSpc>
            </a:pPr>
            <a:r>
              <a:rPr lang="en-US" b="true" sz="3200" spc="-64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NAVIGASI EVAKUASI TSUNAMI LURING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64943" y="1047750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01934" y="3819857"/>
            <a:ext cx="8412480" cy="3840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20"/>
              </a:lnSpc>
            </a:pPr>
            <a:r>
              <a:rPr lang="en-US" sz="43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Solusi dan Metode</a:t>
            </a:r>
          </a:p>
          <a:p>
            <a:pPr algn="ctr">
              <a:lnSpc>
                <a:spcPts val="2800"/>
              </a:lnSpc>
              <a:spcBef>
                <a:spcPts val="18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Gagasan Siaga Padang dan arsitektur sistem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Data wilayah dan jalur evakuasi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Pembagian warga menurut daya tampung TES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Pemilihan tujuan dan navigasi luring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Rancangan pengujian</a:t>
            </a:r>
          </a:p>
        </p:txBody>
      </p:sp>
    </p:spTree>
  </p:cSld>
  <p:clrMapOvr>
    <a:masterClrMapping/>
  </p:clrMapOvr>
  <p:transition spd="fast">
    <p:cover dir="d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EEE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302348" y="747865"/>
            <a:ext cx="10286823" cy="11624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b="true" sz="4858" spc="-233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K</a:t>
            </a:r>
            <a:r>
              <a:rPr lang="en-US" b="true" sz="4858" spc="-233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AMI MENGUBAH PETA MENJADI ARAHAN YANG LANGSUNG DIIKUTI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786622" y="2571093"/>
            <a:ext cx="4576334" cy="6800069"/>
            <a:chOff x="0" y="0"/>
            <a:chExt cx="6101778" cy="906675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101715" cy="9066657"/>
            </a:xfrm>
            <a:custGeom>
              <a:avLst/>
              <a:gdLst/>
              <a:ahLst/>
              <a:cxnLst/>
              <a:rect r="r" b="b" t="t" l="l"/>
              <a:pathLst>
                <a:path h="9066657" w="6101715">
                  <a:moveTo>
                    <a:pt x="0" y="732155"/>
                  </a:moveTo>
                  <a:cubicBezTo>
                    <a:pt x="0" y="327787"/>
                    <a:pt x="327787" y="0"/>
                    <a:pt x="732155" y="0"/>
                  </a:cubicBezTo>
                  <a:lnTo>
                    <a:pt x="5369560" y="0"/>
                  </a:lnTo>
                  <a:cubicBezTo>
                    <a:pt x="5773928" y="0"/>
                    <a:pt x="6101715" y="327787"/>
                    <a:pt x="6101715" y="732155"/>
                  </a:cubicBezTo>
                  <a:lnTo>
                    <a:pt x="6101715" y="8334502"/>
                  </a:lnTo>
                  <a:cubicBezTo>
                    <a:pt x="6101715" y="8738870"/>
                    <a:pt x="5773928" y="9066657"/>
                    <a:pt x="5369560" y="9066657"/>
                  </a:cubicBezTo>
                  <a:lnTo>
                    <a:pt x="732155" y="9066657"/>
                  </a:lnTo>
                  <a:cubicBezTo>
                    <a:pt x="327787" y="9066784"/>
                    <a:pt x="0" y="8738870"/>
                    <a:pt x="0" y="8334502"/>
                  </a:cubicBezTo>
                  <a:close/>
                </a:path>
              </a:pathLst>
            </a:custGeom>
            <a:solidFill>
              <a:srgbClr val="00A8EF"/>
            </a:solidFill>
            <a:ln w="19065" cap="sq">
              <a:solidFill>
                <a:srgbClr val="DCE6EE"/>
              </a:solidFill>
              <a:prstDash val="solid"/>
              <a:miter/>
            </a:ln>
          </p:spPr>
        </p:sp>
      </p:grpSp>
      <p:sp>
        <p:nvSpPr>
          <p:cNvPr name="TextBox 5" id="5"/>
          <p:cNvSpPr txBox="true"/>
          <p:nvPr/>
        </p:nvSpPr>
        <p:spPr>
          <a:xfrm rot="0">
            <a:off x="1125588" y="2882608"/>
            <a:ext cx="3870931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1"/>
              </a:lnSpc>
            </a:pPr>
            <a:r>
              <a:rPr lang="en-US" sz="2551" b="true">
                <a:solidFill>
                  <a:srgbClr val="EB6B63"/>
                </a:solidFill>
                <a:latin typeface="DM Sans Bold"/>
                <a:ea typeface="DM Sans Bold"/>
                <a:cs typeface="DM Sans Bold"/>
                <a:sym typeface="DM Sans Bold"/>
              </a:rPr>
              <a:t>SEBELUM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74937" y="3404225"/>
            <a:ext cx="3199695" cy="4571000"/>
            <a:chOff x="0" y="0"/>
            <a:chExt cx="4266260" cy="6094666"/>
          </a:xfrm>
        </p:grpSpPr>
        <p:sp>
          <p:nvSpPr>
            <p:cNvPr name="Freeform 7" id="7" descr="image4_slide.jpg"/>
            <p:cNvSpPr/>
            <p:nvPr/>
          </p:nvSpPr>
          <p:spPr>
            <a:xfrm flipH="false" flipV="false" rot="0">
              <a:off x="0" y="0"/>
              <a:ext cx="4266311" cy="6094603"/>
            </a:xfrm>
            <a:custGeom>
              <a:avLst/>
              <a:gdLst/>
              <a:ahLst/>
              <a:cxnLst/>
              <a:rect r="r" b="b" t="t" l="l"/>
              <a:pathLst>
                <a:path h="6094603" w="4266311">
                  <a:moveTo>
                    <a:pt x="0" y="0"/>
                  </a:moveTo>
                  <a:lnTo>
                    <a:pt x="4266311" y="0"/>
                  </a:lnTo>
                  <a:lnTo>
                    <a:pt x="4266311" y="6094603"/>
                  </a:lnTo>
                  <a:lnTo>
                    <a:pt x="0" y="6094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1" b="-1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837729" y="8432711"/>
            <a:ext cx="4474121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2"/>
              </a:lnSpc>
            </a:pPr>
            <a:r>
              <a:rPr lang="en-US" b="true" sz="225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Cari posisi · orientasikan peta</a:t>
            </a:r>
          </a:p>
          <a:p>
            <a:pPr algn="ctr">
              <a:lnSpc>
                <a:spcPts val="2702"/>
              </a:lnSpc>
            </a:pPr>
            <a:r>
              <a:rPr lang="en-US" b="true" sz="2251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· tentukan tujuan sendiri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585984" y="5161245"/>
            <a:ext cx="838914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26"/>
              </a:lnSpc>
            </a:pPr>
            <a:r>
              <a:rPr lang="en-US" sz="6605" b="true">
                <a:solidFill>
                  <a:srgbClr val="00A8EF"/>
                </a:solidFill>
                <a:latin typeface="DM Sans Bold"/>
                <a:ea typeface="DM Sans Bold"/>
                <a:cs typeface="DM Sans Bold"/>
                <a:sym typeface="DM Sans Bold"/>
              </a:rPr>
              <a:t>→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6369196" y="2580627"/>
            <a:ext cx="5518137" cy="6781000"/>
            <a:chOff x="0" y="0"/>
            <a:chExt cx="7357516" cy="9041333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357491" cy="9041385"/>
            </a:xfrm>
            <a:custGeom>
              <a:avLst/>
              <a:gdLst/>
              <a:ahLst/>
              <a:cxnLst/>
              <a:rect r="r" b="b" t="t" l="l"/>
              <a:pathLst>
                <a:path h="9041385" w="7357491">
                  <a:moveTo>
                    <a:pt x="0" y="882904"/>
                  </a:moveTo>
                  <a:cubicBezTo>
                    <a:pt x="0" y="395351"/>
                    <a:pt x="395351" y="0"/>
                    <a:pt x="882904" y="0"/>
                  </a:cubicBezTo>
                  <a:lnTo>
                    <a:pt x="6474587" y="0"/>
                  </a:lnTo>
                  <a:cubicBezTo>
                    <a:pt x="6962140" y="0"/>
                    <a:pt x="7357491" y="395351"/>
                    <a:pt x="7357491" y="882904"/>
                  </a:cubicBezTo>
                  <a:lnTo>
                    <a:pt x="7357491" y="8158480"/>
                  </a:lnTo>
                  <a:cubicBezTo>
                    <a:pt x="7357491" y="8646033"/>
                    <a:pt x="6962140" y="9041385"/>
                    <a:pt x="6474587" y="9041385"/>
                  </a:cubicBezTo>
                  <a:lnTo>
                    <a:pt x="882904" y="9041385"/>
                  </a:lnTo>
                  <a:cubicBezTo>
                    <a:pt x="395351" y="9041384"/>
                    <a:pt x="0" y="8646033"/>
                    <a:pt x="0" y="8158480"/>
                  </a:cubicBezTo>
                  <a:close/>
                </a:path>
              </a:pathLst>
            </a:custGeom>
            <a:solidFill>
              <a:srgbClr val="DCE6EE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6796730" y="2869140"/>
            <a:ext cx="4694539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1"/>
              </a:lnSpc>
            </a:pPr>
            <a:r>
              <a:rPr lang="en-US" sz="2551" b="true">
                <a:solidFill>
                  <a:srgbClr val="00A8EF"/>
                </a:solidFill>
                <a:latin typeface="DM Sans Bold"/>
                <a:ea typeface="DM Sans Bold"/>
                <a:cs typeface="DM Sans Bold"/>
                <a:sym typeface="DM Sans Bold"/>
              </a:rPr>
              <a:t>YANG KAMI BANGUN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631873" y="3625363"/>
            <a:ext cx="5172175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24"/>
              </a:lnSpc>
            </a:pPr>
            <a:r>
              <a:rPr lang="en-US" sz="4353" b="true">
                <a:solidFill>
                  <a:srgbClr val="102C46"/>
                </a:solidFill>
                <a:latin typeface="DM Sans Bold"/>
                <a:ea typeface="DM Sans Bold"/>
                <a:cs typeface="DM Sans Bold"/>
                <a:sym typeface="DM Sans Bold"/>
              </a:rPr>
              <a:t>Siaga Padang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483952" y="4657811"/>
            <a:ext cx="5320097" cy="682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2"/>
              </a:lnSpc>
            </a:pPr>
            <a:r>
              <a:rPr lang="en-US" sz="2285" b="true">
                <a:solidFill>
                  <a:srgbClr val="102C46"/>
                </a:solidFill>
                <a:latin typeface="DM Sans Bold"/>
                <a:ea typeface="DM Sans Bold"/>
                <a:cs typeface="DM Sans Bold"/>
                <a:sym typeface="DM Sans Bold"/>
              </a:rPr>
              <a:t>Aplikasi Android yang membawa jalur</a:t>
            </a:r>
          </a:p>
          <a:p>
            <a:pPr algn="ctr">
              <a:lnSpc>
                <a:spcPts val="2742"/>
              </a:lnSpc>
            </a:pPr>
            <a:r>
              <a:rPr lang="en-US" sz="2285" b="true">
                <a:solidFill>
                  <a:srgbClr val="102C46"/>
                </a:solidFill>
                <a:latin typeface="DM Sans Bold"/>
                <a:ea typeface="DM Sans Bold"/>
                <a:cs typeface="DM Sans Bold"/>
                <a:sym typeface="DM Sans Bold"/>
              </a:rPr>
              <a:t>evakuasi ke dalam ponsel.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566828" y="5756670"/>
            <a:ext cx="375159" cy="375159"/>
            <a:chOff x="0" y="0"/>
            <a:chExt cx="420954" cy="42095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21005" cy="421005"/>
            </a:xfrm>
            <a:custGeom>
              <a:avLst/>
              <a:gdLst/>
              <a:ahLst/>
              <a:cxnLst/>
              <a:rect r="r" b="b" t="t" l="l"/>
              <a:pathLst>
                <a:path h="421005" w="421005">
                  <a:moveTo>
                    <a:pt x="0" y="210439"/>
                  </a:moveTo>
                  <a:cubicBezTo>
                    <a:pt x="0" y="94234"/>
                    <a:pt x="94234" y="0"/>
                    <a:pt x="210439" y="0"/>
                  </a:cubicBezTo>
                  <a:cubicBezTo>
                    <a:pt x="326644" y="0"/>
                    <a:pt x="421005" y="94234"/>
                    <a:pt x="421005" y="210439"/>
                  </a:cubicBezTo>
                  <a:cubicBezTo>
                    <a:pt x="421005" y="326644"/>
                    <a:pt x="326771" y="421005"/>
                    <a:pt x="210439" y="421005"/>
                  </a:cubicBezTo>
                  <a:cubicBezTo>
                    <a:pt x="94107" y="421005"/>
                    <a:pt x="0" y="326771"/>
                    <a:pt x="0" y="210439"/>
                  </a:cubicBezTo>
                  <a:close/>
                </a:path>
              </a:pathLst>
            </a:custGeom>
            <a:solidFill>
              <a:srgbClr val="00A8EF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719179" y="5796074"/>
            <a:ext cx="70457" cy="247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6"/>
              </a:lnSpc>
            </a:pPr>
            <a:r>
              <a:rPr lang="en-US" sz="1605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1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170347" y="5733564"/>
            <a:ext cx="4550825" cy="341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2"/>
              </a:lnSpc>
            </a:pPr>
            <a:r>
              <a:rPr lang="en-US" sz="2318" b="true">
                <a:solidFill>
                  <a:srgbClr val="102C46"/>
                </a:solidFill>
                <a:latin typeface="DM Sans Bold"/>
                <a:ea typeface="DM Sans Bold"/>
                <a:cs typeface="DM Sans Bold"/>
                <a:sym typeface="DM Sans Bold"/>
              </a:rPr>
              <a:t>Membaca posisi pengguna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6566828" y="6555917"/>
            <a:ext cx="375159" cy="375159"/>
            <a:chOff x="0" y="0"/>
            <a:chExt cx="420954" cy="420954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421005" cy="421005"/>
            </a:xfrm>
            <a:custGeom>
              <a:avLst/>
              <a:gdLst/>
              <a:ahLst/>
              <a:cxnLst/>
              <a:rect r="r" b="b" t="t" l="l"/>
              <a:pathLst>
                <a:path h="421005" w="421005">
                  <a:moveTo>
                    <a:pt x="0" y="210439"/>
                  </a:moveTo>
                  <a:cubicBezTo>
                    <a:pt x="0" y="94234"/>
                    <a:pt x="94234" y="0"/>
                    <a:pt x="210439" y="0"/>
                  </a:cubicBezTo>
                  <a:cubicBezTo>
                    <a:pt x="326644" y="0"/>
                    <a:pt x="421005" y="94234"/>
                    <a:pt x="421005" y="210439"/>
                  </a:cubicBezTo>
                  <a:cubicBezTo>
                    <a:pt x="421005" y="326644"/>
                    <a:pt x="326771" y="421005"/>
                    <a:pt x="210439" y="421005"/>
                  </a:cubicBezTo>
                  <a:cubicBezTo>
                    <a:pt x="94107" y="421005"/>
                    <a:pt x="0" y="326771"/>
                    <a:pt x="0" y="210439"/>
                  </a:cubicBezTo>
                  <a:close/>
                </a:path>
              </a:pathLst>
            </a:custGeom>
            <a:solidFill>
              <a:srgbClr val="28BE99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6696189" y="6595322"/>
            <a:ext cx="116438" cy="247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6"/>
              </a:lnSpc>
            </a:pPr>
            <a:r>
              <a:rPr lang="en-US" sz="1605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2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170347" y="6532823"/>
            <a:ext cx="4550825" cy="341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2"/>
              </a:lnSpc>
            </a:pPr>
            <a:r>
              <a:rPr lang="en-US" sz="2318" b="true">
                <a:solidFill>
                  <a:srgbClr val="102C46"/>
                </a:solidFill>
                <a:latin typeface="DM Sans Bold"/>
                <a:ea typeface="DM Sans Bold"/>
                <a:cs typeface="DM Sans Bold"/>
                <a:sym typeface="DM Sans Bold"/>
              </a:rPr>
              <a:t>Memilih tujuan yang terjangkau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6566828" y="7355164"/>
            <a:ext cx="375159" cy="375159"/>
            <a:chOff x="0" y="0"/>
            <a:chExt cx="420954" cy="42095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21005" cy="421005"/>
            </a:xfrm>
            <a:custGeom>
              <a:avLst/>
              <a:gdLst/>
              <a:ahLst/>
              <a:cxnLst/>
              <a:rect r="r" b="b" t="t" l="l"/>
              <a:pathLst>
                <a:path h="421005" w="421005">
                  <a:moveTo>
                    <a:pt x="0" y="210439"/>
                  </a:moveTo>
                  <a:cubicBezTo>
                    <a:pt x="0" y="94234"/>
                    <a:pt x="94234" y="0"/>
                    <a:pt x="210439" y="0"/>
                  </a:cubicBezTo>
                  <a:cubicBezTo>
                    <a:pt x="326644" y="0"/>
                    <a:pt x="421005" y="94234"/>
                    <a:pt x="421005" y="210439"/>
                  </a:cubicBezTo>
                  <a:cubicBezTo>
                    <a:pt x="421005" y="326644"/>
                    <a:pt x="326771" y="421005"/>
                    <a:pt x="210439" y="421005"/>
                  </a:cubicBezTo>
                  <a:cubicBezTo>
                    <a:pt x="94107" y="421005"/>
                    <a:pt x="0" y="326771"/>
                    <a:pt x="0" y="210439"/>
                  </a:cubicBezTo>
                  <a:close/>
                </a:path>
              </a:pathLst>
            </a:custGeom>
            <a:solidFill>
              <a:srgbClr val="EB6B63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6693642" y="7394569"/>
            <a:ext cx="121531" cy="247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6"/>
              </a:lnSpc>
            </a:pPr>
            <a:r>
              <a:rPr lang="en-US" sz="1605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7170347" y="7332070"/>
            <a:ext cx="4550825" cy="341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2"/>
              </a:lnSpc>
            </a:pPr>
            <a:r>
              <a:rPr lang="en-US" sz="2318" b="true">
                <a:solidFill>
                  <a:srgbClr val="102C46"/>
                </a:solidFill>
                <a:latin typeface="DM Sans Bold"/>
                <a:ea typeface="DM Sans Bold"/>
                <a:cs typeface="DM Sans Bold"/>
                <a:sym typeface="DM Sans Bold"/>
              </a:rPr>
              <a:t>Mengikuti aturan BPBD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6566828" y="8154412"/>
            <a:ext cx="375159" cy="375159"/>
            <a:chOff x="0" y="0"/>
            <a:chExt cx="420954" cy="42095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21005" cy="421005"/>
            </a:xfrm>
            <a:custGeom>
              <a:avLst/>
              <a:gdLst/>
              <a:ahLst/>
              <a:cxnLst/>
              <a:rect r="r" b="b" t="t" l="l"/>
              <a:pathLst>
                <a:path h="421005" w="421005">
                  <a:moveTo>
                    <a:pt x="0" y="210439"/>
                  </a:moveTo>
                  <a:cubicBezTo>
                    <a:pt x="0" y="94234"/>
                    <a:pt x="94234" y="0"/>
                    <a:pt x="210439" y="0"/>
                  </a:cubicBezTo>
                  <a:cubicBezTo>
                    <a:pt x="326644" y="0"/>
                    <a:pt x="421005" y="94234"/>
                    <a:pt x="421005" y="210439"/>
                  </a:cubicBezTo>
                  <a:cubicBezTo>
                    <a:pt x="421005" y="326644"/>
                    <a:pt x="326771" y="421005"/>
                    <a:pt x="210439" y="421005"/>
                  </a:cubicBezTo>
                  <a:cubicBezTo>
                    <a:pt x="94107" y="421005"/>
                    <a:pt x="0" y="326771"/>
                    <a:pt x="0" y="210439"/>
                  </a:cubicBezTo>
                  <a:close/>
                </a:path>
              </a:pathLst>
            </a:custGeom>
            <a:solidFill>
              <a:srgbClr val="9175C9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6689044" y="8193827"/>
            <a:ext cx="130727" cy="247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26"/>
              </a:lnSpc>
            </a:pPr>
            <a:r>
              <a:rPr lang="en-US" sz="1605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4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170347" y="8131317"/>
            <a:ext cx="4550825" cy="692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2"/>
              </a:lnSpc>
            </a:pPr>
            <a:r>
              <a:rPr lang="en-US" sz="2318" b="true">
                <a:solidFill>
                  <a:srgbClr val="102C46"/>
                </a:solidFill>
                <a:latin typeface="DM Sans Bold"/>
                <a:ea typeface="DM Sans Bold"/>
                <a:cs typeface="DM Sans Bold"/>
                <a:sym typeface="DM Sans Bold"/>
              </a:rPr>
              <a:t>Tetap memberi arah tanpa internet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115933" y="5189663"/>
            <a:ext cx="838914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26"/>
              </a:lnSpc>
            </a:pPr>
            <a:r>
              <a:rPr lang="en-US" sz="6605" b="true">
                <a:solidFill>
                  <a:srgbClr val="00A8EF"/>
                </a:solidFill>
                <a:latin typeface="DM Sans Bold"/>
                <a:ea typeface="DM Sans Bold"/>
                <a:cs typeface="DM Sans Bold"/>
                <a:sym typeface="DM Sans Bold"/>
              </a:rPr>
              <a:t>→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2916843" y="2580627"/>
            <a:ext cx="4557274" cy="6781000"/>
            <a:chOff x="0" y="0"/>
            <a:chExt cx="6076366" cy="9041333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076315" cy="9041257"/>
            </a:xfrm>
            <a:custGeom>
              <a:avLst/>
              <a:gdLst/>
              <a:ahLst/>
              <a:cxnLst/>
              <a:rect r="r" b="b" t="t" l="l"/>
              <a:pathLst>
                <a:path h="9041257" w="6076315">
                  <a:moveTo>
                    <a:pt x="0" y="729107"/>
                  </a:moveTo>
                  <a:cubicBezTo>
                    <a:pt x="0" y="326517"/>
                    <a:pt x="326517" y="0"/>
                    <a:pt x="729107" y="0"/>
                  </a:cubicBezTo>
                  <a:lnTo>
                    <a:pt x="5347208" y="0"/>
                  </a:lnTo>
                  <a:cubicBezTo>
                    <a:pt x="5749925" y="0"/>
                    <a:pt x="6076315" y="326517"/>
                    <a:pt x="6076315" y="729107"/>
                  </a:cubicBezTo>
                  <a:lnTo>
                    <a:pt x="6076315" y="8312150"/>
                  </a:lnTo>
                  <a:cubicBezTo>
                    <a:pt x="6076315" y="8714867"/>
                    <a:pt x="5749798" y="9041257"/>
                    <a:pt x="5347208" y="9041257"/>
                  </a:cubicBezTo>
                  <a:lnTo>
                    <a:pt x="729107" y="9041257"/>
                  </a:lnTo>
                  <a:cubicBezTo>
                    <a:pt x="326517" y="9041384"/>
                    <a:pt x="0" y="8714867"/>
                    <a:pt x="0" y="8312150"/>
                  </a:cubicBezTo>
                  <a:close/>
                </a:path>
              </a:pathLst>
            </a:custGeom>
            <a:solidFill>
              <a:srgbClr val="14365D"/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13246284" y="2882608"/>
            <a:ext cx="3898392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1"/>
              </a:lnSpc>
            </a:pPr>
            <a:r>
              <a:rPr lang="en-US" sz="2551" b="true">
                <a:solidFill>
                  <a:srgbClr val="5ED6F3"/>
                </a:solidFill>
                <a:latin typeface="DM Sans Bold"/>
                <a:ea typeface="DM Sans Bold"/>
                <a:cs typeface="DM Sans Bold"/>
                <a:sym typeface="DM Sans Bold"/>
              </a:rPr>
              <a:t>DENGAN SIAGA PADANG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4124803" y="3419094"/>
            <a:ext cx="2222369" cy="4784258"/>
            <a:chOff x="0" y="0"/>
            <a:chExt cx="2855163" cy="6146521"/>
          </a:xfrm>
        </p:grpSpPr>
        <p:sp>
          <p:nvSpPr>
            <p:cNvPr name="Freeform 36" id="36" descr="image15.png"/>
            <p:cNvSpPr/>
            <p:nvPr/>
          </p:nvSpPr>
          <p:spPr>
            <a:xfrm flipH="false" flipV="false" rot="0">
              <a:off x="0" y="0"/>
              <a:ext cx="2855214" cy="6146546"/>
            </a:xfrm>
            <a:custGeom>
              <a:avLst/>
              <a:gdLst/>
              <a:ahLst/>
              <a:cxnLst/>
              <a:rect r="r" b="b" t="t" l="l"/>
              <a:pathLst>
                <a:path h="6146546" w="2855214">
                  <a:moveTo>
                    <a:pt x="0" y="0"/>
                  </a:moveTo>
                  <a:lnTo>
                    <a:pt x="2855214" y="0"/>
                  </a:lnTo>
                  <a:lnTo>
                    <a:pt x="2855214" y="6146546"/>
                  </a:lnTo>
                  <a:lnTo>
                    <a:pt x="0" y="6146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1" b="0"/>
              </a:stretch>
            </a:blipFill>
          </p:spPr>
        </p:sp>
      </p:grpSp>
      <p:sp>
        <p:nvSpPr>
          <p:cNvPr name="TextBox 37" id="37"/>
          <p:cNvSpPr txBox="true"/>
          <p:nvPr/>
        </p:nvSpPr>
        <p:spPr>
          <a:xfrm rot="0">
            <a:off x="13308054" y="8304124"/>
            <a:ext cx="3774853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1"/>
              </a:lnSpc>
            </a:pPr>
            <a:r>
              <a:rPr lang="en-US" sz="2101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Arah, jalur, tujuan, dan</a:t>
            </a:r>
          </a:p>
          <a:p>
            <a:pPr algn="ctr">
              <a:lnSpc>
                <a:spcPts val="2521"/>
              </a:lnSpc>
            </a:pPr>
            <a:r>
              <a:rPr lang="en-US" sz="2101" b="true">
                <a:solidFill>
                  <a:srgbClr val="FFFFFF"/>
                </a:solidFill>
                <a:latin typeface="DM Sans Bold"/>
                <a:ea typeface="DM Sans Bold"/>
                <a:cs typeface="DM Sans Bold"/>
                <a:sym typeface="DM Sans Bold"/>
              </a:rPr>
              <a:t>waktu tempuh tampil dari posisi saat itu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455213" y="450562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635982" y="352993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8222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45711" y="950181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8" y="0"/>
                </a:lnTo>
                <a:lnTo>
                  <a:pt x="565978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75015" y="2168669"/>
            <a:ext cx="16484285" cy="7057334"/>
          </a:xfrm>
          <a:custGeom>
            <a:avLst/>
            <a:gdLst/>
            <a:ahLst/>
            <a:cxnLst/>
            <a:rect r="r" b="b" t="t" l="l"/>
            <a:pathLst>
              <a:path h="7057334" w="16484285">
                <a:moveTo>
                  <a:pt x="0" y="0"/>
                </a:moveTo>
                <a:lnTo>
                  <a:pt x="16484285" y="0"/>
                </a:lnTo>
                <a:lnTo>
                  <a:pt x="16484285" y="7057335"/>
                </a:lnTo>
                <a:lnTo>
                  <a:pt x="0" y="7057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5421887" y="502920"/>
            <a:ext cx="8229600" cy="1917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23"/>
              </a:lnSpc>
            </a:pPr>
            <a:r>
              <a:rPr lang="en-US" b="true" sz="5800" spc="-389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ARSITEKTUR SISTEM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415081" y="244487"/>
            <a:ext cx="3800722" cy="1285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4"/>
              </a:lnSpc>
            </a:pPr>
            <a:r>
              <a:rPr lang="en-US" b="true" sz="3200" spc="-64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PRAKOMPUTASI, APLIKASI ANDROID, DAN SERVER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64943" y="1047750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2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96634" y="2204942"/>
            <a:ext cx="10386683" cy="2104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5"/>
              </a:lnSpc>
            </a:pPr>
            <a:r>
              <a:rPr lang="en-US" b="true" sz="7200" spc="-425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DATA WILAYAH DALAM SATU PAKET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396634" y="5828162"/>
            <a:ext cx="3561228" cy="3430138"/>
            <a:chOff x="0" y="0"/>
            <a:chExt cx="937937" cy="9034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37937" cy="903411"/>
            </a:xfrm>
            <a:custGeom>
              <a:avLst/>
              <a:gdLst/>
              <a:ahLst/>
              <a:cxnLst/>
              <a:rect r="r" b="b" t="t" l="l"/>
              <a:pathLst>
                <a:path h="903411" w="937937">
                  <a:moveTo>
                    <a:pt x="0" y="0"/>
                  </a:moveTo>
                  <a:lnTo>
                    <a:pt x="937937" y="0"/>
                  </a:lnTo>
                  <a:lnTo>
                    <a:pt x="937937" y="903411"/>
                  </a:lnTo>
                  <a:lnTo>
                    <a:pt x="0" y="903411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937937" cy="8843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319058" y="5828162"/>
            <a:ext cx="3644253" cy="3430138"/>
            <a:chOff x="0" y="0"/>
            <a:chExt cx="959803" cy="90341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59803" cy="903411"/>
            </a:xfrm>
            <a:custGeom>
              <a:avLst/>
              <a:gdLst/>
              <a:ahLst/>
              <a:cxnLst/>
              <a:rect r="r" b="b" t="t" l="l"/>
              <a:pathLst>
                <a:path h="903411" w="959803">
                  <a:moveTo>
                    <a:pt x="0" y="0"/>
                  </a:moveTo>
                  <a:lnTo>
                    <a:pt x="959803" y="0"/>
                  </a:lnTo>
                  <a:lnTo>
                    <a:pt x="959803" y="903411"/>
                  </a:lnTo>
                  <a:lnTo>
                    <a:pt x="0" y="903411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19050"/>
              <a:ext cx="959803" cy="8843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5261" y="5828162"/>
            <a:ext cx="3616690" cy="3430138"/>
            <a:chOff x="0" y="0"/>
            <a:chExt cx="952544" cy="9034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52544" cy="903411"/>
            </a:xfrm>
            <a:custGeom>
              <a:avLst/>
              <a:gdLst/>
              <a:ahLst/>
              <a:cxnLst/>
              <a:rect r="r" b="b" t="t" l="l"/>
              <a:pathLst>
                <a:path h="903411" w="952544">
                  <a:moveTo>
                    <a:pt x="0" y="0"/>
                  </a:moveTo>
                  <a:lnTo>
                    <a:pt x="952544" y="0"/>
                  </a:lnTo>
                  <a:lnTo>
                    <a:pt x="952544" y="903411"/>
                  </a:lnTo>
                  <a:lnTo>
                    <a:pt x="0" y="903411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19050"/>
              <a:ext cx="952544" cy="8843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3303901" y="5828162"/>
            <a:ext cx="3587465" cy="3430138"/>
            <a:chOff x="0" y="0"/>
            <a:chExt cx="944847" cy="90341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44847" cy="903411"/>
            </a:xfrm>
            <a:custGeom>
              <a:avLst/>
              <a:gdLst/>
              <a:ahLst/>
              <a:cxnLst/>
              <a:rect r="r" b="b" t="t" l="l"/>
              <a:pathLst>
                <a:path h="903411" w="944847">
                  <a:moveTo>
                    <a:pt x="0" y="0"/>
                  </a:moveTo>
                  <a:lnTo>
                    <a:pt x="944847" y="0"/>
                  </a:lnTo>
                  <a:lnTo>
                    <a:pt x="944847" y="903411"/>
                  </a:lnTo>
                  <a:lnTo>
                    <a:pt x="0" y="903411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19050"/>
              <a:ext cx="944847" cy="8843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731840" y="6132814"/>
            <a:ext cx="3200400" cy="78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0"/>
              </a:lnSpc>
            </a:pPr>
            <a:r>
              <a:rPr lang="en-US" b="true" sz="4000" spc="-9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31.813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654264" y="6132814"/>
            <a:ext cx="3200400" cy="78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0"/>
              </a:lnSpc>
            </a:pPr>
            <a:r>
              <a:rPr lang="en-US" b="true" sz="4000" spc="-9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244 TES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60467" y="6132814"/>
            <a:ext cx="3200400" cy="78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0"/>
              </a:lnSpc>
            </a:pPr>
            <a:r>
              <a:rPr lang="en-US" b="true" sz="4000" spc="-9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22 TEA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637276" y="6132814"/>
            <a:ext cx="3200400" cy="78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0"/>
              </a:lnSpc>
            </a:pPr>
            <a:r>
              <a:rPr lang="en-US" b="true" sz="4000" spc="-9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36,97 MB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31840" y="7223760"/>
            <a:ext cx="3017520" cy="1056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SIMPUL JALAN PEJALAN KAKI, 11.418 DI ZONA MERAH, DAN 39.216 RUAS JALAN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654264" y="7223760"/>
            <a:ext cx="3017520" cy="1265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TEMPAT EVAKUASI SEMENTARA: 45 DAFTAR BPBD 2019 DAN 199 KESEPAKATAN WARGA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60467" y="7223760"/>
            <a:ext cx="3017520" cy="1056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TEMPAT EVAKUASI AKHIR DI LUAR WILAYAH BAHAYA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106" y="7223760"/>
            <a:ext cx="3017520" cy="1265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BASIS DATA DI PONSEL, DIPERIKSA DENGAN SHA-256 SEBELUM DIPAKAI</a:t>
            </a:r>
          </a:p>
        </p:txBody>
      </p:sp>
      <p:sp>
        <p:nvSpPr>
          <p:cNvPr name="Freeform 18" id="23"/>
          <p:cNvSpPr/>
          <p:nvPr/>
        </p:nvSpPr>
        <p:spPr>
          <a:xfrm flipH="false" flipV="false" rot="0">
            <a:off x="1119061" y="947166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932877" y="1020318"/>
            <a:ext cx="950976" cy="391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352463" y="1028700"/>
            <a:ext cx="4538902" cy="4388452"/>
            <a:chOff x="0" y="0"/>
            <a:chExt cx="1945239" cy="1880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945239" cy="1880760"/>
            </a:xfrm>
            <a:custGeom>
              <a:avLst/>
              <a:gdLst/>
              <a:ahLst/>
              <a:cxnLst/>
              <a:rect r="r" b="b" t="t" l="l"/>
              <a:pathLst>
                <a:path h="1880760" w="1945239">
                  <a:moveTo>
                    <a:pt x="0" y="0"/>
                  </a:moveTo>
                  <a:lnTo>
                    <a:pt x="1945239" y="0"/>
                  </a:lnTo>
                  <a:lnTo>
                    <a:pt x="1945239" y="1880760"/>
                  </a:lnTo>
                  <a:lnTo>
                    <a:pt x="0" y="1880760"/>
                  </a:lnTo>
                  <a:close/>
                </a:path>
              </a:pathLst>
            </a:custGeom>
            <a:blipFill>
              <a:blip r:embed="rId5"/>
              <a:srcRect t="5685" b="568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2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662674" y="6770445"/>
            <a:ext cx="4506379" cy="2487855"/>
            <a:chOff x="0" y="0"/>
            <a:chExt cx="1186865" cy="65523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6865" cy="655238"/>
            </a:xfrm>
            <a:custGeom>
              <a:avLst/>
              <a:gdLst/>
              <a:ahLst/>
              <a:cxnLst/>
              <a:rect r="r" b="b" t="t" l="l"/>
              <a:pathLst>
                <a:path h="655238" w="1186865">
                  <a:moveTo>
                    <a:pt x="0" y="0"/>
                  </a:moveTo>
                  <a:lnTo>
                    <a:pt x="1186865" y="0"/>
                  </a:lnTo>
                  <a:lnTo>
                    <a:pt x="1186865" y="655238"/>
                  </a:lnTo>
                  <a:lnTo>
                    <a:pt x="0" y="655238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19050"/>
              <a:ext cx="1186865" cy="6361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67881" y="1042352"/>
            <a:ext cx="7985587" cy="2133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79"/>
              </a:lnSpc>
            </a:pPr>
            <a:r>
              <a:rPr lang="en-US" b="true" sz="5999" spc="-433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JALUR DIHITUNG SEBELUM KEJADIAN</a:t>
            </a:r>
          </a:p>
        </p:txBody>
      </p:sp>
      <p:sp>
        <p:nvSpPr>
          <p:cNvPr name="Freeform 18" id="6"/>
          <p:cNvSpPr/>
          <p:nvPr/>
        </p:nvSpPr>
        <p:spPr>
          <a:xfrm flipH="false" flipV="false" rot="0">
            <a:off x="15539006" y="947166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6352822" y="1020318"/>
            <a:ext cx="950976" cy="391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1306824" y="1957894"/>
            <a:ext cx="5908365" cy="7300406"/>
            <a:chOff x="0" y="0"/>
            <a:chExt cx="2532150" cy="312873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532150" cy="3128737"/>
            </a:xfrm>
            <a:custGeom>
              <a:avLst/>
              <a:gdLst/>
              <a:ahLst/>
              <a:cxnLst/>
              <a:rect r="r" b="b" t="t" l="l"/>
              <a:pathLst>
                <a:path h="3128737" w="2532150">
                  <a:moveTo>
                    <a:pt x="0" y="0"/>
                  </a:moveTo>
                  <a:lnTo>
                    <a:pt x="2532150" y="0"/>
                  </a:lnTo>
                  <a:lnTo>
                    <a:pt x="2532150" y="3128737"/>
                  </a:lnTo>
                  <a:lnTo>
                    <a:pt x="0" y="3128737"/>
                  </a:lnTo>
                  <a:close/>
                </a:path>
              </a:pathLst>
            </a:custGeom>
            <a:blipFill>
              <a:blip r:embed="rId5"/>
              <a:srcRect l="12357" r="12357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028700" y="4049850"/>
            <a:ext cx="3017520" cy="57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JALAN PEJALAN KAKI OPENSTREETMAP; TIAP SIMPUL MENYIMPAN JARAK KE PANTAI.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5671817"/>
            <a:ext cx="3017520" cy="57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PENELUSURAN DARI TIAP TUJUAN MEMBERI JALUR DARI SEMUA SIMPUL SEKALIGUS.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7297830"/>
            <a:ext cx="3017520" cy="57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TUJUAN HARUS MENJAUHI PANTAI LEBIH DARI 15 DERAJAT DARI ARAH SEJAJAR PANTAI.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662674" y="4049850"/>
            <a:ext cx="301752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JEMBATAN 20 M ATAU LEBIH HANYA DIPAKAI BILA TIDAK ADA JALAN LAIN.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662674" y="5671817"/>
            <a:ext cx="3017520" cy="57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HINGGA TIGA PILIHAN TES PER SIMPUL, DITAMBAH JALUR KE TEA DAN ZONA HIJAU.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28700" y="3531989"/>
            <a:ext cx="301752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 · GRAF JALAN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28700" y="5153956"/>
            <a:ext cx="301752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 · DIJKSTRA TERBALIK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28700" y="6779970"/>
            <a:ext cx="301752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 · SARING ARAH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5662674" y="3531989"/>
            <a:ext cx="301752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4 · HINDARI JEMBATAN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22509" y="7070762"/>
            <a:ext cx="3700698" cy="1906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9"/>
              </a:lnSpc>
            </a:pPr>
            <a:r>
              <a:rPr lang="en-US" b="true" sz="1599" spc="-31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HANYA 19% JALUR TES PERTAMA YANG MASIH MELEWATI JEMBATAN KARENA TIDAK ADA SAMBUNGAN LAIN. APLIKASI MEMBERINYA KETERANGAN “LEWAT JEMBATAN”.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662674" y="5153956"/>
            <a:ext cx="301752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 · SIMPAN DI PONSEL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33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49369" y="1204989"/>
            <a:ext cx="11127097" cy="1049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b="true" sz="4383" spc="-21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PEMBAGIAN WARGA MENURUT DAYA TAMPUNG TES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058905" y="2609589"/>
            <a:ext cx="585216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200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DIBAGI KE TES DENGAN TOTAL WAKTU TEMPUH TERKECIL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050051" y="4647083"/>
            <a:ext cx="585216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200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PUNYA ANGKA DAYA TAMPUNG, TOTAL 155.980 JIWA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50051" y="6597513"/>
            <a:ext cx="585216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200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MENERIMA WARGA; TES TANPA ANGKA JADI CADANGAN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050051" y="8541530"/>
            <a:ext cx="585216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200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MELEBIHI DAYA TAMPUNG, KELEBIHAN 23.442 JIWA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077283" y="2065429"/>
            <a:ext cx="594360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89.158 JIWA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050051" y="4018434"/>
            <a:ext cx="594360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167 TES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050051" y="6024398"/>
            <a:ext cx="594360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122 TES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068430" y="7993878"/>
            <a:ext cx="594360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37 TES</a:t>
            </a:r>
          </a:p>
        </p:txBody>
      </p:sp>
      <p:sp>
        <p:nvSpPr>
          <p:cNvPr name="AutoShape 11" id="11"/>
          <p:cNvSpPr/>
          <p:nvPr/>
        </p:nvSpPr>
        <p:spPr>
          <a:xfrm>
            <a:off x="12009791" y="3848791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12068430" y="5905335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12009791" y="7874815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3114626" y="9253538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918971" y="2781450"/>
            <a:ext cx="10287000" cy="5678424"/>
            <a:chOff x="0" y="0"/>
            <a:chExt cx="13716000" cy="7571232"/>
          </a:xfrm>
        </p:grpSpPr>
        <p:sp>
          <p:nvSpPr>
            <p:cNvPr name="Freeform 16" id="16" descr="C:\Users\Lenovo\AppData\Local\Temp\claude\c--gemastik\520da942-8140-47c0-a16f-9bde4b92cbe5\scratchpad\deck\aset\zona.png"/>
            <p:cNvSpPr/>
            <p:nvPr/>
          </p:nvSpPr>
          <p:spPr>
            <a:xfrm flipH="false" flipV="false" rot="0">
              <a:off x="0" y="0"/>
              <a:ext cx="13716000" cy="7571232"/>
            </a:xfrm>
            <a:custGeom>
              <a:avLst/>
              <a:gdLst/>
              <a:ahLst/>
              <a:cxnLst/>
              <a:rect r="r" b="b" t="t" l="l"/>
              <a:pathLst>
                <a:path h="7571232" w="13716000">
                  <a:moveTo>
                    <a:pt x="0" y="0"/>
                  </a:moveTo>
                  <a:lnTo>
                    <a:pt x="13716000" y="0"/>
                  </a:lnTo>
                  <a:lnTo>
                    <a:pt x="13716000" y="7571232"/>
                  </a:lnTo>
                  <a:lnTo>
                    <a:pt x="0" y="75712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t="3378" b="3378"/>
              <a:stretch>
                <a:fillRect l="0" t="0" r="0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455213" y="450562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635982" y="352993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19" name="TextBox 18"/>
          <p:cNvSpPr txBox="1"/>
          <p:nvPr/>
        </p:nvSpPr>
        <p:spPr>
          <a:xfrm>
            <a:off x="914400" y="8641080"/>
            <a:ext cx="10287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Helvetica World"/>
              </a:rPr>
              <a:t>Program linear: beban tiap TES dibatasi daya tampungnya, hanya TES terjangkau dalam 15 menit yang memenuhi aturan arah. Kelebihan muncul bila semua TES terjangkau sudah penuh.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2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67881" y="6554615"/>
            <a:ext cx="8631549" cy="29321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11"/>
              </a:lnSpc>
            </a:pPr>
            <a:r>
              <a:rPr lang="en-US" b="true" sz="5400" spc="-404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PONSEL MEMILIH TUJUAN MENURUT SISA WAKTU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1028700"/>
            <a:ext cx="8570729" cy="4114800"/>
            <a:chOff x="0" y="0"/>
            <a:chExt cx="3673160" cy="176348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673160" cy="1763481"/>
            </a:xfrm>
            <a:custGeom>
              <a:avLst/>
              <a:gdLst/>
              <a:ahLst/>
              <a:cxnLst/>
              <a:rect r="r" b="b" t="t" l="l"/>
              <a:pathLst>
                <a:path h="1763481" w="3673160">
                  <a:moveTo>
                    <a:pt x="0" y="0"/>
                  </a:moveTo>
                  <a:lnTo>
                    <a:pt x="3673160" y="0"/>
                  </a:lnTo>
                  <a:lnTo>
                    <a:pt x="3673160" y="1763481"/>
                  </a:lnTo>
                  <a:lnTo>
                    <a:pt x="0" y="1763481"/>
                  </a:lnTo>
                  <a:close/>
                </a:path>
              </a:pathLst>
            </a:custGeom>
            <a:blipFill>
              <a:blip r:embed="rId5"/>
              <a:srcRect t="5851" b="5851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328611" y="1028700"/>
            <a:ext cx="5930689" cy="7738101"/>
            <a:chOff x="0" y="0"/>
            <a:chExt cx="1561992" cy="203801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61992" cy="2038018"/>
            </a:xfrm>
            <a:custGeom>
              <a:avLst/>
              <a:gdLst/>
              <a:ahLst/>
              <a:cxnLst/>
              <a:rect r="r" b="b" t="t" l="l"/>
              <a:pathLst>
                <a:path h="2038018" w="1561992">
                  <a:moveTo>
                    <a:pt x="0" y="0"/>
                  </a:moveTo>
                  <a:lnTo>
                    <a:pt x="1561992" y="0"/>
                  </a:lnTo>
                  <a:lnTo>
                    <a:pt x="1561992" y="2038018"/>
                  </a:lnTo>
                  <a:lnTo>
                    <a:pt x="0" y="2038018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19050"/>
              <a:ext cx="1561992" cy="20189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4218920" y="1449232"/>
            <a:ext cx="2743200" cy="57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20 MENIT SEJAK GEMPA DIKURANGI CADANGAN 5 MENIT; BILA LANGSUNG BERANGKAT, 15 MENIT.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218920" y="2712772"/>
            <a:ext cx="2743200" cy="57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DIPILIH BILA MASIH SEMPAT KELUAR DARI ZONA MERAH.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218920" y="4176645"/>
            <a:ext cx="2743200" cy="77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DARI TES YANG MASIH SEMPAT; DIUNDI DENGAN KODE KELUARGA.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4218920" y="5670800"/>
            <a:ext cx="2743200" cy="1151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MINIMAL 50 M LEBIH JAUH DARI PANTAI DARIPADA TES TERCEPAT.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218920" y="7545955"/>
            <a:ext cx="2743200" cy="77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BILA TIDAK ADA PILIHAN LAIN YANG MEMENUHI SYARAT.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640909" y="1411132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SISA WAKTU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640909" y="2674672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 · TEA ATAU ZONA HIJAU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640909" y="4138545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 · TES MENURUT PORSI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640909" y="5632700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3 · TES TERJAUH DARI PANTAI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640909" y="7507855"/>
            <a:ext cx="23774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4 · TUJUAN TERCEPAT</a:t>
            </a:r>
          </a:p>
        </p:txBody>
      </p:sp>
      <p:sp>
        <p:nvSpPr>
          <p:cNvPr name="AutoShape 18" id="18"/>
          <p:cNvSpPr/>
          <p:nvPr/>
        </p:nvSpPr>
        <p:spPr>
          <a:xfrm>
            <a:off x="11640909" y="2347067"/>
            <a:ext cx="530461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11640909" y="3649715"/>
            <a:ext cx="530461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11640909" y="5304088"/>
            <a:ext cx="530461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11640909" y="7179243"/>
            <a:ext cx="530461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8" id="22"/>
          <p:cNvSpPr/>
          <p:nvPr/>
        </p:nvSpPr>
        <p:spPr>
          <a:xfrm flipH="false" flipV="false" rot="0">
            <a:off x="751127" y="5395698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564943" y="5468850"/>
            <a:ext cx="950976" cy="391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33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289178" y="1009048"/>
            <a:ext cx="15084348" cy="640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0"/>
              </a:lnSpc>
            </a:pPr>
            <a:r>
              <a:rPr lang="en-US" b="true" sz="5000" spc="-24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</a:t>
            </a:r>
            <a:r>
              <a:rPr lang="en-US" b="true" sz="5000" spc="-24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AVIGASI LURING DI LAPANGAN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19698" y="2401336"/>
            <a:ext cx="17374832" cy="7327048"/>
            <a:chOff x="0" y="0"/>
            <a:chExt cx="4576087" cy="192975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576087" cy="1929757"/>
            </a:xfrm>
            <a:custGeom>
              <a:avLst/>
              <a:gdLst/>
              <a:ahLst/>
              <a:cxnLst/>
              <a:rect r="r" b="b" t="t" l="l"/>
              <a:pathLst>
                <a:path h="1929757" w="4576087">
                  <a:moveTo>
                    <a:pt x="22725" y="0"/>
                  </a:moveTo>
                  <a:lnTo>
                    <a:pt x="4553363" y="0"/>
                  </a:lnTo>
                  <a:cubicBezTo>
                    <a:pt x="4559390" y="0"/>
                    <a:pt x="4565170" y="2394"/>
                    <a:pt x="4569432" y="6656"/>
                  </a:cubicBezTo>
                  <a:cubicBezTo>
                    <a:pt x="4573693" y="10918"/>
                    <a:pt x="4576087" y="16698"/>
                    <a:pt x="4576087" y="22725"/>
                  </a:cubicBezTo>
                  <a:lnTo>
                    <a:pt x="4576087" y="1907033"/>
                  </a:lnTo>
                  <a:cubicBezTo>
                    <a:pt x="4576087" y="1913060"/>
                    <a:pt x="4573693" y="1918840"/>
                    <a:pt x="4569432" y="1923101"/>
                  </a:cubicBezTo>
                  <a:cubicBezTo>
                    <a:pt x="4565170" y="1927363"/>
                    <a:pt x="4559390" y="1929757"/>
                    <a:pt x="4553363" y="1929757"/>
                  </a:cubicBezTo>
                  <a:lnTo>
                    <a:pt x="22725" y="1929757"/>
                  </a:lnTo>
                  <a:cubicBezTo>
                    <a:pt x="16698" y="1929757"/>
                    <a:pt x="10918" y="1927363"/>
                    <a:pt x="6656" y="1923101"/>
                  </a:cubicBezTo>
                  <a:cubicBezTo>
                    <a:pt x="2394" y="1918840"/>
                    <a:pt x="0" y="1913060"/>
                    <a:pt x="0" y="1907033"/>
                  </a:cubicBezTo>
                  <a:lnTo>
                    <a:pt x="0" y="22725"/>
                  </a:lnTo>
                  <a:cubicBezTo>
                    <a:pt x="0" y="16698"/>
                    <a:pt x="2394" y="10918"/>
                    <a:pt x="6656" y="6656"/>
                  </a:cubicBezTo>
                  <a:cubicBezTo>
                    <a:pt x="10918" y="2394"/>
                    <a:pt x="16698" y="0"/>
                    <a:pt x="2272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CDFFD8">
                    <a:alpha val="55000"/>
                  </a:srgbClr>
                </a:gs>
                <a:gs pos="100000">
                  <a:srgbClr val="94B9FF">
                    <a:alpha val="5500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9525"/>
              <a:ext cx="4576087" cy="19202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3812502" y="1083237"/>
            <a:ext cx="16641623" cy="1165860"/>
            <a:chOff x="0" y="0"/>
            <a:chExt cx="22188830" cy="15544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188830" cy="1554480"/>
            </a:xfrm>
            <a:custGeom>
              <a:avLst/>
              <a:gdLst/>
              <a:ahLst/>
              <a:cxnLst/>
              <a:rect r="r" b="b" t="t" l="l"/>
              <a:pathLst>
                <a:path h="1554480" w="22188830">
                  <a:moveTo>
                    <a:pt x="0" y="0"/>
                  </a:moveTo>
                  <a:lnTo>
                    <a:pt x="22188830" y="0"/>
                  </a:lnTo>
                  <a:lnTo>
                    <a:pt x="2218883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228131" r="0" b="-228131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22188830" cy="15544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700" y="3251919"/>
            <a:ext cx="2331720" cy="5019675"/>
            <a:chOff x="0" y="0"/>
            <a:chExt cx="3108960" cy="6692900"/>
          </a:xfrm>
        </p:grpSpPr>
        <p:sp>
          <p:nvSpPr>
            <p:cNvPr name="Freeform 10" id="10" descr="C:\Users\Lenovo\AppData\Local\Temp\claude\c--gemastik\520da942-8140-47c0-a16f-9bde4b92cbe5\scratchpad\deck\aset\evakuasi.png"/>
            <p:cNvSpPr/>
            <p:nvPr/>
          </p:nvSpPr>
          <p:spPr>
            <a:xfrm flipH="false" flipV="false" rot="0">
              <a:off x="0" y="0"/>
              <a:ext cx="3108960" cy="6692900"/>
            </a:xfrm>
            <a:custGeom>
              <a:avLst/>
              <a:gdLst/>
              <a:ahLst/>
              <a:cxnLst/>
              <a:rect r="r" b="b" t="t" l="l"/>
              <a:pathLst>
                <a:path h="6692900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6692900"/>
                  </a:lnTo>
                  <a:lnTo>
                    <a:pt x="0" y="669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3634740" y="3298677"/>
            <a:ext cx="2331720" cy="4926168"/>
            <a:chOff x="0" y="0"/>
            <a:chExt cx="3108960" cy="6568224"/>
          </a:xfrm>
        </p:grpSpPr>
        <p:sp>
          <p:nvSpPr>
            <p:cNvPr name="Freeform 12" id="12" descr="C:\Users\Lenovo\AppData\Local\Temp\claude\c--gemastik\520da942-8140-47c0-a16f-9bde4b92cbe5\scratchpad\deck\aset\putar_balik.png"/>
            <p:cNvSpPr/>
            <p:nvPr/>
          </p:nvSpPr>
          <p:spPr>
            <a:xfrm flipH="false" flipV="false" rot="0">
              <a:off x="0" y="0"/>
              <a:ext cx="3108960" cy="6568186"/>
            </a:xfrm>
            <a:custGeom>
              <a:avLst/>
              <a:gdLst/>
              <a:ahLst/>
              <a:cxnLst/>
              <a:rect r="r" b="b" t="t" l="l"/>
              <a:pathLst>
                <a:path h="6568186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6568186"/>
                  </a:lnTo>
                  <a:lnTo>
                    <a:pt x="0" y="65681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6240780" y="3298677"/>
            <a:ext cx="2331720" cy="4926168"/>
            <a:chOff x="0" y="0"/>
            <a:chExt cx="3108960" cy="6568224"/>
          </a:xfrm>
        </p:grpSpPr>
        <p:sp>
          <p:nvSpPr>
            <p:cNvPr name="Freeform 14" id="14" descr="C:\Users\Lenovo\AppData\Local\Temp\claude\c--gemastik\520da942-8140-47c0-a16f-9bde4b92cbe5\scratchpad\deck\aset\zona_hijau.png"/>
            <p:cNvSpPr/>
            <p:nvPr/>
          </p:nvSpPr>
          <p:spPr>
            <a:xfrm flipH="false" flipV="false" rot="0">
              <a:off x="0" y="0"/>
              <a:ext cx="3108960" cy="6568186"/>
            </a:xfrm>
            <a:custGeom>
              <a:avLst/>
              <a:gdLst/>
              <a:ahLst/>
              <a:cxnLst/>
              <a:rect r="r" b="b" t="t" l="l"/>
              <a:pathLst>
                <a:path h="6568186" w="3108960">
                  <a:moveTo>
                    <a:pt x="0" y="0"/>
                  </a:moveTo>
                  <a:lnTo>
                    <a:pt x="3108960" y="0"/>
                  </a:lnTo>
                  <a:lnTo>
                    <a:pt x="3108960" y="6568186"/>
                  </a:lnTo>
                  <a:lnTo>
                    <a:pt x="0" y="65681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9111615" y="2597551"/>
            <a:ext cx="910590" cy="910590"/>
            <a:chOff x="0" y="0"/>
            <a:chExt cx="1214120" cy="121412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14120" cy="1214120"/>
            </a:xfrm>
            <a:custGeom>
              <a:avLst/>
              <a:gdLst/>
              <a:ahLst/>
              <a:cxnLst/>
              <a:rect r="r" b="b" t="t" l="l"/>
              <a:pathLst>
                <a:path h="1214120" w="1214120">
                  <a:moveTo>
                    <a:pt x="0" y="607060"/>
                  </a:moveTo>
                  <a:cubicBezTo>
                    <a:pt x="0" y="271780"/>
                    <a:pt x="271780" y="0"/>
                    <a:pt x="607060" y="0"/>
                  </a:cubicBezTo>
                  <a:cubicBezTo>
                    <a:pt x="942340" y="0"/>
                    <a:pt x="1214120" y="271780"/>
                    <a:pt x="1214120" y="607060"/>
                  </a:cubicBezTo>
                  <a:cubicBezTo>
                    <a:pt x="1214120" y="942340"/>
                    <a:pt x="942340" y="1214120"/>
                    <a:pt x="607060" y="1214120"/>
                  </a:cubicBezTo>
                  <a:cubicBezTo>
                    <a:pt x="271780" y="1214120"/>
                    <a:pt x="0" y="942340"/>
                    <a:pt x="0" y="607060"/>
                  </a:cubicBezTo>
                  <a:close/>
                </a:path>
              </a:pathLst>
            </a:custGeom>
            <a:solidFill>
              <a:srgbClr val="14365D"/>
            </a:solidFill>
            <a:ln w="19050" cap="sq">
              <a:solidFill>
                <a:srgbClr val="14365D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9344025" y="2829961"/>
            <a:ext cx="445770" cy="445770"/>
            <a:chOff x="0" y="0"/>
            <a:chExt cx="594360" cy="59436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594360" cy="594360"/>
            </a:xfrm>
            <a:custGeom>
              <a:avLst/>
              <a:gdLst/>
              <a:ahLst/>
              <a:cxnLst/>
              <a:rect r="r" b="b" t="t" l="l"/>
              <a:pathLst>
                <a:path h="594360" w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  <a:lnTo>
                    <a:pt x="0" y="594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9111615" y="3969151"/>
            <a:ext cx="910590" cy="910590"/>
            <a:chOff x="0" y="0"/>
            <a:chExt cx="1214120" cy="121412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214120" cy="1214120"/>
            </a:xfrm>
            <a:custGeom>
              <a:avLst/>
              <a:gdLst/>
              <a:ahLst/>
              <a:cxnLst/>
              <a:rect r="r" b="b" t="t" l="l"/>
              <a:pathLst>
                <a:path h="1214120" w="1214120">
                  <a:moveTo>
                    <a:pt x="0" y="607060"/>
                  </a:moveTo>
                  <a:cubicBezTo>
                    <a:pt x="0" y="271780"/>
                    <a:pt x="271780" y="0"/>
                    <a:pt x="607060" y="0"/>
                  </a:cubicBezTo>
                  <a:cubicBezTo>
                    <a:pt x="942340" y="0"/>
                    <a:pt x="1214120" y="271780"/>
                    <a:pt x="1214120" y="607060"/>
                  </a:cubicBezTo>
                  <a:cubicBezTo>
                    <a:pt x="1214120" y="942340"/>
                    <a:pt x="942340" y="1214120"/>
                    <a:pt x="607060" y="1214120"/>
                  </a:cubicBezTo>
                  <a:cubicBezTo>
                    <a:pt x="271780" y="1214120"/>
                    <a:pt x="0" y="942340"/>
                    <a:pt x="0" y="607060"/>
                  </a:cubicBezTo>
                  <a:close/>
                </a:path>
              </a:pathLst>
            </a:custGeom>
            <a:solidFill>
              <a:srgbClr val="14365D"/>
            </a:solidFill>
            <a:ln w="19050" cap="sq">
              <a:solidFill>
                <a:srgbClr val="14365D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9344025" y="4201561"/>
            <a:ext cx="445770" cy="445770"/>
            <a:chOff x="0" y="0"/>
            <a:chExt cx="594360" cy="594360"/>
          </a:xfrm>
        </p:grpSpPr>
        <p:sp>
          <p:nvSpPr>
            <p:cNvPr name="Freeform 22" id="22" descr="preencoded.png"/>
            <p:cNvSpPr/>
            <p:nvPr/>
          </p:nvSpPr>
          <p:spPr>
            <a:xfrm flipH="false" flipV="false" rot="0">
              <a:off x="0" y="0"/>
              <a:ext cx="594360" cy="594360"/>
            </a:xfrm>
            <a:custGeom>
              <a:avLst/>
              <a:gdLst/>
              <a:ahLst/>
              <a:cxnLst/>
              <a:rect r="r" b="b" t="t" l="l"/>
              <a:pathLst>
                <a:path h="594360" w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  <a:lnTo>
                    <a:pt x="0" y="594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9111615" y="5340751"/>
            <a:ext cx="910590" cy="910590"/>
            <a:chOff x="0" y="0"/>
            <a:chExt cx="1214120" cy="121412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14120" cy="1214120"/>
            </a:xfrm>
            <a:custGeom>
              <a:avLst/>
              <a:gdLst/>
              <a:ahLst/>
              <a:cxnLst/>
              <a:rect r="r" b="b" t="t" l="l"/>
              <a:pathLst>
                <a:path h="1214120" w="1214120">
                  <a:moveTo>
                    <a:pt x="0" y="607060"/>
                  </a:moveTo>
                  <a:cubicBezTo>
                    <a:pt x="0" y="271780"/>
                    <a:pt x="271780" y="0"/>
                    <a:pt x="607060" y="0"/>
                  </a:cubicBezTo>
                  <a:cubicBezTo>
                    <a:pt x="942340" y="0"/>
                    <a:pt x="1214120" y="271780"/>
                    <a:pt x="1214120" y="607060"/>
                  </a:cubicBezTo>
                  <a:cubicBezTo>
                    <a:pt x="1214120" y="942340"/>
                    <a:pt x="942340" y="1214120"/>
                    <a:pt x="607060" y="1214120"/>
                  </a:cubicBezTo>
                  <a:cubicBezTo>
                    <a:pt x="271780" y="1214120"/>
                    <a:pt x="0" y="942340"/>
                    <a:pt x="0" y="607060"/>
                  </a:cubicBezTo>
                  <a:close/>
                </a:path>
              </a:pathLst>
            </a:custGeom>
            <a:solidFill>
              <a:srgbClr val="14365D"/>
            </a:solidFill>
            <a:ln w="19050" cap="sq">
              <a:solidFill>
                <a:srgbClr val="14365D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9344025" y="5573161"/>
            <a:ext cx="445770" cy="445770"/>
            <a:chOff x="0" y="0"/>
            <a:chExt cx="594360" cy="594360"/>
          </a:xfrm>
        </p:grpSpPr>
        <p:sp>
          <p:nvSpPr>
            <p:cNvPr name="Freeform 26" id="26" descr="preencoded.png"/>
            <p:cNvSpPr/>
            <p:nvPr/>
          </p:nvSpPr>
          <p:spPr>
            <a:xfrm flipH="false" flipV="false" rot="0">
              <a:off x="0" y="0"/>
              <a:ext cx="594360" cy="594360"/>
            </a:xfrm>
            <a:custGeom>
              <a:avLst/>
              <a:gdLst/>
              <a:ahLst/>
              <a:cxnLst/>
              <a:rect r="r" b="b" t="t" l="l"/>
              <a:pathLst>
                <a:path h="594360" w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  <a:lnTo>
                    <a:pt x="0" y="594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9111615" y="6712351"/>
            <a:ext cx="910590" cy="910590"/>
            <a:chOff x="0" y="0"/>
            <a:chExt cx="1214120" cy="121412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214120" cy="1214120"/>
            </a:xfrm>
            <a:custGeom>
              <a:avLst/>
              <a:gdLst/>
              <a:ahLst/>
              <a:cxnLst/>
              <a:rect r="r" b="b" t="t" l="l"/>
              <a:pathLst>
                <a:path h="1214120" w="1214120">
                  <a:moveTo>
                    <a:pt x="0" y="607060"/>
                  </a:moveTo>
                  <a:cubicBezTo>
                    <a:pt x="0" y="271780"/>
                    <a:pt x="271780" y="0"/>
                    <a:pt x="607060" y="0"/>
                  </a:cubicBezTo>
                  <a:cubicBezTo>
                    <a:pt x="942340" y="0"/>
                    <a:pt x="1214120" y="271780"/>
                    <a:pt x="1214120" y="607060"/>
                  </a:cubicBezTo>
                  <a:cubicBezTo>
                    <a:pt x="1214120" y="942340"/>
                    <a:pt x="942340" y="1214120"/>
                    <a:pt x="607060" y="1214120"/>
                  </a:cubicBezTo>
                  <a:cubicBezTo>
                    <a:pt x="271780" y="1214120"/>
                    <a:pt x="0" y="942340"/>
                    <a:pt x="0" y="607060"/>
                  </a:cubicBezTo>
                  <a:close/>
                </a:path>
              </a:pathLst>
            </a:custGeom>
            <a:solidFill>
              <a:srgbClr val="14365D"/>
            </a:solidFill>
            <a:ln w="19050" cap="sq">
              <a:solidFill>
                <a:srgbClr val="14365D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9344025" y="6944761"/>
            <a:ext cx="445770" cy="445770"/>
            <a:chOff x="0" y="0"/>
            <a:chExt cx="594360" cy="594360"/>
          </a:xfrm>
        </p:grpSpPr>
        <p:sp>
          <p:nvSpPr>
            <p:cNvPr name="Freeform 30" id="30" descr="preencoded.png"/>
            <p:cNvSpPr/>
            <p:nvPr/>
          </p:nvSpPr>
          <p:spPr>
            <a:xfrm flipH="false" flipV="false" rot="0">
              <a:off x="0" y="0"/>
              <a:ext cx="594360" cy="594360"/>
            </a:xfrm>
            <a:custGeom>
              <a:avLst/>
              <a:gdLst/>
              <a:ahLst/>
              <a:cxnLst/>
              <a:rect r="r" b="b" t="t" l="l"/>
              <a:pathLst>
                <a:path h="594360" w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  <a:lnTo>
                    <a:pt x="0" y="594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9111615" y="8083951"/>
            <a:ext cx="910590" cy="910590"/>
            <a:chOff x="0" y="0"/>
            <a:chExt cx="1214120" cy="12141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214120" cy="1214120"/>
            </a:xfrm>
            <a:custGeom>
              <a:avLst/>
              <a:gdLst/>
              <a:ahLst/>
              <a:cxnLst/>
              <a:rect r="r" b="b" t="t" l="l"/>
              <a:pathLst>
                <a:path h="1214120" w="1214120">
                  <a:moveTo>
                    <a:pt x="0" y="607060"/>
                  </a:moveTo>
                  <a:cubicBezTo>
                    <a:pt x="0" y="271780"/>
                    <a:pt x="271780" y="0"/>
                    <a:pt x="607060" y="0"/>
                  </a:cubicBezTo>
                  <a:cubicBezTo>
                    <a:pt x="942340" y="0"/>
                    <a:pt x="1214120" y="271780"/>
                    <a:pt x="1214120" y="607060"/>
                  </a:cubicBezTo>
                  <a:cubicBezTo>
                    <a:pt x="1214120" y="942340"/>
                    <a:pt x="942340" y="1214120"/>
                    <a:pt x="607060" y="1214120"/>
                  </a:cubicBezTo>
                  <a:cubicBezTo>
                    <a:pt x="271780" y="1214120"/>
                    <a:pt x="0" y="942340"/>
                    <a:pt x="0" y="607060"/>
                  </a:cubicBezTo>
                  <a:close/>
                </a:path>
              </a:pathLst>
            </a:custGeom>
            <a:solidFill>
              <a:srgbClr val="2E8B57"/>
            </a:solidFill>
            <a:ln w="19050" cap="sq">
              <a:solidFill>
                <a:srgbClr val="2E8B57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344025" y="8316361"/>
            <a:ext cx="445770" cy="445770"/>
            <a:chOff x="0" y="0"/>
            <a:chExt cx="594360" cy="594360"/>
          </a:xfrm>
        </p:grpSpPr>
        <p:sp>
          <p:nvSpPr>
            <p:cNvPr name="Freeform 34" id="34" descr="preencoded.png"/>
            <p:cNvSpPr/>
            <p:nvPr/>
          </p:nvSpPr>
          <p:spPr>
            <a:xfrm flipH="false" flipV="false" rot="0">
              <a:off x="0" y="0"/>
              <a:ext cx="594360" cy="594360"/>
            </a:xfrm>
            <a:custGeom>
              <a:avLst/>
              <a:gdLst/>
              <a:ahLst/>
              <a:cxnLst/>
              <a:rect r="r" b="b" t="t" l="l"/>
              <a:pathLst>
                <a:path h="594360" w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  <a:lnTo>
                    <a:pt x="0" y="5943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0" t="0" r="0" b="0"/>
              </a:stretch>
            </a:blip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028700" y="8994541"/>
            <a:ext cx="233172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Masuk jalan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3634740" y="8994541"/>
            <a:ext cx="233172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Putar balik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6240780" y="8994541"/>
            <a:ext cx="2331720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 di zona hijau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0355580" y="2607076"/>
            <a:ext cx="7310628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Panah mengikuti arah hadap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355580" y="3196864"/>
            <a:ext cx="7310628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Belum menghadap jalur: "Ke kiri", "Ke kanan", atau "Putar balik".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355580" y="3978676"/>
            <a:ext cx="7310628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Petunjuk belok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0355580" y="4568464"/>
            <a:ext cx="7310628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Arah dicek tiap 12 m; &lt; 28° bukan belokan; tampil saat belokan ≤ 50 m.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0355580" y="5350276"/>
            <a:ext cx="7310628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Masuk jalan di sini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0355580" y="5940064"/>
            <a:ext cx="7310628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Lebih dari 18 m dari jalur: garis putus-putus ke titik masuk terdekat.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0355580" y="6721876"/>
            <a:ext cx="7310628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Jalur dibaca ulang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0355580" y="7311664"/>
            <a:ext cx="7310628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Bila ≥ 40 m dari jalur lama pada tiga pembacaan; kembali dipilih bila menghemat ≥ 1 menit.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355580" y="8093476"/>
            <a:ext cx="7310628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0"/>
              </a:lnSpc>
            </a:pPr>
            <a:r>
              <a:rPr lang="en-US" sz="255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Kedatangan otomatis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0355580" y="8683264"/>
            <a:ext cx="7310628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Tiga pembacaan ≤ 20 m dari tujuan, ketelitian ≤ 35 m; lalu tawaran lanjut ke TEA.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564943" y="465041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Freeform 49" id="49"/>
          <p:cNvSpPr/>
          <p:nvPr/>
        </p:nvSpPr>
        <p:spPr>
          <a:xfrm flipH="false" flipV="false" rot="0">
            <a:off x="745711" y="367473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8" y="0"/>
                </a:lnTo>
                <a:lnTo>
                  <a:pt x="565978" y="565977"/>
                </a:lnTo>
                <a:lnTo>
                  <a:pt x="0" y="56597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299607" y="1371600"/>
            <a:ext cx="8778909" cy="2294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39"/>
              </a:lnSpc>
            </a:pPr>
            <a:r>
              <a:rPr lang="en-US" b="true" sz="7999" spc="-466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RANCANGAN PENGUJIAN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317229" y="6092346"/>
            <a:ext cx="329184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LOGIKA ZONA, PEMILIHAN TUJUAN, DAN NAVIGASI DIUJI OTOMATIS PADA SETIAP PERUBAHAN.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317229" y="8297545"/>
            <a:ext cx="329184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DUA TAHAP: AGUSTUS DENGAN LIMA CALON PENGGUNA, OKTOBER DENGAN 25 PESERTA DI EMPAT LOKASI.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60268" y="6092346"/>
            <a:ext cx="329184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WAKTU ARAHAN PADA TUJUH PONSEL DAN DALAM MODE PESAWAT, DENGAN TARGET DI BAWAH 1 DETIK.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160268" y="8297545"/>
            <a:ext cx="3291840" cy="77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PROYEKSI 313.862 JIWA PADA LAJU 0,894 M/S UNTUK MENILAI ATURAN TUJUAN DAN BEBAN TES.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7229" y="5455662"/>
            <a:ext cx="329184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UJI UNIT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317229" y="7660861"/>
            <a:ext cx="32918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UJI PENGGUNA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160268" y="5455662"/>
            <a:ext cx="32918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UJI TEKNIS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160268" y="7660861"/>
            <a:ext cx="32918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ANALISIS KETERJANGKAUAN</a:t>
            </a:r>
          </a:p>
        </p:txBody>
      </p:sp>
      <p:sp>
        <p:nvSpPr>
          <p:cNvPr name="AutoShape 12" id="12"/>
          <p:cNvSpPr/>
          <p:nvPr/>
        </p:nvSpPr>
        <p:spPr>
          <a:xfrm>
            <a:off x="9317229" y="7352340"/>
            <a:ext cx="6996948" cy="0"/>
          </a:xfrm>
          <a:prstGeom prst="line">
            <a:avLst/>
          </a:prstGeom>
          <a:ln cap="flat" w="9525">
            <a:solidFill>
              <a:srgbClr val="052593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pic>
        <p:nvPicPr>
          <p:cNvPr id="13" name="Picture 12" descr="laya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743200"/>
            <a:ext cx="6766560" cy="486838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8222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45711" y="950181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8" y="0"/>
                </a:lnTo>
                <a:lnTo>
                  <a:pt x="565978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2211286" y="2763698"/>
            <a:ext cx="9460178" cy="4759603"/>
            <a:chOff x="0" y="0"/>
            <a:chExt cx="2491570" cy="125355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91570" cy="1253558"/>
            </a:xfrm>
            <a:custGeom>
              <a:avLst/>
              <a:gdLst/>
              <a:ahLst/>
              <a:cxnLst/>
              <a:rect r="r" b="b" t="t" l="l"/>
              <a:pathLst>
                <a:path h="1253558" w="2491570">
                  <a:moveTo>
                    <a:pt x="41737" y="0"/>
                  </a:moveTo>
                  <a:lnTo>
                    <a:pt x="2449833" y="0"/>
                  </a:lnTo>
                  <a:cubicBezTo>
                    <a:pt x="2472883" y="0"/>
                    <a:pt x="2491570" y="18686"/>
                    <a:pt x="2491570" y="41737"/>
                  </a:cubicBezTo>
                  <a:lnTo>
                    <a:pt x="2491570" y="1211821"/>
                  </a:lnTo>
                  <a:cubicBezTo>
                    <a:pt x="2491570" y="1234872"/>
                    <a:pt x="2472883" y="1253558"/>
                    <a:pt x="2449833" y="1253558"/>
                  </a:cubicBezTo>
                  <a:lnTo>
                    <a:pt x="41737" y="1253558"/>
                  </a:lnTo>
                  <a:cubicBezTo>
                    <a:pt x="30668" y="1253558"/>
                    <a:pt x="20052" y="1249161"/>
                    <a:pt x="12224" y="1241334"/>
                  </a:cubicBezTo>
                  <a:cubicBezTo>
                    <a:pt x="4397" y="1233506"/>
                    <a:pt x="0" y="1222890"/>
                    <a:pt x="0" y="1211821"/>
                  </a:cubicBezTo>
                  <a:lnTo>
                    <a:pt x="0" y="41737"/>
                  </a:lnTo>
                  <a:cubicBezTo>
                    <a:pt x="0" y="30668"/>
                    <a:pt x="4397" y="20052"/>
                    <a:pt x="12224" y="12224"/>
                  </a:cubicBezTo>
                  <a:cubicBezTo>
                    <a:pt x="20052" y="4397"/>
                    <a:pt x="30668" y="0"/>
                    <a:pt x="41737" y="0"/>
                  </a:cubicBezTo>
                  <a:close/>
                </a:path>
              </a:pathLst>
            </a:custGeom>
            <a:solidFill>
              <a:srgbClr val="DCE6EE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9525"/>
              <a:ext cx="2491570" cy="12440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82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5421887" y="457200"/>
            <a:ext cx="7770009" cy="1917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8"/>
              </a:lnSpc>
            </a:pPr>
            <a:r>
              <a:rPr lang="en-US" b="true" sz="8113" spc="-389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SIAGA PADANG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415081" y="244487"/>
            <a:ext cx="3800722" cy="1285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4"/>
              </a:lnSpc>
            </a:pPr>
            <a:r>
              <a:rPr lang="en-US" b="true" sz="3200" spc="-64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NAVIGASI EVAKUASI TSUNAMI LURING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64943" y="1047750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01934" y="3819857"/>
            <a:ext cx="8412480" cy="3840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20"/>
              </a:lnSpc>
            </a:pPr>
            <a:r>
              <a:rPr lang="en-US" sz="43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Implementasi</a:t>
            </a:r>
          </a:p>
          <a:p>
            <a:pPr algn="ctr">
              <a:lnSpc>
                <a:spcPts val="2800"/>
              </a:lnSpc>
              <a:spcBef>
                <a:spcPts val="18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Alur aplikasi dari widget sampai kedatangan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Web dashboard Ruang Kendali Siaga Padang (RKSP)</a:t>
            </a:r>
          </a:p>
        </p:txBody>
      </p:sp>
    </p:spTree>
  </p:cSld>
  <p:clrMapOvr>
    <a:masterClrMapping/>
  </p:clrMapOvr>
  <p:transition spd="fast">
    <p:cover dir="d"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567185" y="508622"/>
            <a:ext cx="11305869" cy="124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67"/>
              </a:lnSpc>
            </a:pPr>
            <a:r>
              <a:rPr lang="en-US" b="true" sz="5214" spc="-250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ALUR APLIKASI DARI WI</a:t>
            </a:r>
            <a:r>
              <a:rPr lang="en-US" b="true" sz="5214" spc="-250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DGET SAMPAI KEDATANGAN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43578" y="2001939"/>
            <a:ext cx="17353083" cy="7696771"/>
            <a:chOff x="0" y="0"/>
            <a:chExt cx="4570359" cy="20271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570359" cy="2027133"/>
            </a:xfrm>
            <a:custGeom>
              <a:avLst/>
              <a:gdLst/>
              <a:ahLst/>
              <a:cxnLst/>
              <a:rect r="r" b="b" t="t" l="l"/>
              <a:pathLst>
                <a:path h="2027133" w="4570359">
                  <a:moveTo>
                    <a:pt x="22753" y="0"/>
                  </a:moveTo>
                  <a:lnTo>
                    <a:pt x="4547606" y="0"/>
                  </a:lnTo>
                  <a:cubicBezTo>
                    <a:pt x="4560172" y="0"/>
                    <a:pt x="4570359" y="10187"/>
                    <a:pt x="4570359" y="22753"/>
                  </a:cubicBezTo>
                  <a:lnTo>
                    <a:pt x="4570359" y="2004380"/>
                  </a:lnTo>
                  <a:cubicBezTo>
                    <a:pt x="4570359" y="2016946"/>
                    <a:pt x="4560172" y="2027133"/>
                    <a:pt x="4547606" y="2027133"/>
                  </a:cubicBezTo>
                  <a:lnTo>
                    <a:pt x="22753" y="2027133"/>
                  </a:lnTo>
                  <a:cubicBezTo>
                    <a:pt x="10187" y="2027133"/>
                    <a:pt x="0" y="2016946"/>
                    <a:pt x="0" y="2004380"/>
                  </a:cubicBezTo>
                  <a:lnTo>
                    <a:pt x="0" y="22753"/>
                  </a:lnTo>
                  <a:cubicBezTo>
                    <a:pt x="0" y="10187"/>
                    <a:pt x="10187" y="0"/>
                    <a:pt x="2275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5DE0E6">
                    <a:alpha val="55000"/>
                  </a:srgbClr>
                </a:gs>
                <a:gs pos="100000">
                  <a:srgbClr val="004AAD">
                    <a:alpha val="55000"/>
                  </a:srgbClr>
                </a:gs>
              </a:gsLst>
              <a:lin ang="0"/>
            </a:gradFill>
          </p:spPr>
        </p:sp>
        <p:sp>
          <p:nvSpPr>
            <p:cNvPr name="TextBox 5" id="5"/>
            <p:cNvSpPr txBox="true"/>
            <p:nvPr/>
          </p:nvSpPr>
          <p:spPr>
            <a:xfrm>
              <a:off x="0" y="9525"/>
              <a:ext cx="4570359" cy="20176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8700" y="2731755"/>
            <a:ext cx="2743200" cy="1663360"/>
            <a:chOff x="0" y="0"/>
            <a:chExt cx="3657600" cy="2217814"/>
          </a:xfrm>
        </p:grpSpPr>
        <p:sp>
          <p:nvSpPr>
            <p:cNvPr name="Freeform 7" id="7" descr="C:\Users\Lenovo\AppData\Local\Temp\claude\c--gemastik\520da942-8140-47c0-a16f-9bde4b92cbe5\scratchpad\deck\aset\widget.png"/>
            <p:cNvSpPr/>
            <p:nvPr/>
          </p:nvSpPr>
          <p:spPr>
            <a:xfrm flipH="false" flipV="false" rot="0">
              <a:off x="0" y="0"/>
              <a:ext cx="3657600" cy="2217801"/>
            </a:xfrm>
            <a:custGeom>
              <a:avLst/>
              <a:gdLst/>
              <a:ahLst/>
              <a:cxnLst/>
              <a:rect r="r" b="b" t="t" l="l"/>
              <a:pathLst>
                <a:path h="2217801" w="3657600">
                  <a:moveTo>
                    <a:pt x="0" y="0"/>
                  </a:moveTo>
                  <a:lnTo>
                    <a:pt x="3657600" y="0"/>
                  </a:lnTo>
                  <a:lnTo>
                    <a:pt x="3657600" y="2217801"/>
                  </a:lnTo>
                  <a:lnTo>
                    <a:pt x="0" y="22178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28700" y="4519740"/>
            <a:ext cx="2743200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b="true" sz="180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Widget 4×2: status zona, tujuan, jarak, tombol Evakuasi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4095589" y="2731755"/>
            <a:ext cx="2468880" cy="5314950"/>
            <a:chOff x="0" y="0"/>
            <a:chExt cx="3291840" cy="7086600"/>
          </a:xfrm>
        </p:grpSpPr>
        <p:sp>
          <p:nvSpPr>
            <p:cNvPr name="Freeform 10" id="10" descr="C:\Users\Lenovo\AppData\Local\Temp\claude\c--gemastik\520da942-8140-47c0-a16f-9bde4b92cbe5\scratchpad\deck\aset\beranda.png"/>
            <p:cNvSpPr/>
            <p:nvPr/>
          </p:nvSpPr>
          <p:spPr>
            <a:xfrm flipH="false" flipV="false" rot="0">
              <a:off x="0" y="0"/>
              <a:ext cx="3291840" cy="7086600"/>
            </a:xfrm>
            <a:custGeom>
              <a:avLst/>
              <a:gdLst/>
              <a:ahLst/>
              <a:cxnLst/>
              <a:rect r="r" b="b" t="t" l="l"/>
              <a:pathLst>
                <a:path h="7086600" w="3291840">
                  <a:moveTo>
                    <a:pt x="0" y="0"/>
                  </a:moveTo>
                  <a:lnTo>
                    <a:pt x="3291840" y="0"/>
                  </a:lnTo>
                  <a:lnTo>
                    <a:pt x="3291840" y="7086600"/>
                  </a:lnTo>
                  <a:lnTo>
                    <a:pt x="0" y="7086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4095589" y="8608680"/>
            <a:ext cx="246888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Beranda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38789" y="2731755"/>
            <a:ext cx="2468880" cy="5314950"/>
            <a:chOff x="0" y="0"/>
            <a:chExt cx="3291840" cy="7086600"/>
          </a:xfrm>
        </p:grpSpPr>
        <p:sp>
          <p:nvSpPr>
            <p:cNvPr name="Freeform 13" id="13" descr="C:\Users\Lenovo\AppData\Local\Temp\claude\c--gemastik\520da942-8140-47c0-a16f-9bde4b92cbe5\scratchpad\deck\aset\evakuasi.png"/>
            <p:cNvSpPr/>
            <p:nvPr/>
          </p:nvSpPr>
          <p:spPr>
            <a:xfrm flipH="false" flipV="false" rot="0">
              <a:off x="0" y="0"/>
              <a:ext cx="3291840" cy="7086600"/>
            </a:xfrm>
            <a:custGeom>
              <a:avLst/>
              <a:gdLst/>
              <a:ahLst/>
              <a:cxnLst/>
              <a:rect r="r" b="b" t="t" l="l"/>
              <a:pathLst>
                <a:path h="7086600" w="3291840">
                  <a:moveTo>
                    <a:pt x="0" y="0"/>
                  </a:moveTo>
                  <a:lnTo>
                    <a:pt x="3291840" y="0"/>
                  </a:lnTo>
                  <a:lnTo>
                    <a:pt x="3291840" y="7086600"/>
                  </a:lnTo>
                  <a:lnTo>
                    <a:pt x="0" y="7086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838789" y="8608680"/>
            <a:ext cx="246888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Arahan, mode pesawat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581989" y="2731755"/>
            <a:ext cx="2468880" cy="5314950"/>
            <a:chOff x="0" y="0"/>
            <a:chExt cx="3291840" cy="7086600"/>
          </a:xfrm>
        </p:grpSpPr>
        <p:sp>
          <p:nvSpPr>
            <p:cNvPr name="Freeform 16" id="16" descr="C:\Users\Lenovo\AppData\Local\Temp\claude\c--gemastik\520da942-8140-47c0-a16f-9bde4b92cbe5\scratchpad\deck\aset\rincian_tes.png"/>
            <p:cNvSpPr/>
            <p:nvPr/>
          </p:nvSpPr>
          <p:spPr>
            <a:xfrm flipH="false" flipV="false" rot="0">
              <a:off x="0" y="0"/>
              <a:ext cx="3291840" cy="7086600"/>
            </a:xfrm>
            <a:custGeom>
              <a:avLst/>
              <a:gdLst/>
              <a:ahLst/>
              <a:cxnLst/>
              <a:rect r="r" b="b" t="t" l="l"/>
              <a:pathLst>
                <a:path h="7086600" w="3291840">
                  <a:moveTo>
                    <a:pt x="0" y="0"/>
                  </a:moveTo>
                  <a:lnTo>
                    <a:pt x="3291840" y="0"/>
                  </a:lnTo>
                  <a:lnTo>
                    <a:pt x="3291840" y="7086600"/>
                  </a:lnTo>
                  <a:lnTo>
                    <a:pt x="0" y="7086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9581989" y="8608680"/>
            <a:ext cx="246888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Rincian TES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2325189" y="2731755"/>
            <a:ext cx="2468880" cy="5314950"/>
            <a:chOff x="0" y="0"/>
            <a:chExt cx="3291840" cy="7086600"/>
          </a:xfrm>
        </p:grpSpPr>
        <p:sp>
          <p:nvSpPr>
            <p:cNvPr name="Freeform 19" id="19" descr="C:\Users\Lenovo\AppData\Local\Temp\claude\c--gemastik\520da942-8140-47c0-a16f-9bde4b92cbe5\scratchpad\deck\aset\peringatan.png"/>
            <p:cNvSpPr/>
            <p:nvPr/>
          </p:nvSpPr>
          <p:spPr>
            <a:xfrm flipH="false" flipV="false" rot="0">
              <a:off x="0" y="0"/>
              <a:ext cx="3291840" cy="7086600"/>
            </a:xfrm>
            <a:custGeom>
              <a:avLst/>
              <a:gdLst/>
              <a:ahLst/>
              <a:cxnLst/>
              <a:rect r="r" b="b" t="t" l="l"/>
              <a:pathLst>
                <a:path h="7086600" w="3291840">
                  <a:moveTo>
                    <a:pt x="0" y="0"/>
                  </a:moveTo>
                  <a:lnTo>
                    <a:pt x="3291840" y="0"/>
                  </a:lnTo>
                  <a:lnTo>
                    <a:pt x="3291840" y="7086600"/>
                  </a:lnTo>
                  <a:lnTo>
                    <a:pt x="0" y="7086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2325189" y="8608680"/>
            <a:ext cx="246888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Peringatan latihan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5068389" y="2731755"/>
            <a:ext cx="2468880" cy="5314950"/>
            <a:chOff x="0" y="0"/>
            <a:chExt cx="3291840" cy="7086600"/>
          </a:xfrm>
        </p:grpSpPr>
        <p:sp>
          <p:nvSpPr>
            <p:cNvPr name="Freeform 22" id="22" descr="C:\Users\Lenovo\AppData\Local\Temp\claude\c--gemastik\520da942-8140-47c0-a16f-9bde4b92cbe5\scratchpad\deck\aset\kedatangan.png"/>
            <p:cNvSpPr/>
            <p:nvPr/>
          </p:nvSpPr>
          <p:spPr>
            <a:xfrm flipH="false" flipV="false" rot="0">
              <a:off x="0" y="0"/>
              <a:ext cx="3291840" cy="7086600"/>
            </a:xfrm>
            <a:custGeom>
              <a:avLst/>
              <a:gdLst/>
              <a:ahLst/>
              <a:cxnLst/>
              <a:rect r="r" b="b" t="t" l="l"/>
              <a:pathLst>
                <a:path h="7086600" w="3291840">
                  <a:moveTo>
                    <a:pt x="0" y="0"/>
                  </a:moveTo>
                  <a:lnTo>
                    <a:pt x="3291840" y="0"/>
                  </a:lnTo>
                  <a:lnTo>
                    <a:pt x="3291840" y="7086600"/>
                  </a:lnTo>
                  <a:lnTo>
                    <a:pt x="0" y="7086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5068389" y="8608680"/>
            <a:ext cx="2468880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b="true" sz="180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Kedatangan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5213" y="450562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635982" y="352993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458893" y="853649"/>
            <a:ext cx="12172709" cy="912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83"/>
              </a:lnSpc>
            </a:pPr>
            <a:r>
              <a:rPr lang="en-US" b="true" sz="3825" spc="-183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WEB DASHBOARD</a:t>
            </a:r>
            <a:r>
              <a:rPr lang="en-US" b="true" sz="3825" spc="-183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 RUANG KENDALI SIAGA PADANG (RKSP) 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5524675" y="2136534"/>
            <a:ext cx="6052399" cy="2905151"/>
            <a:chOff x="0" y="0"/>
            <a:chExt cx="7223760" cy="3467405"/>
          </a:xfrm>
        </p:grpSpPr>
        <p:sp>
          <p:nvSpPr>
            <p:cNvPr name="Freeform 4" id="4" descr="C:\Users\Lenovo\AppData\Local\Temp\claude\c--gemastik\520da942-8140-47c0-a16f-9bde4b92cbe5\scratchpad\deck\aset\rksp_dashboard.png"/>
            <p:cNvSpPr/>
            <p:nvPr/>
          </p:nvSpPr>
          <p:spPr>
            <a:xfrm flipH="false" flipV="false" rot="0">
              <a:off x="0" y="0"/>
              <a:ext cx="7223760" cy="3467354"/>
            </a:xfrm>
            <a:custGeom>
              <a:avLst/>
              <a:gdLst/>
              <a:ahLst/>
              <a:cxnLst/>
              <a:rect r="r" b="b" t="t" l="l"/>
              <a:pathLst>
                <a:path h="3467354" w="7223760">
                  <a:moveTo>
                    <a:pt x="0" y="0"/>
                  </a:moveTo>
                  <a:lnTo>
                    <a:pt x="7223760" y="0"/>
                  </a:lnTo>
                  <a:lnTo>
                    <a:pt x="7223760" y="3467354"/>
                  </a:lnTo>
                  <a:lnTo>
                    <a:pt x="0" y="34673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1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5524675" y="5159876"/>
            <a:ext cx="6052399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</a:pPr>
            <a:r>
              <a:rPr lang="en-US" b="true" sz="201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Dashboard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730299" y="2129810"/>
            <a:ext cx="6052399" cy="2918601"/>
            <a:chOff x="0" y="0"/>
            <a:chExt cx="7223760" cy="3483458"/>
          </a:xfrm>
        </p:grpSpPr>
        <p:sp>
          <p:nvSpPr>
            <p:cNvPr name="Freeform 7" id="7" descr="C:\Users\Lenovo\AppData\Local\Temp\claude\c--gemastik\520da942-8140-47c0-a16f-9bde4b92cbe5\scratchpad\deck\aset\rksp_latihan.png"/>
            <p:cNvSpPr/>
            <p:nvPr/>
          </p:nvSpPr>
          <p:spPr>
            <a:xfrm flipH="false" flipV="false" rot="0">
              <a:off x="0" y="0"/>
              <a:ext cx="7223760" cy="3483483"/>
            </a:xfrm>
            <a:custGeom>
              <a:avLst/>
              <a:gdLst/>
              <a:ahLst/>
              <a:cxnLst/>
              <a:rect r="r" b="b" t="t" l="l"/>
              <a:pathLst>
                <a:path h="3483483" w="7223760">
                  <a:moveTo>
                    <a:pt x="0" y="0"/>
                  </a:moveTo>
                  <a:lnTo>
                    <a:pt x="7223760" y="0"/>
                  </a:lnTo>
                  <a:lnTo>
                    <a:pt x="7223760" y="3483483"/>
                  </a:lnTo>
                  <a:lnTo>
                    <a:pt x="0" y="34834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1730299" y="5159876"/>
            <a:ext cx="6052399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</a:pPr>
            <a:r>
              <a:rPr lang="en-US" b="true" sz="201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Kirim peringatan latihan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524675" y="6043779"/>
            <a:ext cx="6052399" cy="2905151"/>
            <a:chOff x="0" y="0"/>
            <a:chExt cx="7223760" cy="3467405"/>
          </a:xfrm>
        </p:grpSpPr>
        <p:sp>
          <p:nvSpPr>
            <p:cNvPr name="Freeform 10" id="10" descr="C:\Users\Lenovo\AppData\Local\Temp\claude\c--gemastik\520da942-8140-47c0-a16f-9bde4b92cbe5\scratchpad\deck\aset\rksp_rekap.png"/>
            <p:cNvSpPr/>
            <p:nvPr/>
          </p:nvSpPr>
          <p:spPr>
            <a:xfrm flipH="false" flipV="false" rot="0">
              <a:off x="0" y="0"/>
              <a:ext cx="7223760" cy="3467354"/>
            </a:xfrm>
            <a:custGeom>
              <a:avLst/>
              <a:gdLst/>
              <a:ahLst/>
              <a:cxnLst/>
              <a:rect r="r" b="b" t="t" l="l"/>
              <a:pathLst>
                <a:path h="3467354" w="7223760">
                  <a:moveTo>
                    <a:pt x="0" y="0"/>
                  </a:moveTo>
                  <a:lnTo>
                    <a:pt x="7223760" y="0"/>
                  </a:lnTo>
                  <a:lnTo>
                    <a:pt x="7223760" y="3467354"/>
                  </a:lnTo>
                  <a:lnTo>
                    <a:pt x="0" y="34673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1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5524675" y="9067120"/>
            <a:ext cx="6052399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</a:pPr>
            <a:r>
              <a:rPr lang="en-US" b="true" sz="201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Rekap lapor selamat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1730299" y="6055548"/>
            <a:ext cx="6052399" cy="2881614"/>
            <a:chOff x="0" y="0"/>
            <a:chExt cx="7223760" cy="3439312"/>
          </a:xfrm>
        </p:grpSpPr>
        <p:sp>
          <p:nvSpPr>
            <p:cNvPr name="Freeform 13" id="13" descr="C:\Users\Lenovo\AppData\Local\Temp\claude\c--gemastik\520da942-8140-47c0-a16f-9bde4b92cbe5\scratchpad\deck\aset\rksp_kendala.png"/>
            <p:cNvSpPr/>
            <p:nvPr/>
          </p:nvSpPr>
          <p:spPr>
            <a:xfrm flipH="false" flipV="false" rot="0">
              <a:off x="0" y="0"/>
              <a:ext cx="7223760" cy="3439287"/>
            </a:xfrm>
            <a:custGeom>
              <a:avLst/>
              <a:gdLst/>
              <a:ahLst/>
              <a:cxnLst/>
              <a:rect r="r" b="b" t="t" l="l"/>
              <a:pathLst>
                <a:path h="3439287" w="7223760">
                  <a:moveTo>
                    <a:pt x="0" y="0"/>
                  </a:moveTo>
                  <a:lnTo>
                    <a:pt x="7223760" y="0"/>
                  </a:lnTo>
                  <a:lnTo>
                    <a:pt x="7223760" y="3439287"/>
                  </a:lnTo>
                  <a:lnTo>
                    <a:pt x="0" y="34392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1730299" y="9067120"/>
            <a:ext cx="6052399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2"/>
              </a:lnSpc>
            </a:pPr>
            <a:r>
              <a:rPr lang="en-US" b="true" sz="2010">
                <a:solidFill>
                  <a:srgbClr val="052593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Laporan kendala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35982" y="2399620"/>
            <a:ext cx="4491443" cy="6858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5435" indent="-257718" lvl="1">
              <a:lnSpc>
                <a:spcPts val="3417"/>
              </a:lnSpc>
              <a:buFont typeface="Arial"/>
              <a:buChar char="•"/>
            </a:pPr>
            <a:r>
              <a:rPr lang="en-US" sz="2848">
                <a:solidFill>
                  <a:srgbClr val="052593"/>
                </a:solidFill>
                <a:latin typeface="Canva Sans"/>
                <a:ea typeface="Canva Sans"/>
                <a:cs typeface="Canva Sans"/>
                <a:sym typeface="Canva Sans"/>
              </a:rPr>
              <a:t>Layanan: versi data, daftar tempat, informasi BMKG, lapor selamat, laporan jalan</a:t>
            </a:r>
          </a:p>
          <a:p>
            <a:pPr algn="l" marL="515435" indent="-257718" lvl="1">
              <a:lnSpc>
                <a:spcPts val="3417"/>
              </a:lnSpc>
              <a:buFont typeface="Arial"/>
              <a:buChar char="•"/>
            </a:pPr>
            <a:r>
              <a:rPr lang="en-US" sz="2848">
                <a:solidFill>
                  <a:srgbClr val="052593"/>
                </a:solidFill>
                <a:latin typeface="Canva Sans"/>
                <a:ea typeface="Canva Sans"/>
                <a:cs typeface="Canva Sans"/>
                <a:sym typeface="Canva Sans"/>
              </a:rPr>
              <a:t>Laporan jalan terkonfirmasi bila 3 ponsel melaporkan ruas yang sama dalam 15 menit, ≤ 50 m</a:t>
            </a:r>
          </a:p>
          <a:p>
            <a:pPr algn="l" marL="515435" indent="-257718" lvl="1">
              <a:lnSpc>
                <a:spcPts val="3417"/>
              </a:lnSpc>
              <a:buFont typeface="Arial"/>
              <a:buChar char="•"/>
            </a:pPr>
            <a:r>
              <a:rPr lang="en-US" sz="2848">
                <a:solidFill>
                  <a:srgbClr val="052593"/>
                </a:solidFill>
                <a:latin typeface="Canva Sans"/>
                <a:ea typeface="Canva Sans"/>
                <a:cs typeface="Canva Sans"/>
                <a:sym typeface="Canva Sans"/>
              </a:rPr>
              <a:t>Peringatan latihan berlabel LATIHAN; info gempa terasa dari BMKG</a:t>
            </a:r>
          </a:p>
          <a:p>
            <a:pPr algn="l" marL="515435" indent="-257718" lvl="1">
              <a:lnSpc>
                <a:spcPts val="3417"/>
              </a:lnSpc>
              <a:buFont typeface="Arial"/>
              <a:buChar char="•"/>
            </a:pPr>
            <a:r>
              <a:rPr lang="en-US" sz="2848">
                <a:solidFill>
                  <a:srgbClr val="052593"/>
                </a:solidFill>
                <a:latin typeface="Canva Sans"/>
                <a:ea typeface="Canva Sans"/>
                <a:cs typeface="Canva Sans"/>
                <a:sym typeface="Canva Sans"/>
              </a:rPr>
              <a:t>Dashboard masih prototipe yang dioperasikan tim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55213" y="450562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635982" y="352993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8222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45711" y="950181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8" y="0"/>
                </a:lnTo>
                <a:lnTo>
                  <a:pt x="565978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2211286" y="2763698"/>
            <a:ext cx="9460178" cy="4759603"/>
            <a:chOff x="0" y="0"/>
            <a:chExt cx="2491570" cy="125355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91570" cy="1253558"/>
            </a:xfrm>
            <a:custGeom>
              <a:avLst/>
              <a:gdLst/>
              <a:ahLst/>
              <a:cxnLst/>
              <a:rect r="r" b="b" t="t" l="l"/>
              <a:pathLst>
                <a:path h="1253558" w="2491570">
                  <a:moveTo>
                    <a:pt x="41737" y="0"/>
                  </a:moveTo>
                  <a:lnTo>
                    <a:pt x="2449833" y="0"/>
                  </a:lnTo>
                  <a:cubicBezTo>
                    <a:pt x="2472883" y="0"/>
                    <a:pt x="2491570" y="18686"/>
                    <a:pt x="2491570" y="41737"/>
                  </a:cubicBezTo>
                  <a:lnTo>
                    <a:pt x="2491570" y="1211821"/>
                  </a:lnTo>
                  <a:cubicBezTo>
                    <a:pt x="2491570" y="1234872"/>
                    <a:pt x="2472883" y="1253558"/>
                    <a:pt x="2449833" y="1253558"/>
                  </a:cubicBezTo>
                  <a:lnTo>
                    <a:pt x="41737" y="1253558"/>
                  </a:lnTo>
                  <a:cubicBezTo>
                    <a:pt x="30668" y="1253558"/>
                    <a:pt x="20052" y="1249161"/>
                    <a:pt x="12224" y="1241334"/>
                  </a:cubicBezTo>
                  <a:cubicBezTo>
                    <a:pt x="4397" y="1233506"/>
                    <a:pt x="0" y="1222890"/>
                    <a:pt x="0" y="1211821"/>
                  </a:cubicBezTo>
                  <a:lnTo>
                    <a:pt x="0" y="41737"/>
                  </a:lnTo>
                  <a:cubicBezTo>
                    <a:pt x="0" y="30668"/>
                    <a:pt x="4397" y="20052"/>
                    <a:pt x="12224" y="12224"/>
                  </a:cubicBezTo>
                  <a:cubicBezTo>
                    <a:pt x="20052" y="4397"/>
                    <a:pt x="30668" y="0"/>
                    <a:pt x="41737" y="0"/>
                  </a:cubicBezTo>
                  <a:close/>
                </a:path>
              </a:pathLst>
            </a:custGeom>
            <a:solidFill>
              <a:srgbClr val="DCE6EE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9525"/>
              <a:ext cx="2491570" cy="12440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82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5421887" y="457200"/>
            <a:ext cx="7770009" cy="1917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8"/>
              </a:lnSpc>
            </a:pPr>
            <a:r>
              <a:rPr lang="en-US" b="true" sz="8113" spc="-389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SIAGA PADANG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415081" y="244487"/>
            <a:ext cx="3800722" cy="12854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4"/>
              </a:lnSpc>
            </a:pPr>
            <a:r>
              <a:rPr lang="en-US" b="true" sz="3200" spc="-64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NAVIGASI EVAKUASI TSUNAMI LURING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64943" y="1047750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01934" y="3819857"/>
            <a:ext cx="8412480" cy="38404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20"/>
              </a:lnSpc>
            </a:pPr>
            <a:r>
              <a:rPr lang="en-US" sz="43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Hasil dan Pembahasan</a:t>
            </a:r>
          </a:p>
          <a:p>
            <a:pPr algn="ctr">
              <a:lnSpc>
                <a:spcPts val="2800"/>
              </a:lnSpc>
              <a:spcBef>
                <a:spcPts val="18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Uji teknis pada tujuh ponsel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Uji pengguna dua tahap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Analisis keterjangkauan dan beban TES</a:t>
            </a:r>
          </a:p>
          <a:p>
            <a:pPr algn="ctr">
              <a:lnSpc>
                <a:spcPts val="2800"/>
              </a:lnSpc>
              <a:spcBef>
                <a:spcPts val="600"/>
              </a:spcBef>
            </a:pPr>
            <a:r>
              <a:rPr lang="en-US" sz="2000" b="0">
                <a:solidFill>
                  <a:srgbClr val="000000"/>
                </a:solidFill>
                <a:latin typeface="Open Sans"/>
                <a:ea typeface="Open Sans Bold"/>
                <a:cs typeface="Open Sans Bold"/>
                <a:sym typeface="Open Sans Bold"/>
              </a:rPr>
              <a:t>Kesimpulan, batasan, dan pengembangan</a:t>
            </a:r>
          </a:p>
        </p:txBody>
      </p:sp>
    </p:spTree>
  </p:cSld>
  <p:clrMapOvr>
    <a:masterClrMapping/>
  </p:clrMapOvr>
  <p:transition spd="fast">
    <p:cover dir="d"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2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96634" y="2204942"/>
            <a:ext cx="10386683" cy="21040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5"/>
              </a:lnSpc>
            </a:pPr>
            <a:r>
              <a:rPr lang="en-US" b="true" sz="7200" spc="-425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ARAHAN SIAP DI BAWAH 1 DETIK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396634" y="5828162"/>
            <a:ext cx="3561228" cy="3430138"/>
            <a:chOff x="0" y="0"/>
            <a:chExt cx="937937" cy="9034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37937" cy="903411"/>
            </a:xfrm>
            <a:custGeom>
              <a:avLst/>
              <a:gdLst/>
              <a:ahLst/>
              <a:cxnLst/>
              <a:rect r="r" b="b" t="t" l="l"/>
              <a:pathLst>
                <a:path h="903411" w="937937">
                  <a:moveTo>
                    <a:pt x="0" y="0"/>
                  </a:moveTo>
                  <a:lnTo>
                    <a:pt x="937937" y="0"/>
                  </a:lnTo>
                  <a:lnTo>
                    <a:pt x="937937" y="903411"/>
                  </a:lnTo>
                  <a:lnTo>
                    <a:pt x="0" y="903411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937937" cy="8843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319058" y="5828162"/>
            <a:ext cx="3644253" cy="3430138"/>
            <a:chOff x="0" y="0"/>
            <a:chExt cx="959803" cy="90341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59803" cy="903411"/>
            </a:xfrm>
            <a:custGeom>
              <a:avLst/>
              <a:gdLst/>
              <a:ahLst/>
              <a:cxnLst/>
              <a:rect r="r" b="b" t="t" l="l"/>
              <a:pathLst>
                <a:path h="903411" w="959803">
                  <a:moveTo>
                    <a:pt x="0" y="0"/>
                  </a:moveTo>
                  <a:lnTo>
                    <a:pt x="959803" y="0"/>
                  </a:lnTo>
                  <a:lnTo>
                    <a:pt x="959803" y="903411"/>
                  </a:lnTo>
                  <a:lnTo>
                    <a:pt x="0" y="903411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19050"/>
              <a:ext cx="959803" cy="8843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25261" y="5828162"/>
            <a:ext cx="3616690" cy="3430138"/>
            <a:chOff x="0" y="0"/>
            <a:chExt cx="952544" cy="9034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52544" cy="903411"/>
            </a:xfrm>
            <a:custGeom>
              <a:avLst/>
              <a:gdLst/>
              <a:ahLst/>
              <a:cxnLst/>
              <a:rect r="r" b="b" t="t" l="l"/>
              <a:pathLst>
                <a:path h="903411" w="952544">
                  <a:moveTo>
                    <a:pt x="0" y="0"/>
                  </a:moveTo>
                  <a:lnTo>
                    <a:pt x="952544" y="0"/>
                  </a:lnTo>
                  <a:lnTo>
                    <a:pt x="952544" y="903411"/>
                  </a:lnTo>
                  <a:lnTo>
                    <a:pt x="0" y="903411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19050"/>
              <a:ext cx="952544" cy="8843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3303901" y="5828162"/>
            <a:ext cx="3587465" cy="3430138"/>
            <a:chOff x="0" y="0"/>
            <a:chExt cx="944847" cy="90341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44847" cy="903411"/>
            </a:xfrm>
            <a:custGeom>
              <a:avLst/>
              <a:gdLst/>
              <a:ahLst/>
              <a:cxnLst/>
              <a:rect r="r" b="b" t="t" l="l"/>
              <a:pathLst>
                <a:path h="903411" w="944847">
                  <a:moveTo>
                    <a:pt x="0" y="0"/>
                  </a:moveTo>
                  <a:lnTo>
                    <a:pt x="944847" y="0"/>
                  </a:lnTo>
                  <a:lnTo>
                    <a:pt x="944847" y="903411"/>
                  </a:lnTo>
                  <a:lnTo>
                    <a:pt x="0" y="903411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19050"/>
              <a:ext cx="944847" cy="88436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731840" y="6132814"/>
            <a:ext cx="3200400" cy="78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40"/>
              </a:lnSpc>
            </a:pPr>
            <a:r>
              <a:rPr lang="en-US" b="true" sz="3400" spc="-9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481–960 MS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654264" y="6132814"/>
            <a:ext cx="3200400" cy="78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40"/>
              </a:lnSpc>
            </a:pPr>
            <a:r>
              <a:rPr lang="en-US" b="true" sz="3400" spc="-9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80–801 MS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60467" y="6132814"/>
            <a:ext cx="3200400" cy="78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40"/>
              </a:lnSpc>
            </a:pPr>
            <a:r>
              <a:rPr lang="en-US" b="true" sz="3400" spc="-9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884 MS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637276" y="6132814"/>
            <a:ext cx="3200400" cy="787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40"/>
              </a:lnSpc>
            </a:pPr>
            <a:r>
              <a:rPr lang="en-US" b="true" sz="3400" spc="-9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531/531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731840" y="7223760"/>
            <a:ext cx="3017520" cy="1056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ARAHAN TAMPIL DALAM MODE PESAWAT SEJAK LAYAR DIBUKA, PADA SATU PONSEL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654264" y="7223760"/>
            <a:ext cx="3017520" cy="1265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EMPAT PONSEL, 15 KOORDINAT, DATA 2026.10.18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60467" y="7223760"/>
            <a:ext cx="3017520" cy="10560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WAKTU TERLAMA DARI TUJUH PONSEL ANDROID 14–16; TUJUAN DAN WAKTU TEMPUH IDENTIK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639106" y="7223760"/>
            <a:ext cx="3017520" cy="1265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KASUS UJI UNIT LULUS; BASIS DATA 36,97 MB</a:t>
            </a:r>
          </a:p>
        </p:txBody>
      </p:sp>
      <p:sp>
        <p:nvSpPr>
          <p:cNvPr name="Freeform 18" id="23"/>
          <p:cNvSpPr/>
          <p:nvPr/>
        </p:nvSpPr>
        <p:spPr>
          <a:xfrm flipH="false" flipV="false" rot="0">
            <a:off x="1119061" y="947166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932877" y="1020318"/>
            <a:ext cx="950976" cy="391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2352463" y="1028700"/>
            <a:ext cx="4538902" cy="4388452"/>
            <a:chOff x="0" y="0"/>
            <a:chExt cx="1945239" cy="188076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945239" cy="1880760"/>
            </a:xfrm>
            <a:custGeom>
              <a:avLst/>
              <a:gdLst/>
              <a:ahLst/>
              <a:cxnLst/>
              <a:rect r="r" b="b" t="t" l="l"/>
              <a:pathLst>
                <a:path h="1880760" w="1945239">
                  <a:moveTo>
                    <a:pt x="0" y="0"/>
                  </a:moveTo>
                  <a:lnTo>
                    <a:pt x="1945239" y="0"/>
                  </a:lnTo>
                  <a:lnTo>
                    <a:pt x="1945239" y="1880760"/>
                  </a:lnTo>
                  <a:lnTo>
                    <a:pt x="0" y="1880760"/>
                  </a:lnTo>
                  <a:close/>
                </a:path>
              </a:pathLst>
            </a:custGeom>
            <a:blipFill>
              <a:blip r:embed="rId5"/>
              <a:srcRect t="55" b="5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7215355"/>
            <a:ext cx="10499238" cy="2294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86"/>
              </a:lnSpc>
            </a:pPr>
            <a:r>
              <a:rPr lang="en-US" b="true" sz="9726" spc="-466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UJI PENGGUNA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1660507" y="1028700"/>
            <a:ext cx="5598793" cy="8229600"/>
            <a:chOff x="0" y="0"/>
            <a:chExt cx="1474579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474579" cy="2167467"/>
            </a:xfrm>
            <a:custGeom>
              <a:avLst/>
              <a:gdLst/>
              <a:ahLst/>
              <a:cxnLst/>
              <a:rect r="r" b="b" t="t" l="l"/>
              <a:pathLst>
                <a:path h="2167467" w="1474579">
                  <a:moveTo>
                    <a:pt x="0" y="0"/>
                  </a:moveTo>
                  <a:lnTo>
                    <a:pt x="1474579" y="0"/>
                  </a:lnTo>
                  <a:lnTo>
                    <a:pt x="1474579" y="2167467"/>
                  </a:lnTo>
                  <a:lnTo>
                    <a:pt x="0" y="2167467"/>
                  </a:lnTo>
                  <a:close/>
                </a:path>
              </a:pathLst>
            </a:custGeom>
            <a:ln w="9525" cap="sq">
              <a:solidFill>
                <a:srgbClr val="052593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1474579" cy="2148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2049511" y="1361285"/>
            <a:ext cx="4868957" cy="5554655"/>
            <a:chOff x="0" y="0"/>
            <a:chExt cx="1608503" cy="18350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08503" cy="1835030"/>
            </a:xfrm>
            <a:custGeom>
              <a:avLst/>
              <a:gdLst/>
              <a:ahLst/>
              <a:cxnLst/>
              <a:rect r="r" b="b" t="t" l="l"/>
              <a:pathLst>
                <a:path h="1835030" w="1608503">
                  <a:moveTo>
                    <a:pt x="0" y="0"/>
                  </a:moveTo>
                  <a:lnTo>
                    <a:pt x="1608503" y="0"/>
                  </a:lnTo>
                  <a:lnTo>
                    <a:pt x="1608503" y="1835030"/>
                  </a:lnTo>
                  <a:lnTo>
                    <a:pt x="0" y="1835030"/>
                  </a:lnTo>
                  <a:close/>
                </a:path>
              </a:pathLst>
            </a:custGeom>
            <a:blipFill>
              <a:blip r:embed="rId5"/>
              <a:srcRect b="47006"/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2049511" y="7263503"/>
            <a:ext cx="4896985" cy="1661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79"/>
              </a:lnSpc>
            </a:pPr>
            <a:r>
              <a:rPr lang="en-US" b="true" sz="1799" spc="-35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DENGAN APLIKASI, 25 DARI 25 PESERTA MENUNJUK ARAH YANG BENAR DALAM 5–8 DETIK. SEBELUM MENCOBA APLIKASI, 14 DARI 25 TIDAK DAPAT MENYEBUTKAN TEMPAT EVAKUASINYA.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401214" y="1449007"/>
            <a:ext cx="365760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LIMA CALON PENGGUNA DI MASJID AL HAKIM. DENGAN PETA RESMI, EMPAT BUTUH 27–89 DETIK DAN SATU PENDATANG TIDAK BERHASIL.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29891" y="3430853"/>
            <a:ext cx="3657600" cy="1341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DUA PESERTA TIBA DI TES DALAM 9 DAN 7 MENIT, LEBIH CEPAT DARI PERKIRAAN APLIKASI 18 DAN 12 MENIT.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029891" y="1449007"/>
            <a:ext cx="3657600" cy="77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25 PESERTA DI MASJID AL HAKIM, UNP, MASJID RAYA PADANG, DAN PANTAI UJUNG BATU; APLIKASI DALAM MODE PESAWAT.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01214" y="3430853"/>
            <a:ext cx="3657600" cy="1151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20 PESERTA MENUNJUK ARAH YANG BENAR DAN 5 TIDAK BERHASIL.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401214" y="1038225"/>
            <a:ext cx="384048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TAHAP 1 · AGUSTUS 2026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29891" y="3020071"/>
            <a:ext cx="384048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UJI JALAN KAKI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029891" y="1038225"/>
            <a:ext cx="384048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TAHAP 2 · OKTOBER 2026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401214" y="3020071"/>
            <a:ext cx="384048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PETA CETAK</a:t>
            </a:r>
          </a:p>
        </p:txBody>
      </p:sp>
      <p:sp>
        <p:nvSpPr>
          <p:cNvPr name="Freeform 39" id="17"/>
          <p:cNvSpPr/>
          <p:nvPr/>
        </p:nvSpPr>
        <p:spPr>
          <a:xfrm flipH="false" flipV="false" rot="0">
            <a:off x="751127" y="6175446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564943" y="6248598"/>
            <a:ext cx="950976" cy="391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AutoShape 19" id="19"/>
          <p:cNvSpPr/>
          <p:nvPr/>
        </p:nvSpPr>
        <p:spPr>
          <a:xfrm flipV="true">
            <a:off x="2401214" y="5377446"/>
            <a:ext cx="8320774" cy="0"/>
          </a:xfrm>
          <a:prstGeom prst="line">
            <a:avLst/>
          </a:prstGeom>
          <a:ln cap="flat" w="9525">
            <a:solidFill>
              <a:srgbClr val="052593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133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49369" y="1204989"/>
            <a:ext cx="11127097" cy="1049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19"/>
              </a:lnSpc>
            </a:pPr>
            <a:r>
              <a:rPr lang="en-US" b="true" sz="4383" spc="-21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ATURAN SIAGA PADANG MENAMBAH WARGA YANG SEMPAT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058905" y="2609589"/>
            <a:ext cx="585216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200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PENDUDUK ZONA MERAH MENCAPAI TUJUAN DALAM 20 MENIT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2050051" y="4647083"/>
            <a:ext cx="585216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200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PENDUDUK YANG PUNYA TUJUAN DALAM 15 MENIT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050051" y="6597513"/>
            <a:ext cx="585216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200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PENURUNAN KELEBIHAN BEBAN TES (58.363 KE 44.264)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050051" y="8541530"/>
            <a:ext cx="5852160" cy="1129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200" spc="-53">
                <a:solidFill>
                  <a:srgbClr val="EEEEEE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PRIORITAS TEMPAT EVAKUASI TAMBAHAN UNTUK BPBD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077283" y="2065429"/>
            <a:ext cx="594360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78,7%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050051" y="4018434"/>
            <a:ext cx="594360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61,2% → 69,1%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050051" y="6024398"/>
            <a:ext cx="594360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24,2%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068430" y="7993878"/>
            <a:ext cx="5943600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99"/>
              </a:lnSpc>
            </a:pPr>
            <a:r>
              <a:rPr lang="en-US" b="true" sz="2999" spc="-59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5 KELURAHAN</a:t>
            </a:r>
          </a:p>
        </p:txBody>
      </p:sp>
      <p:sp>
        <p:nvSpPr>
          <p:cNvPr name="AutoShape 11" id="11"/>
          <p:cNvSpPr/>
          <p:nvPr/>
        </p:nvSpPr>
        <p:spPr>
          <a:xfrm>
            <a:off x="12009791" y="3848791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2" id="12"/>
          <p:cNvSpPr/>
          <p:nvPr/>
        </p:nvSpPr>
        <p:spPr>
          <a:xfrm>
            <a:off x="12068430" y="5905335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12009791" y="7874815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3114626" y="9253538"/>
            <a:ext cx="6193245" cy="0"/>
          </a:xfrm>
          <a:prstGeom prst="line">
            <a:avLst/>
          </a:prstGeom>
          <a:ln cap="flat" w="9525">
            <a:solidFill>
              <a:srgbClr val="FFFFFF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0">
            <a:off x="918971" y="2781450"/>
            <a:ext cx="10287000" cy="5678424"/>
            <a:chOff x="0" y="0"/>
            <a:chExt cx="13716000" cy="7571232"/>
          </a:xfrm>
        </p:grpSpPr>
        <p:sp>
          <p:nvSpPr>
            <p:cNvPr name="Freeform 16" id="16" descr="C:\Users\Lenovo\AppData\Local\Temp\claude\c--gemastik\520da942-8140-47c0-a16f-9bde4b92cbe5\scratchpad\deck\aset\zona.png"/>
            <p:cNvSpPr/>
            <p:nvPr/>
          </p:nvSpPr>
          <p:spPr>
            <a:xfrm flipH="false" flipV="false" rot="0">
              <a:off x="0" y="0"/>
              <a:ext cx="13716000" cy="7571232"/>
            </a:xfrm>
            <a:custGeom>
              <a:avLst/>
              <a:gdLst/>
              <a:ahLst/>
              <a:cxnLst/>
              <a:rect r="r" b="b" t="t" l="l"/>
              <a:pathLst>
                <a:path h="7571232" w="13716000">
                  <a:moveTo>
                    <a:pt x="0" y="0"/>
                  </a:moveTo>
                  <a:lnTo>
                    <a:pt x="13716000" y="0"/>
                  </a:lnTo>
                  <a:lnTo>
                    <a:pt x="13716000" y="7571232"/>
                  </a:lnTo>
                  <a:lnTo>
                    <a:pt x="0" y="75712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rcRect t="0" b="0"/>
              <a:stretch>
                <a:fillRect l="0" t="0" r="0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1455213" y="450562"/>
            <a:ext cx="953333" cy="3898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635982" y="352993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19" name="TextBox 18"/>
          <p:cNvSpPr txBox="1"/>
          <p:nvPr/>
        </p:nvSpPr>
        <p:spPr>
          <a:xfrm>
            <a:off x="914400" y="8641080"/>
            <a:ext cx="10287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FFFFFF"/>
                </a:solidFill>
                <a:latin typeface="Helvetica World"/>
              </a:rPr>
              <a:t>Proyeksi 313.862 jiwa zona merah, laju 0,894 m/s, berangkat saat gempa. Angka ini untuk perencanaan, bukan prediksi waktu tiba tsunami.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25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4544405"/>
            <a:ext cx="7406640" cy="3383280"/>
            <a:chOff x="0" y="0"/>
            <a:chExt cx="1365356" cy="75134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365356" cy="751348"/>
            </a:xfrm>
            <a:custGeom>
              <a:avLst/>
              <a:gdLst/>
              <a:ahLst/>
              <a:cxnLst/>
              <a:rect r="r" b="b" t="t" l="l"/>
              <a:pathLst>
                <a:path h="751348" w="1365356">
                  <a:moveTo>
                    <a:pt x="0" y="0"/>
                  </a:moveTo>
                  <a:lnTo>
                    <a:pt x="1365356" y="0"/>
                  </a:lnTo>
                  <a:lnTo>
                    <a:pt x="1365356" y="751348"/>
                  </a:lnTo>
                  <a:lnTo>
                    <a:pt x="0" y="751348"/>
                  </a:lnTo>
                  <a:close/>
                </a:path>
              </a:pathLst>
            </a:custGeom>
            <a:ln w="9525" cap="sq">
              <a:solidFill>
                <a:srgbClr val="FFFF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19050"/>
              <a:ext cx="1365356" cy="73229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40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67881" y="1039907"/>
            <a:ext cx="9398817" cy="31938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59"/>
              </a:lnSpc>
            </a:pPr>
            <a:r>
              <a:rPr lang="en-US" b="true" sz="9179" spc="-44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KESIMPULAN</a:t>
            </a:r>
          </a:p>
        </p:txBody>
      </p:sp>
      <p:sp>
        <p:nvSpPr>
          <p:cNvPr name="Freeform 18" id="6"/>
          <p:cNvSpPr/>
          <p:nvPr/>
        </p:nvSpPr>
        <p:spPr>
          <a:xfrm flipH="false" flipV="false" rot="0">
            <a:off x="15539006" y="947166"/>
            <a:ext cx="565977" cy="565977"/>
          </a:xfrm>
          <a:custGeom>
            <a:avLst/>
            <a:gdLst/>
            <a:ahLst/>
            <a:cxnLst/>
            <a:rect r="r" b="b" t="t" l="l"/>
            <a:pathLst>
              <a:path h="565977" w="565977">
                <a:moveTo>
                  <a:pt x="0" y="0"/>
                </a:moveTo>
                <a:lnTo>
                  <a:pt x="565977" y="0"/>
                </a:lnTo>
                <a:lnTo>
                  <a:pt x="565977" y="565978"/>
                </a:lnTo>
                <a:lnTo>
                  <a:pt x="0" y="56597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6352822" y="1020318"/>
            <a:ext cx="950976" cy="391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FFFFFF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AKUSUKAPROJECT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144000" y="3865864"/>
            <a:ext cx="8115300" cy="5392436"/>
            <a:chOff x="0" y="0"/>
            <a:chExt cx="3477977" cy="231103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477976" cy="2311038"/>
            </a:xfrm>
            <a:custGeom>
              <a:avLst/>
              <a:gdLst/>
              <a:ahLst/>
              <a:cxnLst/>
              <a:rect r="r" b="b" t="t" l="l"/>
              <a:pathLst>
                <a:path h="2311038" w="3477976">
                  <a:moveTo>
                    <a:pt x="0" y="0"/>
                  </a:moveTo>
                  <a:lnTo>
                    <a:pt x="3477976" y="0"/>
                  </a:lnTo>
                  <a:lnTo>
                    <a:pt x="3477976" y="2311038"/>
                  </a:lnTo>
                  <a:lnTo>
                    <a:pt x="0" y="2311038"/>
                  </a:lnTo>
                  <a:close/>
                </a:path>
              </a:pathLst>
            </a:custGeom>
            <a:blipFill>
              <a:blip r:embed="rId4"/>
              <a:stretch>
                <a:fillRect l="0" t="-164" r="0" b="-164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582956" y="4888158"/>
            <a:ext cx="4048240" cy="221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0"/>
              </a:lnSpc>
            </a:pPr>
            <a:r>
              <a:rPr lang="en-US" b="true" sz="1700" spc="-35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ARAHAN DIMULAI DARI POSISI PONSEL, BUKAN ALAMAT RUMAH.</a:t>
            </a:r>
          </a:p>
          <a:p>
            <a:pPr algn="l">
              <a:lnSpc>
                <a:spcPts val="1870"/>
              </a:lnSpc>
              <a:spcBef>
                <a:spcPts val="800"/>
              </a:spcBef>
            </a:pPr>
            <a:r>
              <a:rPr lang="en-US" b="true" sz="1700" spc="-35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TETAP BERJALAN TANPA SINYAL, DI BAWAH 1 DETIK.</a:t>
            </a:r>
          </a:p>
          <a:p>
            <a:pPr algn="l">
              <a:lnSpc>
                <a:spcPts val="1870"/>
              </a:lnSpc>
              <a:spcBef>
                <a:spcPts val="800"/>
              </a:spcBef>
            </a:pPr>
            <a:r>
              <a:rPr lang="en-US" b="true" sz="1700" spc="-35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PEMBAGIAN TES MENAIKKAN WARGA YANG PUNYA TUJUAN DALAM 15 MENIT MENJADI 69,1%.</a:t>
            </a:r>
          </a:p>
          <a:p>
            <a:pPr algn="l">
              <a:lnSpc>
                <a:spcPts val="1870"/>
              </a:lnSpc>
              <a:spcBef>
                <a:spcPts val="800"/>
              </a:spcBef>
            </a:pPr>
            <a:r>
              <a:rPr lang="en-US" b="true" sz="1700" spc="-35">
                <a:solidFill>
                  <a:srgbClr val="EEEEEE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25 DARI 25 PESERTA MEMAHAMI ARAH DALAM 5–8 DETIK.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4128" y="8547013"/>
            <a:ext cx="5486400" cy="207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DIDUKUNG BPBD KOTA PADANG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4128" y="8981440"/>
            <a:ext cx="5486400" cy="207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SEJALAN DENGAN SDGS 11.5, 11.B, DAN 13.1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24128" y="9417050"/>
            <a:ext cx="5486400" cy="207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b="true" sz="1400">
                <a:solidFill>
                  <a:srgbClr val="5CE1E6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RILIS APLIKASI 0.3.1, DATA 2026.10.18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299607" y="1371600"/>
            <a:ext cx="8778909" cy="22942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15"/>
              </a:lnSpc>
            </a:pPr>
            <a:r>
              <a:rPr lang="en-US" b="true" sz="7200" spc="-466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BATASAN DAN PENGEMBANGAN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317229" y="6092346"/>
            <a:ext cx="329184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DIKEMBANGKAN UNTUK ANDROID 6.0 KE ATAS; PAKET DATA YANG SAMA DAPAT DIPAKAI PLATFORM LAIN.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9317229" y="8297545"/>
            <a:ext cx="329184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CAKUPAN SAAT INI KOTA PADANG; WILAYAH PESISIR LAIN DAPAT DITAMBAHKAN SEBAGAI PAKET DATA BARU.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60268" y="6092346"/>
            <a:ext cx="3291840" cy="960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JALAN DARI OPENSTREETMAP; KELENGKAPAN JALAN KECIL DAPAT DITINGKATKAN BERSAMA BPBD DAN KOMUNITAS.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160268" y="8297545"/>
            <a:ext cx="3291840" cy="770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sz="1400" spc="-28">
                <a:solidFill>
                  <a:srgbClr val="052593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SIMULASI LAPANGAN BERSAMA BPBD, UJI DENGAN LANSIA, PENGUKURAN GPS, DAN PERHITUNGAN ANTREAN.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7229" y="5455662"/>
            <a:ext cx="3291840" cy="217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ANDROID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317229" y="7660861"/>
            <a:ext cx="32918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KOTA PADANG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160268" y="5455662"/>
            <a:ext cx="32918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PETA TERBUKA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160268" y="7660861"/>
            <a:ext cx="3291840" cy="427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40"/>
              </a:lnSpc>
            </a:pPr>
            <a:r>
              <a:rPr lang="en-US" b="true" sz="1400" spc="-28">
                <a:solidFill>
                  <a:srgbClr val="052593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LANGKAH BERIKUTNYA</a:t>
            </a:r>
          </a:p>
        </p:txBody>
      </p:sp>
      <p:sp>
        <p:nvSpPr>
          <p:cNvPr name="AutoShape 12" id="12"/>
          <p:cNvSpPr/>
          <p:nvPr/>
        </p:nvSpPr>
        <p:spPr>
          <a:xfrm>
            <a:off x="9317229" y="7352340"/>
            <a:ext cx="6996948" cy="0"/>
          </a:xfrm>
          <a:prstGeom prst="line">
            <a:avLst/>
          </a:prstGeom>
          <a:ln cap="flat" w="9525">
            <a:solidFill>
              <a:srgbClr val="052593">
                <a:alpha val="40000"/>
              </a:srgbClr>
            </a:solidFill>
            <a:prstDash val="solid"/>
            <a:headEnd type="none" len="sm" w="sm"/>
            <a:tailEnd type="none" len="sm" w="sm"/>
          </a:ln>
        </p:spPr>
      </p:sp>
      <p:pic>
        <p:nvPicPr>
          <p:cNvPr id="13" name="Picture 12" descr="beran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1645920"/>
            <a:ext cx="3228127" cy="6949440"/>
          </a:xfrm>
          <a:prstGeom prst="rect">
            <a:avLst/>
          </a:prstGeom>
        </p:spPr>
      </p:pic>
      <p:pic>
        <p:nvPicPr>
          <p:cNvPr id="14" name="Picture 13" descr="kedatan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645920"/>
            <a:ext cx="3228127" cy="69494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222" r="0" b="-9222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0"/>
            <a:ext cx="18288000" cy="10287000"/>
            <a:chOff x="0" y="0"/>
            <a:chExt cx="4816593" cy="27093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2709333"/>
            </a:xfrm>
            <a:custGeom>
              <a:avLst/>
              <a:gdLst/>
              <a:ahLst/>
              <a:cxnLst/>
              <a:rect r="r" b="b" t="t" l="l"/>
              <a:pathLst>
                <a:path h="27093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00000">
                <a:alpha val="41961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816593" cy="27474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5777129" y="295964"/>
            <a:ext cx="2099969" cy="948923"/>
          </a:xfrm>
          <a:custGeom>
            <a:avLst/>
            <a:gdLst/>
            <a:ahLst/>
            <a:cxnLst/>
            <a:rect r="r" b="b" t="t" l="l"/>
            <a:pathLst>
              <a:path h="948923" w="2099969">
                <a:moveTo>
                  <a:pt x="0" y="0"/>
                </a:moveTo>
                <a:lnTo>
                  <a:pt x="2099968" y="0"/>
                </a:lnTo>
                <a:lnTo>
                  <a:pt x="2099968" y="948923"/>
                </a:lnTo>
                <a:lnTo>
                  <a:pt x="0" y="94892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652000" y="355473"/>
            <a:ext cx="829905" cy="829905"/>
          </a:xfrm>
          <a:custGeom>
            <a:avLst/>
            <a:gdLst/>
            <a:ahLst/>
            <a:cxnLst/>
            <a:rect r="r" b="b" t="t" l="l"/>
            <a:pathLst>
              <a:path h="829905" w="829905">
                <a:moveTo>
                  <a:pt x="0" y="0"/>
                </a:moveTo>
                <a:lnTo>
                  <a:pt x="829905" y="0"/>
                </a:lnTo>
                <a:lnTo>
                  <a:pt x="829905" y="829905"/>
                </a:lnTo>
                <a:lnTo>
                  <a:pt x="0" y="829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227227" y="3458496"/>
            <a:ext cx="3599886" cy="3599886"/>
          </a:xfrm>
          <a:custGeom>
            <a:avLst/>
            <a:gdLst/>
            <a:ahLst/>
            <a:cxnLst/>
            <a:rect r="r" b="b" t="t" l="l"/>
            <a:pathLst>
              <a:path h="3599886" w="3599886">
                <a:moveTo>
                  <a:pt x="0" y="0"/>
                </a:moveTo>
                <a:lnTo>
                  <a:pt x="3599886" y="0"/>
                </a:lnTo>
                <a:lnTo>
                  <a:pt x="3599886" y="3599886"/>
                </a:lnTo>
                <a:lnTo>
                  <a:pt x="0" y="35998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1912189"/>
            <a:ext cx="11105332" cy="226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045"/>
              </a:lnSpc>
              <a:spcBef>
                <a:spcPct val="0"/>
              </a:spcBef>
            </a:pPr>
            <a:r>
              <a:rPr lang="en-US" b="true" sz="12175" spc="-608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Terima Kasih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38225" y="6735948"/>
            <a:ext cx="10436822" cy="2223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Tim AkuSukaProject — GEMASTIK XIX </a:t>
            </a:r>
          </a:p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Divisi VIII Pengembangan Perangkat Lunak</a:t>
            </a:r>
          </a:p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Mikail Samyth Habibillah, Muhammad Habib, Sheva Ramadhan</a:t>
            </a:r>
          </a:p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Dosen Pembimbing: Nisa Dwi Angresti, S.Si., M.Kom. </a:t>
            </a:r>
          </a:p>
          <a:p>
            <a:pPr algn="l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Universitas Andalas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496029" y="8863899"/>
            <a:ext cx="1274721" cy="4706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61"/>
              </a:lnSpc>
            </a:pPr>
            <a:r>
              <a:rPr lang="en-US" sz="2472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-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18090" y="3851398"/>
            <a:ext cx="12983572" cy="18082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48"/>
              </a:lnSpc>
              <a:spcBef>
                <a:spcPct val="0"/>
              </a:spcBef>
            </a:pPr>
            <a:r>
              <a:rPr lang="en-US" sz="4963" spc="-248">
                <a:solidFill>
                  <a:srgbClr val="FFFFFF"/>
                </a:solidFill>
                <a:latin typeface="Codec Pro"/>
                <a:ea typeface="Codec Pro"/>
                <a:cs typeface="Codec Pro"/>
                <a:sym typeface="Codec Pro"/>
              </a:rPr>
              <a:t>Tahu arah, sebelum terlambat.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195205" y="525633"/>
            <a:ext cx="3380502" cy="403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9"/>
              </a:lnSpc>
            </a:pPr>
            <a:r>
              <a:rPr lang="en-US" sz="2099" b="true">
                <a:solidFill>
                  <a:srgbClr val="FFFFFF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AKUSUKAPROJECT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DAHZQ-zi9fw</dc:identifier>
  <dcterms:modified xsi:type="dcterms:W3CDTF">2011-08-01T06:04:30Z</dcterms:modified>
  <cp:revision>1</cp:revision>
  <dc:title>PPT GEMASTIK</dc:title>
</cp:coreProperties>
</file>