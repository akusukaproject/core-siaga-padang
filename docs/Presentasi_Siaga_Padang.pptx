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c0a74243-3732-d368-03fb-11515608dd4f}">
          <p14:sldIdLst>
            <p14:sldId id="256"/>
            <p14:sldId id="257"/>
          </p14:sldIdLst>
        </p14:section>
        <p14:section name="Masalah" id="{4e0af4a1-b889-e6fe-0d96-5f9696632927}">
          <p14:sldIdLst>
            <p14:sldId id="258"/>
            <p14:sldId id="259"/>
            <p14:sldId id="260"/>
            <p14:sldId id="261"/>
            <p14:sldId id="262"/>
          </p14:sldIdLst>
        </p14:section>
        <p14:section name="Solusi" id="{0f8c2326-d0fe-e16c-8d04-9fe786076fff}">
          <p14:sldIdLst>
            <p14:sldId id="263"/>
            <p14:sldId id="264"/>
            <p14:sldId id="265"/>
            <p14:sldId id="266"/>
            <p14:sldId id="267"/>
            <p14:sldId id="268"/>
            <p14:sldId id="269"/>
            <p14:sldId id="270"/>
            <p14:sldId id="271"/>
          </p14:sldIdLst>
        </p14:section>
        <p14:section name="Hasil" id="{05dde99c-68f2-d531-431d-20de42cf7a15}">
          <p14:sldIdLst>
            <p14:sldId id="272"/>
            <p14:sldId id="273"/>
            <p14:sldId id="274"/>
            <p14:sldId id="275"/>
            <p14:sldId id="276"/>
          </p14:sldIdLst>
        </p14:section>
        <p14:section name="Dampak dan Penutup" id="{f869e0b1-b75a-a8a3-49d3-cc4f45f4b43e}">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Kelompok penduduk zona merah (313.862 jiwa, batas 15 menit)</a:t>
            </a:r>
          </a:p>
        </c:rich>
      </c:tx>
      <c:layout/>
      <c:overlay val="0"/>
    </c:title>
    <c:autoTitleDeleted val="0"/>
    <c:plotArea>
      <c:layout/>
      <c:barChart>
        <c:barDir val="bar"/>
        <c:grouping val="clustered"/>
        <c:varyColors val="0"/>
        <c:ser>
          <c:idx val="0"/>
          <c:order val="0"/>
          <c:tx>
            <c:strRef>
              <c:f>Sheet1!$B$1</c:f>
              <c:strCache>
                <c:ptCount val="1"/>
                <c:pt idx="0">
                  <c:v>Jiwa</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Sheet1!$A$2:$A$6</c:f>
              <c:multiLvlStrCache>
                <c:ptCount val="5"/>
                <c:lvl>
                  <c:pt idx="0">
                    <c:v>Dibagi menurut daya tampung</c:v>
                  </c:pt>
                  <c:pt idx="1">
                    <c:v>Keluar zona (TEA/zona hijau)</c:v>
                  </c:pt>
                  <c:pt idx="2">
                    <c:v>Tidak ada TES yang sempat</c:v>
                  </c:pt>
                  <c:pt idx="3">
                    <c:v>Hanya TES tanpa angka daya tampung</c:v>
                  </c:pt>
                  <c:pt idx="4">
                    <c:v>Tanpa TES yang lolos aturan arah</c:v>
                  </c:pt>
                </c:lvl>
              </c:multiLvlStrCache>
            </c:multiLvlStrRef>
          </c:cat>
          <c:val>
            <c:numRef>
              <c:f>Sheet1!$B$2:$B$6</c:f>
              <c:numCache>
                <c:formatCode>General</c:formatCode>
                <c:ptCount val="5"/>
                <c:pt idx="0">
                  <c:v>89158</c:v>
                </c:pt>
                <c:pt idx="1">
                  <c:v>95094</c:v>
                </c:pt>
                <c:pt idx="2">
                  <c:v>95184</c:v>
                </c:pt>
                <c:pt idx="3">
                  <c:v>15976</c:v>
                </c:pt>
                <c:pt idx="4">
                  <c:v>18451</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DE2E8"/>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Waktu pemrosesan setelah koordinat diterima (ms), 20 koordinat</a:t>
            </a:r>
          </a:p>
        </c:rich>
      </c:tx>
      <c:layout/>
      <c:overlay val="0"/>
    </c:title>
    <c:autoTitleDeleted val="0"/>
    <c:plotArea>
      <c:layout/>
      <c:barChart>
        <c:barDir val="bar"/>
        <c:grouping val="clustered"/>
        <c:varyColors val="0"/>
        <c:ser>
          <c:idx val="0"/>
          <c:order val="0"/>
          <c:tx>
            <c:strRef>
              <c:f>Sheet1!$B$1</c:f>
              <c:strCache>
                <c:ptCount val="1"/>
                <c:pt idx="0">
                  <c:v>Median</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Sheet1!$A$2:$A$8</c:f>
              <c:multiLvlStrCache>
                <c:ptCount val="7"/>
                <c:lvl>
                  <c:pt idx="0">
                    <c:v>Infinix X6855</c:v>
                  </c:pt>
                  <c:pt idx="1">
                    <c:v>Galaxy A15</c:v>
                  </c:pt>
                  <c:pt idx="2">
                    <c:v>POCO F5</c:v>
                  </c:pt>
                  <c:pt idx="3">
                    <c:v>Galaxy A55</c:v>
                  </c:pt>
                  <c:pt idx="4">
                    <c:v>Infinix GT 20 Pro</c:v>
                  </c:pt>
                  <c:pt idx="5">
                    <c:v>POCO F7</c:v>
                  </c:pt>
                  <c:pt idx="6">
                    <c:v>Xiaomi 15</c:v>
                  </c:pt>
                </c:lvl>
              </c:multiLvlStrCache>
            </c:multiLvlStrRef>
          </c:cat>
          <c:val>
            <c:numRef>
              <c:f>Sheet1!$B$2:$B$8</c:f>
              <c:numCache>
                <c:formatCode>General</c:formatCode>
                <c:ptCount val="7"/>
                <c:pt idx="0">
                  <c:v>706</c:v>
                </c:pt>
                <c:pt idx="1">
                  <c:v>454</c:v>
                </c:pt>
                <c:pt idx="2">
                  <c:v>354</c:v>
                </c:pt>
                <c:pt idx="3">
                  <c:v>271</c:v>
                </c:pt>
                <c:pt idx="4">
                  <c:v>240</c:v>
                </c:pt>
                <c:pt idx="5">
                  <c:v>222</c:v>
                </c:pt>
                <c:pt idx="6">
                  <c:v>152</c:v>
                </c:pt>
              </c:numCache>
            </c:numRef>
          </c:val>
        </c:ser>
        <c:ser>
          <c:idx val="1"/>
          <c:order val="1"/>
          <c:tx>
            <c:strRef>
              <c:f>Sheet1!$C$1</c:f>
              <c:strCache>
                <c:ptCount val="1"/>
                <c:pt idx="0">
                  <c:v>Maksimum</c:v>
                </c:pt>
              </c:strCache>
            </c:strRef>
          </c:tx>
          <c:spPr>
            <a:solidFill>
              <a:srgbClr val="F5B700"/>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Sheet1!$A$2:$A$8</c:f>
              <c:multiLvlStrCache>
                <c:ptCount val="7"/>
                <c:lvl>
                  <c:pt idx="0">
                    <c:v>Infinix X6855</c:v>
                  </c:pt>
                  <c:pt idx="1">
                    <c:v>Galaxy A15</c:v>
                  </c:pt>
                  <c:pt idx="2">
                    <c:v>POCO F5</c:v>
                  </c:pt>
                  <c:pt idx="3">
                    <c:v>Galaxy A55</c:v>
                  </c:pt>
                  <c:pt idx="4">
                    <c:v>Infinix GT 20 Pro</c:v>
                  </c:pt>
                  <c:pt idx="5">
                    <c:v>POCO F7</c:v>
                  </c:pt>
                  <c:pt idx="6">
                    <c:v>Xiaomi 15</c:v>
                  </c:pt>
                </c:lvl>
              </c:multiLvlStrCache>
            </c:multiLvlStrRef>
          </c:cat>
          <c:val>
            <c:numRef>
              <c:f>Sheet1!$C$2:$C$8</c:f>
              <c:numCache>
                <c:formatCode>General</c:formatCode>
                <c:ptCount val="7"/>
                <c:pt idx="0">
                  <c:v>884</c:v>
                </c:pt>
                <c:pt idx="1">
                  <c:v>624</c:v>
                </c:pt>
                <c:pt idx="2">
                  <c:v>447</c:v>
                </c:pt>
                <c:pt idx="3">
                  <c:v>351</c:v>
                </c:pt>
                <c:pt idx="4">
                  <c:v>294</c:v>
                </c:pt>
                <c:pt idx="5">
                  <c:v>269</c:v>
                </c:pt>
                <c:pt idx="6">
                  <c:v>225</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b"/>
        <c:majorGridlines>
          <c:spPr>
            <a:ln w="6350" cap="flat">
              <a:solidFill>
                <a:srgbClr val="DDE2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Penduduk dengan tujuan dalam 15 menit (%)</a:t>
            </a:r>
          </a:p>
        </c:rich>
      </c:tx>
      <c:layout/>
      <c:overlay val="0"/>
    </c:title>
    <c:autoTitleDeleted val="0"/>
    <c:plotArea>
      <c:layout/>
      <c:barChart>
        <c:barDir val="col"/>
        <c:grouping val="clustered"/>
        <c:varyColors val="0"/>
        <c:ser>
          <c:idx val="0"/>
          <c:order val="0"/>
          <c:tx>
            <c:strRef>
              <c:f>Sheet1!$B$1</c:f>
              <c:strCache>
                <c:ptCount val="1"/>
                <c:pt idx="0">
                  <c:v>Tujuan ≤ 15 menit (%)</c:v>
                </c:pt>
              </c:strCache>
            </c:strRef>
          </c:tx>
          <c:spPr>
            <a:solidFill>
              <a:srgbClr val="2E8B57"/>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Tujuan tercepat</c:v>
                  </c:pt>
                  <c:pt idx="1">
                    <c:v>Zona hijau dahulu, lalu TES terjauh dari pantai</c:v>
                  </c:pt>
                  <c:pt idx="2">
                    <c:v>Aturan Siaga Padang dengan pembagian TES</c:v>
                  </c:pt>
                </c:lvl>
              </c:multiLvlStrCache>
            </c:multiLvlStrRef>
          </c:cat>
          <c:val>
            <c:numRef>
              <c:f>Sheet1!$B$2:$B$4</c:f>
              <c:numCache>
                <c:formatCode>General</c:formatCode>
                <c:ptCount val="3"/>
                <c:pt idx="0">
                  <c:v>61.2</c:v>
                </c:pt>
                <c:pt idx="1">
                  <c:v>61.2</c:v>
                </c:pt>
                <c:pt idx="2">
                  <c:v>69.1</c:v>
                </c:pt>
              </c:numCache>
            </c:numRef>
          </c:val>
        </c:ser>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Total kelebihan beban TES (jiwa)</a:t>
            </a:r>
          </a:p>
        </c:rich>
      </c:tx>
      <c:layout/>
      <c:overlay val="0"/>
    </c:title>
    <c:autoTitleDeleted val="0"/>
    <c:plotArea>
      <c:layout/>
      <c:barChart>
        <c:barDir val="col"/>
        <c:grouping val="clustered"/>
        <c:varyColors val="0"/>
        <c:ser>
          <c:idx val="0"/>
          <c:order val="0"/>
          <c:tx>
            <c:strRef>
              <c:f>Sheet1!$B$1</c:f>
              <c:strCache>
                <c:ptCount val="1"/>
                <c:pt idx="0">
                  <c:v>Kelebihan beban (jiwa)</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Tujuan tercepat</c:v>
                  </c:pt>
                  <c:pt idx="1">
                    <c:v>Zona hijau dahulu, lalu TES terjauh dari pantai</c:v>
                  </c:pt>
                  <c:pt idx="2">
                    <c:v>Aturan Siaga Padang dengan pembagian TES</c:v>
                  </c:pt>
                </c:lvl>
              </c:multiLvlStrCache>
            </c:multiLvlStrRef>
          </c:cat>
          <c:val>
            <c:numRef>
              <c:f>Sheet1!$B$2:$B$4</c:f>
              <c:numCache>
                <c:formatCode>General</c:formatCode>
                <c:ptCount val="3"/>
                <c:pt idx="0">
                  <c:v>58363</c:v>
                </c:pt>
                <c:pt idx="1">
                  <c:v>53470</c:v>
                </c:pt>
                <c:pt idx="2">
                  <c:v>44264</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DE2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tim dan judul. Siaga Padang adalah aplikasi Android yang menunjukkan arah evakuasi tsunami dari posisi pengguna, tanpa internet, mengikuti aturan BPBD Kota Padang.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angka ini merangkum seluruh presentasi: besarnya ancaman, kecepatan arahan, kemudahan dipahami, dan dampak bagi perencanaan BPBD.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BMKG menyebut segmen Mentawai–Siberut sebagai celah seismik. Dalam skenario M8,9, tsunami bisa lebih dari 10 meter dan tiba kurang dari 30 menit. BPBD memakai 20–30 menit sebagai acuan kesiapsiagaan.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awal Agustus dengan lima calon pengguna di Masjid Al Hakim, lalu uji tahap kedua dengan 25 peserta di empat lokasi. Sebelum mencoba aplikasi, lebih dari separuh tidak tahu tempat evakuasi.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ini kami terapkan saat jalur dihitung. Audit data versi penyisihan menunjukkan banyak jalur yang melanggar aturan, sehingga seluruh jalur dihitung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sistem membantu dengan cara berbeda, tetapi belum ada yang menggabungkan arahan dari posisi pengguna, jalur luring, dan aturan evakuasi Kota Padang.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Kelima keunggulan ini dirangkum dari Subbab 1.8 laporan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Pemisahan luring dan daring adalah inti rancangan: gangguan jaringan tidak menghentikan navigasi.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berasal dari daftar BPBD 2019 (45) dan kesepakatan warga Kelurahan Tangguh (199). Dari 46 TEA di data sumber, 22 berada di luar zona merah dan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Perkiraan waktu tetap dihitung dari panjang jalur sebenarnya. Jalur yang terpaksa lewat jembatan diberi keterangan 'Lewat jembatan'. Angka 31,4% berasal dari data babak penyisihan dengan batas zona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Pembagian dihitung saat data dibangun dan disimpan sebagai porsi per simpul. TEA dan zona hijau tidak dibatasi kapasitas karena berupa lahan terbuka di luar zona bahaya.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ini sama untuk aplikasi dan simulator, sehingga hasil analisis BPBD konsisten dengan perilaku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Desain akhir V4: layar evakuasi biru tua dengan elemen terang, keterangan maksimal sekitar 12 kata, 53 pasangan warna lulus kontras WCAG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luring: rencana keluarga, mode latihan, pencarian tempat, nomor darurat. Fitur daring: peringatan, lapor selamat, laporan jalan, pembaruan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Pengukuran waktu setelah koordinat diterima tidak mencakup waktu menunggu GPS. Uji mode pesawat dilakukan pada Infinix X6855.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kelompok mahasiswa UNP tidak dihitung karena peserta dapat mendengar jawaban sebelumnya. Perkiraan aplikasi lebih lama karena memakai laju perencanaan 0,894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Dibanding aturan tujuan tercepat, aturan terbaru menaikkan proporsi dari 61,2% menjadi 69,1% dan menurunkan kelebihan beban sebesar 24,2%. Jumlah TES terlampaui naik dari 43 ke 45, tetapi total kelebihannya turun.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Warna dan bentuk penanda membedakan rasio beban sehingga tetap terbaca dalam cetak hitam-putih. Ukuran titik sebanding dengan daya tampung.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dicatat bersama versi data, sebaran penduduk, dan laju berjalan, sehingga dapat diperbarui ketika data wilayah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disampaikan sebagai ruang lingkup versi saat ini, masing-masing dengan arah pengembangan.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pesan utama dan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14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I">
    <p:bg>
      <p:bgPr>
        <a:solidFill>
          <a:srgbClr val="14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7772400"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3566160"/>
            <a:ext cx="7772400" cy="914400"/>
          </a:xfrm>
          <a:prstGeom prst="rect">
            <a:avLst/>
          </a:prstGeom>
          <a:noFill/>
          <a:ln/>
        </p:spPr>
        <p:txBody>
          <a:bodyPr wrap="square" rtlCol="0"/>
          <a:lstStyle>
            <a:lvl1pPr algn="l" indent="0" marL="0">
              <a:buNone/>
              <a:defRPr lang="en-US" sz="1800" dirty="0">
                <a:solidFill>
                  <a:srgbClr val="CADCFC"/>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rgbClr val="14365D"/>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7C8590"/>
                </a:solidFill>
                <a:latin typeface="Calibri" pitchFamily="34" charset="0"/>
                <a:ea typeface="Calibri" pitchFamily="34" charset="-122"/>
                <a:cs typeface="Calibri" pitchFamily="34" charset="-120"/>
              </a:rPr>
              <a:t>Siaga Padang  ·  GEMASTIK 2026  ·  Universitas Andalas</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Siaga Padang</a:t>
            </a: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Navigasi evakuasi tsunami luring berbasis pemodelan pergerakan kolektif</a:t>
            </a:r>
            <a:endParaRPr lang="en-US" sz="2000" dirty="0"/>
          </a:p>
        </p:txBody>
      </p:sp>
      <p:sp>
        <p:nvSpPr>
          <p:cNvPr id="4" name="simbol evakuasi lingkaran"/>
          <p:cNvSpPr/>
          <p:nvPr/>
        </p:nvSpPr>
        <p:spPr>
          <a:xfrm>
            <a:off x="9509760" y="1920240"/>
            <a:ext cx="2011680" cy="2011680"/>
          </a:xfrm>
          <a:prstGeom prst="ellipse">
            <a:avLst/>
          </a:prstGeom>
          <a:solidFill>
            <a:srgbClr val="F5B700"/>
          </a:solidFill>
          <a:ln w="12700">
            <a:solidFill>
              <a:srgbClr val="F5B700"/>
            </a:solidFill>
            <a:prstDash val="solid"/>
          </a:ln>
        </p:spPr>
      </p:sp>
      <p:pic>
        <p:nvPicPr>
          <p:cNvPr id="5" name="simbol evakuasi ikon" descr="preencoded.png">    </p:cNvPr>
          <p:cNvPicPr>
            <a:picLocks noChangeAspect="1"/>
          </p:cNvPicPr>
          <p:nvPr/>
        </p:nvPicPr>
        <p:blipFill>
          <a:blip r:embed="rId1"/>
          <a:stretch>
            <a:fillRect/>
          </a:stretch>
        </p:blipFill>
        <p:spPr>
          <a:xfrm>
            <a:off x="10012680" y="2423160"/>
            <a:ext cx="1005840" cy="1005840"/>
          </a:xfrm>
          <a:prstGeom prst="rect">
            <a:avLst/>
          </a:prstGeom>
        </p:spPr>
      </p:pic>
      <p:sp>
        <p:nvSpPr>
          <p:cNvPr id="6" name="tim"/>
          <p:cNvSpPr txBox="1"/>
          <p:nvPr/>
        </p:nvSpPr>
        <p:spPr>
          <a:xfrm>
            <a:off x="548640" y="5029200"/>
            <a:ext cx="8686800" cy="100584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Mikail Samyth Habibillah · Muhammad Habib · Sheva Ramadhan</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Pembimbing: Nisa Dwi Angresti</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Fakultas Teknologi Informasi, Universitas Andalas · GEMASTIK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Arahan evakuasi dalam satu detik, tanpa sinyal</a:t>
            </a:r>
            <a:endParaRPr lang="en-US" sz="3000" dirty="0"/>
          </a:p>
        </p:txBody>
      </p:sp>
      <p:sp>
        <p:nvSpPr>
          <p:cNvPr id="3" name="pesan utama"/>
          <p:cNvSpPr txBox="1"/>
          <p:nvPr/>
        </p:nvSpPr>
        <p:spPr>
          <a:xfrm>
            <a:off x="548640" y="1188720"/>
            <a:ext cx="11094415" cy="548640"/>
          </a:xfrm>
          <a:prstGeom prst="rect">
            <a:avLst/>
          </a:prstGeom>
          <a:noFill/>
          <a:ln/>
        </p:spPr>
        <p:txBody>
          <a:bodyPr wrap="square" lIns="0" tIns="0" rIns="0" bIns="0" rtlCol="0" anchor="t"/>
          <a:lstStyle/>
          <a:p>
            <a:pPr indent="0" marL="0">
              <a:buNone/>
            </a:pPr>
            <a:r>
              <a:rPr lang="en-US" sz="1700" dirty="0">
                <a:solidFill>
                  <a:srgbClr val="5D6670"/>
                </a:solidFill>
                <a:latin typeface="Calibri" pitchFamily="34" charset="0"/>
                <a:ea typeface="Calibri" pitchFamily="34" charset="-122"/>
                <a:cs typeface="Calibri" pitchFamily="34" charset="-120"/>
              </a:rPr>
              <a:t>Siaga Padang membaca jalur evakuasi yang dihitung sebelum kejadian, sehingga arah tetap tersedia saat jaringan terputus.</a:t>
            </a:r>
            <a:endParaRPr lang="en-US" sz="1700" dirty="0"/>
          </a:p>
        </p:txBody>
      </p:sp>
      <p:sp>
        <p:nvSpPr>
          <p:cNvPr id="4" name="kartu ringkasan 1"/>
          <p:cNvSpPr/>
          <p:nvPr/>
        </p:nvSpPr>
        <p:spPr>
          <a:xfrm>
            <a:off x="548640" y="2057400"/>
            <a:ext cx="2606040" cy="2514600"/>
          </a:xfrm>
          <a:prstGeom prst="roundRect">
            <a:avLst>
              <a:gd name="adj" fmla="val 2909"/>
            </a:avLst>
          </a:prstGeom>
          <a:solidFill>
            <a:srgbClr val="EEF2F7"/>
          </a:solidFill>
          <a:ln w="12700">
            <a:solidFill>
              <a:srgbClr val="EEF2F7"/>
            </a:solidFill>
            <a:prstDash val="solid"/>
          </a:ln>
        </p:spPr>
      </p:sp>
      <p:sp>
        <p:nvSpPr>
          <p:cNvPr id="5" name="ringkasan 1 angka"/>
          <p:cNvSpPr txBox="1"/>
          <p:nvPr/>
        </p:nvSpPr>
        <p:spPr>
          <a:xfrm>
            <a:off x="777240" y="2377440"/>
            <a:ext cx="2194560" cy="539750"/>
          </a:xfrm>
          <a:prstGeom prst="rect">
            <a:avLst/>
          </a:prstGeom>
          <a:noFill/>
          <a:ln/>
        </p:spPr>
        <p:txBody>
          <a:bodyPr wrap="square" lIns="0" tIns="0" rIns="0" bIns="0" rtlCol="0" anchor="b"/>
          <a:lstStyle/>
          <a:p>
            <a:pPr indent="0" marL="0">
              <a:buNone/>
            </a:pPr>
            <a:r>
              <a:rPr lang="en-US" sz="3400" b="1" dirty="0">
                <a:solidFill>
                  <a:srgbClr val="D9472F"/>
                </a:solidFill>
                <a:latin typeface="Arial" pitchFamily="34" charset="0"/>
                <a:ea typeface="Arial" pitchFamily="34" charset="-122"/>
                <a:cs typeface="Arial" pitchFamily="34" charset="-120"/>
              </a:rPr>
              <a:t>242.750</a:t>
            </a:r>
            <a:endParaRPr lang="en-US" sz="3400" dirty="0"/>
          </a:p>
        </p:txBody>
      </p:sp>
      <p:sp>
        <p:nvSpPr>
          <p:cNvPr id="6" name="ringkasan 1 label"/>
          <p:cNvSpPr txBox="1"/>
          <p:nvPr/>
        </p:nvSpPr>
        <p:spPr>
          <a:xfrm>
            <a:off x="777240"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jiwa terpapar ancaman tsunami di 55 kelurahan (KRB 2023–2027)</a:t>
            </a:r>
            <a:endParaRPr lang="en-US" sz="1400" dirty="0"/>
          </a:p>
        </p:txBody>
      </p:sp>
      <p:sp>
        <p:nvSpPr>
          <p:cNvPr id="7" name="kartu ringkasan 2"/>
          <p:cNvSpPr/>
          <p:nvPr/>
        </p:nvSpPr>
        <p:spPr>
          <a:xfrm>
            <a:off x="3355848" y="2057400"/>
            <a:ext cx="2606040" cy="2514600"/>
          </a:xfrm>
          <a:prstGeom prst="roundRect">
            <a:avLst>
              <a:gd name="adj" fmla="val 2909"/>
            </a:avLst>
          </a:prstGeom>
          <a:solidFill>
            <a:srgbClr val="EEF2F7"/>
          </a:solidFill>
          <a:ln w="12700">
            <a:solidFill>
              <a:srgbClr val="EEF2F7"/>
            </a:solidFill>
            <a:prstDash val="solid"/>
          </a:ln>
        </p:spPr>
      </p:sp>
      <p:sp>
        <p:nvSpPr>
          <p:cNvPr id="8" name="ringkasan 2 angka"/>
          <p:cNvSpPr txBox="1"/>
          <p:nvPr/>
        </p:nvSpPr>
        <p:spPr>
          <a:xfrm>
            <a:off x="3584448" y="2377440"/>
            <a:ext cx="2194560" cy="539750"/>
          </a:xfrm>
          <a:prstGeom prst="rect">
            <a:avLst/>
          </a:prstGeom>
          <a:noFill/>
          <a:ln/>
        </p:spPr>
        <p:txBody>
          <a:bodyPr wrap="square" lIns="0" tIns="0" rIns="0" bIns="0" rtlCol="0" anchor="b"/>
          <a:lstStyle/>
          <a:p>
            <a:pPr indent="0" marL="0">
              <a:buNone/>
            </a:pPr>
            <a:r>
              <a:rPr lang="en-US" sz="3400" b="1" dirty="0">
                <a:solidFill>
                  <a:srgbClr val="14365D"/>
                </a:solidFill>
                <a:latin typeface="Arial" pitchFamily="34" charset="0"/>
                <a:ea typeface="Arial" pitchFamily="34" charset="-122"/>
                <a:cs typeface="Arial" pitchFamily="34" charset="-120"/>
              </a:rPr>
              <a:t>&lt; 1 detik</a:t>
            </a:r>
            <a:endParaRPr lang="en-US" sz="3400" dirty="0"/>
          </a:p>
        </p:txBody>
      </p:sp>
      <p:sp>
        <p:nvSpPr>
          <p:cNvPr id="9" name="ringkasan 2 label"/>
          <p:cNvSpPr txBox="1"/>
          <p:nvPr/>
        </p:nvSpPr>
        <p:spPr>
          <a:xfrm>
            <a:off x="3584448"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arahan siap pada tujuh ponsel uji, termasuk mode pesawat</a:t>
            </a:r>
            <a:endParaRPr lang="en-US" sz="1400" dirty="0"/>
          </a:p>
        </p:txBody>
      </p:sp>
      <p:sp>
        <p:nvSpPr>
          <p:cNvPr id="10" name="kartu ringkasan 3"/>
          <p:cNvSpPr/>
          <p:nvPr/>
        </p:nvSpPr>
        <p:spPr>
          <a:xfrm>
            <a:off x="6163056" y="2057400"/>
            <a:ext cx="2606040" cy="2514600"/>
          </a:xfrm>
          <a:prstGeom prst="roundRect">
            <a:avLst>
              <a:gd name="adj" fmla="val 2909"/>
            </a:avLst>
          </a:prstGeom>
          <a:solidFill>
            <a:srgbClr val="EEF2F7"/>
          </a:solidFill>
          <a:ln w="12700">
            <a:solidFill>
              <a:srgbClr val="EEF2F7"/>
            </a:solidFill>
            <a:prstDash val="solid"/>
          </a:ln>
        </p:spPr>
      </p:sp>
      <p:sp>
        <p:nvSpPr>
          <p:cNvPr id="11" name="ringkasan 3 angka"/>
          <p:cNvSpPr txBox="1"/>
          <p:nvPr/>
        </p:nvSpPr>
        <p:spPr>
          <a:xfrm>
            <a:off x="6391656" y="2377440"/>
            <a:ext cx="2194560" cy="539750"/>
          </a:xfrm>
          <a:prstGeom prst="rect">
            <a:avLst/>
          </a:prstGeom>
          <a:noFill/>
          <a:ln/>
        </p:spPr>
        <p:txBody>
          <a:bodyPr wrap="square" lIns="0" tIns="0" rIns="0" bIns="0" rtlCol="0" anchor="b"/>
          <a:lstStyle/>
          <a:p>
            <a:pPr indent="0" marL="0">
              <a:buNone/>
            </a:pPr>
            <a:r>
              <a:rPr lang="en-US" sz="3400" b="1" dirty="0">
                <a:solidFill>
                  <a:srgbClr val="2E8B57"/>
                </a:solidFill>
                <a:latin typeface="Arial" pitchFamily="34" charset="0"/>
                <a:ea typeface="Arial" pitchFamily="34" charset="-122"/>
                <a:cs typeface="Arial" pitchFamily="34" charset="-120"/>
              </a:rPr>
              <a:t>25 / 25</a:t>
            </a:r>
            <a:endParaRPr lang="en-US" sz="3400" dirty="0"/>
          </a:p>
        </p:txBody>
      </p:sp>
      <p:sp>
        <p:nvSpPr>
          <p:cNvPr id="12" name="ringkasan 3 label"/>
          <p:cNvSpPr txBox="1"/>
          <p:nvPr/>
        </p:nvSpPr>
        <p:spPr>
          <a:xfrm>
            <a:off x="6391656"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peserta uji menunjuk arah evakuasi dengan benar memakai aplikasi</a:t>
            </a:r>
            <a:endParaRPr lang="en-US" sz="1400" dirty="0"/>
          </a:p>
        </p:txBody>
      </p:sp>
      <p:sp>
        <p:nvSpPr>
          <p:cNvPr id="13" name="kartu ringkasan 4"/>
          <p:cNvSpPr/>
          <p:nvPr/>
        </p:nvSpPr>
        <p:spPr>
          <a:xfrm>
            <a:off x="8970264" y="2057400"/>
            <a:ext cx="2606040" cy="2514600"/>
          </a:xfrm>
          <a:prstGeom prst="roundRect">
            <a:avLst>
              <a:gd name="adj" fmla="val 2909"/>
            </a:avLst>
          </a:prstGeom>
          <a:solidFill>
            <a:srgbClr val="EEF2F7"/>
          </a:solidFill>
          <a:ln w="12700">
            <a:solidFill>
              <a:srgbClr val="EEF2F7"/>
            </a:solidFill>
            <a:prstDash val="solid"/>
          </a:ln>
        </p:spPr>
      </p:sp>
      <p:sp>
        <p:nvSpPr>
          <p:cNvPr id="14" name="ringkasan 4 angka"/>
          <p:cNvSpPr txBox="1"/>
          <p:nvPr/>
        </p:nvSpPr>
        <p:spPr>
          <a:xfrm>
            <a:off x="9198864" y="2377440"/>
            <a:ext cx="2194560" cy="539750"/>
          </a:xfrm>
          <a:prstGeom prst="rect">
            <a:avLst/>
          </a:prstGeom>
          <a:noFill/>
          <a:ln/>
        </p:spPr>
        <p:txBody>
          <a:bodyPr wrap="square" lIns="0" tIns="0" rIns="0" bIns="0" rtlCol="0" anchor="b"/>
          <a:lstStyle/>
          <a:p>
            <a:pPr indent="0" marL="0">
              <a:buNone/>
            </a:pPr>
            <a:r>
              <a:rPr lang="en-US" sz="3400" b="1" dirty="0">
                <a:solidFill>
                  <a:srgbClr val="2F7F9C"/>
                </a:solidFill>
                <a:latin typeface="Arial" pitchFamily="34" charset="0"/>
                <a:ea typeface="Arial" pitchFamily="34" charset="-122"/>
                <a:cs typeface="Arial" pitchFamily="34" charset="-120"/>
              </a:rPr>
              <a:t>78,7%</a:t>
            </a:r>
            <a:endParaRPr lang="en-US" sz="3400" dirty="0"/>
          </a:p>
        </p:txBody>
      </p:sp>
      <p:sp>
        <p:nvSpPr>
          <p:cNvPr id="15" name="ringkasan 4 label"/>
          <p:cNvSpPr txBox="1"/>
          <p:nvPr/>
        </p:nvSpPr>
        <p:spPr>
          <a:xfrm>
            <a:off x="9198864"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penduduk zona merah dapat mencapai tujuan dalam 20 menit</a:t>
            </a:r>
            <a:endParaRPr lang="en-US" sz="14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laporan akhir dan makalah Siaga Padang (data versi 2026.10.18).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7772400" cy="100584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Masalah</a:t>
            </a:r>
            <a:endParaRPr lang="en-US" sz="4000" dirty="0"/>
          </a:p>
        </p:txBody>
      </p:sp>
      <p:sp>
        <p:nvSpPr>
          <p:cNvPr id="3" name="Text 0"/>
          <p:cNvSpPr/>
          <p:nvPr>
            <p:ph idx="101" type="body" hasCustomPrompt="1"/>
          </p:nvPr>
        </p:nvSpPr>
        <p:spPr>
          <a:xfrm>
            <a:off x="548640" y="3566160"/>
            <a:ext cx="7772400" cy="9144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Waktu evakuasi singkat, peta sulit dibaca, dan jaringan bisa putus</a:t>
            </a:r>
            <a:endParaRPr lang="en-US" sz="1800" dirty="0"/>
          </a:p>
        </p:txBody>
      </p:sp>
      <p:sp>
        <p:nvSpPr>
          <p:cNvPr id="4" name="simbol masalah lingkaran"/>
          <p:cNvSpPr/>
          <p:nvPr/>
        </p:nvSpPr>
        <p:spPr>
          <a:xfrm>
            <a:off x="9144000" y="2194560"/>
            <a:ext cx="1828800" cy="1828800"/>
          </a:xfrm>
          <a:prstGeom prst="ellipse">
            <a:avLst/>
          </a:prstGeom>
          <a:solidFill>
            <a:srgbClr val="D9472F"/>
          </a:solidFill>
          <a:ln w="12700">
            <a:solidFill>
              <a:srgbClr val="D9472F"/>
            </a:solidFill>
            <a:prstDash val="solid"/>
          </a:ln>
        </p:spPr>
      </p:sp>
      <p:pic>
        <p:nvPicPr>
          <p:cNvPr id="5" name="simbol masalah ikon" descr="preencoded.png">    </p:cNvPr>
          <p:cNvPicPr>
            <a:picLocks noChangeAspect="1"/>
          </p:cNvPicPr>
          <p:nvPr/>
        </p:nvPicPr>
        <p:blipFill>
          <a:blip r:embed="rId1"/>
          <a:stretch>
            <a:fillRect/>
          </a:stretch>
        </p:blipFill>
        <p:spPr>
          <a:xfrm>
            <a:off x="9601200" y="2651760"/>
            <a:ext cx="914400" cy="91440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Tsunami dapat tiba kurang dari 30 menit setelah gempa</a:t>
            </a:r>
            <a:endParaRPr lang="en-US" sz="3000" dirty="0"/>
          </a:p>
        </p:txBody>
      </p:sp>
      <p:sp>
        <p:nvSpPr>
          <p:cNvPr id="3" name="ancaman 1 angka"/>
          <p:cNvSpPr txBox="1"/>
          <p:nvPr/>
        </p:nvSpPr>
        <p:spPr>
          <a:xfrm>
            <a:off x="548640" y="1280160"/>
            <a:ext cx="402336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M 8,9</a:t>
            </a:r>
            <a:endParaRPr lang="en-US" sz="2800" dirty="0"/>
          </a:p>
        </p:txBody>
      </p:sp>
      <p:sp>
        <p:nvSpPr>
          <p:cNvPr id="4" name="ancaman 1 label"/>
          <p:cNvSpPr txBox="1"/>
          <p:nvPr/>
        </p:nvSpPr>
        <p:spPr>
          <a:xfrm>
            <a:off x="548640" y="1797812"/>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skenario gempa megathrust Mentawai–Siberut (BMKG)</a:t>
            </a:r>
            <a:endParaRPr lang="en-US" sz="1400" dirty="0"/>
          </a:p>
        </p:txBody>
      </p:sp>
      <p:sp>
        <p:nvSpPr>
          <p:cNvPr id="5" name="ancaman 2 angka"/>
          <p:cNvSpPr txBox="1"/>
          <p:nvPr/>
        </p:nvSpPr>
        <p:spPr>
          <a:xfrm>
            <a:off x="548640" y="2395728"/>
            <a:ext cx="402336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&gt; 10 m</a:t>
            </a:r>
            <a:endParaRPr lang="en-US" sz="2800" dirty="0"/>
          </a:p>
        </p:txBody>
      </p:sp>
      <p:sp>
        <p:nvSpPr>
          <p:cNvPr id="6" name="ancaman 2 label"/>
          <p:cNvSpPr txBox="1"/>
          <p:nvPr/>
        </p:nvSpPr>
        <p:spPr>
          <a:xfrm>
            <a:off x="548640" y="2913380"/>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perkiraan tinggi tsunami di pesisir Kota Padang</a:t>
            </a:r>
            <a:endParaRPr lang="en-US" sz="1400" dirty="0"/>
          </a:p>
        </p:txBody>
      </p:sp>
      <p:sp>
        <p:nvSpPr>
          <p:cNvPr id="7" name="ancaman 3 angka"/>
          <p:cNvSpPr txBox="1"/>
          <p:nvPr/>
        </p:nvSpPr>
        <p:spPr>
          <a:xfrm>
            <a:off x="548640" y="3511296"/>
            <a:ext cx="402336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8 kec · 55 kel</a:t>
            </a:r>
            <a:endParaRPr lang="en-US" sz="2800" dirty="0"/>
          </a:p>
        </p:txBody>
      </p:sp>
      <p:sp>
        <p:nvSpPr>
          <p:cNvPr id="8" name="ancaman 3 label"/>
          <p:cNvSpPr txBox="1"/>
          <p:nvPr/>
        </p:nvSpPr>
        <p:spPr>
          <a:xfrm>
            <a:off x="548640" y="4028948"/>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wilayah terancam menurut KRB 2023–2027</a:t>
            </a:r>
            <a:endParaRPr lang="en-US" sz="1400" dirty="0"/>
          </a:p>
        </p:txBody>
      </p:sp>
      <p:sp>
        <p:nvSpPr>
          <p:cNvPr id="9" name="ancaman 4 angka"/>
          <p:cNvSpPr txBox="1"/>
          <p:nvPr/>
        </p:nvSpPr>
        <p:spPr>
          <a:xfrm>
            <a:off x="548640" y="4626864"/>
            <a:ext cx="402336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77.014</a:t>
            </a:r>
            <a:endParaRPr lang="en-US" sz="2800" dirty="0"/>
          </a:p>
        </p:txBody>
      </p:sp>
      <p:sp>
        <p:nvSpPr>
          <p:cNvPr id="10" name="ancaman 4 label"/>
          <p:cNvSpPr txBox="1"/>
          <p:nvPr/>
        </p:nvSpPr>
        <p:spPr>
          <a:xfrm>
            <a:off x="548640" y="5144516"/>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jiwa kelompok umur rentan dan 637 penyandang disabilitas</a:t>
            </a:r>
            <a:endParaRPr lang="en-US" sz="1400" dirty="0"/>
          </a:p>
        </p:txBody>
      </p:sp>
      <p:pic>
        <p:nvPicPr>
          <p:cNvPr id="11" name="peta zona dan penduduk" descr="C:\Users\Lenovo\AppData\Local\Temp\claude\c--gemastik\520da942-8140-47c0-a16f-9bde4b92cbe5\scratchpad\deck\aset\zona.png">    </p:cNvPr>
          <p:cNvPicPr>
            <a:picLocks noChangeAspect="1"/>
          </p:cNvPicPr>
          <p:nvPr/>
        </p:nvPicPr>
        <p:blipFill>
          <a:blip r:embed="rId1"/>
          <a:stretch>
            <a:fillRect/>
          </a:stretch>
        </p:blipFill>
        <p:spPr>
          <a:xfrm>
            <a:off x="4800600" y="1280160"/>
            <a:ext cx="6858000" cy="3785616"/>
          </a:xfrm>
          <a:prstGeom prst="rect">
            <a:avLst/>
          </a:prstGeom>
        </p:spPr>
      </p:pic>
      <p:sp>
        <p:nvSpPr>
          <p:cNvPr id="12" name="keterangan peta"/>
          <p:cNvSpPr txBox="1"/>
          <p:nvPr/>
        </p:nvSpPr>
        <p:spPr>
          <a:xfrm>
            <a:off x="4800600" y="5212080"/>
            <a:ext cx="68580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Zona merah membentang di sepanjang pesisir, dan kegiatan harian membuat warga berada jauh dari rumahnya saat gempa.</a:t>
            </a:r>
            <a:endParaRPr lang="en-US" sz="1400" dirty="0"/>
          </a:p>
        </p:txBody>
      </p:sp>
      <p:sp>
        <p:nvSpPr>
          <p:cNvPr id="1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BMKG; Kajian Risiko Bencana Kota Padang 2023–2027; peta evakuasi BPBD; OpenStreetMap.</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Warga tahu harus evakuasi, tetapi belum tentu ke mana</a:t>
            </a:r>
            <a:endParaRPr lang="en-US" sz="3000" dirty="0"/>
          </a:p>
        </p:txBody>
      </p:sp>
      <p:sp>
        <p:nvSpPr>
          <p:cNvPr id="3" name="kartu celah 1"/>
          <p:cNvSpPr/>
          <p:nvPr/>
        </p:nvSpPr>
        <p:spPr>
          <a:xfrm>
            <a:off x="548640" y="1325880"/>
            <a:ext cx="5440680" cy="2148840"/>
          </a:xfrm>
          <a:prstGeom prst="roundRect">
            <a:avLst>
              <a:gd name="adj" fmla="val 3404"/>
            </a:avLst>
          </a:prstGeom>
          <a:solidFill>
            <a:srgbClr val="EEF2F7"/>
          </a:solidFill>
          <a:ln w="12700">
            <a:solidFill>
              <a:srgbClr val="EEF2F7"/>
            </a:solidFill>
            <a:prstDash val="solid"/>
          </a:ln>
        </p:spPr>
      </p:sp>
      <p:sp>
        <p:nvSpPr>
          <p:cNvPr id="4" name="celah 1 lingkaran"/>
          <p:cNvSpPr/>
          <p:nvPr/>
        </p:nvSpPr>
        <p:spPr>
          <a:xfrm>
            <a:off x="822960" y="1600200"/>
            <a:ext cx="731520" cy="731520"/>
          </a:xfrm>
          <a:prstGeom prst="ellipse">
            <a:avLst/>
          </a:prstGeom>
          <a:solidFill>
            <a:srgbClr val="14365D"/>
          </a:solidFill>
          <a:ln w="12700">
            <a:solidFill>
              <a:srgbClr val="14365D"/>
            </a:solidFill>
            <a:prstDash val="solid"/>
          </a:ln>
        </p:spPr>
      </p:sp>
      <p:pic>
        <p:nvPicPr>
          <p:cNvPr id="5" name="celah 1 ikon"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6" name="judul celah 1"/>
          <p:cNvSpPr txBox="1"/>
          <p:nvPr/>
        </p:nvSpPr>
        <p:spPr>
          <a:xfrm>
            <a:off x="1737360" y="1600200"/>
            <a:ext cx="4023360" cy="45720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Peta resmi butuh orientasi</a:t>
            </a:r>
            <a:endParaRPr lang="en-US" sz="1800" dirty="0"/>
          </a:p>
        </p:txBody>
      </p:sp>
      <p:sp>
        <p:nvSpPr>
          <p:cNvPr id="7" name="isi celah 1"/>
          <p:cNvSpPr txBox="1"/>
          <p:nvPr/>
        </p:nvSpPr>
        <p:spPr>
          <a:xfrm>
            <a:off x="1737360" y="2103120"/>
            <a:ext cx="4023360" cy="12801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Pengguna harus menemukan posisinya lalu mencocokkan arah peta dengan jalan di sekitarnya, sulit bagi pendatang.</a:t>
            </a:r>
            <a:endParaRPr lang="en-US" sz="1400" dirty="0"/>
          </a:p>
        </p:txBody>
      </p:sp>
      <p:sp>
        <p:nvSpPr>
          <p:cNvPr id="8" name="kartu celah 2"/>
          <p:cNvSpPr/>
          <p:nvPr/>
        </p:nvSpPr>
        <p:spPr>
          <a:xfrm>
            <a:off x="6172200" y="1325880"/>
            <a:ext cx="5440680" cy="2148840"/>
          </a:xfrm>
          <a:prstGeom prst="roundRect">
            <a:avLst>
              <a:gd name="adj" fmla="val 3404"/>
            </a:avLst>
          </a:prstGeom>
          <a:solidFill>
            <a:srgbClr val="EEF2F7"/>
          </a:solidFill>
          <a:ln w="12700">
            <a:solidFill>
              <a:srgbClr val="EEF2F7"/>
            </a:solidFill>
            <a:prstDash val="solid"/>
          </a:ln>
        </p:spPr>
      </p:sp>
      <p:sp>
        <p:nvSpPr>
          <p:cNvPr id="9" name="celah 2 lingkaran"/>
          <p:cNvSpPr/>
          <p:nvPr/>
        </p:nvSpPr>
        <p:spPr>
          <a:xfrm>
            <a:off x="6446520" y="1600200"/>
            <a:ext cx="731520" cy="731520"/>
          </a:xfrm>
          <a:prstGeom prst="ellipse">
            <a:avLst/>
          </a:prstGeom>
          <a:solidFill>
            <a:srgbClr val="D9472F"/>
          </a:solidFill>
          <a:ln w="12700">
            <a:solidFill>
              <a:srgbClr val="D9472F"/>
            </a:solidFill>
            <a:prstDash val="solid"/>
          </a:ln>
        </p:spPr>
      </p:sp>
      <p:pic>
        <p:nvPicPr>
          <p:cNvPr id="10" name="celah 2 ikon" descr="preencoded.png">    </p:cNvPr>
          <p:cNvPicPr>
            <a:picLocks noChangeAspect="1"/>
          </p:cNvPicPr>
          <p:nvPr/>
        </p:nvPicPr>
        <p:blipFill>
          <a:blip r:embed="rId2"/>
          <a:stretch>
            <a:fillRect/>
          </a:stretch>
        </p:blipFill>
        <p:spPr>
          <a:xfrm>
            <a:off x="6629400" y="1783080"/>
            <a:ext cx="365760" cy="365760"/>
          </a:xfrm>
          <a:prstGeom prst="rect">
            <a:avLst/>
          </a:prstGeom>
        </p:spPr>
      </p:pic>
      <p:sp>
        <p:nvSpPr>
          <p:cNvPr id="11" name="judul celah 2"/>
          <p:cNvSpPr txBox="1"/>
          <p:nvPr/>
        </p:nvSpPr>
        <p:spPr>
          <a:xfrm>
            <a:off x="7360920" y="1600200"/>
            <a:ext cx="4023360" cy="45720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Pengujian awal: 1 dari 5 gagal</a:t>
            </a:r>
            <a:endParaRPr lang="en-US" sz="1800" dirty="0"/>
          </a:p>
        </p:txBody>
      </p:sp>
      <p:sp>
        <p:nvSpPr>
          <p:cNvPr id="12" name="isi celah 2"/>
          <p:cNvSpPr txBox="1"/>
          <p:nvPr/>
        </p:nvSpPr>
        <p:spPr>
          <a:xfrm>
            <a:off x="7360920" y="2103120"/>
            <a:ext cx="4023360" cy="12801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Agustus 2026, lima calon pengguna di zona merah: empat butuh 27–89 detik dengan peta resmi, satu pendatang tidak menemukan tujuan.</a:t>
            </a:r>
            <a:endParaRPr lang="en-US" sz="1400" dirty="0"/>
          </a:p>
        </p:txBody>
      </p:sp>
      <p:sp>
        <p:nvSpPr>
          <p:cNvPr id="13" name="kartu celah 3"/>
          <p:cNvSpPr/>
          <p:nvPr/>
        </p:nvSpPr>
        <p:spPr>
          <a:xfrm>
            <a:off x="548640" y="3657600"/>
            <a:ext cx="5440680" cy="2148840"/>
          </a:xfrm>
          <a:prstGeom prst="roundRect">
            <a:avLst>
              <a:gd name="adj" fmla="val 3404"/>
            </a:avLst>
          </a:prstGeom>
          <a:solidFill>
            <a:srgbClr val="EEF2F7"/>
          </a:solidFill>
          <a:ln w="12700">
            <a:solidFill>
              <a:srgbClr val="EEF2F7"/>
            </a:solidFill>
            <a:prstDash val="solid"/>
          </a:ln>
        </p:spPr>
      </p:sp>
      <p:sp>
        <p:nvSpPr>
          <p:cNvPr id="14" name="celah 3 lingkaran"/>
          <p:cNvSpPr/>
          <p:nvPr/>
        </p:nvSpPr>
        <p:spPr>
          <a:xfrm>
            <a:off x="822960" y="3931920"/>
            <a:ext cx="731520" cy="731520"/>
          </a:xfrm>
          <a:prstGeom prst="ellipse">
            <a:avLst/>
          </a:prstGeom>
          <a:solidFill>
            <a:srgbClr val="2F7F9C"/>
          </a:solidFill>
          <a:ln w="12700">
            <a:solidFill>
              <a:srgbClr val="2F7F9C"/>
            </a:solidFill>
            <a:prstDash val="solid"/>
          </a:ln>
        </p:spPr>
      </p:sp>
      <p:pic>
        <p:nvPicPr>
          <p:cNvPr id="15" name="celah 3 ikon" descr="preencoded.png">    </p:cNvPr>
          <p:cNvPicPr>
            <a:picLocks noChangeAspect="1"/>
          </p:cNvPicPr>
          <p:nvPr/>
        </p:nvPicPr>
        <p:blipFill>
          <a:blip r:embed="rId3"/>
          <a:stretch>
            <a:fillRect/>
          </a:stretch>
        </p:blipFill>
        <p:spPr>
          <a:xfrm>
            <a:off x="1005840" y="4114800"/>
            <a:ext cx="365760" cy="365760"/>
          </a:xfrm>
          <a:prstGeom prst="rect">
            <a:avLst/>
          </a:prstGeom>
        </p:spPr>
      </p:pic>
      <p:sp>
        <p:nvSpPr>
          <p:cNvPr id="16" name="judul celah 3"/>
          <p:cNvSpPr txBox="1"/>
          <p:nvPr/>
        </p:nvSpPr>
        <p:spPr>
          <a:xfrm>
            <a:off x="1737360" y="3931920"/>
            <a:ext cx="4023360" cy="45720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Tahap kedua: 56% tidak tahu</a:t>
            </a:r>
            <a:endParaRPr lang="en-US" sz="1800" dirty="0"/>
          </a:p>
        </p:txBody>
      </p:sp>
      <p:sp>
        <p:nvSpPr>
          <p:cNvPr id="17" name="isi celah 3"/>
          <p:cNvSpPr txBox="1"/>
          <p:nvPr/>
        </p:nvSpPr>
        <p:spPr>
          <a:xfrm>
            <a:off x="1737360" y="4434840"/>
            <a:ext cx="4023360" cy="12801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Sebelum mencoba aplikasi, 14 dari 25 peserta tidak dapat menyebutkan tempat evakuasi tanpa bantuan ponsel, termasuk empat wisatawan.</a:t>
            </a:r>
            <a:endParaRPr lang="en-US" sz="1400" dirty="0"/>
          </a:p>
        </p:txBody>
      </p:sp>
      <p:sp>
        <p:nvSpPr>
          <p:cNvPr id="18" name="kartu celah 4"/>
          <p:cNvSpPr/>
          <p:nvPr/>
        </p:nvSpPr>
        <p:spPr>
          <a:xfrm>
            <a:off x="6172200" y="3657600"/>
            <a:ext cx="5440680" cy="2148840"/>
          </a:xfrm>
          <a:prstGeom prst="roundRect">
            <a:avLst>
              <a:gd name="adj" fmla="val 3404"/>
            </a:avLst>
          </a:prstGeom>
          <a:solidFill>
            <a:srgbClr val="EEF2F7"/>
          </a:solidFill>
          <a:ln w="12700">
            <a:solidFill>
              <a:srgbClr val="EEF2F7"/>
            </a:solidFill>
            <a:prstDash val="solid"/>
          </a:ln>
        </p:spPr>
      </p:sp>
      <p:sp>
        <p:nvSpPr>
          <p:cNvPr id="19" name="celah 4 lingkaran"/>
          <p:cNvSpPr/>
          <p:nvPr/>
        </p:nvSpPr>
        <p:spPr>
          <a:xfrm>
            <a:off x="6446520" y="3931920"/>
            <a:ext cx="731520" cy="731520"/>
          </a:xfrm>
          <a:prstGeom prst="ellipse">
            <a:avLst/>
          </a:prstGeom>
          <a:solidFill>
            <a:srgbClr val="7C8590"/>
          </a:solidFill>
          <a:ln w="12700">
            <a:solidFill>
              <a:srgbClr val="7C8590"/>
            </a:solidFill>
            <a:prstDash val="solid"/>
          </a:ln>
        </p:spPr>
      </p:sp>
      <p:pic>
        <p:nvPicPr>
          <p:cNvPr id="20" name="celah 4 ikon" descr="preencoded.png">    </p:cNvPr>
          <p:cNvPicPr>
            <a:picLocks noChangeAspect="1"/>
          </p:cNvPicPr>
          <p:nvPr/>
        </p:nvPicPr>
        <p:blipFill>
          <a:blip r:embed="rId4"/>
          <a:stretch>
            <a:fillRect/>
          </a:stretch>
        </p:blipFill>
        <p:spPr>
          <a:xfrm>
            <a:off x="6629400" y="4114800"/>
            <a:ext cx="365760" cy="365760"/>
          </a:xfrm>
          <a:prstGeom prst="rect">
            <a:avLst/>
          </a:prstGeom>
        </p:spPr>
      </p:pic>
      <p:sp>
        <p:nvSpPr>
          <p:cNvPr id="21" name="judul celah 4"/>
          <p:cNvSpPr txBox="1"/>
          <p:nvPr/>
        </p:nvSpPr>
        <p:spPr>
          <a:xfrm>
            <a:off x="7360920" y="3931920"/>
            <a:ext cx="4023360" cy="45720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Jaringan dapat terganggu</a:t>
            </a:r>
            <a:endParaRPr lang="en-US" sz="1800" dirty="0"/>
          </a:p>
        </p:txBody>
      </p:sp>
      <p:sp>
        <p:nvSpPr>
          <p:cNvPr id="22" name="isi celah 4"/>
          <p:cNvSpPr txBox="1"/>
          <p:nvPr/>
        </p:nvSpPr>
        <p:spPr>
          <a:xfrm>
            <a:off x="7360920" y="4434840"/>
            <a:ext cx="4023360" cy="12801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di ponsel memerlukan koneksi, padahal jaringan telekomunikasi bisa terganggu setelah gempa.</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Empat aturan BPBD menjadi dasar aplikasi</a:t>
            </a:r>
            <a:endParaRPr lang="en-US" sz="3000" dirty="0"/>
          </a:p>
        </p:txBody>
      </p:sp>
      <p:sp>
        <p:nvSpPr>
          <p:cNvPr id="3" name="pengantar aturan"/>
          <p:cNvSpPr txBox="1"/>
          <p:nvPr/>
        </p:nvSpPr>
        <p:spPr>
          <a:xfrm>
            <a:off x="548640" y="1188720"/>
            <a:ext cx="11094415" cy="457200"/>
          </a:xfrm>
          <a:prstGeom prst="rect">
            <a:avLst/>
          </a:prstGeom>
          <a:noFill/>
          <a:ln/>
        </p:spPr>
        <p:txBody>
          <a:bodyPr wrap="square" lIns="0" tIns="0" rIns="0" bIns="0" rtlCol="0" anchor="t"/>
          <a:lstStyle/>
          <a:p>
            <a:pPr indent="0" marL="0">
              <a:buNone/>
            </a:pPr>
            <a:r>
              <a:rPr lang="en-US" sz="1600" dirty="0">
                <a:solidFill>
                  <a:srgbClr val="5D6670"/>
                </a:solidFill>
                <a:latin typeface="Calibri" pitchFamily="34" charset="0"/>
                <a:ea typeface="Calibri" pitchFamily="34" charset="-122"/>
                <a:cs typeface="Calibri" pitchFamily="34" charset="-120"/>
              </a:rPr>
              <a:t>Hasil wawancara dengan tiga narasumber BPBD Kota Padang (28 September–7 Oktober 2026).</a:t>
            </a:r>
            <a:endParaRPr lang="en-US" sz="1600" dirty="0"/>
          </a:p>
        </p:txBody>
      </p:sp>
      <p:sp>
        <p:nvSpPr>
          <p:cNvPr id="4" name="kartu aturan 1"/>
          <p:cNvSpPr/>
          <p:nvPr/>
        </p:nvSpPr>
        <p:spPr>
          <a:xfrm>
            <a:off x="548640" y="1828800"/>
            <a:ext cx="2606040" cy="3566160"/>
          </a:xfrm>
          <a:prstGeom prst="roundRect">
            <a:avLst>
              <a:gd name="adj" fmla="val 2807"/>
            </a:avLst>
          </a:prstGeom>
          <a:solidFill>
            <a:srgbClr val="EEF2F7"/>
          </a:solidFill>
          <a:ln w="12700">
            <a:solidFill>
              <a:srgbClr val="EEF2F7"/>
            </a:solidFill>
            <a:prstDash val="solid"/>
          </a:ln>
        </p:spPr>
      </p:sp>
      <p:sp>
        <p:nvSpPr>
          <p:cNvPr id="5" name="aturan 1 lingkaran"/>
          <p:cNvSpPr/>
          <p:nvPr/>
        </p:nvSpPr>
        <p:spPr>
          <a:xfrm>
            <a:off x="1417320" y="2103120"/>
            <a:ext cx="868680" cy="868680"/>
          </a:xfrm>
          <a:prstGeom prst="ellipse">
            <a:avLst/>
          </a:prstGeom>
          <a:solidFill>
            <a:srgbClr val="14365D"/>
          </a:solidFill>
          <a:ln w="12700">
            <a:solidFill>
              <a:srgbClr val="14365D"/>
            </a:solidFill>
            <a:prstDash val="solid"/>
          </a:ln>
        </p:spPr>
      </p:sp>
      <p:pic>
        <p:nvPicPr>
          <p:cNvPr id="6" name="aturan 1 ikon" descr="preencoded.png">    </p:cNvPr>
          <p:cNvPicPr>
            <a:picLocks noChangeAspect="1"/>
          </p:cNvPicPr>
          <p:nvPr/>
        </p:nvPicPr>
        <p:blipFill>
          <a:blip r:embed="rId1"/>
          <a:stretch>
            <a:fillRect/>
          </a:stretch>
        </p:blipFill>
        <p:spPr>
          <a:xfrm>
            <a:off x="1634490" y="2320290"/>
            <a:ext cx="434340" cy="434340"/>
          </a:xfrm>
          <a:prstGeom prst="rect">
            <a:avLst/>
          </a:prstGeom>
        </p:spPr>
      </p:pic>
      <p:sp>
        <p:nvSpPr>
          <p:cNvPr id="7" name="judul aturan 1"/>
          <p:cNvSpPr txBox="1"/>
          <p:nvPr/>
        </p:nvSpPr>
        <p:spPr>
          <a:xfrm>
            <a:off x="777240"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Gempa &gt; 30 detik</a:t>
            </a:r>
            <a:endParaRPr lang="en-US" sz="1800" dirty="0"/>
          </a:p>
        </p:txBody>
      </p:sp>
      <p:sp>
        <p:nvSpPr>
          <p:cNvPr id="8" name="isi aturan 1"/>
          <p:cNvSpPr txBox="1"/>
          <p:nvPr/>
        </p:nvSpPr>
        <p:spPr>
          <a:xfrm>
            <a:off x="777240" y="3703320"/>
            <a:ext cx="214884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Segera evakuasi bila gempa terasa lebih dari 30 detik, baik pelan maupun kuat.</a:t>
            </a:r>
            <a:endParaRPr lang="en-US" sz="1400" dirty="0"/>
          </a:p>
        </p:txBody>
      </p:sp>
      <p:sp>
        <p:nvSpPr>
          <p:cNvPr id="9" name="kartu aturan 2"/>
          <p:cNvSpPr/>
          <p:nvPr/>
        </p:nvSpPr>
        <p:spPr>
          <a:xfrm>
            <a:off x="3355848" y="1828800"/>
            <a:ext cx="2606040" cy="3566160"/>
          </a:xfrm>
          <a:prstGeom prst="roundRect">
            <a:avLst>
              <a:gd name="adj" fmla="val 2807"/>
            </a:avLst>
          </a:prstGeom>
          <a:solidFill>
            <a:srgbClr val="EEF2F7"/>
          </a:solidFill>
          <a:ln w="12700">
            <a:solidFill>
              <a:srgbClr val="EEF2F7"/>
            </a:solidFill>
            <a:prstDash val="solid"/>
          </a:ln>
        </p:spPr>
      </p:sp>
      <p:sp>
        <p:nvSpPr>
          <p:cNvPr id="10" name="aturan 2 lingkaran"/>
          <p:cNvSpPr/>
          <p:nvPr/>
        </p:nvSpPr>
        <p:spPr>
          <a:xfrm>
            <a:off x="4224528" y="2103120"/>
            <a:ext cx="868680" cy="868680"/>
          </a:xfrm>
          <a:prstGeom prst="ellipse">
            <a:avLst/>
          </a:prstGeom>
          <a:solidFill>
            <a:srgbClr val="14365D"/>
          </a:solidFill>
          <a:ln w="12700">
            <a:solidFill>
              <a:srgbClr val="14365D"/>
            </a:solidFill>
            <a:prstDash val="solid"/>
          </a:ln>
        </p:spPr>
      </p:sp>
      <p:pic>
        <p:nvPicPr>
          <p:cNvPr id="11" name="aturan 2 ikon" descr="preencoded.png">    </p:cNvPr>
          <p:cNvPicPr>
            <a:picLocks noChangeAspect="1"/>
          </p:cNvPicPr>
          <p:nvPr/>
        </p:nvPicPr>
        <p:blipFill>
          <a:blip r:embed="rId2"/>
          <a:stretch>
            <a:fillRect/>
          </a:stretch>
        </p:blipFill>
        <p:spPr>
          <a:xfrm>
            <a:off x="4441698" y="2320290"/>
            <a:ext cx="434340" cy="434340"/>
          </a:xfrm>
          <a:prstGeom prst="rect">
            <a:avLst/>
          </a:prstGeom>
        </p:spPr>
      </p:pic>
      <p:sp>
        <p:nvSpPr>
          <p:cNvPr id="12" name="judul aturan 2"/>
          <p:cNvSpPr txBox="1"/>
          <p:nvPr/>
        </p:nvSpPr>
        <p:spPr>
          <a:xfrm>
            <a:off x="3584448"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Menjauhi pantai</a:t>
            </a:r>
            <a:endParaRPr lang="en-US" sz="1800" dirty="0"/>
          </a:p>
        </p:txBody>
      </p:sp>
      <p:sp>
        <p:nvSpPr>
          <p:cNvPr id="13" name="isi aturan 2"/>
          <p:cNvSpPr txBox="1"/>
          <p:nvPr/>
        </p:nvSpPr>
        <p:spPr>
          <a:xfrm>
            <a:off x="3584448" y="3703320"/>
            <a:ext cx="214884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Arah evakuasi tidak mendekati dan tidak sejajar dengan garis pantai.</a:t>
            </a:r>
            <a:endParaRPr lang="en-US" sz="1400" dirty="0"/>
          </a:p>
        </p:txBody>
      </p:sp>
      <p:sp>
        <p:nvSpPr>
          <p:cNvPr id="14" name="kartu aturan 3"/>
          <p:cNvSpPr/>
          <p:nvPr/>
        </p:nvSpPr>
        <p:spPr>
          <a:xfrm>
            <a:off x="6163056" y="1828800"/>
            <a:ext cx="2606040" cy="3566160"/>
          </a:xfrm>
          <a:prstGeom prst="roundRect">
            <a:avLst>
              <a:gd name="adj" fmla="val 2807"/>
            </a:avLst>
          </a:prstGeom>
          <a:solidFill>
            <a:srgbClr val="EEF2F7"/>
          </a:solidFill>
          <a:ln w="12700">
            <a:solidFill>
              <a:srgbClr val="EEF2F7"/>
            </a:solidFill>
            <a:prstDash val="solid"/>
          </a:ln>
        </p:spPr>
      </p:sp>
      <p:sp>
        <p:nvSpPr>
          <p:cNvPr id="15" name="aturan 3 lingkaran"/>
          <p:cNvSpPr/>
          <p:nvPr/>
        </p:nvSpPr>
        <p:spPr>
          <a:xfrm>
            <a:off x="7031736" y="2103120"/>
            <a:ext cx="868680" cy="868680"/>
          </a:xfrm>
          <a:prstGeom prst="ellipse">
            <a:avLst/>
          </a:prstGeom>
          <a:solidFill>
            <a:srgbClr val="14365D"/>
          </a:solidFill>
          <a:ln w="12700">
            <a:solidFill>
              <a:srgbClr val="14365D"/>
            </a:solidFill>
            <a:prstDash val="solid"/>
          </a:ln>
        </p:spPr>
      </p:sp>
      <p:pic>
        <p:nvPicPr>
          <p:cNvPr id="16" name="aturan 3 ikon" descr="preencoded.png">    </p:cNvPr>
          <p:cNvPicPr>
            <a:picLocks noChangeAspect="1"/>
          </p:cNvPicPr>
          <p:nvPr/>
        </p:nvPicPr>
        <p:blipFill>
          <a:blip r:embed="rId3"/>
          <a:stretch>
            <a:fillRect/>
          </a:stretch>
        </p:blipFill>
        <p:spPr>
          <a:xfrm>
            <a:off x="7248906" y="2320290"/>
            <a:ext cx="434340" cy="434340"/>
          </a:xfrm>
          <a:prstGeom prst="rect">
            <a:avLst/>
          </a:prstGeom>
        </p:spPr>
      </p:pic>
      <p:sp>
        <p:nvSpPr>
          <p:cNvPr id="17" name="judul aturan 3"/>
          <p:cNvSpPr txBox="1"/>
          <p:nvPr/>
        </p:nvSpPr>
        <p:spPr>
          <a:xfrm>
            <a:off x="6391656"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Hindari jembatan</a:t>
            </a:r>
            <a:endParaRPr lang="en-US" sz="1800" dirty="0"/>
          </a:p>
        </p:txBody>
      </p:sp>
      <p:sp>
        <p:nvSpPr>
          <p:cNvPr id="18" name="isi aturan 3"/>
          <p:cNvSpPr txBox="1"/>
          <p:nvPr/>
        </p:nvSpPr>
        <p:spPr>
          <a:xfrm>
            <a:off x="6391656" y="3703320"/>
            <a:ext cx="214884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Jembatan sebaiknya tidak dilalui selama masih ada jalan lain.</a:t>
            </a:r>
            <a:endParaRPr lang="en-US" sz="1400" dirty="0"/>
          </a:p>
        </p:txBody>
      </p:sp>
      <p:sp>
        <p:nvSpPr>
          <p:cNvPr id="19" name="kartu aturan 4"/>
          <p:cNvSpPr/>
          <p:nvPr/>
        </p:nvSpPr>
        <p:spPr>
          <a:xfrm>
            <a:off x="8970264" y="1828800"/>
            <a:ext cx="2606040" cy="3566160"/>
          </a:xfrm>
          <a:prstGeom prst="roundRect">
            <a:avLst>
              <a:gd name="adj" fmla="val 2807"/>
            </a:avLst>
          </a:prstGeom>
          <a:solidFill>
            <a:srgbClr val="EEF2F7"/>
          </a:solidFill>
          <a:ln w="12700">
            <a:solidFill>
              <a:srgbClr val="EEF2F7"/>
            </a:solidFill>
            <a:prstDash val="solid"/>
          </a:ln>
        </p:spPr>
      </p:sp>
      <p:sp>
        <p:nvSpPr>
          <p:cNvPr id="20" name="aturan 4 lingkaran"/>
          <p:cNvSpPr/>
          <p:nvPr/>
        </p:nvSpPr>
        <p:spPr>
          <a:xfrm>
            <a:off x="9838944" y="2103120"/>
            <a:ext cx="868680" cy="868680"/>
          </a:xfrm>
          <a:prstGeom prst="ellipse">
            <a:avLst/>
          </a:prstGeom>
          <a:solidFill>
            <a:srgbClr val="2E8B57"/>
          </a:solidFill>
          <a:ln w="12700">
            <a:solidFill>
              <a:srgbClr val="2E8B57"/>
            </a:solidFill>
            <a:prstDash val="solid"/>
          </a:ln>
        </p:spPr>
      </p:sp>
      <p:pic>
        <p:nvPicPr>
          <p:cNvPr id="21" name="aturan 4 ikon" descr="preencoded.png">    </p:cNvPr>
          <p:cNvPicPr>
            <a:picLocks noChangeAspect="1"/>
          </p:cNvPicPr>
          <p:nvPr/>
        </p:nvPicPr>
        <p:blipFill>
          <a:blip r:embed="rId4"/>
          <a:stretch>
            <a:fillRect/>
          </a:stretch>
        </p:blipFill>
        <p:spPr>
          <a:xfrm>
            <a:off x="10056114" y="2320290"/>
            <a:ext cx="434340" cy="434340"/>
          </a:xfrm>
          <a:prstGeom prst="rect">
            <a:avLst/>
          </a:prstGeom>
        </p:spPr>
      </p:pic>
      <p:sp>
        <p:nvSpPr>
          <p:cNvPr id="22" name="judul aturan 4"/>
          <p:cNvSpPr txBox="1"/>
          <p:nvPr/>
        </p:nvSpPr>
        <p:spPr>
          <a:xfrm>
            <a:off x="9198864"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Zona merah dan hijau</a:t>
            </a:r>
            <a:endParaRPr lang="en-US" sz="1800" dirty="0"/>
          </a:p>
        </p:txBody>
      </p:sp>
      <p:sp>
        <p:nvSpPr>
          <p:cNvPr id="23" name="isi aturan 4"/>
          <p:cNvSpPr txBox="1"/>
          <p:nvPr/>
        </p:nvSpPr>
        <p:spPr>
          <a:xfrm>
            <a:off x="9198864" y="3703320"/>
            <a:ext cx="214884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Wilayah dibedakan menjadi zona merah yang dapat terlanda tsunami dan zona hijau di luarnya.</a:t>
            </a:r>
            <a:endParaRPr lang="en-US" sz="1400" dirty="0"/>
          </a:p>
        </p:txBody>
      </p:sp>
      <p:sp>
        <p:nvSpPr>
          <p:cNvPr id="24" name="temuan audit"/>
          <p:cNvSpPr txBox="1"/>
          <p:nvPr/>
        </p:nvSpPr>
        <p:spPr>
          <a:xfrm>
            <a:off x="548640" y="5532120"/>
            <a:ext cx="11094415" cy="457200"/>
          </a:xfrm>
          <a:prstGeom prst="rect">
            <a:avLst/>
          </a:prstGeom>
          <a:noFill/>
          <a:ln/>
        </p:spPr>
        <p:txBody>
          <a:bodyPr wrap="square" lIns="0" tIns="0" rIns="0" bIns="0" rtlCol="0" anchor="t"/>
          <a:lstStyle/>
          <a:p>
            <a:pPr indent="0" marL="0">
              <a:buNone/>
            </a:pPr>
            <a:r>
              <a:rPr lang="en-US" sz="1400" dirty="0">
                <a:solidFill>
                  <a:srgbClr val="D9472F"/>
                </a:solidFill>
                <a:latin typeface="Calibri" pitchFamily="34" charset="0"/>
                <a:ea typeface="Calibri" pitchFamily="34" charset="-122"/>
                <a:cs typeface="Calibri" pitchFamily="34" charset="-120"/>
              </a:rPr>
              <a:t>Audit data babak penyisihan: 35,2% simpul zona merah mengarah ke tujuan yang lebih dekat ke pantai, dan 31,4% jalur ke TES pertama melewati jembatan. Seluruh jalur lalu dihitung ulang.</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Belum ada jalur luring dari posisi pengguna</a:t>
            </a:r>
            <a:endParaRPr lang="en-US" sz="3000" dirty="0"/>
          </a:p>
        </p:txBody>
      </p:sp>
      <p:graphicFrame>
        <p:nvGraphicFramePr>
          <p:cNvPr id="8" name="tabel pembanding"/>
          <p:cNvGraphicFramePr>
            <a:graphicFrameLocks noGrp="1"/>
          </p:cNvGraphicFramePr>
          <p:nvPr>
            <p:extLst>
              <p:ext uri="{D42A27DB-BD31-4B8C-83A1-F6EECF244321}">
                <p14:modId xmlns:p14="http://schemas.microsoft.com/office/powerpoint/2010/main" val="1579011935"/>
              </p:ext>
            </p:extLst>
          </p:nvPr>
        </p:nvGraphicFramePr>
        <p:xfrm>
          <a:off x="548640" y="1234440"/>
          <a:ext cx="7589520" cy="914400"/>
        </p:xfrm>
        <a:graphic>
          <a:graphicData uri="http://schemas.openxmlformats.org/drawingml/2006/table">
            <a:tbl>
              <a:tblPr/>
              <a:tblGrid>
                <a:gridCol w="2377440"/>
                <a:gridCol w="2377440"/>
                <a:gridCol w="283464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Pembanding</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Fokus</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Kebutuhan yang belum terjawab</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Padang Sigap</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Peta rencana evakuasi per kelurahan</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Pengguna harus menemukan posisinya sendiri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WebGIS Renevak</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Lapisan jalur dan zona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Butuh koneksi; tanpa arahan dari posisi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InaRISK (BNPB)</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Informasi risiko berbasis lokasi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Tanpa navigasi evakuasi; butuh koneksi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InaTEWS (BMKG)</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Peringatan resmi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menentukan jalur dari posisi pengguna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NVS Tsunami Evacuation (AS)</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tercepat keluar zona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Fitur jalur sebagai layanan daring</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Zenkoku Hinanjo Guide (Jepang)</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Tempat evakuasi terdekat</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Saat luring hanya arah garis lurus</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Google Maps</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Navigasi umum</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Jalan kaki tidak luring; tanpa aturan TES/TEA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kartu posisi siaga padang"/>
          <p:cNvSpPr/>
          <p:nvPr/>
        </p:nvSpPr>
        <p:spPr>
          <a:xfrm>
            <a:off x="8366760" y="1234440"/>
            <a:ext cx="3273552" cy="4297680"/>
          </a:xfrm>
          <a:prstGeom prst="roundRect">
            <a:avLst>
              <a:gd name="adj" fmla="val 2235"/>
            </a:avLst>
          </a:prstGeom>
          <a:solidFill>
            <a:srgbClr val="14365D"/>
          </a:solidFill>
          <a:ln w="12700">
            <a:solidFill>
              <a:srgbClr val="14365D"/>
            </a:solidFill>
            <a:prstDash val="solid"/>
          </a:ln>
        </p:spPr>
      </p:sp>
      <p:sp>
        <p:nvSpPr>
          <p:cNvPr id="5" name="posisi lingkaran"/>
          <p:cNvSpPr/>
          <p:nvPr/>
        </p:nvSpPr>
        <p:spPr>
          <a:xfrm>
            <a:off x="8641080" y="1508760"/>
            <a:ext cx="777240" cy="777240"/>
          </a:xfrm>
          <a:prstGeom prst="ellipse">
            <a:avLst/>
          </a:prstGeom>
          <a:solidFill>
            <a:srgbClr val="F5B700"/>
          </a:solidFill>
          <a:ln w="12700">
            <a:solidFill>
              <a:srgbClr val="F5B700"/>
            </a:solidFill>
            <a:prstDash val="solid"/>
          </a:ln>
        </p:spPr>
      </p:sp>
      <p:pic>
        <p:nvPicPr>
          <p:cNvPr id="6" name="posisi ikon" descr="preencoded.png">    </p:cNvPr>
          <p:cNvPicPr>
            <a:picLocks noChangeAspect="1"/>
          </p:cNvPicPr>
          <p:nvPr/>
        </p:nvPicPr>
        <p:blipFill>
          <a:blip r:embed="rId1"/>
          <a:stretch>
            <a:fillRect/>
          </a:stretch>
        </p:blipFill>
        <p:spPr>
          <a:xfrm>
            <a:off x="8835390" y="1703070"/>
            <a:ext cx="388620" cy="388620"/>
          </a:xfrm>
          <a:prstGeom prst="rect">
            <a:avLst/>
          </a:prstGeom>
        </p:spPr>
      </p:pic>
      <p:sp>
        <p:nvSpPr>
          <p:cNvPr id="7" name="judul posisi"/>
          <p:cNvSpPr txBox="1"/>
          <p:nvPr/>
        </p:nvSpPr>
        <p:spPr>
          <a:xfrm>
            <a:off x="8641080" y="2423160"/>
            <a:ext cx="2743200" cy="457200"/>
          </a:xfrm>
          <a:prstGeom prst="rect">
            <a:avLst/>
          </a:prstGeom>
          <a:noFill/>
          <a:ln/>
        </p:spPr>
        <p:txBody>
          <a:bodyPr wrap="square" lIns="0" tIns="0" rIns="0" bIns="0" rtlCol="0" anchor="t"/>
          <a:lstStyle/>
          <a:p>
            <a:pPr indent="0" marL="0">
              <a:buNone/>
            </a:pPr>
            <a:r>
              <a:rPr lang="en-US" sz="2000" b="1" dirty="0">
                <a:solidFill>
                  <a:srgbClr val="F5B700"/>
                </a:solidFill>
                <a:latin typeface="Calibri" pitchFamily="34" charset="0"/>
                <a:ea typeface="Calibri" pitchFamily="34" charset="-122"/>
                <a:cs typeface="Calibri" pitchFamily="34" charset="-120"/>
              </a:rPr>
              <a:t>Siaga Padang</a:t>
            </a:r>
            <a:endParaRPr lang="en-US" sz="2000" dirty="0"/>
          </a:p>
        </p:txBody>
      </p:sp>
      <p:sp>
        <p:nvSpPr>
          <p:cNvPr id="8" name="isi posisi"/>
          <p:cNvSpPr txBox="1"/>
          <p:nvPr/>
        </p:nvSpPr>
        <p:spPr>
          <a:xfrm>
            <a:off x="8641080" y="2926080"/>
            <a:ext cx="27889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Arahan dimulai dari posisi ponsel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Jalur jalan kaki tersimpan di ponsel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Mengikuti aturan BPBD dan tujuan resmi TES, TEA, zona hijau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Peringatan resmi membuka layar evakuasi</a:t>
            </a:r>
            <a:endParaRPr lang="en-US" sz="1400" dirty="0"/>
          </a:p>
        </p:txBody>
      </p:sp>
      <p:sp>
        <p:nvSpPr>
          <p:cNvPr id="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deskripsi resmi tiap aplikasi dan publikasi yang dirujuk pada Tabel 1.2 laporan akhir.</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7772400" cy="100584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Solusi</a:t>
            </a:r>
            <a:endParaRPr lang="en-US" sz="4000" dirty="0"/>
          </a:p>
        </p:txBody>
      </p:sp>
      <p:sp>
        <p:nvSpPr>
          <p:cNvPr id="3" name="Text 0"/>
          <p:cNvSpPr/>
          <p:nvPr>
            <p:ph idx="101" type="body" hasCustomPrompt="1"/>
          </p:nvPr>
        </p:nvSpPr>
        <p:spPr>
          <a:xfrm>
            <a:off x="548640" y="3566160"/>
            <a:ext cx="7772400" cy="9144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Jalur dihitung sebelum kejadian, dibaca ponsel saat darurat</a:t>
            </a:r>
            <a:endParaRPr lang="en-US" sz="1800" dirty="0"/>
          </a:p>
        </p:txBody>
      </p:sp>
      <p:sp>
        <p:nvSpPr>
          <p:cNvPr id="4" name="simbol solusi lingkaran"/>
          <p:cNvSpPr/>
          <p:nvPr/>
        </p:nvSpPr>
        <p:spPr>
          <a:xfrm>
            <a:off x="9144000" y="2194560"/>
            <a:ext cx="1828800" cy="1828800"/>
          </a:xfrm>
          <a:prstGeom prst="ellipse">
            <a:avLst/>
          </a:prstGeom>
          <a:solidFill>
            <a:srgbClr val="F5B700"/>
          </a:solidFill>
          <a:ln w="12700">
            <a:solidFill>
              <a:srgbClr val="F5B700"/>
            </a:solidFill>
            <a:prstDash val="solid"/>
          </a:ln>
        </p:spPr>
      </p:sp>
      <p:pic>
        <p:nvPicPr>
          <p:cNvPr id="5" name="simbol solusi ikon" descr="preencoded.png">    </p:cNvPr>
          <p:cNvPicPr>
            <a:picLocks noChangeAspect="1"/>
          </p:cNvPicPr>
          <p:nvPr/>
        </p:nvPicPr>
        <p:blipFill>
          <a:blip r:embed="rId1"/>
          <a:stretch>
            <a:fillRect/>
          </a:stretch>
        </p:blipFill>
        <p:spPr>
          <a:xfrm>
            <a:off x="9601200" y="2651760"/>
            <a:ext cx="914400" cy="91440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Lima keunggulan Siaga Padang</a:t>
            </a:r>
            <a:endParaRPr lang="en-US" sz="3000" dirty="0"/>
          </a:p>
        </p:txBody>
      </p:sp>
      <p:sp>
        <p:nvSpPr>
          <p:cNvPr id="3" name="kartu keunggulan 1"/>
          <p:cNvSpPr/>
          <p:nvPr/>
        </p:nvSpPr>
        <p:spPr>
          <a:xfrm>
            <a:off x="548640" y="1325880"/>
            <a:ext cx="2103120" cy="4434840"/>
          </a:xfrm>
          <a:prstGeom prst="roundRect">
            <a:avLst>
              <a:gd name="adj" fmla="val 3478"/>
            </a:avLst>
          </a:prstGeom>
          <a:solidFill>
            <a:srgbClr val="EEF2F7"/>
          </a:solidFill>
          <a:ln w="12700">
            <a:solidFill>
              <a:srgbClr val="EEF2F7"/>
            </a:solidFill>
            <a:prstDash val="solid"/>
          </a:ln>
        </p:spPr>
      </p:sp>
      <p:sp>
        <p:nvSpPr>
          <p:cNvPr id="4" name="keunggulan 1 lingkaran"/>
          <p:cNvSpPr/>
          <p:nvPr/>
        </p:nvSpPr>
        <p:spPr>
          <a:xfrm>
            <a:off x="1188720" y="1600200"/>
            <a:ext cx="822960" cy="822960"/>
          </a:xfrm>
          <a:prstGeom prst="ellipse">
            <a:avLst/>
          </a:prstGeom>
          <a:solidFill>
            <a:srgbClr val="14365D"/>
          </a:solidFill>
          <a:ln w="12700">
            <a:solidFill>
              <a:srgbClr val="14365D"/>
            </a:solidFill>
            <a:prstDash val="solid"/>
          </a:ln>
        </p:spPr>
      </p:sp>
      <p:pic>
        <p:nvPicPr>
          <p:cNvPr id="5" name="keunggulan 1 ikon" descr="preencoded.png">    </p:cNvPr>
          <p:cNvPicPr>
            <a:picLocks noChangeAspect="1"/>
          </p:cNvPicPr>
          <p:nvPr/>
        </p:nvPicPr>
        <p:blipFill>
          <a:blip r:embed="rId1"/>
          <a:stretch>
            <a:fillRect/>
          </a:stretch>
        </p:blipFill>
        <p:spPr>
          <a:xfrm>
            <a:off x="1394460" y="1805940"/>
            <a:ext cx="411480" cy="411480"/>
          </a:xfrm>
          <a:prstGeom prst="rect">
            <a:avLst/>
          </a:prstGeom>
        </p:spPr>
      </p:pic>
      <p:sp>
        <p:nvSpPr>
          <p:cNvPr id="6" name="judul keunggulan 1"/>
          <p:cNvSpPr txBox="1"/>
          <p:nvPr/>
        </p:nvSpPr>
        <p:spPr>
          <a:xfrm>
            <a:off x="731520"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Aturan BPBD sejak awal</a:t>
            </a:r>
            <a:endParaRPr lang="en-US" sz="1600" dirty="0"/>
          </a:p>
        </p:txBody>
      </p:sp>
      <p:sp>
        <p:nvSpPr>
          <p:cNvPr id="7" name="isi keunggulan 1"/>
          <p:cNvSpPr txBox="1"/>
          <p:nvPr/>
        </p:nvSpPr>
        <p:spPr>
          <a:xfrm>
            <a:off x="731520"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Jalur menjauhi pantai, jembatan hanya bila tidak ada jalan lain, TEA dan zona hijau didahulukan.</a:t>
            </a:r>
            <a:endParaRPr lang="en-US" sz="1400" dirty="0"/>
          </a:p>
        </p:txBody>
      </p:sp>
      <p:sp>
        <p:nvSpPr>
          <p:cNvPr id="8" name="kartu keunggulan 2"/>
          <p:cNvSpPr/>
          <p:nvPr/>
        </p:nvSpPr>
        <p:spPr>
          <a:xfrm>
            <a:off x="2798064" y="1325880"/>
            <a:ext cx="2103120" cy="4434840"/>
          </a:xfrm>
          <a:prstGeom prst="roundRect">
            <a:avLst>
              <a:gd name="adj" fmla="val 3478"/>
            </a:avLst>
          </a:prstGeom>
          <a:solidFill>
            <a:srgbClr val="EEF2F7"/>
          </a:solidFill>
          <a:ln w="12700">
            <a:solidFill>
              <a:srgbClr val="EEF2F7"/>
            </a:solidFill>
            <a:prstDash val="solid"/>
          </a:ln>
        </p:spPr>
      </p:sp>
      <p:sp>
        <p:nvSpPr>
          <p:cNvPr id="9" name="keunggulan 2 lingkaran"/>
          <p:cNvSpPr/>
          <p:nvPr/>
        </p:nvSpPr>
        <p:spPr>
          <a:xfrm>
            <a:off x="3438144" y="1600200"/>
            <a:ext cx="822960" cy="822960"/>
          </a:xfrm>
          <a:prstGeom prst="ellipse">
            <a:avLst/>
          </a:prstGeom>
          <a:solidFill>
            <a:srgbClr val="F5B700"/>
          </a:solidFill>
          <a:ln w="12700">
            <a:solidFill>
              <a:srgbClr val="F5B700"/>
            </a:solidFill>
            <a:prstDash val="solid"/>
          </a:ln>
        </p:spPr>
      </p:sp>
      <p:pic>
        <p:nvPicPr>
          <p:cNvPr id="10" name="keunggulan 2 ikon" descr="preencoded.png">    </p:cNvPr>
          <p:cNvPicPr>
            <a:picLocks noChangeAspect="1"/>
          </p:cNvPicPr>
          <p:nvPr/>
        </p:nvPicPr>
        <p:blipFill>
          <a:blip r:embed="rId2"/>
          <a:stretch>
            <a:fillRect/>
          </a:stretch>
        </p:blipFill>
        <p:spPr>
          <a:xfrm>
            <a:off x="3643884" y="1805940"/>
            <a:ext cx="411480" cy="411480"/>
          </a:xfrm>
          <a:prstGeom prst="rect">
            <a:avLst/>
          </a:prstGeom>
        </p:spPr>
      </p:pic>
      <p:sp>
        <p:nvSpPr>
          <p:cNvPr id="11" name="judul keunggulan 2"/>
          <p:cNvSpPr txBox="1"/>
          <p:nvPr/>
        </p:nvSpPr>
        <p:spPr>
          <a:xfrm>
            <a:off x="2980944"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Tetap jalan dalam mode pesawat</a:t>
            </a:r>
            <a:endParaRPr lang="en-US" sz="1600" dirty="0"/>
          </a:p>
        </p:txBody>
      </p:sp>
      <p:sp>
        <p:nvSpPr>
          <p:cNvPr id="12" name="isi keunggulan 2"/>
          <p:cNvSpPr txBox="1"/>
          <p:nvPr/>
        </p:nvSpPr>
        <p:spPr>
          <a:xfrm>
            <a:off x="2980944"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Tujuan dipilih dari jalur tersimpan menurut sisa waktu, tanpa server dan tanpa menghitung ulang.</a:t>
            </a:r>
            <a:endParaRPr lang="en-US" sz="1400" dirty="0"/>
          </a:p>
        </p:txBody>
      </p:sp>
      <p:sp>
        <p:nvSpPr>
          <p:cNvPr id="13" name="kartu keunggulan 3"/>
          <p:cNvSpPr/>
          <p:nvPr/>
        </p:nvSpPr>
        <p:spPr>
          <a:xfrm>
            <a:off x="5047488" y="1325880"/>
            <a:ext cx="2103120" cy="4434840"/>
          </a:xfrm>
          <a:prstGeom prst="roundRect">
            <a:avLst>
              <a:gd name="adj" fmla="val 3478"/>
            </a:avLst>
          </a:prstGeom>
          <a:solidFill>
            <a:srgbClr val="EEF2F7"/>
          </a:solidFill>
          <a:ln w="12700">
            <a:solidFill>
              <a:srgbClr val="EEF2F7"/>
            </a:solidFill>
            <a:prstDash val="solid"/>
          </a:ln>
        </p:spPr>
      </p:sp>
      <p:sp>
        <p:nvSpPr>
          <p:cNvPr id="14" name="keunggulan 3 lingkaran"/>
          <p:cNvSpPr/>
          <p:nvPr/>
        </p:nvSpPr>
        <p:spPr>
          <a:xfrm>
            <a:off x="5687568" y="1600200"/>
            <a:ext cx="822960" cy="822960"/>
          </a:xfrm>
          <a:prstGeom prst="ellipse">
            <a:avLst/>
          </a:prstGeom>
          <a:solidFill>
            <a:srgbClr val="14365D"/>
          </a:solidFill>
          <a:ln w="12700">
            <a:solidFill>
              <a:srgbClr val="14365D"/>
            </a:solidFill>
            <a:prstDash val="solid"/>
          </a:ln>
        </p:spPr>
      </p:sp>
      <p:pic>
        <p:nvPicPr>
          <p:cNvPr id="15" name="keunggulan 3 ikon" descr="preencoded.png">    </p:cNvPr>
          <p:cNvPicPr>
            <a:picLocks noChangeAspect="1"/>
          </p:cNvPicPr>
          <p:nvPr/>
        </p:nvPicPr>
        <p:blipFill>
          <a:blip r:embed="rId3"/>
          <a:stretch>
            <a:fillRect/>
          </a:stretch>
        </p:blipFill>
        <p:spPr>
          <a:xfrm>
            <a:off x="5893308" y="1805940"/>
            <a:ext cx="411480" cy="411480"/>
          </a:xfrm>
          <a:prstGeom prst="rect">
            <a:avLst/>
          </a:prstGeom>
        </p:spPr>
      </p:pic>
      <p:sp>
        <p:nvSpPr>
          <p:cNvPr id="16" name="judul keunggulan 3"/>
          <p:cNvSpPr txBox="1"/>
          <p:nvPr/>
        </p:nvSpPr>
        <p:spPr>
          <a:xfrm>
            <a:off x="5230368"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Peringatan membuka arahan</a:t>
            </a:r>
            <a:endParaRPr lang="en-US" sz="1600" dirty="0"/>
          </a:p>
        </p:txBody>
      </p:sp>
      <p:sp>
        <p:nvSpPr>
          <p:cNvPr id="17" name="isi keunggulan 3"/>
          <p:cNvSpPr txBox="1"/>
          <p:nvPr/>
        </p:nvSpPr>
        <p:spPr>
          <a:xfrm>
            <a:off x="5230368"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resmi langsung membuka layar evakuasi; sirene dan getar tetap aktif saat senyap.</a:t>
            </a:r>
            <a:endParaRPr lang="en-US" sz="1400" dirty="0"/>
          </a:p>
        </p:txBody>
      </p:sp>
      <p:sp>
        <p:nvSpPr>
          <p:cNvPr id="18" name="kartu keunggulan 4"/>
          <p:cNvSpPr/>
          <p:nvPr/>
        </p:nvSpPr>
        <p:spPr>
          <a:xfrm>
            <a:off x="7296912" y="1325880"/>
            <a:ext cx="2103120" cy="4434840"/>
          </a:xfrm>
          <a:prstGeom prst="roundRect">
            <a:avLst>
              <a:gd name="adj" fmla="val 3478"/>
            </a:avLst>
          </a:prstGeom>
          <a:solidFill>
            <a:srgbClr val="EEF2F7"/>
          </a:solidFill>
          <a:ln w="12700">
            <a:solidFill>
              <a:srgbClr val="EEF2F7"/>
            </a:solidFill>
            <a:prstDash val="solid"/>
          </a:ln>
        </p:spPr>
      </p:sp>
      <p:sp>
        <p:nvSpPr>
          <p:cNvPr id="19" name="keunggulan 4 lingkaran"/>
          <p:cNvSpPr/>
          <p:nvPr/>
        </p:nvSpPr>
        <p:spPr>
          <a:xfrm>
            <a:off x="7936992" y="1600200"/>
            <a:ext cx="822960" cy="822960"/>
          </a:xfrm>
          <a:prstGeom prst="ellipse">
            <a:avLst/>
          </a:prstGeom>
          <a:solidFill>
            <a:srgbClr val="14365D"/>
          </a:solidFill>
          <a:ln w="12700">
            <a:solidFill>
              <a:srgbClr val="14365D"/>
            </a:solidFill>
            <a:prstDash val="solid"/>
          </a:ln>
        </p:spPr>
      </p:sp>
      <p:pic>
        <p:nvPicPr>
          <p:cNvPr id="20" name="keunggulan 4 ikon" descr="preencoded.png">    </p:cNvPr>
          <p:cNvPicPr>
            <a:picLocks noChangeAspect="1"/>
          </p:cNvPicPr>
          <p:nvPr/>
        </p:nvPicPr>
        <p:blipFill>
          <a:blip r:embed="rId4"/>
          <a:stretch>
            <a:fillRect/>
          </a:stretch>
        </p:blipFill>
        <p:spPr>
          <a:xfrm>
            <a:off x="8142732" y="1805940"/>
            <a:ext cx="411480" cy="411480"/>
          </a:xfrm>
          <a:prstGeom prst="rect">
            <a:avLst/>
          </a:prstGeom>
        </p:spPr>
      </p:pic>
      <p:sp>
        <p:nvSpPr>
          <p:cNvPr id="21" name="judul keunggulan 4"/>
          <p:cNvSpPr txBox="1"/>
          <p:nvPr/>
        </p:nvSpPr>
        <p:spPr>
          <a:xfrm>
            <a:off x="7479792"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Jalur alternatif dan keluarga</a:t>
            </a:r>
            <a:endParaRPr lang="en-US" sz="1600" dirty="0"/>
          </a:p>
        </p:txBody>
      </p:sp>
      <p:sp>
        <p:nvSpPr>
          <p:cNvPr id="22" name="isi keunggulan 4"/>
          <p:cNvSpPr txBox="1"/>
          <p:nvPr/>
        </p:nvSpPr>
        <p:spPr>
          <a:xfrm>
            <a:off x="7479792"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memutar saat terhalang, serta rencana titik temu keluarga yang dibagikan lewat kode QR.</a:t>
            </a:r>
            <a:endParaRPr lang="en-US" sz="1400" dirty="0"/>
          </a:p>
        </p:txBody>
      </p:sp>
      <p:sp>
        <p:nvSpPr>
          <p:cNvPr id="23" name="kartu keunggulan 5"/>
          <p:cNvSpPr/>
          <p:nvPr/>
        </p:nvSpPr>
        <p:spPr>
          <a:xfrm>
            <a:off x="9546336" y="1325880"/>
            <a:ext cx="2103120" cy="4434840"/>
          </a:xfrm>
          <a:prstGeom prst="roundRect">
            <a:avLst>
              <a:gd name="adj" fmla="val 3478"/>
            </a:avLst>
          </a:prstGeom>
          <a:solidFill>
            <a:srgbClr val="EEF2F7"/>
          </a:solidFill>
          <a:ln w="12700">
            <a:solidFill>
              <a:srgbClr val="EEF2F7"/>
            </a:solidFill>
            <a:prstDash val="solid"/>
          </a:ln>
        </p:spPr>
      </p:sp>
      <p:sp>
        <p:nvSpPr>
          <p:cNvPr id="24" name="keunggulan 5 lingkaran"/>
          <p:cNvSpPr/>
          <p:nvPr/>
        </p:nvSpPr>
        <p:spPr>
          <a:xfrm>
            <a:off x="10186416" y="1600200"/>
            <a:ext cx="822960" cy="822960"/>
          </a:xfrm>
          <a:prstGeom prst="ellipse">
            <a:avLst/>
          </a:prstGeom>
          <a:solidFill>
            <a:srgbClr val="14365D"/>
          </a:solidFill>
          <a:ln w="12700">
            <a:solidFill>
              <a:srgbClr val="14365D"/>
            </a:solidFill>
            <a:prstDash val="solid"/>
          </a:ln>
        </p:spPr>
      </p:sp>
      <p:pic>
        <p:nvPicPr>
          <p:cNvPr id="25" name="keunggulan 5 ikon" descr="preencoded.png">    </p:cNvPr>
          <p:cNvPicPr>
            <a:picLocks noChangeAspect="1"/>
          </p:cNvPicPr>
          <p:nvPr/>
        </p:nvPicPr>
        <p:blipFill>
          <a:blip r:embed="rId5"/>
          <a:stretch>
            <a:fillRect/>
          </a:stretch>
        </p:blipFill>
        <p:spPr>
          <a:xfrm>
            <a:off x="10392156" y="1805940"/>
            <a:ext cx="411480" cy="411480"/>
          </a:xfrm>
          <a:prstGeom prst="rect">
            <a:avLst/>
          </a:prstGeom>
        </p:spPr>
      </p:pic>
      <p:sp>
        <p:nvSpPr>
          <p:cNvPr id="26" name="judul keunggulan 5"/>
          <p:cNvSpPr txBox="1"/>
          <p:nvPr/>
        </p:nvSpPr>
        <p:spPr>
          <a:xfrm>
            <a:off x="9729216"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Bahan perencanaan BPBD</a:t>
            </a:r>
            <a:endParaRPr lang="en-US" sz="1600" dirty="0"/>
          </a:p>
        </p:txBody>
      </p:sp>
      <p:sp>
        <p:nvSpPr>
          <p:cNvPr id="27" name="isi keunggulan 5"/>
          <p:cNvSpPr txBox="1"/>
          <p:nvPr/>
        </p:nvSpPr>
        <p:spPr>
          <a:xfrm>
            <a:off x="9729216"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Perkiraan jangkauan, beban TES, dan kelurahan prioritas untuk tempat evakuasi tambahan.</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Navigasi tidak menunggu server</a:t>
            </a:r>
            <a:endParaRPr lang="en-US" sz="3000" dirty="0"/>
          </a:p>
        </p:txBody>
      </p:sp>
      <p:pic>
        <p:nvPicPr>
          <p:cNvPr id="3" name="diagram arsitektur" descr="C:\Users\Lenovo\AppData\Local\Temp\claude\c--gemastik\520da942-8140-47c0-a16f-9bde4b92cbe5\scratchpad\deck\aset\arsitektur.png">    </p:cNvPr>
          <p:cNvPicPr>
            <a:picLocks noChangeAspect="1"/>
          </p:cNvPicPr>
          <p:nvPr/>
        </p:nvPicPr>
        <p:blipFill>
          <a:blip r:embed="rId1"/>
          <a:stretch>
            <a:fillRect/>
          </a:stretch>
        </p:blipFill>
        <p:spPr>
          <a:xfrm>
            <a:off x="548640" y="1188720"/>
            <a:ext cx="8229600" cy="3730752"/>
          </a:xfrm>
          <a:prstGeom prst="rect">
            <a:avLst/>
          </a:prstGeom>
        </p:spPr>
      </p:pic>
      <p:sp>
        <p:nvSpPr>
          <p:cNvPr id="4" name="judul lapisan 1"/>
          <p:cNvSpPr txBox="1"/>
          <p:nvPr/>
        </p:nvSpPr>
        <p:spPr>
          <a:xfrm>
            <a:off x="9052560" y="1280160"/>
            <a:ext cx="260604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Prakomputasi</a:t>
            </a:r>
            <a:endParaRPr lang="en-US" sz="1700" dirty="0"/>
          </a:p>
        </p:txBody>
      </p:sp>
      <p:sp>
        <p:nvSpPr>
          <p:cNvPr id="5" name="isi lapisan 1"/>
          <p:cNvSpPr txBox="1"/>
          <p:nvPr/>
        </p:nvSpPr>
        <p:spPr>
          <a:xfrm>
            <a:off x="9052560" y="1664208"/>
            <a:ext cx="2606040" cy="8686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Data BPBD dan OpenStreetMap diolah menjadi basis data SQLite 36,97 MB.</a:t>
            </a:r>
            <a:endParaRPr lang="en-US" sz="1400" dirty="0"/>
          </a:p>
        </p:txBody>
      </p:sp>
      <p:sp>
        <p:nvSpPr>
          <p:cNvPr id="6" name="judul lapisan 2"/>
          <p:cNvSpPr txBox="1"/>
          <p:nvPr/>
        </p:nvSpPr>
        <p:spPr>
          <a:xfrm>
            <a:off x="9052560" y="2560320"/>
            <a:ext cx="260604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Aplikasi Android</a:t>
            </a:r>
            <a:endParaRPr lang="en-US" sz="1700" dirty="0"/>
          </a:p>
        </p:txBody>
      </p:sp>
      <p:sp>
        <p:nvSpPr>
          <p:cNvPr id="7" name="isi lapisan 2"/>
          <p:cNvSpPr txBox="1"/>
          <p:nvPr/>
        </p:nvSpPr>
        <p:spPr>
          <a:xfrm>
            <a:off x="9052560" y="2944368"/>
            <a:ext cx="2606040" cy="8686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GPS, kompas, dan jalur lokal menghasilkan arahan tanpa internet.</a:t>
            </a:r>
            <a:endParaRPr lang="en-US" sz="1400" dirty="0"/>
          </a:p>
        </p:txBody>
      </p:sp>
      <p:sp>
        <p:nvSpPr>
          <p:cNvPr id="8" name="judul lapisan 3"/>
          <p:cNvSpPr txBox="1"/>
          <p:nvPr/>
        </p:nvSpPr>
        <p:spPr>
          <a:xfrm>
            <a:off x="9052560" y="3840480"/>
            <a:ext cx="2606040" cy="365760"/>
          </a:xfrm>
          <a:prstGeom prst="rect">
            <a:avLst/>
          </a:prstGeom>
          <a:noFill/>
          <a:ln/>
        </p:spPr>
        <p:txBody>
          <a:bodyPr wrap="square" lIns="0" tIns="0" rIns="0" bIns="0" rtlCol="0" anchor="t"/>
          <a:lstStyle/>
          <a:p>
            <a:pPr indent="0" marL="0">
              <a:buNone/>
            </a:pPr>
            <a:r>
              <a:rPr lang="en-US" sz="1700" b="1" dirty="0">
                <a:solidFill>
                  <a:srgbClr val="2F7F9C"/>
                </a:solidFill>
                <a:latin typeface="Calibri" pitchFamily="34" charset="0"/>
                <a:ea typeface="Calibri" pitchFamily="34" charset="-122"/>
                <a:cs typeface="Calibri" pitchFamily="34" charset="-120"/>
              </a:rPr>
              <a:t>Server</a:t>
            </a:r>
            <a:endParaRPr lang="en-US" sz="1700" dirty="0"/>
          </a:p>
        </p:txBody>
      </p:sp>
      <p:sp>
        <p:nvSpPr>
          <p:cNvPr id="9" name="isi lapisan 3"/>
          <p:cNvSpPr txBox="1"/>
          <p:nvPr/>
        </p:nvSpPr>
        <p:spPr>
          <a:xfrm>
            <a:off x="9052560" y="4224528"/>
            <a:ext cx="2606040" cy="8686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BMKG, lapor selamat, laporan jalan, dan pembaruan data saat jaringan ada.</a:t>
            </a:r>
            <a:endParaRPr lang="en-US" sz="1400" dirty="0"/>
          </a:p>
        </p:txBody>
      </p:sp>
      <p:sp>
        <p:nvSpPr>
          <p:cNvPr id="10" name="keterangan arsitektur"/>
          <p:cNvSpPr txBox="1"/>
          <p:nvPr/>
        </p:nvSpPr>
        <p:spPr>
          <a:xfrm>
            <a:off x="548640" y="5120640"/>
            <a:ext cx="8229600" cy="7315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Garis ungu utuh: alur tanpa jaringan. Garis abu-abu bertitik: layanan yang memerlukan jaringan. Bila server tidak menjawab dalam 1–2 detik, aplikasi tetap memakai data di ponsel.</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Data wilayah Kota Padang dalam satu paket</a:t>
            </a:r>
            <a:endParaRPr lang="en-US" sz="3000" dirty="0"/>
          </a:p>
        </p:txBody>
      </p:sp>
      <p:pic>
        <p:nvPicPr>
          <p:cNvPr id="3" name="peta jaringan jalan" descr="C:\Users\Lenovo\AppData\Local\Temp\claude\c--gemastik\520da942-8140-47c0-a16f-9bde4b92cbe5\scratchpad\deck\aset\jalan.png">    </p:cNvPr>
          <p:cNvPicPr>
            <a:picLocks noChangeAspect="1"/>
          </p:cNvPicPr>
          <p:nvPr/>
        </p:nvPicPr>
        <p:blipFill>
          <a:blip r:embed="rId1"/>
          <a:stretch>
            <a:fillRect/>
          </a:stretch>
        </p:blipFill>
        <p:spPr>
          <a:xfrm>
            <a:off x="548640" y="1143000"/>
            <a:ext cx="5120640" cy="4764024"/>
          </a:xfrm>
          <a:prstGeom prst="rect">
            <a:avLst/>
          </a:prstGeom>
        </p:spPr>
      </p:pic>
      <p:sp>
        <p:nvSpPr>
          <p:cNvPr id="4" name="data 1 angka"/>
          <p:cNvSpPr txBox="1"/>
          <p:nvPr/>
        </p:nvSpPr>
        <p:spPr>
          <a:xfrm>
            <a:off x="6126480" y="1280160"/>
            <a:ext cx="265176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31.813</a:t>
            </a:r>
            <a:endParaRPr lang="en-US" sz="3000" dirty="0"/>
          </a:p>
        </p:txBody>
      </p:sp>
      <p:sp>
        <p:nvSpPr>
          <p:cNvPr id="5" name="data 1 label"/>
          <p:cNvSpPr txBox="1"/>
          <p:nvPr/>
        </p:nvSpPr>
        <p:spPr>
          <a:xfrm>
            <a:off x="6126480" y="182956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simpul jalan, 11.418 di zona merah</a:t>
            </a:r>
            <a:endParaRPr lang="en-US" sz="1400" dirty="0"/>
          </a:p>
        </p:txBody>
      </p:sp>
      <p:sp>
        <p:nvSpPr>
          <p:cNvPr id="6" name="data 2 angka"/>
          <p:cNvSpPr txBox="1"/>
          <p:nvPr/>
        </p:nvSpPr>
        <p:spPr>
          <a:xfrm>
            <a:off x="8961120" y="1280160"/>
            <a:ext cx="265176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39.216</a:t>
            </a:r>
            <a:endParaRPr lang="en-US" sz="3000" dirty="0"/>
          </a:p>
        </p:txBody>
      </p:sp>
      <p:sp>
        <p:nvSpPr>
          <p:cNvPr id="7" name="data 2 label"/>
          <p:cNvSpPr txBox="1"/>
          <p:nvPr/>
        </p:nvSpPr>
        <p:spPr>
          <a:xfrm>
            <a:off x="8961120" y="182956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ruas jalan pejalan kaki</a:t>
            </a:r>
            <a:endParaRPr lang="en-US" sz="1400" dirty="0"/>
          </a:p>
        </p:txBody>
      </p:sp>
      <p:sp>
        <p:nvSpPr>
          <p:cNvPr id="8" name="data 3 angka"/>
          <p:cNvSpPr txBox="1"/>
          <p:nvPr/>
        </p:nvSpPr>
        <p:spPr>
          <a:xfrm>
            <a:off x="6126480" y="2834640"/>
            <a:ext cx="265176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244 TES</a:t>
            </a:r>
            <a:endParaRPr lang="en-US" sz="3000" dirty="0"/>
          </a:p>
        </p:txBody>
      </p:sp>
      <p:sp>
        <p:nvSpPr>
          <p:cNvPr id="9" name="data 3 label"/>
          <p:cNvSpPr txBox="1"/>
          <p:nvPr/>
        </p:nvSpPr>
        <p:spPr>
          <a:xfrm>
            <a:off x="6126480" y="338404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167 dengan daya tampung tercatat (155.980 jiwa)</a:t>
            </a:r>
            <a:endParaRPr lang="en-US" sz="1400" dirty="0"/>
          </a:p>
        </p:txBody>
      </p:sp>
      <p:sp>
        <p:nvSpPr>
          <p:cNvPr id="10" name="data 4 angka"/>
          <p:cNvSpPr txBox="1"/>
          <p:nvPr/>
        </p:nvSpPr>
        <p:spPr>
          <a:xfrm>
            <a:off x="8961120" y="2834640"/>
            <a:ext cx="265176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22 TEA</a:t>
            </a:r>
            <a:endParaRPr lang="en-US" sz="3000" dirty="0"/>
          </a:p>
        </p:txBody>
      </p:sp>
      <p:sp>
        <p:nvSpPr>
          <p:cNvPr id="11" name="data 4 label"/>
          <p:cNvSpPr txBox="1"/>
          <p:nvPr/>
        </p:nvSpPr>
        <p:spPr>
          <a:xfrm>
            <a:off x="8961120" y="338404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di luar zona merah</a:t>
            </a:r>
            <a:endParaRPr lang="en-US" sz="1400" dirty="0"/>
          </a:p>
        </p:txBody>
      </p:sp>
      <p:sp>
        <p:nvSpPr>
          <p:cNvPr id="12" name="data 5 angka"/>
          <p:cNvSpPr txBox="1"/>
          <p:nvPr/>
        </p:nvSpPr>
        <p:spPr>
          <a:xfrm>
            <a:off x="6126480" y="4389120"/>
            <a:ext cx="2651760" cy="476250"/>
          </a:xfrm>
          <a:prstGeom prst="rect">
            <a:avLst/>
          </a:prstGeom>
          <a:noFill/>
          <a:ln/>
        </p:spPr>
        <p:txBody>
          <a:bodyPr wrap="square" lIns="0" tIns="0" rIns="0" bIns="0" rtlCol="0" anchor="b"/>
          <a:lstStyle/>
          <a:p>
            <a:pPr indent="0" marL="0">
              <a:buNone/>
            </a:pPr>
            <a:r>
              <a:rPr lang="en-US" sz="3000" b="1" dirty="0">
                <a:solidFill>
                  <a:srgbClr val="2F7F9C"/>
                </a:solidFill>
                <a:latin typeface="Arial" pitchFamily="34" charset="0"/>
                <a:ea typeface="Arial" pitchFamily="34" charset="-122"/>
                <a:cs typeface="Arial" pitchFamily="34" charset="-120"/>
              </a:rPr>
              <a:t>7.272 ha</a:t>
            </a:r>
            <a:endParaRPr lang="en-US" sz="3000" dirty="0"/>
          </a:p>
        </p:txBody>
      </p:sp>
      <p:sp>
        <p:nvSpPr>
          <p:cNvPr id="13" name="data 5 label"/>
          <p:cNvSpPr txBox="1"/>
          <p:nvPr/>
        </p:nvSpPr>
        <p:spPr>
          <a:xfrm>
            <a:off x="6126480" y="493852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luas zona merah (KRB + peta evakuasi BPBD)</a:t>
            </a:r>
            <a:endParaRPr lang="en-US" sz="1400" dirty="0"/>
          </a:p>
        </p:txBody>
      </p:sp>
      <p:sp>
        <p:nvSpPr>
          <p:cNvPr id="14" name="data 6 angka"/>
          <p:cNvSpPr txBox="1"/>
          <p:nvPr/>
        </p:nvSpPr>
        <p:spPr>
          <a:xfrm>
            <a:off x="8961120" y="4389120"/>
            <a:ext cx="2651760" cy="476250"/>
          </a:xfrm>
          <a:prstGeom prst="rect">
            <a:avLst/>
          </a:prstGeom>
          <a:noFill/>
          <a:ln/>
        </p:spPr>
        <p:txBody>
          <a:bodyPr wrap="square" lIns="0" tIns="0" rIns="0" bIns="0" rtlCol="0" anchor="b"/>
          <a:lstStyle/>
          <a:p>
            <a:pPr indent="0" marL="0">
              <a:buNone/>
            </a:pPr>
            <a:r>
              <a:rPr lang="en-US" sz="3000" b="1" dirty="0">
                <a:solidFill>
                  <a:srgbClr val="2F7F9C"/>
                </a:solidFill>
                <a:latin typeface="Arial" pitchFamily="34" charset="0"/>
                <a:ea typeface="Arial" pitchFamily="34" charset="-122"/>
                <a:cs typeface="Arial" pitchFamily="34" charset="-120"/>
              </a:rPr>
              <a:t>36,97 MB</a:t>
            </a:r>
            <a:endParaRPr lang="en-US" sz="3000" dirty="0"/>
          </a:p>
        </p:txBody>
      </p:sp>
      <p:sp>
        <p:nvSpPr>
          <p:cNvPr id="15" name="data 6 label"/>
          <p:cNvSpPr txBox="1"/>
          <p:nvPr/>
        </p:nvSpPr>
        <p:spPr>
          <a:xfrm>
            <a:off x="8961120" y="493852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basis data di ponsel, batas 75 MB</a:t>
            </a:r>
            <a:endParaRPr lang="en-US" sz="14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basis data Siaga Padang 2026.10.18; OpenStreetMap per 8 Agustus 2026; daftar TES BPBD 2019 dan Kelurahan Tangguh 2025.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Jalur dihitung sebelum kejadian sesuai aturan BPBD</a:t>
            </a:r>
            <a:endParaRPr lang="en-US" sz="3000" dirty="0"/>
          </a:p>
        </p:txBody>
      </p:sp>
      <p:sp>
        <p:nvSpPr>
          <p:cNvPr id="3" name="kartu langkah 1"/>
          <p:cNvSpPr/>
          <p:nvPr/>
        </p:nvSpPr>
        <p:spPr>
          <a:xfrm>
            <a:off x="548640" y="1325880"/>
            <a:ext cx="2606040" cy="2651760"/>
          </a:xfrm>
          <a:prstGeom prst="roundRect">
            <a:avLst>
              <a:gd name="adj" fmla="val 2807"/>
            </a:avLst>
          </a:prstGeom>
          <a:solidFill>
            <a:srgbClr val="EEF2F7"/>
          </a:solidFill>
          <a:ln w="12700">
            <a:solidFill>
              <a:srgbClr val="EEF2F7"/>
            </a:solidFill>
            <a:prstDash val="solid"/>
          </a:ln>
        </p:spPr>
      </p:sp>
      <p:sp>
        <p:nvSpPr>
          <p:cNvPr id="4" name="nomor langkah 1"/>
          <p:cNvSpPr/>
          <p:nvPr/>
        </p:nvSpPr>
        <p:spPr>
          <a:xfrm>
            <a:off x="777240" y="1554480"/>
            <a:ext cx="594360" cy="594360"/>
          </a:xfrm>
          <a:prstGeom prst="ellipse">
            <a:avLst/>
          </a:prstGeom>
          <a:solidFill>
            <a:srgbClr val="14365D"/>
          </a:solidFill>
          <a:ln w="12700">
            <a:solidFill>
              <a:srgbClr val="14365D"/>
            </a:solidFill>
            <a:prstDash val="solid"/>
          </a:ln>
        </p:spPr>
      </p:sp>
      <p:sp>
        <p:nvSpPr>
          <p:cNvPr id="5" name="angka langkah 1"/>
          <p:cNvSpPr txBox="1"/>
          <p:nvPr/>
        </p:nvSpPr>
        <p:spPr>
          <a:xfrm>
            <a:off x="777240" y="1554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judul langkah 1"/>
          <p:cNvSpPr txBox="1"/>
          <p:nvPr/>
        </p:nvSpPr>
        <p:spPr>
          <a:xfrm>
            <a:off x="1508760" y="1645920"/>
            <a:ext cx="1554480" cy="45720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Graf jalan</a:t>
            </a:r>
            <a:endParaRPr lang="en-US" sz="1700" dirty="0"/>
          </a:p>
        </p:txBody>
      </p:sp>
      <p:sp>
        <p:nvSpPr>
          <p:cNvPr id="7" name="isi langkah 1"/>
          <p:cNvSpPr txBox="1"/>
          <p:nvPr/>
        </p:nvSpPr>
        <p:spPr>
          <a:xfrm>
            <a:off x="777240" y="2331720"/>
            <a:ext cx="219456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pejalan kaki dari OpenStreetMap; setiap simpul menyimpan jarak ke pantai.</a:t>
            </a:r>
            <a:endParaRPr lang="en-US" sz="1400" dirty="0"/>
          </a:p>
        </p:txBody>
      </p:sp>
      <p:sp>
        <p:nvSpPr>
          <p:cNvPr id="8" name="kartu langkah 2"/>
          <p:cNvSpPr/>
          <p:nvPr/>
        </p:nvSpPr>
        <p:spPr>
          <a:xfrm>
            <a:off x="3355848" y="1325880"/>
            <a:ext cx="2606040" cy="2651760"/>
          </a:xfrm>
          <a:prstGeom prst="roundRect">
            <a:avLst>
              <a:gd name="adj" fmla="val 2807"/>
            </a:avLst>
          </a:prstGeom>
          <a:solidFill>
            <a:srgbClr val="EEF2F7"/>
          </a:solidFill>
          <a:ln w="12700">
            <a:solidFill>
              <a:srgbClr val="EEF2F7"/>
            </a:solidFill>
            <a:prstDash val="solid"/>
          </a:ln>
        </p:spPr>
      </p:sp>
      <p:sp>
        <p:nvSpPr>
          <p:cNvPr id="9" name="nomor langkah 2"/>
          <p:cNvSpPr/>
          <p:nvPr/>
        </p:nvSpPr>
        <p:spPr>
          <a:xfrm>
            <a:off x="3584448" y="1554480"/>
            <a:ext cx="594360" cy="594360"/>
          </a:xfrm>
          <a:prstGeom prst="ellipse">
            <a:avLst/>
          </a:prstGeom>
          <a:solidFill>
            <a:srgbClr val="14365D"/>
          </a:solidFill>
          <a:ln w="12700">
            <a:solidFill>
              <a:srgbClr val="14365D"/>
            </a:solidFill>
            <a:prstDash val="solid"/>
          </a:ln>
        </p:spPr>
      </p:sp>
      <p:sp>
        <p:nvSpPr>
          <p:cNvPr id="10" name="angka langkah 2"/>
          <p:cNvSpPr txBox="1"/>
          <p:nvPr/>
        </p:nvSpPr>
        <p:spPr>
          <a:xfrm>
            <a:off x="3584448" y="1554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judul langkah 2"/>
          <p:cNvSpPr txBox="1"/>
          <p:nvPr/>
        </p:nvSpPr>
        <p:spPr>
          <a:xfrm>
            <a:off x="4315968" y="1645920"/>
            <a:ext cx="1554480" cy="45720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Dijkstra terbalik</a:t>
            </a:r>
            <a:endParaRPr lang="en-US" sz="1700" dirty="0"/>
          </a:p>
        </p:txBody>
      </p:sp>
      <p:sp>
        <p:nvSpPr>
          <p:cNvPr id="12" name="isi langkah 2"/>
          <p:cNvSpPr txBox="1"/>
          <p:nvPr/>
        </p:nvSpPr>
        <p:spPr>
          <a:xfrm>
            <a:off x="3584448" y="2331720"/>
            <a:ext cx="219456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Penelusuran dari tiap tujuan memberi jalur dari semua simpul asal sekaligus.</a:t>
            </a:r>
            <a:endParaRPr lang="en-US" sz="1400" dirty="0"/>
          </a:p>
        </p:txBody>
      </p:sp>
      <p:sp>
        <p:nvSpPr>
          <p:cNvPr id="13" name="kartu langkah 3"/>
          <p:cNvSpPr/>
          <p:nvPr/>
        </p:nvSpPr>
        <p:spPr>
          <a:xfrm>
            <a:off x="6163056" y="1325880"/>
            <a:ext cx="2606040" cy="2651760"/>
          </a:xfrm>
          <a:prstGeom prst="roundRect">
            <a:avLst>
              <a:gd name="adj" fmla="val 2807"/>
            </a:avLst>
          </a:prstGeom>
          <a:solidFill>
            <a:srgbClr val="EEF2F7"/>
          </a:solidFill>
          <a:ln w="12700">
            <a:solidFill>
              <a:srgbClr val="EEF2F7"/>
            </a:solidFill>
            <a:prstDash val="solid"/>
          </a:ln>
        </p:spPr>
      </p:sp>
      <p:sp>
        <p:nvSpPr>
          <p:cNvPr id="14" name="nomor langkah 3"/>
          <p:cNvSpPr/>
          <p:nvPr/>
        </p:nvSpPr>
        <p:spPr>
          <a:xfrm>
            <a:off x="6391656" y="1554480"/>
            <a:ext cx="594360" cy="594360"/>
          </a:xfrm>
          <a:prstGeom prst="ellipse">
            <a:avLst/>
          </a:prstGeom>
          <a:solidFill>
            <a:srgbClr val="14365D"/>
          </a:solidFill>
          <a:ln w="12700">
            <a:solidFill>
              <a:srgbClr val="14365D"/>
            </a:solidFill>
            <a:prstDash val="solid"/>
          </a:ln>
        </p:spPr>
      </p:sp>
      <p:sp>
        <p:nvSpPr>
          <p:cNvPr id="15" name="angka langkah 3"/>
          <p:cNvSpPr txBox="1"/>
          <p:nvPr/>
        </p:nvSpPr>
        <p:spPr>
          <a:xfrm>
            <a:off x="6391656" y="1554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judul langkah 3"/>
          <p:cNvSpPr txBox="1"/>
          <p:nvPr/>
        </p:nvSpPr>
        <p:spPr>
          <a:xfrm>
            <a:off x="7123176" y="1645920"/>
            <a:ext cx="1554480" cy="45720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Saring arah</a:t>
            </a:r>
            <a:endParaRPr lang="en-US" sz="1700" dirty="0"/>
          </a:p>
        </p:txBody>
      </p:sp>
      <p:sp>
        <p:nvSpPr>
          <p:cNvPr id="17" name="isi langkah 3"/>
          <p:cNvSpPr txBox="1"/>
          <p:nvPr/>
        </p:nvSpPr>
        <p:spPr>
          <a:xfrm>
            <a:off x="6391656" y="2331720"/>
            <a:ext cx="219456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Tujuan harus menjauhi pantai lebih dari sekitar 15°; jalur resmi BPBD diutamakan.</a:t>
            </a:r>
            <a:endParaRPr lang="en-US" sz="1400" dirty="0"/>
          </a:p>
        </p:txBody>
      </p:sp>
      <p:sp>
        <p:nvSpPr>
          <p:cNvPr id="18" name="kartu langkah 4"/>
          <p:cNvSpPr/>
          <p:nvPr/>
        </p:nvSpPr>
        <p:spPr>
          <a:xfrm>
            <a:off x="8970264" y="1325880"/>
            <a:ext cx="2606040" cy="2651760"/>
          </a:xfrm>
          <a:prstGeom prst="roundRect">
            <a:avLst>
              <a:gd name="adj" fmla="val 2807"/>
            </a:avLst>
          </a:prstGeom>
          <a:solidFill>
            <a:srgbClr val="EEF2F7"/>
          </a:solidFill>
          <a:ln w="12700">
            <a:solidFill>
              <a:srgbClr val="EEF2F7"/>
            </a:solidFill>
            <a:prstDash val="solid"/>
          </a:ln>
        </p:spPr>
      </p:sp>
      <p:sp>
        <p:nvSpPr>
          <p:cNvPr id="19" name="nomor langkah 4"/>
          <p:cNvSpPr/>
          <p:nvPr/>
        </p:nvSpPr>
        <p:spPr>
          <a:xfrm>
            <a:off x="9198864" y="1554480"/>
            <a:ext cx="594360" cy="594360"/>
          </a:xfrm>
          <a:prstGeom prst="ellipse">
            <a:avLst/>
          </a:prstGeom>
          <a:solidFill>
            <a:srgbClr val="14365D"/>
          </a:solidFill>
          <a:ln w="12700">
            <a:solidFill>
              <a:srgbClr val="14365D"/>
            </a:solidFill>
            <a:prstDash val="solid"/>
          </a:ln>
        </p:spPr>
      </p:sp>
      <p:sp>
        <p:nvSpPr>
          <p:cNvPr id="20" name="angka langkah 4"/>
          <p:cNvSpPr txBox="1"/>
          <p:nvPr/>
        </p:nvSpPr>
        <p:spPr>
          <a:xfrm>
            <a:off x="9198864" y="15544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judul langkah 4"/>
          <p:cNvSpPr txBox="1"/>
          <p:nvPr/>
        </p:nvSpPr>
        <p:spPr>
          <a:xfrm>
            <a:off x="9930384" y="1645920"/>
            <a:ext cx="1554480" cy="45720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Hindari jembatan</a:t>
            </a:r>
            <a:endParaRPr lang="en-US" sz="1700" dirty="0"/>
          </a:p>
        </p:txBody>
      </p:sp>
      <p:sp>
        <p:nvSpPr>
          <p:cNvPr id="22" name="isi langkah 4"/>
          <p:cNvSpPr txBox="1"/>
          <p:nvPr/>
        </p:nvSpPr>
        <p:spPr>
          <a:xfrm>
            <a:off x="9198864" y="2331720"/>
            <a:ext cx="2194560" cy="15544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Jembatan ≥ 20 m hanya dipakai bila tujuan tidak bisa dicapai tanpa melaluinya.</a:t>
            </a:r>
            <a:endParaRPr lang="en-US" sz="1400" dirty="0"/>
          </a:p>
        </p:txBody>
      </p:sp>
      <p:sp>
        <p:nvSpPr>
          <p:cNvPr id="23" name="jembatan angka"/>
          <p:cNvSpPr txBox="1"/>
          <p:nvPr/>
        </p:nvSpPr>
        <p:spPr>
          <a:xfrm>
            <a:off x="548640" y="4343400"/>
            <a:ext cx="3291840" cy="508000"/>
          </a:xfrm>
          <a:prstGeom prst="rect">
            <a:avLst/>
          </a:prstGeom>
          <a:noFill/>
          <a:ln/>
        </p:spPr>
        <p:txBody>
          <a:bodyPr wrap="square" lIns="0" tIns="0" rIns="0" bIns="0" rtlCol="0" anchor="b"/>
          <a:lstStyle/>
          <a:p>
            <a:pPr indent="0" marL="0">
              <a:buNone/>
            </a:pPr>
            <a:r>
              <a:rPr lang="en-US" sz="3200" b="1" dirty="0">
                <a:solidFill>
                  <a:srgbClr val="D9472F"/>
                </a:solidFill>
                <a:latin typeface="Arial" pitchFamily="34" charset="0"/>
                <a:ea typeface="Arial" pitchFamily="34" charset="-122"/>
                <a:cs typeface="Arial" pitchFamily="34" charset="-120"/>
              </a:rPr>
              <a:t>31,4% → 19%</a:t>
            </a:r>
            <a:endParaRPr lang="en-US" sz="3200" dirty="0"/>
          </a:p>
        </p:txBody>
      </p:sp>
      <p:sp>
        <p:nvSpPr>
          <p:cNvPr id="24" name="jembatan label"/>
          <p:cNvSpPr txBox="1"/>
          <p:nvPr/>
        </p:nvSpPr>
        <p:spPr>
          <a:xfrm>
            <a:off x="548640" y="4924552"/>
            <a:ext cx="3291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jalur TES pertama yang melewati jembatan, dari data babak penyisihan ke data final</a:t>
            </a:r>
            <a:endParaRPr lang="en-US" sz="1400" dirty="0"/>
          </a:p>
        </p:txBody>
      </p:sp>
      <p:sp>
        <p:nvSpPr>
          <p:cNvPr id="25" name="laju angka"/>
          <p:cNvSpPr txBox="1"/>
          <p:nvPr/>
        </p:nvSpPr>
        <p:spPr>
          <a:xfrm>
            <a:off x="4343400" y="4343400"/>
            <a:ext cx="3291840" cy="508000"/>
          </a:xfrm>
          <a:prstGeom prst="rect">
            <a:avLst/>
          </a:prstGeom>
          <a:noFill/>
          <a:ln/>
        </p:spPr>
        <p:txBody>
          <a:bodyPr wrap="square" lIns="0" tIns="0" rIns="0" bIns="0" rtlCol="0" anchor="b"/>
          <a:lstStyle/>
          <a:p>
            <a:pPr indent="0" marL="0">
              <a:buNone/>
            </a:pPr>
            <a:r>
              <a:rPr lang="en-US" sz="3200" b="1" dirty="0">
                <a:solidFill>
                  <a:srgbClr val="14365D"/>
                </a:solidFill>
                <a:latin typeface="Arial" pitchFamily="34" charset="0"/>
                <a:ea typeface="Arial" pitchFamily="34" charset="-122"/>
                <a:cs typeface="Arial" pitchFamily="34" charset="-120"/>
              </a:rPr>
              <a:t>0,894 m/s</a:t>
            </a:r>
            <a:endParaRPr lang="en-US" sz="3200" dirty="0"/>
          </a:p>
        </p:txBody>
      </p:sp>
      <p:sp>
        <p:nvSpPr>
          <p:cNvPr id="26" name="laju label"/>
          <p:cNvSpPr txBox="1"/>
          <p:nvPr/>
        </p:nvSpPr>
        <p:spPr>
          <a:xfrm>
            <a:off x="4343400" y="4924552"/>
            <a:ext cx="3291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laju perencanaan untuk orang dengan mobilitas terbatas (FEMA P-646)</a:t>
            </a:r>
            <a:endParaRPr lang="en-US" sz="1400" dirty="0"/>
          </a:p>
        </p:txBody>
      </p:sp>
      <p:sp>
        <p:nvSpPr>
          <p:cNvPr id="27" name="pilihan angka"/>
          <p:cNvSpPr txBox="1"/>
          <p:nvPr/>
        </p:nvSpPr>
        <p:spPr>
          <a:xfrm>
            <a:off x="8138160" y="4343400"/>
            <a:ext cx="3474720" cy="508000"/>
          </a:xfrm>
          <a:prstGeom prst="rect">
            <a:avLst/>
          </a:prstGeom>
          <a:noFill/>
          <a:ln/>
        </p:spPr>
        <p:txBody>
          <a:bodyPr wrap="square" lIns="0" tIns="0" rIns="0" bIns="0" rtlCol="0" anchor="b"/>
          <a:lstStyle/>
          <a:p>
            <a:pPr indent="0" marL="0">
              <a:buNone/>
            </a:pPr>
            <a:r>
              <a:rPr lang="en-US" sz="3200" b="1" dirty="0">
                <a:solidFill>
                  <a:srgbClr val="2F7F9C"/>
                </a:solidFill>
                <a:latin typeface="Arial" pitchFamily="34" charset="0"/>
                <a:ea typeface="Arial" pitchFamily="34" charset="-122"/>
                <a:cs typeface="Arial" pitchFamily="34" charset="-120"/>
              </a:rPr>
              <a:t>3 pilihan TES</a:t>
            </a:r>
            <a:endParaRPr lang="en-US" sz="3200" dirty="0"/>
          </a:p>
        </p:txBody>
      </p:sp>
      <p:sp>
        <p:nvSpPr>
          <p:cNvPr id="28" name="pilihan label"/>
          <p:cNvSpPr txBox="1"/>
          <p:nvPr/>
        </p:nvSpPr>
        <p:spPr>
          <a:xfrm>
            <a:off x="8138160" y="4924552"/>
            <a:ext cx="347472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disimpan per simpul zona merah, ditambah jalur ke TEA dan zona hijau</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Pembagian warga menurut daya tampung TES</a:t>
            </a:r>
            <a:endParaRPr lang="en-US" sz="3000" dirty="0"/>
          </a:p>
        </p:txBody>
      </p:sp>
      <p:graphicFrame>
        <p:nvGraphicFramePr>
          <p:cNvPr id="3" name="grafik kelompok" descr=""/>
          <p:cNvGraphicFramePr/>
          <p:nvPr/>
        </p:nvGraphicFramePr>
        <p:xfrm>
          <a:off x="548640" y="123444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4" name="judul lp"/>
          <p:cNvSpPr txBox="1"/>
          <p:nvPr/>
        </p:nvSpPr>
        <p:spPr>
          <a:xfrm>
            <a:off x="7223760" y="1325880"/>
            <a:ext cx="4389120" cy="411480"/>
          </a:xfrm>
          <a:prstGeom prst="rect">
            <a:avLst/>
          </a:prstGeom>
          <a:noFill/>
          <a:ln/>
        </p:spPr>
        <p:txBody>
          <a:bodyPr wrap="square" lIns="0" tIns="0" rIns="0" bIns="0" rtlCol="0" anchor="t"/>
          <a:lstStyle/>
          <a:p>
            <a:pPr indent="0" marL="0">
              <a:buNone/>
            </a:pPr>
            <a:r>
              <a:rPr lang="en-US" sz="2000" b="1" dirty="0">
                <a:solidFill>
                  <a:srgbClr val="14365D"/>
                </a:solidFill>
                <a:latin typeface="Calibri" pitchFamily="34" charset="0"/>
                <a:ea typeface="Calibri" pitchFamily="34" charset="-122"/>
                <a:cs typeface="Calibri" pitchFamily="34" charset="-120"/>
              </a:rPr>
              <a:t>Program linear</a:t>
            </a:r>
            <a:endParaRPr lang="en-US" sz="2000" dirty="0"/>
          </a:p>
        </p:txBody>
      </p:sp>
      <p:sp>
        <p:nvSpPr>
          <p:cNvPr id="5" name="isi lp"/>
          <p:cNvSpPr txBox="1"/>
          <p:nvPr/>
        </p:nvSpPr>
        <p:spPr>
          <a:xfrm>
            <a:off x="7223760" y="1828800"/>
            <a:ext cx="438912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Meminimalkan total waktu tempuh seluruh penduduk</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Beban setiap TES tidak melebihi daya tampungnya</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Hanya TES yang terjangkau dalam 15 menit dan memenuhi aturan arah</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77 TES tanpa angka daya tampung menjadi cadangan</a:t>
            </a:r>
            <a:endParaRPr lang="en-US" sz="1500" dirty="0"/>
          </a:p>
        </p:txBody>
      </p:sp>
      <p:sp>
        <p:nvSpPr>
          <p:cNvPr id="6" name="kartu contoh porsi"/>
          <p:cNvSpPr/>
          <p:nvPr/>
        </p:nvSpPr>
        <p:spPr>
          <a:xfrm>
            <a:off x="7223760" y="4069080"/>
            <a:ext cx="4389120" cy="1645920"/>
          </a:xfrm>
          <a:prstGeom prst="roundRect">
            <a:avLst>
              <a:gd name="adj" fmla="val 4444"/>
            </a:avLst>
          </a:prstGeom>
          <a:solidFill>
            <a:srgbClr val="EEF2F7"/>
          </a:solidFill>
          <a:ln w="12700">
            <a:solidFill>
              <a:srgbClr val="EEF2F7"/>
            </a:solidFill>
            <a:prstDash val="solid"/>
          </a:ln>
        </p:spPr>
      </p:sp>
      <p:sp>
        <p:nvSpPr>
          <p:cNvPr id="7" name="isi contoh porsi"/>
          <p:cNvSpPr txBox="1"/>
          <p:nvPr/>
        </p:nvSpPr>
        <p:spPr>
          <a:xfrm>
            <a:off x="7452360" y="4251960"/>
            <a:ext cx="3931920" cy="1325880"/>
          </a:xfrm>
          <a:prstGeom prst="rect">
            <a:avLst/>
          </a:prstGeom>
          <a:noFill/>
          <a:ln/>
        </p:spPr>
        <p:txBody>
          <a:bodyPr wrap="square" lIns="0" tIns="0" rIns="0" bIns="0" rtlCol="0" anchor="t"/>
          <a:lstStyle/>
          <a:p>
            <a:pPr indent="0" marL="0">
              <a:buNone/>
            </a:pPr>
            <a:r>
              <a:rPr lang="en-US" sz="1400" b="1" dirty="0">
                <a:solidFill>
                  <a:srgbClr val="14365D"/>
                </a:solidFill>
                <a:latin typeface="Calibri" pitchFamily="34" charset="0"/>
                <a:ea typeface="Calibri" pitchFamily="34" charset="-122"/>
                <a:cs typeface="Calibri" pitchFamily="34" charset="-120"/>
              </a:rPr>
              <a:t>Contoh porsi: </a:t>
            </a:r>
            <a:pPr indent="0" marL="0">
              <a:buNone/>
            </a:pPr>
            <a:r>
              <a:rPr lang="en-US" sz="1400" dirty="0">
                <a:solidFill>
                  <a:srgbClr val="1B2433"/>
                </a:solidFill>
                <a:latin typeface="Calibri" pitchFamily="34" charset="0"/>
                <a:ea typeface="Calibri" pitchFamily="34" charset="-122"/>
                <a:cs typeface="Calibri" pitchFamily="34" charset="-120"/>
              </a:rPr>
              <a:t>simpul berisi 100 jiwa dengan porsi TES X 60% dan TES Y 40%. Kode keluarga menentukan siapa ke X dan siapa ke Y, sehingga satu keluarga mendapat TES yang sama.</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Ponsel memilih tujuan menurut sisa waktu</a:t>
            </a:r>
            <a:endParaRPr lang="en-US" sz="3000" dirty="0"/>
          </a:p>
        </p:txBody>
      </p:sp>
      <p:sp>
        <p:nvSpPr>
          <p:cNvPr id="3" name="anggaran waktu"/>
          <p:cNvSpPr txBox="1"/>
          <p:nvPr/>
        </p:nvSpPr>
        <p:spPr>
          <a:xfrm>
            <a:off x="548640" y="1188720"/>
            <a:ext cx="11094415" cy="640080"/>
          </a:xfrm>
          <a:prstGeom prst="rect">
            <a:avLst/>
          </a:prstGeom>
          <a:noFill/>
          <a:ln/>
        </p:spPr>
        <p:txBody>
          <a:bodyPr wrap="square" lIns="0" tIns="0" rIns="0" bIns="0" rtlCol="0" anchor="t"/>
          <a:lstStyle/>
          <a:p>
            <a:pPr indent="0" marL="0">
              <a:buNone/>
            </a:pPr>
            <a:r>
              <a:rPr lang="en-US" sz="1600" dirty="0">
                <a:solidFill>
                  <a:srgbClr val="5D6670"/>
                </a:solidFill>
                <a:latin typeface="Calibri" pitchFamily="34" charset="0"/>
                <a:ea typeface="Calibri" pitchFamily="34" charset="-122"/>
                <a:cs typeface="Calibri" pitchFamily="34" charset="-120"/>
              </a:rPr>
              <a:t>Sisa waktu = 20 menit sejak gempa − waktu yang berlalu − cadangan 5 menit − jalan ke simpul terdekat. Bila langsung berangkat, anggarannya 15 menit.</a:t>
            </a:r>
            <a:endParaRPr lang="en-US" sz="1600" dirty="0"/>
          </a:p>
        </p:txBody>
      </p:sp>
      <p:sp>
        <p:nvSpPr>
          <p:cNvPr id="4" name="kartu urutan 1"/>
          <p:cNvSpPr/>
          <p:nvPr/>
        </p:nvSpPr>
        <p:spPr>
          <a:xfrm>
            <a:off x="548640" y="2057400"/>
            <a:ext cx="2606040" cy="2560320"/>
          </a:xfrm>
          <a:prstGeom prst="roundRect">
            <a:avLst>
              <a:gd name="adj" fmla="val 2857"/>
            </a:avLst>
          </a:prstGeom>
          <a:solidFill>
            <a:srgbClr val="EEF2F7"/>
          </a:solidFill>
          <a:ln w="12700">
            <a:solidFill>
              <a:srgbClr val="EEF2F7"/>
            </a:solidFill>
            <a:prstDash val="solid"/>
          </a:ln>
        </p:spPr>
      </p:sp>
      <p:sp>
        <p:nvSpPr>
          <p:cNvPr id="5" name="nomor urutan 1"/>
          <p:cNvSpPr/>
          <p:nvPr/>
        </p:nvSpPr>
        <p:spPr>
          <a:xfrm>
            <a:off x="777240" y="2286000"/>
            <a:ext cx="594360" cy="594360"/>
          </a:xfrm>
          <a:prstGeom prst="ellipse">
            <a:avLst/>
          </a:prstGeom>
          <a:solidFill>
            <a:srgbClr val="2E8B57"/>
          </a:solidFill>
          <a:ln w="12700">
            <a:solidFill>
              <a:srgbClr val="2E8B57"/>
            </a:solidFill>
            <a:prstDash val="solid"/>
          </a:ln>
        </p:spPr>
      </p:sp>
      <p:sp>
        <p:nvSpPr>
          <p:cNvPr id="6" name="angka urutan 1"/>
          <p:cNvSpPr txBox="1"/>
          <p:nvPr/>
        </p:nvSpPr>
        <p:spPr>
          <a:xfrm>
            <a:off x="777240"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judul urutan 1"/>
          <p:cNvSpPr txBox="1"/>
          <p:nvPr/>
        </p:nvSpPr>
        <p:spPr>
          <a:xfrm>
            <a:off x="1508760" y="228600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TEA atau zona hijau</a:t>
            </a:r>
            <a:endParaRPr lang="en-US" sz="1600" dirty="0"/>
          </a:p>
        </p:txBody>
      </p:sp>
      <p:sp>
        <p:nvSpPr>
          <p:cNvPr id="8" name="isi urutan 1"/>
          <p:cNvSpPr txBox="1"/>
          <p:nvPr/>
        </p:nvSpPr>
        <p:spPr>
          <a:xfrm>
            <a:off x="777240" y="3063240"/>
            <a:ext cx="2194560" cy="14630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masih sempat, pilih yang waktu tempuhnya paling singkat; bila sama, TEA didahulukan.</a:t>
            </a:r>
            <a:endParaRPr lang="en-US" sz="1400" dirty="0"/>
          </a:p>
        </p:txBody>
      </p:sp>
      <p:sp>
        <p:nvSpPr>
          <p:cNvPr id="9" name="kartu urutan 2"/>
          <p:cNvSpPr/>
          <p:nvPr/>
        </p:nvSpPr>
        <p:spPr>
          <a:xfrm>
            <a:off x="3355848" y="2057400"/>
            <a:ext cx="2606040" cy="2560320"/>
          </a:xfrm>
          <a:prstGeom prst="roundRect">
            <a:avLst>
              <a:gd name="adj" fmla="val 2857"/>
            </a:avLst>
          </a:prstGeom>
          <a:solidFill>
            <a:srgbClr val="EEF2F7"/>
          </a:solidFill>
          <a:ln w="12700">
            <a:solidFill>
              <a:srgbClr val="EEF2F7"/>
            </a:solidFill>
            <a:prstDash val="solid"/>
          </a:ln>
        </p:spPr>
      </p:sp>
      <p:sp>
        <p:nvSpPr>
          <p:cNvPr id="10" name="nomor urutan 2"/>
          <p:cNvSpPr/>
          <p:nvPr/>
        </p:nvSpPr>
        <p:spPr>
          <a:xfrm>
            <a:off x="3584448" y="2286000"/>
            <a:ext cx="594360" cy="594360"/>
          </a:xfrm>
          <a:prstGeom prst="ellipse">
            <a:avLst/>
          </a:prstGeom>
          <a:solidFill>
            <a:srgbClr val="14365D"/>
          </a:solidFill>
          <a:ln w="12700">
            <a:solidFill>
              <a:srgbClr val="14365D"/>
            </a:solidFill>
            <a:prstDash val="solid"/>
          </a:ln>
        </p:spPr>
      </p:sp>
      <p:sp>
        <p:nvSpPr>
          <p:cNvPr id="11" name="angka urutan 2"/>
          <p:cNvSpPr txBox="1"/>
          <p:nvPr/>
        </p:nvSpPr>
        <p:spPr>
          <a:xfrm>
            <a:off x="3584448"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judul urutan 2"/>
          <p:cNvSpPr txBox="1"/>
          <p:nvPr/>
        </p:nvSpPr>
        <p:spPr>
          <a:xfrm>
            <a:off x="4315968" y="228600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TES menurut porsi</a:t>
            </a:r>
            <a:endParaRPr lang="en-US" sz="1600" dirty="0"/>
          </a:p>
        </p:txBody>
      </p:sp>
      <p:sp>
        <p:nvSpPr>
          <p:cNvPr id="13" name="isi urutan 2"/>
          <p:cNvSpPr txBox="1"/>
          <p:nvPr/>
        </p:nvSpPr>
        <p:spPr>
          <a:xfrm>
            <a:off x="3584448" y="3063240"/>
            <a:ext cx="2194560" cy="14630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Hanya dari TES yang masih sempat; porsi dinormalkan ulang dan diundi dengan kode keluarga.</a:t>
            </a:r>
            <a:endParaRPr lang="en-US" sz="1400" dirty="0"/>
          </a:p>
        </p:txBody>
      </p:sp>
      <p:sp>
        <p:nvSpPr>
          <p:cNvPr id="14" name="kartu urutan 3"/>
          <p:cNvSpPr/>
          <p:nvPr/>
        </p:nvSpPr>
        <p:spPr>
          <a:xfrm>
            <a:off x="6163056" y="2057400"/>
            <a:ext cx="2606040" cy="2560320"/>
          </a:xfrm>
          <a:prstGeom prst="roundRect">
            <a:avLst>
              <a:gd name="adj" fmla="val 2857"/>
            </a:avLst>
          </a:prstGeom>
          <a:solidFill>
            <a:srgbClr val="EEF2F7"/>
          </a:solidFill>
          <a:ln w="12700">
            <a:solidFill>
              <a:srgbClr val="EEF2F7"/>
            </a:solidFill>
            <a:prstDash val="solid"/>
          </a:ln>
        </p:spPr>
      </p:sp>
      <p:sp>
        <p:nvSpPr>
          <p:cNvPr id="15" name="nomor urutan 3"/>
          <p:cNvSpPr/>
          <p:nvPr/>
        </p:nvSpPr>
        <p:spPr>
          <a:xfrm>
            <a:off x="6391656" y="2286000"/>
            <a:ext cx="594360" cy="594360"/>
          </a:xfrm>
          <a:prstGeom prst="ellipse">
            <a:avLst/>
          </a:prstGeom>
          <a:solidFill>
            <a:srgbClr val="2F7F9C"/>
          </a:solidFill>
          <a:ln w="12700">
            <a:solidFill>
              <a:srgbClr val="2F7F9C"/>
            </a:solidFill>
            <a:prstDash val="solid"/>
          </a:ln>
        </p:spPr>
      </p:sp>
      <p:sp>
        <p:nvSpPr>
          <p:cNvPr id="16" name="angka urutan 3"/>
          <p:cNvSpPr txBox="1"/>
          <p:nvPr/>
        </p:nvSpPr>
        <p:spPr>
          <a:xfrm>
            <a:off x="6391656"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judul urutan 3"/>
          <p:cNvSpPr txBox="1"/>
          <p:nvPr/>
        </p:nvSpPr>
        <p:spPr>
          <a:xfrm>
            <a:off x="7123176" y="228600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TES terjauh dari pantai</a:t>
            </a:r>
            <a:endParaRPr lang="en-US" sz="1600" dirty="0"/>
          </a:p>
        </p:txBody>
      </p:sp>
      <p:sp>
        <p:nvSpPr>
          <p:cNvPr id="18" name="isi urutan 3"/>
          <p:cNvSpPr txBox="1"/>
          <p:nvPr/>
        </p:nvSpPr>
        <p:spPr>
          <a:xfrm>
            <a:off x="6391656" y="3063240"/>
            <a:ext cx="2194560" cy="14630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Minimal 50 m lebih jauh dari pantai daripada TES tercepat.</a:t>
            </a:r>
            <a:endParaRPr lang="en-US" sz="1400" dirty="0"/>
          </a:p>
        </p:txBody>
      </p:sp>
      <p:sp>
        <p:nvSpPr>
          <p:cNvPr id="19" name="kartu urutan 4"/>
          <p:cNvSpPr/>
          <p:nvPr/>
        </p:nvSpPr>
        <p:spPr>
          <a:xfrm>
            <a:off x="8970264" y="2057400"/>
            <a:ext cx="2606040" cy="2560320"/>
          </a:xfrm>
          <a:prstGeom prst="roundRect">
            <a:avLst>
              <a:gd name="adj" fmla="val 2857"/>
            </a:avLst>
          </a:prstGeom>
          <a:solidFill>
            <a:srgbClr val="EEF2F7"/>
          </a:solidFill>
          <a:ln w="12700">
            <a:solidFill>
              <a:srgbClr val="EEF2F7"/>
            </a:solidFill>
            <a:prstDash val="solid"/>
          </a:ln>
        </p:spPr>
      </p:sp>
      <p:sp>
        <p:nvSpPr>
          <p:cNvPr id="20" name="nomor urutan 4"/>
          <p:cNvSpPr/>
          <p:nvPr/>
        </p:nvSpPr>
        <p:spPr>
          <a:xfrm>
            <a:off x="9198864" y="2286000"/>
            <a:ext cx="594360" cy="594360"/>
          </a:xfrm>
          <a:prstGeom prst="ellipse">
            <a:avLst/>
          </a:prstGeom>
          <a:solidFill>
            <a:srgbClr val="7C8590"/>
          </a:solidFill>
          <a:ln w="12700">
            <a:solidFill>
              <a:srgbClr val="7C8590"/>
            </a:solidFill>
            <a:prstDash val="solid"/>
          </a:ln>
        </p:spPr>
      </p:sp>
      <p:sp>
        <p:nvSpPr>
          <p:cNvPr id="21" name="angka urutan 4"/>
          <p:cNvSpPr txBox="1"/>
          <p:nvPr/>
        </p:nvSpPr>
        <p:spPr>
          <a:xfrm>
            <a:off x="9198864"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judul urutan 4"/>
          <p:cNvSpPr txBox="1"/>
          <p:nvPr/>
        </p:nvSpPr>
        <p:spPr>
          <a:xfrm>
            <a:off x="9930384" y="228600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Tujuan tercepat</a:t>
            </a:r>
            <a:endParaRPr lang="en-US" sz="1600" dirty="0"/>
          </a:p>
        </p:txBody>
      </p:sp>
      <p:sp>
        <p:nvSpPr>
          <p:cNvPr id="23" name="isi urutan 4"/>
          <p:cNvSpPr txBox="1"/>
          <p:nvPr/>
        </p:nvSpPr>
        <p:spPr>
          <a:xfrm>
            <a:off x="9198864" y="3063240"/>
            <a:ext cx="2194560" cy="14630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tidak ada pilihan lain yang memenuhi syarat.</a:t>
            </a:r>
            <a:endParaRPr lang="en-US" sz="1400" dirty="0"/>
          </a:p>
        </p:txBody>
      </p:sp>
      <p:sp>
        <p:nvSpPr>
          <p:cNvPr id="24" name="kartu kunci tujuan"/>
          <p:cNvSpPr/>
          <p:nvPr/>
        </p:nvSpPr>
        <p:spPr>
          <a:xfrm>
            <a:off x="548640" y="4892040"/>
            <a:ext cx="11094415" cy="868680"/>
          </a:xfrm>
          <a:prstGeom prst="roundRect">
            <a:avLst>
              <a:gd name="adj" fmla="val 8421"/>
            </a:avLst>
          </a:prstGeom>
          <a:solidFill>
            <a:srgbClr val="14365D"/>
          </a:solidFill>
          <a:ln w="12700">
            <a:solidFill>
              <a:srgbClr val="14365D"/>
            </a:solidFill>
            <a:prstDash val="solid"/>
          </a:ln>
        </p:spPr>
      </p:sp>
      <p:sp>
        <p:nvSpPr>
          <p:cNvPr id="25" name="isi kunci tujuan"/>
          <p:cNvSpPr txBox="1"/>
          <p:nvPr/>
        </p:nvSpPr>
        <p:spPr>
          <a:xfrm>
            <a:off x="822960" y="5001768"/>
            <a:ext cx="10545775"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Tujuan dikunci agar tidak berganti-ganti. Bila tujuan tidak lagi terkejar, aplikasi menawarkan pilihan yang minimal 2 menit lebih singkat, dan pengguna menekan “Pindah”.</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Satu instruksi utama pada satu waktu</a:t>
            </a:r>
            <a:endParaRPr lang="en-US" sz="3000" dirty="0"/>
          </a:p>
        </p:txBody>
      </p:sp>
      <p:pic>
        <p:nvPicPr>
          <p:cNvPr id="3" name="tangkapan layar aplikasi" descr="C:\Users\Lenovo\AppData\Local\Temp\claude\c--gemastik\520da942-8140-47c0-a16f-9bde4b92cbe5\scratchpad\deck\aset\layar.jpg">    </p:cNvPr>
          <p:cNvPicPr>
            <a:picLocks noChangeAspect="1"/>
          </p:cNvPicPr>
          <p:nvPr/>
        </p:nvPicPr>
        <p:blipFill>
          <a:blip r:embed="rId1"/>
          <a:stretch>
            <a:fillRect/>
          </a:stretch>
        </p:blipFill>
        <p:spPr>
          <a:xfrm>
            <a:off x="548640" y="1188720"/>
            <a:ext cx="6035040" cy="4343400"/>
          </a:xfrm>
          <a:prstGeom prst="rect">
            <a:avLst/>
          </a:prstGeom>
        </p:spPr>
      </p:pic>
      <p:sp>
        <p:nvSpPr>
          <p:cNvPr id="4" name="keterangan layar"/>
          <p:cNvSpPr txBox="1"/>
          <p:nvPr/>
        </p:nvSpPr>
        <p:spPr>
          <a:xfrm>
            <a:off x="548640" y="5577840"/>
            <a:ext cx="6035040" cy="320040"/>
          </a:xfrm>
          <a:prstGeom prst="rect">
            <a:avLst/>
          </a:prstGeom>
          <a:noFill/>
          <a:ln/>
        </p:spPr>
        <p:txBody>
          <a:bodyPr wrap="square" lIns="0" tIns="0" rIns="0" bIns="0" rtlCol="0" anchor="t"/>
          <a:lstStyle/>
          <a:p>
            <a:pPr indent="0" marL="0">
              <a:buNone/>
            </a:pPr>
            <a:r>
              <a:rPr lang="en-US" sz="1200" dirty="0">
                <a:solidFill>
                  <a:srgbClr val="5D6670"/>
                </a:solidFill>
                <a:latin typeface="Calibri" pitchFamily="34" charset="0"/>
                <a:ea typeface="Calibri" pitchFamily="34" charset="-122"/>
                <a:cs typeface="Calibri" pitchFamily="34" charset="-120"/>
              </a:rPr>
              <a:t>(a) arahan dalam mode pesawat · (b) peringatan latihan · (c) layar kedatangan</a:t>
            </a:r>
            <a:endParaRPr lang="en-US" sz="1200" dirty="0"/>
          </a:p>
        </p:txBody>
      </p:sp>
      <p:sp>
        <p:nvSpPr>
          <p:cNvPr id="5" name="navigasi 1 lingkaran"/>
          <p:cNvSpPr/>
          <p:nvPr/>
        </p:nvSpPr>
        <p:spPr>
          <a:xfrm>
            <a:off x="6903720" y="1234440"/>
            <a:ext cx="685800" cy="685800"/>
          </a:xfrm>
          <a:prstGeom prst="ellipse">
            <a:avLst/>
          </a:prstGeom>
          <a:solidFill>
            <a:srgbClr val="14365D"/>
          </a:solidFill>
          <a:ln w="12700">
            <a:solidFill>
              <a:srgbClr val="14365D"/>
            </a:solidFill>
            <a:prstDash val="solid"/>
          </a:ln>
        </p:spPr>
      </p:sp>
      <p:pic>
        <p:nvPicPr>
          <p:cNvPr id="6" name="navigasi 1 ikon" descr="preencoded.png">    </p:cNvPr>
          <p:cNvPicPr>
            <a:picLocks noChangeAspect="1"/>
          </p:cNvPicPr>
          <p:nvPr/>
        </p:nvPicPr>
        <p:blipFill>
          <a:blip r:embed="rId2"/>
          <a:stretch>
            <a:fillRect/>
          </a:stretch>
        </p:blipFill>
        <p:spPr>
          <a:xfrm>
            <a:off x="7075170" y="1405890"/>
            <a:ext cx="342900" cy="342900"/>
          </a:xfrm>
          <a:prstGeom prst="rect">
            <a:avLst/>
          </a:prstGeom>
        </p:spPr>
      </p:pic>
      <p:sp>
        <p:nvSpPr>
          <p:cNvPr id="7" name="judul navigasi 1"/>
          <p:cNvSpPr txBox="1"/>
          <p:nvPr/>
        </p:nvSpPr>
        <p:spPr>
          <a:xfrm>
            <a:off x="7772400" y="1234440"/>
            <a:ext cx="388620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Panah mengikuti arah hadap</a:t>
            </a:r>
            <a:endParaRPr lang="en-US" sz="1700" dirty="0"/>
          </a:p>
        </p:txBody>
      </p:sp>
      <p:sp>
        <p:nvSpPr>
          <p:cNvPr id="8" name="isi navigasi 1"/>
          <p:cNvSpPr txBox="1"/>
          <p:nvPr/>
        </p:nvSpPr>
        <p:spPr>
          <a:xfrm>
            <a:off x="7772400" y="1618488"/>
            <a:ext cx="3886200" cy="6400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membelakangi jalur, instruksi berubah menjadi “Putar balik”.</a:t>
            </a:r>
            <a:endParaRPr lang="en-US" sz="1400" dirty="0"/>
          </a:p>
        </p:txBody>
      </p:sp>
      <p:sp>
        <p:nvSpPr>
          <p:cNvPr id="9" name="navigasi 2 lingkaran"/>
          <p:cNvSpPr/>
          <p:nvPr/>
        </p:nvSpPr>
        <p:spPr>
          <a:xfrm>
            <a:off x="6903720" y="2350008"/>
            <a:ext cx="685800" cy="685800"/>
          </a:xfrm>
          <a:prstGeom prst="ellipse">
            <a:avLst/>
          </a:prstGeom>
          <a:solidFill>
            <a:srgbClr val="14365D"/>
          </a:solidFill>
          <a:ln w="12700">
            <a:solidFill>
              <a:srgbClr val="14365D"/>
            </a:solidFill>
            <a:prstDash val="solid"/>
          </a:ln>
        </p:spPr>
      </p:sp>
      <p:pic>
        <p:nvPicPr>
          <p:cNvPr id="10" name="navigasi 2 ikon" descr="preencoded.png">    </p:cNvPr>
          <p:cNvPicPr>
            <a:picLocks noChangeAspect="1"/>
          </p:cNvPicPr>
          <p:nvPr/>
        </p:nvPicPr>
        <p:blipFill>
          <a:blip r:embed="rId3"/>
          <a:stretch>
            <a:fillRect/>
          </a:stretch>
        </p:blipFill>
        <p:spPr>
          <a:xfrm>
            <a:off x="7075170" y="2521458"/>
            <a:ext cx="342900" cy="342900"/>
          </a:xfrm>
          <a:prstGeom prst="rect">
            <a:avLst/>
          </a:prstGeom>
        </p:spPr>
      </p:pic>
      <p:sp>
        <p:nvSpPr>
          <p:cNvPr id="11" name="judul navigasi 2"/>
          <p:cNvSpPr txBox="1"/>
          <p:nvPr/>
        </p:nvSpPr>
        <p:spPr>
          <a:xfrm>
            <a:off x="7772400" y="2350008"/>
            <a:ext cx="388620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Masuk jalan di sini</a:t>
            </a:r>
            <a:endParaRPr lang="en-US" sz="1700" dirty="0"/>
          </a:p>
        </p:txBody>
      </p:sp>
      <p:sp>
        <p:nvSpPr>
          <p:cNvPr id="12" name="isi navigasi 2"/>
          <p:cNvSpPr txBox="1"/>
          <p:nvPr/>
        </p:nvSpPr>
        <p:spPr>
          <a:xfrm>
            <a:off x="7772400" y="2734056"/>
            <a:ext cx="3886200" cy="6400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Lebih dari 18 m dari jalur: garis putus-putus ke titik masuk terdekat.</a:t>
            </a:r>
            <a:endParaRPr lang="en-US" sz="1400" dirty="0"/>
          </a:p>
        </p:txBody>
      </p:sp>
      <p:sp>
        <p:nvSpPr>
          <p:cNvPr id="13" name="navigasi 3 lingkaran"/>
          <p:cNvSpPr/>
          <p:nvPr/>
        </p:nvSpPr>
        <p:spPr>
          <a:xfrm>
            <a:off x="6903720" y="3465576"/>
            <a:ext cx="685800" cy="685800"/>
          </a:xfrm>
          <a:prstGeom prst="ellipse">
            <a:avLst/>
          </a:prstGeom>
          <a:solidFill>
            <a:srgbClr val="14365D"/>
          </a:solidFill>
          <a:ln w="12700">
            <a:solidFill>
              <a:srgbClr val="14365D"/>
            </a:solidFill>
            <a:prstDash val="solid"/>
          </a:ln>
        </p:spPr>
      </p:sp>
      <p:pic>
        <p:nvPicPr>
          <p:cNvPr id="14" name="navigasi 3 ikon" descr="preencoded.png">    </p:cNvPr>
          <p:cNvPicPr>
            <a:picLocks noChangeAspect="1"/>
          </p:cNvPicPr>
          <p:nvPr/>
        </p:nvPicPr>
        <p:blipFill>
          <a:blip r:embed="rId4"/>
          <a:stretch>
            <a:fillRect/>
          </a:stretch>
        </p:blipFill>
        <p:spPr>
          <a:xfrm>
            <a:off x="7075170" y="3637026"/>
            <a:ext cx="342900" cy="342900"/>
          </a:xfrm>
          <a:prstGeom prst="rect">
            <a:avLst/>
          </a:prstGeom>
        </p:spPr>
      </p:pic>
      <p:sp>
        <p:nvSpPr>
          <p:cNvPr id="15" name="judul navigasi 3"/>
          <p:cNvSpPr txBox="1"/>
          <p:nvPr/>
        </p:nvSpPr>
        <p:spPr>
          <a:xfrm>
            <a:off x="7772400" y="3465576"/>
            <a:ext cx="388620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Jalur dibaca ulang</a:t>
            </a:r>
            <a:endParaRPr lang="en-US" sz="1700" dirty="0"/>
          </a:p>
        </p:txBody>
      </p:sp>
      <p:sp>
        <p:nvSpPr>
          <p:cNvPr id="16" name="isi navigasi 3"/>
          <p:cNvSpPr txBox="1"/>
          <p:nvPr/>
        </p:nvSpPr>
        <p:spPr>
          <a:xfrm>
            <a:off x="7772400" y="3849624"/>
            <a:ext cx="3886200" cy="6400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pengguna berada ≥ 40 m dari jalur lama pada tiga pembacaan.</a:t>
            </a:r>
            <a:endParaRPr lang="en-US" sz="1400" dirty="0"/>
          </a:p>
        </p:txBody>
      </p:sp>
      <p:sp>
        <p:nvSpPr>
          <p:cNvPr id="17" name="navigasi 4 lingkaran"/>
          <p:cNvSpPr/>
          <p:nvPr/>
        </p:nvSpPr>
        <p:spPr>
          <a:xfrm>
            <a:off x="6903720" y="4581144"/>
            <a:ext cx="685800" cy="685800"/>
          </a:xfrm>
          <a:prstGeom prst="ellipse">
            <a:avLst/>
          </a:prstGeom>
          <a:solidFill>
            <a:srgbClr val="2E8B57"/>
          </a:solidFill>
          <a:ln w="12700">
            <a:solidFill>
              <a:srgbClr val="2E8B57"/>
            </a:solidFill>
            <a:prstDash val="solid"/>
          </a:ln>
        </p:spPr>
      </p:sp>
      <p:pic>
        <p:nvPicPr>
          <p:cNvPr id="18" name="navigasi 4 ikon" descr="preencoded.png">    </p:cNvPr>
          <p:cNvPicPr>
            <a:picLocks noChangeAspect="1"/>
          </p:cNvPicPr>
          <p:nvPr/>
        </p:nvPicPr>
        <p:blipFill>
          <a:blip r:embed="rId5"/>
          <a:stretch>
            <a:fillRect/>
          </a:stretch>
        </p:blipFill>
        <p:spPr>
          <a:xfrm>
            <a:off x="7075170" y="4752594"/>
            <a:ext cx="342900" cy="342900"/>
          </a:xfrm>
          <a:prstGeom prst="rect">
            <a:avLst/>
          </a:prstGeom>
        </p:spPr>
      </p:pic>
      <p:sp>
        <p:nvSpPr>
          <p:cNvPr id="19" name="judul navigasi 4"/>
          <p:cNvSpPr txBox="1"/>
          <p:nvPr/>
        </p:nvSpPr>
        <p:spPr>
          <a:xfrm>
            <a:off x="7772400" y="4581144"/>
            <a:ext cx="388620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Kedatangan otomatis</a:t>
            </a:r>
            <a:endParaRPr lang="en-US" sz="1700" dirty="0"/>
          </a:p>
        </p:txBody>
      </p:sp>
      <p:sp>
        <p:nvSpPr>
          <p:cNvPr id="20" name="isi navigasi 4"/>
          <p:cNvSpPr txBox="1"/>
          <p:nvPr/>
        </p:nvSpPr>
        <p:spPr>
          <a:xfrm>
            <a:off x="7772400" y="4965192"/>
            <a:ext cx="3886200" cy="6400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Tiga pembacaan ≤ 20 m dari tujuan dengan ketelitian posisi ≤ 35 m.</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Fitur pendukung sebelum, saat, dan sesudah evakuasi</a:t>
            </a:r>
            <a:endParaRPr lang="en-US" sz="3000" dirty="0"/>
          </a:p>
        </p:txBody>
      </p:sp>
      <p:sp>
        <p:nvSpPr>
          <p:cNvPr id="3" name="kartu fitur 1"/>
          <p:cNvSpPr/>
          <p:nvPr/>
        </p:nvSpPr>
        <p:spPr>
          <a:xfrm>
            <a:off x="548640" y="1325880"/>
            <a:ext cx="3566160" cy="2194560"/>
          </a:xfrm>
          <a:prstGeom prst="roundRect">
            <a:avLst>
              <a:gd name="adj" fmla="val 3333"/>
            </a:avLst>
          </a:prstGeom>
          <a:solidFill>
            <a:srgbClr val="EEF2F7"/>
          </a:solidFill>
          <a:ln w="12700">
            <a:solidFill>
              <a:srgbClr val="EEF2F7"/>
            </a:solidFill>
            <a:prstDash val="solid"/>
          </a:ln>
        </p:spPr>
      </p:sp>
      <p:sp>
        <p:nvSpPr>
          <p:cNvPr id="4" name="fitur 1 lingkaran"/>
          <p:cNvSpPr/>
          <p:nvPr/>
        </p:nvSpPr>
        <p:spPr>
          <a:xfrm>
            <a:off x="822960" y="1600200"/>
            <a:ext cx="731520" cy="731520"/>
          </a:xfrm>
          <a:prstGeom prst="ellipse">
            <a:avLst/>
          </a:prstGeom>
          <a:solidFill>
            <a:srgbClr val="14365D"/>
          </a:solidFill>
          <a:ln w="12700">
            <a:solidFill>
              <a:srgbClr val="14365D"/>
            </a:solidFill>
            <a:prstDash val="solid"/>
          </a:ln>
        </p:spPr>
      </p:sp>
      <p:pic>
        <p:nvPicPr>
          <p:cNvPr id="5" name="fitur 1 ikon"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6" name="judul fitur 1"/>
          <p:cNvSpPr txBox="1"/>
          <p:nvPr/>
        </p:nvSpPr>
        <p:spPr>
          <a:xfrm>
            <a:off x="1737360" y="170992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Peringatan tsunami</a:t>
            </a:r>
            <a:endParaRPr lang="en-US" sz="1700" dirty="0"/>
          </a:p>
        </p:txBody>
      </p:sp>
      <p:sp>
        <p:nvSpPr>
          <p:cNvPr id="7" name="isi fitur 1"/>
          <p:cNvSpPr txBox="1"/>
          <p:nvPr/>
        </p:nvSpPr>
        <p:spPr>
          <a:xfrm>
            <a:off x="822960" y="246888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Membuka layar evakuasi; sirene berbunyi dan ponsel bergetar walau mode senyap.</a:t>
            </a:r>
            <a:endParaRPr lang="en-US" sz="1400" dirty="0"/>
          </a:p>
        </p:txBody>
      </p:sp>
      <p:sp>
        <p:nvSpPr>
          <p:cNvPr id="8" name="kartu fitur 2"/>
          <p:cNvSpPr/>
          <p:nvPr/>
        </p:nvSpPr>
        <p:spPr>
          <a:xfrm>
            <a:off x="4297680" y="1325880"/>
            <a:ext cx="3566160" cy="2194560"/>
          </a:xfrm>
          <a:prstGeom prst="roundRect">
            <a:avLst>
              <a:gd name="adj" fmla="val 3333"/>
            </a:avLst>
          </a:prstGeom>
          <a:solidFill>
            <a:srgbClr val="EEF2F7"/>
          </a:solidFill>
          <a:ln w="12700">
            <a:solidFill>
              <a:srgbClr val="EEF2F7"/>
            </a:solidFill>
            <a:prstDash val="solid"/>
          </a:ln>
        </p:spPr>
      </p:sp>
      <p:sp>
        <p:nvSpPr>
          <p:cNvPr id="9" name="fitur 2 lingkaran"/>
          <p:cNvSpPr/>
          <p:nvPr/>
        </p:nvSpPr>
        <p:spPr>
          <a:xfrm>
            <a:off x="4572000" y="1600200"/>
            <a:ext cx="731520" cy="731520"/>
          </a:xfrm>
          <a:prstGeom prst="ellipse">
            <a:avLst/>
          </a:prstGeom>
          <a:solidFill>
            <a:srgbClr val="14365D"/>
          </a:solidFill>
          <a:ln w="12700">
            <a:solidFill>
              <a:srgbClr val="14365D"/>
            </a:solidFill>
            <a:prstDash val="solid"/>
          </a:ln>
        </p:spPr>
      </p:sp>
      <p:pic>
        <p:nvPicPr>
          <p:cNvPr id="10" name="fitur 2 ikon" descr="preencoded.png">    </p:cNvPr>
          <p:cNvPicPr>
            <a:picLocks noChangeAspect="1"/>
          </p:cNvPicPr>
          <p:nvPr/>
        </p:nvPicPr>
        <p:blipFill>
          <a:blip r:embed="rId2"/>
          <a:stretch>
            <a:fillRect/>
          </a:stretch>
        </p:blipFill>
        <p:spPr>
          <a:xfrm>
            <a:off x="4754880" y="1783080"/>
            <a:ext cx="365760" cy="365760"/>
          </a:xfrm>
          <a:prstGeom prst="rect">
            <a:avLst/>
          </a:prstGeom>
        </p:spPr>
      </p:pic>
      <p:sp>
        <p:nvSpPr>
          <p:cNvPr id="11" name="judul fitur 2"/>
          <p:cNvSpPr txBox="1"/>
          <p:nvPr/>
        </p:nvSpPr>
        <p:spPr>
          <a:xfrm>
            <a:off x="5486400" y="170992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Rencana keluarga</a:t>
            </a:r>
            <a:endParaRPr lang="en-US" sz="1700" dirty="0"/>
          </a:p>
        </p:txBody>
      </p:sp>
      <p:sp>
        <p:nvSpPr>
          <p:cNvPr id="12" name="isi fitur 2"/>
          <p:cNvSpPr txBox="1"/>
          <p:nvPr/>
        </p:nvSpPr>
        <p:spPr>
          <a:xfrm>
            <a:off x="4572000" y="246888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Titik temu dan tujuan tiap anggota dibagikan lewat kode QR tanpa internet.</a:t>
            </a:r>
            <a:endParaRPr lang="en-US" sz="1400" dirty="0"/>
          </a:p>
        </p:txBody>
      </p:sp>
      <p:sp>
        <p:nvSpPr>
          <p:cNvPr id="13" name="kartu fitur 3"/>
          <p:cNvSpPr/>
          <p:nvPr/>
        </p:nvSpPr>
        <p:spPr>
          <a:xfrm>
            <a:off x="8046720" y="1325880"/>
            <a:ext cx="3566160" cy="2194560"/>
          </a:xfrm>
          <a:prstGeom prst="roundRect">
            <a:avLst>
              <a:gd name="adj" fmla="val 3333"/>
            </a:avLst>
          </a:prstGeom>
          <a:solidFill>
            <a:srgbClr val="EEF2F7"/>
          </a:solidFill>
          <a:ln w="12700">
            <a:solidFill>
              <a:srgbClr val="EEF2F7"/>
            </a:solidFill>
            <a:prstDash val="solid"/>
          </a:ln>
        </p:spPr>
      </p:sp>
      <p:sp>
        <p:nvSpPr>
          <p:cNvPr id="14" name="fitur 3 lingkaran"/>
          <p:cNvSpPr/>
          <p:nvPr/>
        </p:nvSpPr>
        <p:spPr>
          <a:xfrm>
            <a:off x="8321040" y="1600200"/>
            <a:ext cx="731520" cy="731520"/>
          </a:xfrm>
          <a:prstGeom prst="ellipse">
            <a:avLst/>
          </a:prstGeom>
          <a:solidFill>
            <a:srgbClr val="14365D"/>
          </a:solidFill>
          <a:ln w="12700">
            <a:solidFill>
              <a:srgbClr val="14365D"/>
            </a:solidFill>
            <a:prstDash val="solid"/>
          </a:ln>
        </p:spPr>
      </p:sp>
      <p:pic>
        <p:nvPicPr>
          <p:cNvPr id="15" name="fitur 3 ikon" descr="preencoded.png">    </p:cNvPr>
          <p:cNvPicPr>
            <a:picLocks noChangeAspect="1"/>
          </p:cNvPicPr>
          <p:nvPr/>
        </p:nvPicPr>
        <p:blipFill>
          <a:blip r:embed="rId3"/>
          <a:stretch>
            <a:fillRect/>
          </a:stretch>
        </p:blipFill>
        <p:spPr>
          <a:xfrm>
            <a:off x="8503920" y="1783080"/>
            <a:ext cx="365760" cy="365760"/>
          </a:xfrm>
          <a:prstGeom prst="rect">
            <a:avLst/>
          </a:prstGeom>
        </p:spPr>
      </p:pic>
      <p:sp>
        <p:nvSpPr>
          <p:cNvPr id="16" name="judul fitur 3"/>
          <p:cNvSpPr txBox="1"/>
          <p:nvPr/>
        </p:nvSpPr>
        <p:spPr>
          <a:xfrm>
            <a:off x="9235440" y="170992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Lapor selamat</a:t>
            </a:r>
            <a:endParaRPr lang="en-US" sz="1700" dirty="0"/>
          </a:p>
        </p:txBody>
      </p:sp>
      <p:sp>
        <p:nvSpPr>
          <p:cNvPr id="17" name="isi fitur 3"/>
          <p:cNvSpPr txBox="1"/>
          <p:nvPr/>
        </p:nvSpPr>
        <p:spPr>
          <a:xfrm>
            <a:off x="8321040" y="246888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Kabar tiba berisi nama, tempat, dan jam, tanpa koordinat posisi.</a:t>
            </a:r>
            <a:endParaRPr lang="en-US" sz="1400" dirty="0"/>
          </a:p>
        </p:txBody>
      </p:sp>
      <p:sp>
        <p:nvSpPr>
          <p:cNvPr id="18" name="kartu fitur 4"/>
          <p:cNvSpPr/>
          <p:nvPr/>
        </p:nvSpPr>
        <p:spPr>
          <a:xfrm>
            <a:off x="548640" y="3703320"/>
            <a:ext cx="3566160" cy="2194560"/>
          </a:xfrm>
          <a:prstGeom prst="roundRect">
            <a:avLst>
              <a:gd name="adj" fmla="val 3333"/>
            </a:avLst>
          </a:prstGeom>
          <a:solidFill>
            <a:srgbClr val="EEF2F7"/>
          </a:solidFill>
          <a:ln w="12700">
            <a:solidFill>
              <a:srgbClr val="EEF2F7"/>
            </a:solidFill>
            <a:prstDash val="solid"/>
          </a:ln>
        </p:spPr>
      </p:sp>
      <p:sp>
        <p:nvSpPr>
          <p:cNvPr id="19" name="fitur 4 lingkaran"/>
          <p:cNvSpPr/>
          <p:nvPr/>
        </p:nvSpPr>
        <p:spPr>
          <a:xfrm>
            <a:off x="822960" y="3977640"/>
            <a:ext cx="731520" cy="731520"/>
          </a:xfrm>
          <a:prstGeom prst="ellipse">
            <a:avLst/>
          </a:prstGeom>
          <a:solidFill>
            <a:srgbClr val="14365D"/>
          </a:solidFill>
          <a:ln w="12700">
            <a:solidFill>
              <a:srgbClr val="14365D"/>
            </a:solidFill>
            <a:prstDash val="solid"/>
          </a:ln>
        </p:spPr>
      </p:sp>
      <p:pic>
        <p:nvPicPr>
          <p:cNvPr id="20" name="fitur 4 ikon" descr="preencoded.png">    </p:cNvPr>
          <p:cNvPicPr>
            <a:picLocks noChangeAspect="1"/>
          </p:cNvPicPr>
          <p:nvPr/>
        </p:nvPicPr>
        <p:blipFill>
          <a:blip r:embed="rId4"/>
          <a:stretch>
            <a:fillRect/>
          </a:stretch>
        </p:blipFill>
        <p:spPr>
          <a:xfrm>
            <a:off x="1005840" y="4160520"/>
            <a:ext cx="365760" cy="365760"/>
          </a:xfrm>
          <a:prstGeom prst="rect">
            <a:avLst/>
          </a:prstGeom>
        </p:spPr>
      </p:pic>
      <p:sp>
        <p:nvSpPr>
          <p:cNvPr id="21" name="judul fitur 4"/>
          <p:cNvSpPr txBox="1"/>
          <p:nvPr/>
        </p:nvSpPr>
        <p:spPr>
          <a:xfrm>
            <a:off x="1737360" y="408736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Ada kendala?</a:t>
            </a:r>
            <a:endParaRPr lang="en-US" sz="1700" dirty="0"/>
          </a:p>
        </p:txBody>
      </p:sp>
      <p:sp>
        <p:nvSpPr>
          <p:cNvPr id="22" name="isi fitur 4"/>
          <p:cNvSpPr txBox="1"/>
          <p:nvPr/>
        </p:nvSpPr>
        <p:spPr>
          <a:xfrm>
            <a:off x="822960" y="484632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memutar tersimpan; laporan terkonfirmasi bila tiga ponsel melapor ruas yang sama.</a:t>
            </a:r>
            <a:endParaRPr lang="en-US" sz="1400" dirty="0"/>
          </a:p>
        </p:txBody>
      </p:sp>
      <p:sp>
        <p:nvSpPr>
          <p:cNvPr id="23" name="kartu fitur 5"/>
          <p:cNvSpPr/>
          <p:nvPr/>
        </p:nvSpPr>
        <p:spPr>
          <a:xfrm>
            <a:off x="4297680" y="3703320"/>
            <a:ext cx="3566160" cy="2194560"/>
          </a:xfrm>
          <a:prstGeom prst="roundRect">
            <a:avLst>
              <a:gd name="adj" fmla="val 3333"/>
            </a:avLst>
          </a:prstGeom>
          <a:solidFill>
            <a:srgbClr val="EEF2F7"/>
          </a:solidFill>
          <a:ln w="12700">
            <a:solidFill>
              <a:srgbClr val="EEF2F7"/>
            </a:solidFill>
            <a:prstDash val="solid"/>
          </a:ln>
        </p:spPr>
      </p:sp>
      <p:sp>
        <p:nvSpPr>
          <p:cNvPr id="24" name="fitur 5 lingkaran"/>
          <p:cNvSpPr/>
          <p:nvPr/>
        </p:nvSpPr>
        <p:spPr>
          <a:xfrm>
            <a:off x="4572000" y="3977640"/>
            <a:ext cx="731520" cy="731520"/>
          </a:xfrm>
          <a:prstGeom prst="ellipse">
            <a:avLst/>
          </a:prstGeom>
          <a:solidFill>
            <a:srgbClr val="2F7F9C"/>
          </a:solidFill>
          <a:ln w="12700">
            <a:solidFill>
              <a:srgbClr val="2F7F9C"/>
            </a:solidFill>
            <a:prstDash val="solid"/>
          </a:ln>
        </p:spPr>
      </p:sp>
      <p:pic>
        <p:nvPicPr>
          <p:cNvPr id="25" name="fitur 5 ikon" descr="preencoded.png">    </p:cNvPr>
          <p:cNvPicPr>
            <a:picLocks noChangeAspect="1"/>
          </p:cNvPicPr>
          <p:nvPr/>
        </p:nvPicPr>
        <p:blipFill>
          <a:blip r:embed="rId5"/>
          <a:stretch>
            <a:fillRect/>
          </a:stretch>
        </p:blipFill>
        <p:spPr>
          <a:xfrm>
            <a:off x="4754880" y="4160520"/>
            <a:ext cx="365760" cy="365760"/>
          </a:xfrm>
          <a:prstGeom prst="rect">
            <a:avLst/>
          </a:prstGeom>
        </p:spPr>
      </p:pic>
      <p:sp>
        <p:nvSpPr>
          <p:cNvPr id="26" name="judul fitur 5"/>
          <p:cNvSpPr txBox="1"/>
          <p:nvPr/>
        </p:nvSpPr>
        <p:spPr>
          <a:xfrm>
            <a:off x="5486400" y="408736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Dashboard RKSP</a:t>
            </a:r>
            <a:endParaRPr lang="en-US" sz="1700" dirty="0"/>
          </a:p>
        </p:txBody>
      </p:sp>
      <p:sp>
        <p:nvSpPr>
          <p:cNvPr id="27" name="isi fitur 5"/>
          <p:cNvSpPr txBox="1"/>
          <p:nvPr/>
        </p:nvSpPr>
        <p:spPr>
          <a:xfrm>
            <a:off x="4572000" y="484632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Operator mengirim peringatan latihan, melihat rekap lapor selamat, dan laporan kendala.</a:t>
            </a:r>
            <a:endParaRPr lang="en-US" sz="1400" dirty="0"/>
          </a:p>
        </p:txBody>
      </p:sp>
      <p:sp>
        <p:nvSpPr>
          <p:cNvPr id="28" name="kartu fitur 6"/>
          <p:cNvSpPr/>
          <p:nvPr/>
        </p:nvSpPr>
        <p:spPr>
          <a:xfrm>
            <a:off x="8046720" y="3703320"/>
            <a:ext cx="3566160" cy="2194560"/>
          </a:xfrm>
          <a:prstGeom prst="roundRect">
            <a:avLst>
              <a:gd name="adj" fmla="val 3333"/>
            </a:avLst>
          </a:prstGeom>
          <a:solidFill>
            <a:srgbClr val="EEF2F7"/>
          </a:solidFill>
          <a:ln w="12700">
            <a:solidFill>
              <a:srgbClr val="EEF2F7"/>
            </a:solidFill>
            <a:prstDash val="solid"/>
          </a:ln>
        </p:spPr>
      </p:sp>
      <p:sp>
        <p:nvSpPr>
          <p:cNvPr id="29" name="fitur 6 lingkaran"/>
          <p:cNvSpPr/>
          <p:nvPr/>
        </p:nvSpPr>
        <p:spPr>
          <a:xfrm>
            <a:off x="8321040" y="3977640"/>
            <a:ext cx="731520" cy="731520"/>
          </a:xfrm>
          <a:prstGeom prst="ellipse">
            <a:avLst/>
          </a:prstGeom>
          <a:solidFill>
            <a:srgbClr val="2F7F9C"/>
          </a:solidFill>
          <a:ln w="12700">
            <a:solidFill>
              <a:srgbClr val="2F7F9C"/>
            </a:solidFill>
            <a:prstDash val="solid"/>
          </a:ln>
        </p:spPr>
      </p:sp>
      <p:pic>
        <p:nvPicPr>
          <p:cNvPr id="30" name="fitur 6 ikon" descr="preencoded.png">    </p:cNvPr>
          <p:cNvPicPr>
            <a:picLocks noChangeAspect="1"/>
          </p:cNvPicPr>
          <p:nvPr/>
        </p:nvPicPr>
        <p:blipFill>
          <a:blip r:embed="rId6"/>
          <a:stretch>
            <a:fillRect/>
          </a:stretch>
        </p:blipFill>
        <p:spPr>
          <a:xfrm>
            <a:off x="8503920" y="4160520"/>
            <a:ext cx="365760" cy="365760"/>
          </a:xfrm>
          <a:prstGeom prst="rect">
            <a:avLst/>
          </a:prstGeom>
        </p:spPr>
      </p:pic>
      <p:sp>
        <p:nvSpPr>
          <p:cNvPr id="31" name="judul fitur 6"/>
          <p:cNvSpPr txBox="1"/>
          <p:nvPr/>
        </p:nvSpPr>
        <p:spPr>
          <a:xfrm>
            <a:off x="9235440" y="4087368"/>
            <a:ext cx="2194560" cy="5029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Pembaruan data aman</a:t>
            </a:r>
            <a:endParaRPr lang="en-US" sz="1700" dirty="0"/>
          </a:p>
        </p:txBody>
      </p:sp>
      <p:sp>
        <p:nvSpPr>
          <p:cNvPr id="32" name="isi fitur 6"/>
          <p:cNvSpPr txBox="1"/>
          <p:nvPr/>
        </p:nvSpPr>
        <p:spPr>
          <a:xfrm>
            <a:off x="8321040" y="4846320"/>
            <a:ext cx="306324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Paket wilayah diperiksa SHA-256; bila gagal, ponsel tetap memakai data lama.</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7772400" cy="100584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Hasil</a:t>
            </a:r>
            <a:endParaRPr lang="en-US" sz="4000" dirty="0"/>
          </a:p>
        </p:txBody>
      </p:sp>
      <p:sp>
        <p:nvSpPr>
          <p:cNvPr id="3" name="Text 0"/>
          <p:cNvSpPr/>
          <p:nvPr>
            <p:ph idx="101" type="body" hasCustomPrompt="1"/>
          </p:nvPr>
        </p:nvSpPr>
        <p:spPr>
          <a:xfrm>
            <a:off x="548640" y="3566160"/>
            <a:ext cx="7772400" cy="9144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Uji teknis, uji pengguna, dan analisis keterjangkauan</a:t>
            </a:r>
            <a:endParaRPr lang="en-US" sz="1800" dirty="0"/>
          </a:p>
        </p:txBody>
      </p:sp>
      <p:sp>
        <p:nvSpPr>
          <p:cNvPr id="4" name="simbol hasil lingkaran"/>
          <p:cNvSpPr/>
          <p:nvPr/>
        </p:nvSpPr>
        <p:spPr>
          <a:xfrm>
            <a:off x="9144000" y="2194560"/>
            <a:ext cx="1828800" cy="1828800"/>
          </a:xfrm>
          <a:prstGeom prst="ellipse">
            <a:avLst/>
          </a:prstGeom>
          <a:solidFill>
            <a:srgbClr val="F5B700"/>
          </a:solidFill>
          <a:ln w="12700">
            <a:solidFill>
              <a:srgbClr val="F5B700"/>
            </a:solidFill>
            <a:prstDash val="solid"/>
          </a:ln>
        </p:spPr>
      </p:sp>
      <p:pic>
        <p:nvPicPr>
          <p:cNvPr id="5" name="simbol hasil ikon" descr="preencoded.png">    </p:cNvPr>
          <p:cNvPicPr>
            <a:picLocks noChangeAspect="1"/>
          </p:cNvPicPr>
          <p:nvPr/>
        </p:nvPicPr>
        <p:blipFill>
          <a:blip r:embed="rId1"/>
          <a:stretch>
            <a:fillRect/>
          </a:stretch>
        </p:blipFill>
        <p:spPr>
          <a:xfrm>
            <a:off x="9601200" y="2651760"/>
            <a:ext cx="914400" cy="91440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Arahan siap di bawah 1 detik pada semua ponsel uji</a:t>
            </a:r>
            <a:endParaRPr lang="en-US" sz="3000" dirty="0"/>
          </a:p>
        </p:txBody>
      </p:sp>
      <p:graphicFrame>
        <p:nvGraphicFramePr>
          <p:cNvPr id="3" name="grafik waktu ponsel" descr=""/>
          <p:cNvGraphicFramePr/>
          <p:nvPr/>
        </p:nvGraphicFramePr>
        <p:xfrm>
          <a:off x="548640" y="123444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4" name="uji teknis 1 angka"/>
          <p:cNvSpPr txBox="1"/>
          <p:nvPr/>
        </p:nvSpPr>
        <p:spPr>
          <a:xfrm>
            <a:off x="7680960" y="1280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481–960 ms</a:t>
            </a:r>
            <a:endParaRPr lang="en-US" sz="2800" dirty="0"/>
          </a:p>
        </p:txBody>
      </p:sp>
      <p:sp>
        <p:nvSpPr>
          <p:cNvPr id="5" name="uji teknis 1 label"/>
          <p:cNvSpPr txBox="1"/>
          <p:nvPr/>
        </p:nvSpPr>
        <p:spPr>
          <a:xfrm>
            <a:off x="7680960" y="1797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arahan tampil dalam mode pesawat sejak layar dibuka</a:t>
            </a:r>
            <a:endParaRPr lang="en-US" sz="1400" dirty="0"/>
          </a:p>
        </p:txBody>
      </p:sp>
      <p:sp>
        <p:nvSpPr>
          <p:cNvPr id="6" name="uji teknis 2 angka"/>
          <p:cNvSpPr txBox="1"/>
          <p:nvPr/>
        </p:nvSpPr>
        <p:spPr>
          <a:xfrm>
            <a:off x="7680960" y="2423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80–801 ms</a:t>
            </a:r>
            <a:endParaRPr lang="en-US" sz="2800" dirty="0"/>
          </a:p>
        </p:txBody>
      </p:sp>
      <p:sp>
        <p:nvSpPr>
          <p:cNvPr id="7" name="uji teknis 2 label"/>
          <p:cNvSpPr txBox="1"/>
          <p:nvPr/>
        </p:nvSpPr>
        <p:spPr>
          <a:xfrm>
            <a:off x="7680960" y="2940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empat ponsel, 15 koordinat, data 2026.10.18</a:t>
            </a:r>
            <a:endParaRPr lang="en-US" sz="1400" dirty="0"/>
          </a:p>
        </p:txBody>
      </p:sp>
      <p:sp>
        <p:nvSpPr>
          <p:cNvPr id="8" name="uji teknis 3 angka"/>
          <p:cNvSpPr txBox="1"/>
          <p:nvPr/>
        </p:nvSpPr>
        <p:spPr>
          <a:xfrm>
            <a:off x="7680960" y="3566160"/>
            <a:ext cx="3977640" cy="444500"/>
          </a:xfrm>
          <a:prstGeom prst="rect">
            <a:avLst/>
          </a:prstGeom>
          <a:noFill/>
          <a:ln/>
        </p:spPr>
        <p:txBody>
          <a:bodyPr wrap="square" lIns="0" tIns="0" rIns="0" bIns="0" rtlCol="0" anchor="b"/>
          <a:lstStyle/>
          <a:p>
            <a:pPr indent="0" marL="0">
              <a:buNone/>
            </a:pPr>
            <a:r>
              <a:rPr lang="en-US" sz="2800" b="1" dirty="0">
                <a:solidFill>
                  <a:srgbClr val="2E8B57"/>
                </a:solidFill>
                <a:latin typeface="Arial" pitchFamily="34" charset="0"/>
                <a:ea typeface="Arial" pitchFamily="34" charset="-122"/>
                <a:cs typeface="Arial" pitchFamily="34" charset="-120"/>
              </a:rPr>
              <a:t>531 / 531</a:t>
            </a:r>
            <a:endParaRPr lang="en-US" sz="2800" dirty="0"/>
          </a:p>
        </p:txBody>
      </p:sp>
      <p:sp>
        <p:nvSpPr>
          <p:cNvPr id="9" name="uji teknis 3 label"/>
          <p:cNvSpPr txBox="1"/>
          <p:nvPr/>
        </p:nvSpPr>
        <p:spPr>
          <a:xfrm>
            <a:off x="7680960" y="4083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kasus uji unit lulus</a:t>
            </a:r>
            <a:endParaRPr lang="en-US" sz="1400" dirty="0"/>
          </a:p>
        </p:txBody>
      </p:sp>
      <p:sp>
        <p:nvSpPr>
          <p:cNvPr id="10" name="uji teknis 4 angka"/>
          <p:cNvSpPr txBox="1"/>
          <p:nvPr/>
        </p:nvSpPr>
        <p:spPr>
          <a:xfrm>
            <a:off x="7680960" y="4709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675 ms</a:t>
            </a:r>
            <a:endParaRPr lang="en-US" sz="2800" dirty="0"/>
          </a:p>
        </p:txBody>
      </p:sp>
      <p:sp>
        <p:nvSpPr>
          <p:cNvPr id="11" name="uji teknis 4 label"/>
          <p:cNvSpPr txBox="1"/>
          <p:nvPr/>
        </p:nvSpPr>
        <p:spPr>
          <a:xfrm>
            <a:off x="7680960" y="5226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selisih pemrosesan terbesar; tujuan dan waktu tempuh identik</a:t>
            </a:r>
            <a:endParaRPr lang="en-US" sz="1400" dirty="0"/>
          </a:p>
        </p:txBody>
      </p:sp>
      <p:sp>
        <p:nvSpPr>
          <p:cNvPr id="12"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Tujuh ponsel Android 14–16 diuji dengan data 2026.10.16; target NF-02 kurang dari 1 detik.</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Semua peserta memahami arah dalam 5–8 detik</a:t>
            </a:r>
            <a:endParaRPr lang="en-US" sz="3000" dirty="0"/>
          </a:p>
        </p:txBody>
      </p:sp>
      <p:sp>
        <p:nvSpPr>
          <p:cNvPr id="3" name="kartu tahap 1"/>
          <p:cNvSpPr/>
          <p:nvPr/>
        </p:nvSpPr>
        <p:spPr>
          <a:xfrm>
            <a:off x="548640" y="1280160"/>
            <a:ext cx="4572000" cy="4480560"/>
          </a:xfrm>
          <a:prstGeom prst="roundRect">
            <a:avLst>
              <a:gd name="adj" fmla="val 1633"/>
            </a:avLst>
          </a:prstGeom>
          <a:solidFill>
            <a:srgbClr val="EEF2F7"/>
          </a:solidFill>
          <a:ln w="12700">
            <a:solidFill>
              <a:srgbClr val="EEF2F7"/>
            </a:solidFill>
            <a:prstDash val="solid"/>
          </a:ln>
        </p:spPr>
      </p:sp>
      <p:sp>
        <p:nvSpPr>
          <p:cNvPr id="4" name="judul tahap 1"/>
          <p:cNvSpPr txBox="1"/>
          <p:nvPr/>
        </p:nvSpPr>
        <p:spPr>
          <a:xfrm>
            <a:off x="822960" y="1463040"/>
            <a:ext cx="40233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Tahap 1 · Agustus 2026</a:t>
            </a:r>
            <a:endParaRPr lang="en-US" sz="1800" dirty="0"/>
          </a:p>
        </p:txBody>
      </p:sp>
      <p:sp>
        <p:nvSpPr>
          <p:cNvPr id="5" name="sub tahap 1"/>
          <p:cNvSpPr txBox="1"/>
          <p:nvPr/>
        </p:nvSpPr>
        <p:spPr>
          <a:xfrm>
            <a:off x="822960" y="1874520"/>
            <a:ext cx="4023360" cy="36576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Lima calon pengguna di Masjid Al Hakim, zona merah</a:t>
            </a:r>
            <a:endParaRPr lang="en-US" sz="1400" dirty="0"/>
          </a:p>
        </p:txBody>
      </p:sp>
      <p:sp>
        <p:nvSpPr>
          <p:cNvPr id="6" name="tahap 1 peta angka"/>
          <p:cNvSpPr txBox="1"/>
          <p:nvPr/>
        </p:nvSpPr>
        <p:spPr>
          <a:xfrm>
            <a:off x="822960" y="2377440"/>
            <a:ext cx="192024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27–89 s</a:t>
            </a:r>
            <a:endParaRPr lang="en-US" sz="2800" dirty="0"/>
          </a:p>
        </p:txBody>
      </p:sp>
      <p:sp>
        <p:nvSpPr>
          <p:cNvPr id="7" name="tahap 1 peta label"/>
          <p:cNvSpPr txBox="1"/>
          <p:nvPr/>
        </p:nvSpPr>
        <p:spPr>
          <a:xfrm>
            <a:off x="822960" y="2895092"/>
            <a:ext cx="19202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peta resmi; 1 peserta tidak berhasil</a:t>
            </a:r>
            <a:endParaRPr lang="en-US" sz="1400" dirty="0"/>
          </a:p>
        </p:txBody>
      </p:sp>
      <p:sp>
        <p:nvSpPr>
          <p:cNvPr id="8" name="tahap 1 aplikasi angka"/>
          <p:cNvSpPr txBox="1"/>
          <p:nvPr/>
        </p:nvSpPr>
        <p:spPr>
          <a:xfrm>
            <a:off x="2926080" y="2377440"/>
            <a:ext cx="1920240" cy="444500"/>
          </a:xfrm>
          <a:prstGeom prst="rect">
            <a:avLst/>
          </a:prstGeom>
          <a:noFill/>
          <a:ln/>
        </p:spPr>
        <p:txBody>
          <a:bodyPr wrap="square" lIns="0" tIns="0" rIns="0" bIns="0" rtlCol="0" anchor="b"/>
          <a:lstStyle/>
          <a:p>
            <a:pPr indent="0" marL="0">
              <a:buNone/>
            </a:pPr>
            <a:r>
              <a:rPr lang="en-US" sz="2800" b="1" dirty="0">
                <a:solidFill>
                  <a:srgbClr val="2E8B57"/>
                </a:solidFill>
                <a:latin typeface="Arial" pitchFamily="34" charset="0"/>
                <a:ea typeface="Arial" pitchFamily="34" charset="-122"/>
                <a:cs typeface="Arial" pitchFamily="34" charset="-120"/>
              </a:rPr>
              <a:t>18 s</a:t>
            </a:r>
            <a:endParaRPr lang="en-US" sz="2800" dirty="0"/>
          </a:p>
        </p:txBody>
      </p:sp>
      <p:sp>
        <p:nvSpPr>
          <p:cNvPr id="9" name="tahap 1 aplikasi label"/>
          <p:cNvSpPr txBox="1"/>
          <p:nvPr/>
        </p:nvSpPr>
        <p:spPr>
          <a:xfrm>
            <a:off x="2926080" y="2895092"/>
            <a:ext cx="19202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median dengan aplikasi versi awal (8–57 s)</a:t>
            </a:r>
            <a:endParaRPr lang="en-US" sz="1400" dirty="0"/>
          </a:p>
        </p:txBody>
      </p:sp>
      <p:sp>
        <p:nvSpPr>
          <p:cNvPr id="10" name="masukan tahap 1"/>
          <p:cNvSpPr txBox="1"/>
          <p:nvPr/>
        </p:nvSpPr>
        <p:spPr>
          <a:xfrm>
            <a:off x="822960" y="4069080"/>
            <a:ext cx="4023360" cy="14630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Masukan soal perbesaran peta dari tiga peserta dipakai untuk memperbaiki ukuran awal peta dan tombolnya.</a:t>
            </a:r>
            <a:endParaRPr lang="en-US" sz="1400" dirty="0"/>
          </a:p>
        </p:txBody>
      </p:sp>
      <p:sp>
        <p:nvSpPr>
          <p:cNvPr id="11" name="judul tahap 2"/>
          <p:cNvSpPr txBox="1"/>
          <p:nvPr/>
        </p:nvSpPr>
        <p:spPr>
          <a:xfrm>
            <a:off x="5440680" y="1280160"/>
            <a:ext cx="621792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Tahap 2 · 11–22 Oktober 2026</a:t>
            </a:r>
            <a:endParaRPr lang="en-US" sz="1800" dirty="0"/>
          </a:p>
        </p:txBody>
      </p:sp>
      <p:sp>
        <p:nvSpPr>
          <p:cNvPr id="12" name="sub tahap 2"/>
          <p:cNvSpPr txBox="1"/>
          <p:nvPr/>
        </p:nvSpPr>
        <p:spPr>
          <a:xfrm>
            <a:off x="5440680" y="1691640"/>
            <a:ext cx="6217920" cy="54864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25 peserta di Masjid Al Hakim, UNP, Masjid Raya Padang, dan Pantai Ujung Batu; aplikasi dalam mode pesawat</a:t>
            </a:r>
            <a:endParaRPr lang="en-US" sz="1400" dirty="0"/>
          </a:p>
        </p:txBody>
      </p:sp>
      <p:graphicFrame>
        <p:nvGraphicFramePr>
          <p:cNvPr id="20" name="tabel tahap 2"/>
          <p:cNvGraphicFramePr>
            <a:graphicFrameLocks noGrp="1"/>
          </p:cNvGraphicFramePr>
          <p:nvPr>
            <p:extLst>
              <p:ext uri="{D42A27DB-BD31-4B8C-83A1-F6EECF244321}">
                <p14:modId xmlns:p14="http://schemas.microsoft.com/office/powerpoint/2010/main" val="1579011935"/>
              </p:ext>
            </p:extLst>
          </p:nvPr>
        </p:nvGraphicFramePr>
        <p:xfrm>
          <a:off x="5440680" y="2377440"/>
          <a:ext cx="6217920" cy="914400"/>
        </p:xfrm>
        <a:graphic>
          <a:graphicData uri="http://schemas.openxmlformats.org/drawingml/2006/table">
            <a:tbl>
              <a:tblPr/>
              <a:tblGrid>
                <a:gridCol w="2011680"/>
                <a:gridCol w="2103120"/>
                <a:gridCol w="2103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Aplikasi</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Peta cetak</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Arah benar</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25 dari 25 (100%)</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20 dari 25</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berhasil</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Waktu tercatat</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5–8 detik (15 peserta)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10–58 detik (15 peserta)</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14" name="uji jalan kaki"/>
          <p:cNvSpPr txBox="1"/>
          <p:nvPr/>
        </p:nvSpPr>
        <p:spPr>
          <a:xfrm>
            <a:off x="5440680" y="4434840"/>
            <a:ext cx="6217920" cy="731520"/>
          </a:xfrm>
          <a:prstGeom prst="rect">
            <a:avLst/>
          </a:prstGeom>
          <a:noFill/>
          <a:ln/>
        </p:spPr>
        <p:txBody>
          <a:bodyPr wrap="square" lIns="0" tIns="0" rIns="0" bIns="0" rtlCol="0" anchor="t"/>
          <a:lstStyle/>
          <a:p>
            <a:pPr indent="0" marL="0">
              <a:buNone/>
            </a:pPr>
            <a:r>
              <a:rPr lang="en-US" sz="1400" b="1" dirty="0">
                <a:solidFill>
                  <a:srgbClr val="14365D"/>
                </a:solidFill>
                <a:latin typeface="Calibri" pitchFamily="34" charset="0"/>
                <a:ea typeface="Calibri" pitchFamily="34" charset="-122"/>
                <a:cs typeface="Calibri" pitchFamily="34" charset="-120"/>
              </a:rPr>
              <a:t>Uji jalan kaki: </a:t>
            </a:r>
            <a:pPr indent="0" marL="0">
              <a:buNone/>
            </a:pPr>
            <a:r>
              <a:rPr lang="en-US" sz="1400" dirty="0">
                <a:solidFill>
                  <a:srgbClr val="1B2433"/>
                </a:solidFill>
                <a:latin typeface="Calibri" pitchFamily="34" charset="0"/>
                <a:ea typeface="Calibri" pitchFamily="34" charset="-122"/>
                <a:cs typeface="Calibri" pitchFamily="34" charset="-120"/>
              </a:rPr>
              <a:t>dua peserta tiba di TES dalam 9 dan 7 menit (perkiraan aplikasi 18 dan 12 menit); satu di antaranya dalam mode pesawat.</a:t>
            </a:r>
            <a:endParaRPr lang="en-US" sz="1400" dirty="0"/>
          </a:p>
        </p:txBody>
      </p:sp>
      <p:sp>
        <p:nvSpPr>
          <p:cNvPr id="15" name="catatan uji"/>
          <p:cNvSpPr txBox="1"/>
          <p:nvPr/>
        </p:nvSpPr>
        <p:spPr>
          <a:xfrm>
            <a:off x="5440680" y="5212080"/>
            <a:ext cx="6217920" cy="548640"/>
          </a:xfrm>
          <a:prstGeom prst="rect">
            <a:avLst/>
          </a:prstGeom>
          <a:noFill/>
          <a:ln/>
        </p:spPr>
        <p:txBody>
          <a:bodyPr wrap="square" lIns="0" tIns="0" rIns="0" bIns="0" rtlCol="0" anchor="t"/>
          <a:lstStyle/>
          <a:p>
            <a:pPr indent="0" marL="0">
              <a:buNone/>
            </a:pPr>
            <a:r>
              <a:rPr lang="en-US" sz="1200" i="1" dirty="0">
                <a:solidFill>
                  <a:srgbClr val="7C8590"/>
                </a:solidFill>
                <a:latin typeface="Calibri" pitchFamily="34" charset="0"/>
                <a:ea typeface="Calibri" pitchFamily="34" charset="-122"/>
                <a:cs typeface="Calibri" pitchFamily="34" charset="-120"/>
              </a:rPr>
              <a:t>Durasi peta dan aplikasi tidak dibandingkan langsung karena urutan dan lokasi tugasnya berbeda.</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Aturan Siaga Padang menambah warga yang sempat</a:t>
            </a:r>
            <a:endParaRPr lang="en-US" sz="3000" dirty="0"/>
          </a:p>
        </p:txBody>
      </p:sp>
      <p:graphicFrame>
        <p:nvGraphicFramePr>
          <p:cNvPr id="3" name="grafik keterjangkauan" descr=""/>
          <p:cNvGraphicFramePr/>
          <p:nvPr/>
        </p:nvGraphicFramePr>
        <p:xfrm>
          <a:off x="548640" y="1234440"/>
          <a:ext cx="54864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fik kelebihan" descr=""/>
          <p:cNvGraphicFramePr/>
          <p:nvPr/>
        </p:nvGraphicFramePr>
        <p:xfrm>
          <a:off x="6172200" y="1234440"/>
          <a:ext cx="5486400" cy="4480560"/>
        </p:xfrm>
        <a:graphic xmlns:a="http://schemas.openxmlformats.org/drawingml/2006/main">
          <a:graphicData uri="http://schemas.openxmlformats.org/drawingml/2006/chart">
            <c:chart xmlns:c="http://schemas.openxmlformats.org/drawingml/2006/chart" r:id="rId2"/>
          </a:graphicData>
        </a:graphic>
      </p:graphicFrame>
      <p:sp>
        <p:nvSpPr>
          <p:cNvPr id="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Proyeksi 313.862 jiwa, laju 0,894 m/s, berangkat saat gempa; 78,7% dapat mencapai tujuan tercepat dalam 20 menit. Bukan prediksi waktu tiba tsunami.</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Peta beban TES menunjukkan lokasi prioritas</a:t>
            </a:r>
            <a:endParaRPr lang="en-US" sz="3000" dirty="0"/>
          </a:p>
        </p:txBody>
      </p:sp>
      <p:pic>
        <p:nvPicPr>
          <p:cNvPr id="3" name="peta beban tes" descr="C:\Users\Lenovo\AppData\Local\Temp\claude\c--gemastik\520da942-8140-47c0-a16f-9bde4b92cbe5\scratchpad\deck\aset\beban.png">    </p:cNvPr>
          <p:cNvPicPr>
            <a:picLocks noChangeAspect="1"/>
          </p:cNvPicPr>
          <p:nvPr/>
        </p:nvPicPr>
        <p:blipFill>
          <a:blip r:embed="rId1"/>
          <a:stretch>
            <a:fillRect/>
          </a:stretch>
        </p:blipFill>
        <p:spPr>
          <a:xfrm>
            <a:off x="548640" y="1188720"/>
            <a:ext cx="6309360" cy="4553712"/>
          </a:xfrm>
          <a:prstGeom prst="rect">
            <a:avLst/>
          </a:prstGeom>
        </p:spPr>
      </p:pic>
      <p:sp>
        <p:nvSpPr>
          <p:cNvPr id="4" name="beban 1 angka"/>
          <p:cNvSpPr txBox="1"/>
          <p:nvPr/>
        </p:nvSpPr>
        <p:spPr>
          <a:xfrm>
            <a:off x="7223760" y="1280160"/>
            <a:ext cx="443484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122 TES</a:t>
            </a:r>
            <a:endParaRPr lang="en-US" sz="3000" dirty="0"/>
          </a:p>
        </p:txBody>
      </p:sp>
      <p:sp>
        <p:nvSpPr>
          <p:cNvPr id="5" name="beban 1 label"/>
          <p:cNvSpPr txBox="1"/>
          <p:nvPr/>
        </p:nvSpPr>
        <p:spPr>
          <a:xfrm>
            <a:off x="7223760" y="182956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menerima beban dari 89.158 jiwa yang dibagi menurut daya tampung</a:t>
            </a:r>
            <a:endParaRPr lang="en-US" sz="1400" dirty="0"/>
          </a:p>
        </p:txBody>
      </p:sp>
      <p:sp>
        <p:nvSpPr>
          <p:cNvPr id="6" name="beban 2 angka"/>
          <p:cNvSpPr txBox="1"/>
          <p:nvPr/>
        </p:nvSpPr>
        <p:spPr>
          <a:xfrm>
            <a:off x="7223760" y="2606040"/>
            <a:ext cx="443484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37 TES</a:t>
            </a:r>
            <a:endParaRPr lang="en-US" sz="3000" dirty="0"/>
          </a:p>
        </p:txBody>
      </p:sp>
      <p:sp>
        <p:nvSpPr>
          <p:cNvPr id="7" name="beban 2 label"/>
          <p:cNvSpPr txBox="1"/>
          <p:nvPr/>
        </p:nvSpPr>
        <p:spPr>
          <a:xfrm>
            <a:off x="7223760" y="315544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melebihi daya tampung, total kelebihan 23.442 jiwa</a:t>
            </a:r>
            <a:endParaRPr lang="en-US" sz="1400" dirty="0"/>
          </a:p>
        </p:txBody>
      </p:sp>
      <p:sp>
        <p:nvSpPr>
          <p:cNvPr id="8" name="beban 3 angka"/>
          <p:cNvSpPr txBox="1"/>
          <p:nvPr/>
        </p:nvSpPr>
        <p:spPr>
          <a:xfrm>
            <a:off x="7223760" y="3931920"/>
            <a:ext cx="443484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21 TES</a:t>
            </a:r>
            <a:endParaRPr lang="en-US" sz="3000" dirty="0"/>
          </a:p>
        </p:txBody>
      </p:sp>
      <p:sp>
        <p:nvSpPr>
          <p:cNvPr id="9" name="beban 3 label"/>
          <p:cNvSpPr txBox="1"/>
          <p:nvPr/>
        </p:nvSpPr>
        <p:spPr>
          <a:xfrm>
            <a:off x="7223760" y="448132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menerima lebih dari dua kali daya tampungnya</a:t>
            </a:r>
            <a:endParaRPr lang="en-US" sz="1400" dirty="0"/>
          </a:p>
        </p:txBody>
      </p:sp>
      <p:sp>
        <p:nvSpPr>
          <p:cNvPr id="10" name="keterangan beban"/>
          <p:cNvSpPr txBox="1"/>
          <p:nvPr/>
        </p:nvSpPr>
        <p:spPr>
          <a:xfrm>
            <a:off x="7223760" y="5257800"/>
            <a:ext cx="4434840" cy="7315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Kelebihan terkumpul di pesisir utara dan pusat kota, saat semua TES yang terjangkau dalam 15 menit sudah penuh.</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7772400" cy="100584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Dampak dan Keberlanjutan</a:t>
            </a:r>
            <a:endParaRPr lang="en-US" sz="4000" dirty="0"/>
          </a:p>
        </p:txBody>
      </p:sp>
      <p:sp>
        <p:nvSpPr>
          <p:cNvPr id="3" name="Text 0"/>
          <p:cNvSpPr/>
          <p:nvPr>
            <p:ph idx="101" type="body" hasCustomPrompt="1"/>
          </p:nvPr>
        </p:nvSpPr>
        <p:spPr>
          <a:xfrm>
            <a:off x="548640" y="3566160"/>
            <a:ext cx="7772400" cy="9144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Bahan perencanaan BPBD dan rencana pengembangan</a:t>
            </a:r>
            <a:endParaRPr lang="en-US" sz="1800" dirty="0"/>
          </a:p>
        </p:txBody>
      </p:sp>
      <p:sp>
        <p:nvSpPr>
          <p:cNvPr id="4" name="simbol dampak lingkaran"/>
          <p:cNvSpPr/>
          <p:nvPr/>
        </p:nvSpPr>
        <p:spPr>
          <a:xfrm>
            <a:off x="9144000" y="2194560"/>
            <a:ext cx="1828800" cy="1828800"/>
          </a:xfrm>
          <a:prstGeom prst="ellipse">
            <a:avLst/>
          </a:prstGeom>
          <a:solidFill>
            <a:srgbClr val="F5B700"/>
          </a:solidFill>
          <a:ln w="12700">
            <a:solidFill>
              <a:srgbClr val="F5B700"/>
            </a:solidFill>
            <a:prstDash val="solid"/>
          </a:ln>
        </p:spPr>
      </p:sp>
      <p:pic>
        <p:nvPicPr>
          <p:cNvPr id="5" name="simbol dampak ikon" descr="preencoded.png">    </p:cNvPr>
          <p:cNvPicPr>
            <a:picLocks noChangeAspect="1"/>
          </p:cNvPicPr>
          <p:nvPr/>
        </p:nvPicPr>
        <p:blipFill>
          <a:blip r:embed="rId1"/>
          <a:stretch>
            <a:fillRect/>
          </a:stretch>
        </p:blipFill>
        <p:spPr>
          <a:xfrm>
            <a:off x="9601200" y="2651760"/>
            <a:ext cx="914400" cy="91440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Hasil analisis siap dipakai BPBD Kota Padang</a:t>
            </a:r>
            <a:endParaRPr lang="en-US" sz="3000" dirty="0"/>
          </a:p>
        </p:txBody>
      </p:sp>
      <p:sp>
        <p:nvSpPr>
          <p:cNvPr id="3" name="kartu kelurahan"/>
          <p:cNvSpPr/>
          <p:nvPr/>
        </p:nvSpPr>
        <p:spPr>
          <a:xfrm>
            <a:off x="548640" y="1280160"/>
            <a:ext cx="3657600" cy="4480560"/>
          </a:xfrm>
          <a:prstGeom prst="roundRect">
            <a:avLst>
              <a:gd name="adj" fmla="val 2000"/>
            </a:avLst>
          </a:prstGeom>
          <a:solidFill>
            <a:srgbClr val="14365D"/>
          </a:solidFill>
          <a:ln w="12700">
            <a:solidFill>
              <a:srgbClr val="14365D"/>
            </a:solidFill>
            <a:prstDash val="solid"/>
          </a:ln>
        </p:spPr>
      </p:sp>
      <p:sp>
        <p:nvSpPr>
          <p:cNvPr id="4" name="judul kelurahan"/>
          <p:cNvSpPr txBox="1"/>
          <p:nvPr/>
        </p:nvSpPr>
        <p:spPr>
          <a:xfrm>
            <a:off x="822960" y="1463040"/>
            <a:ext cx="3108960" cy="731520"/>
          </a:xfrm>
          <a:prstGeom prst="rect">
            <a:avLst/>
          </a:prstGeom>
          <a:noFill/>
          <a:ln/>
        </p:spPr>
        <p:txBody>
          <a:bodyPr wrap="square" lIns="0" tIns="0" rIns="0" bIns="0" rtlCol="0" anchor="t"/>
          <a:lstStyle/>
          <a:p>
            <a:pPr indent="0" marL="0">
              <a:buNone/>
            </a:pPr>
            <a:r>
              <a:rPr lang="en-US" sz="1700" b="1" dirty="0">
                <a:solidFill>
                  <a:srgbClr val="F5B700"/>
                </a:solidFill>
                <a:latin typeface="Calibri" pitchFamily="34" charset="0"/>
                <a:ea typeface="Calibri" pitchFamily="34" charset="-122"/>
                <a:cs typeface="Calibri" pitchFamily="34" charset="-120"/>
              </a:rPr>
              <a:t>Kelurahan prioritas tempat evakuasi tambahan</a:t>
            </a:r>
            <a:endParaRPr lang="en-US" sz="1700" dirty="0"/>
          </a:p>
        </p:txBody>
      </p:sp>
      <p:sp>
        <p:nvSpPr>
          <p:cNvPr id="5" name="daftar kelurahan"/>
          <p:cNvSpPr txBox="1"/>
          <p:nvPr/>
        </p:nvSpPr>
        <p:spPr>
          <a:xfrm>
            <a:off x="822960" y="2286000"/>
            <a:ext cx="31089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Batang Kabung</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Padang Sarai</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Parupuk Tabing</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Pasir Nan Tigo</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Dadok Tunggul Hitam</a:t>
            </a:r>
            <a:endParaRPr lang="en-US" sz="1600" dirty="0"/>
          </a:p>
        </p:txBody>
      </p:sp>
      <p:sp>
        <p:nvSpPr>
          <p:cNvPr id="6" name="keterangan kelurahan"/>
          <p:cNvSpPr txBox="1"/>
          <p:nvPr/>
        </p:nvSpPr>
        <p:spPr>
          <a:xfrm>
            <a:off x="822960" y="4754880"/>
            <a:ext cx="3108960" cy="82296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Jumlah penduduk terbesar yang belum dapat mencapai tempat evakuasi dalam 20 menit.</a:t>
            </a:r>
            <a:endParaRPr lang="en-US" sz="1300" dirty="0"/>
          </a:p>
        </p:txBody>
      </p:sp>
      <p:sp>
        <p:nvSpPr>
          <p:cNvPr id="7" name="manfaat 1 lingkaran"/>
          <p:cNvSpPr/>
          <p:nvPr/>
        </p:nvSpPr>
        <p:spPr>
          <a:xfrm>
            <a:off x="4572000" y="1325880"/>
            <a:ext cx="731520" cy="731520"/>
          </a:xfrm>
          <a:prstGeom prst="ellipse">
            <a:avLst/>
          </a:prstGeom>
          <a:solidFill>
            <a:srgbClr val="14365D"/>
          </a:solidFill>
          <a:ln w="12700">
            <a:solidFill>
              <a:srgbClr val="14365D"/>
            </a:solidFill>
            <a:prstDash val="solid"/>
          </a:ln>
        </p:spPr>
      </p:sp>
      <p:pic>
        <p:nvPicPr>
          <p:cNvPr id="8" name="manfaat 1 ikon" descr="preencoded.png">    </p:cNvPr>
          <p:cNvPicPr>
            <a:picLocks noChangeAspect="1"/>
          </p:cNvPicPr>
          <p:nvPr/>
        </p:nvPicPr>
        <p:blipFill>
          <a:blip r:embed="rId1"/>
          <a:stretch>
            <a:fillRect/>
          </a:stretch>
        </p:blipFill>
        <p:spPr>
          <a:xfrm>
            <a:off x="4754880" y="1508760"/>
            <a:ext cx="365760" cy="365760"/>
          </a:xfrm>
          <a:prstGeom prst="rect">
            <a:avLst/>
          </a:prstGeom>
        </p:spPr>
      </p:pic>
      <p:sp>
        <p:nvSpPr>
          <p:cNvPr id="9" name="judul manfaat 1"/>
          <p:cNvSpPr txBox="1"/>
          <p:nvPr/>
        </p:nvSpPr>
        <p:spPr>
          <a:xfrm>
            <a:off x="5486400" y="1280160"/>
            <a:ext cx="617220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Data selalu terbarui</a:t>
            </a:r>
            <a:endParaRPr lang="en-US" sz="1800" dirty="0"/>
          </a:p>
        </p:txBody>
      </p:sp>
      <p:sp>
        <p:nvSpPr>
          <p:cNvPr id="10" name="isi manfaat 1"/>
          <p:cNvSpPr txBox="1"/>
          <p:nvPr/>
        </p:nvSpPr>
        <p:spPr>
          <a:xfrm>
            <a:off x="5486400" y="1719072"/>
            <a:ext cx="617220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Paket wilayah diganti tanpa memasang ulang aplikasi: BPBD menyerahkan data, tim membangun ulang, BPBD menyetujui, ponsel memeriksa checksum.</a:t>
            </a:r>
            <a:endParaRPr lang="en-US" sz="1400" dirty="0"/>
          </a:p>
        </p:txBody>
      </p:sp>
      <p:sp>
        <p:nvSpPr>
          <p:cNvPr id="11" name="manfaat 2 lingkaran"/>
          <p:cNvSpPr/>
          <p:nvPr/>
        </p:nvSpPr>
        <p:spPr>
          <a:xfrm>
            <a:off x="4572000" y="2834640"/>
            <a:ext cx="731520" cy="731520"/>
          </a:xfrm>
          <a:prstGeom prst="ellipse">
            <a:avLst/>
          </a:prstGeom>
          <a:solidFill>
            <a:srgbClr val="14365D"/>
          </a:solidFill>
          <a:ln w="12700">
            <a:solidFill>
              <a:srgbClr val="14365D"/>
            </a:solidFill>
            <a:prstDash val="solid"/>
          </a:ln>
        </p:spPr>
      </p:sp>
      <p:pic>
        <p:nvPicPr>
          <p:cNvPr id="12" name="manfaat 2 ikon" descr="preencoded.png">    </p:cNvPr>
          <p:cNvPicPr>
            <a:picLocks noChangeAspect="1"/>
          </p:cNvPicPr>
          <p:nvPr/>
        </p:nvPicPr>
        <p:blipFill>
          <a:blip r:embed="rId2"/>
          <a:stretch>
            <a:fillRect/>
          </a:stretch>
        </p:blipFill>
        <p:spPr>
          <a:xfrm>
            <a:off x="4754880" y="3017520"/>
            <a:ext cx="365760" cy="365760"/>
          </a:xfrm>
          <a:prstGeom prst="rect">
            <a:avLst/>
          </a:prstGeom>
        </p:spPr>
      </p:pic>
      <p:sp>
        <p:nvSpPr>
          <p:cNvPr id="13" name="judul manfaat 2"/>
          <p:cNvSpPr txBox="1"/>
          <p:nvPr/>
        </p:nvSpPr>
        <p:spPr>
          <a:xfrm>
            <a:off x="5486400" y="2788920"/>
            <a:ext cx="617220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Dukungan BPBD</a:t>
            </a:r>
            <a:endParaRPr lang="en-US" sz="1800" dirty="0"/>
          </a:p>
        </p:txBody>
      </p:sp>
      <p:sp>
        <p:nvSpPr>
          <p:cNvPr id="14" name="isi manfaat 2"/>
          <p:cNvSpPr txBox="1"/>
          <p:nvPr/>
        </p:nvSpPr>
        <p:spPr>
          <a:xfrm>
            <a:off x="5486400" y="3227832"/>
            <a:ext cx="617220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BPBD menyatakan dukungan dan kesediaan melanjutkan kerja sama setelah kompetisi; mode latihan dapat dipakai dalam simulasi evakuasi rutin.</a:t>
            </a:r>
            <a:endParaRPr lang="en-US" sz="1400" dirty="0"/>
          </a:p>
        </p:txBody>
      </p:sp>
      <p:sp>
        <p:nvSpPr>
          <p:cNvPr id="15" name="manfaat 3 lingkaran"/>
          <p:cNvSpPr/>
          <p:nvPr/>
        </p:nvSpPr>
        <p:spPr>
          <a:xfrm>
            <a:off x="4572000" y="4343400"/>
            <a:ext cx="731520" cy="731520"/>
          </a:xfrm>
          <a:prstGeom prst="ellipse">
            <a:avLst/>
          </a:prstGeom>
          <a:solidFill>
            <a:srgbClr val="2E8B57"/>
          </a:solidFill>
          <a:ln w="12700">
            <a:solidFill>
              <a:srgbClr val="2E8B57"/>
            </a:solidFill>
            <a:prstDash val="solid"/>
          </a:ln>
        </p:spPr>
      </p:sp>
      <p:pic>
        <p:nvPicPr>
          <p:cNvPr id="16" name="manfaat 3 ikon" descr="preencoded.png">    </p:cNvPr>
          <p:cNvPicPr>
            <a:picLocks noChangeAspect="1"/>
          </p:cNvPicPr>
          <p:nvPr/>
        </p:nvPicPr>
        <p:blipFill>
          <a:blip r:embed="rId3"/>
          <a:stretch>
            <a:fillRect/>
          </a:stretch>
        </p:blipFill>
        <p:spPr>
          <a:xfrm>
            <a:off x="4754880" y="4526280"/>
            <a:ext cx="365760" cy="365760"/>
          </a:xfrm>
          <a:prstGeom prst="rect">
            <a:avLst/>
          </a:prstGeom>
        </p:spPr>
      </p:pic>
      <p:sp>
        <p:nvSpPr>
          <p:cNvPr id="17" name="judul manfaat 3"/>
          <p:cNvSpPr txBox="1"/>
          <p:nvPr/>
        </p:nvSpPr>
        <p:spPr>
          <a:xfrm>
            <a:off x="5486400" y="4297680"/>
            <a:ext cx="617220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Sejalan dengan SDGs</a:t>
            </a:r>
            <a:endParaRPr lang="en-US" sz="1800" dirty="0"/>
          </a:p>
        </p:txBody>
      </p:sp>
      <p:sp>
        <p:nvSpPr>
          <p:cNvPr id="18" name="isi manfaat 3"/>
          <p:cNvSpPr txBox="1"/>
          <p:nvPr/>
        </p:nvSpPr>
        <p:spPr>
          <a:xfrm>
            <a:off x="5486400" y="4736592"/>
            <a:ext cx="6172200"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Target 11.5 dan 11.b (pengurangan dampak bencana, ketahanan kota) serta 13.1 (kapasitas menghadapi bahaya).</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Ruang lingkup saat ini dan langkah berikutnya</a:t>
            </a:r>
            <a:endParaRPr lang="en-US" sz="3000" dirty="0"/>
          </a:p>
        </p:txBody>
      </p:sp>
      <p:sp>
        <p:nvSpPr>
          <p:cNvPr id="3" name="kartu lingkup 1"/>
          <p:cNvSpPr/>
          <p:nvPr/>
        </p:nvSpPr>
        <p:spPr>
          <a:xfrm>
            <a:off x="548640" y="1280160"/>
            <a:ext cx="3566160" cy="2331720"/>
          </a:xfrm>
          <a:prstGeom prst="roundRect">
            <a:avLst>
              <a:gd name="adj" fmla="val 3137"/>
            </a:avLst>
          </a:prstGeom>
          <a:solidFill>
            <a:srgbClr val="EEF2F7"/>
          </a:solidFill>
          <a:ln w="12700">
            <a:solidFill>
              <a:srgbClr val="EEF2F7"/>
            </a:solidFill>
            <a:prstDash val="solid"/>
          </a:ln>
        </p:spPr>
      </p:sp>
      <p:sp>
        <p:nvSpPr>
          <p:cNvPr id="4" name="lingkup 1 lingkaran"/>
          <p:cNvSpPr/>
          <p:nvPr/>
        </p:nvSpPr>
        <p:spPr>
          <a:xfrm>
            <a:off x="822960" y="1508760"/>
            <a:ext cx="685800" cy="685800"/>
          </a:xfrm>
          <a:prstGeom prst="ellipse">
            <a:avLst/>
          </a:prstGeom>
          <a:solidFill>
            <a:srgbClr val="2E8B57"/>
          </a:solidFill>
          <a:ln w="12700">
            <a:solidFill>
              <a:srgbClr val="2E8B57"/>
            </a:solidFill>
            <a:prstDash val="solid"/>
          </a:ln>
        </p:spPr>
      </p:sp>
      <p:pic>
        <p:nvPicPr>
          <p:cNvPr id="5" name="lingkup 1 ikon" descr="preencoded.png">    </p:cNvPr>
          <p:cNvPicPr>
            <a:picLocks noChangeAspect="1"/>
          </p:cNvPicPr>
          <p:nvPr/>
        </p:nvPicPr>
        <p:blipFill>
          <a:blip r:embed="rId1"/>
          <a:stretch>
            <a:fillRect/>
          </a:stretch>
        </p:blipFill>
        <p:spPr>
          <a:xfrm>
            <a:off x="994410" y="1680210"/>
            <a:ext cx="342900" cy="342900"/>
          </a:xfrm>
          <a:prstGeom prst="rect">
            <a:avLst/>
          </a:prstGeom>
        </p:spPr>
      </p:pic>
      <p:sp>
        <p:nvSpPr>
          <p:cNvPr id="6" name="judul lingkup 1"/>
          <p:cNvSpPr txBox="1"/>
          <p:nvPr/>
        </p:nvSpPr>
        <p:spPr>
          <a:xfrm>
            <a:off x="169164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Android</a:t>
            </a:r>
            <a:endParaRPr lang="en-US" sz="1800" dirty="0"/>
          </a:p>
        </p:txBody>
      </p:sp>
      <p:sp>
        <p:nvSpPr>
          <p:cNvPr id="7" name="isi lingkup 1"/>
          <p:cNvSpPr txBox="1"/>
          <p:nvPr/>
        </p:nvSpPr>
        <p:spPr>
          <a:xfrm>
            <a:off x="82296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Dikembangkan untuk Android 6.0 ke atas, platform mayoritas di Indonesia; paket data yang sama dapat dipakai versi platform lain.</a:t>
            </a:r>
            <a:endParaRPr lang="en-US" sz="1400" dirty="0"/>
          </a:p>
        </p:txBody>
      </p:sp>
      <p:sp>
        <p:nvSpPr>
          <p:cNvPr id="8" name="kartu lingkup 2"/>
          <p:cNvSpPr/>
          <p:nvPr/>
        </p:nvSpPr>
        <p:spPr>
          <a:xfrm>
            <a:off x="4297680" y="1280160"/>
            <a:ext cx="3566160" cy="2331720"/>
          </a:xfrm>
          <a:prstGeom prst="roundRect">
            <a:avLst>
              <a:gd name="adj" fmla="val 3137"/>
            </a:avLst>
          </a:prstGeom>
          <a:solidFill>
            <a:srgbClr val="EEF2F7"/>
          </a:solidFill>
          <a:ln w="12700">
            <a:solidFill>
              <a:srgbClr val="EEF2F7"/>
            </a:solidFill>
            <a:prstDash val="solid"/>
          </a:ln>
        </p:spPr>
      </p:sp>
      <p:sp>
        <p:nvSpPr>
          <p:cNvPr id="9" name="lingkup 2 lingkaran"/>
          <p:cNvSpPr/>
          <p:nvPr/>
        </p:nvSpPr>
        <p:spPr>
          <a:xfrm>
            <a:off x="4572000" y="1508760"/>
            <a:ext cx="685800" cy="685800"/>
          </a:xfrm>
          <a:prstGeom prst="ellipse">
            <a:avLst/>
          </a:prstGeom>
          <a:solidFill>
            <a:srgbClr val="14365D"/>
          </a:solidFill>
          <a:ln w="12700">
            <a:solidFill>
              <a:srgbClr val="14365D"/>
            </a:solidFill>
            <a:prstDash val="solid"/>
          </a:ln>
        </p:spPr>
      </p:sp>
      <p:pic>
        <p:nvPicPr>
          <p:cNvPr id="10" name="lingkup 2 ikon" descr="preencoded.png">    </p:cNvPr>
          <p:cNvPicPr>
            <a:picLocks noChangeAspect="1"/>
          </p:cNvPicPr>
          <p:nvPr/>
        </p:nvPicPr>
        <p:blipFill>
          <a:blip r:embed="rId2"/>
          <a:stretch>
            <a:fillRect/>
          </a:stretch>
        </p:blipFill>
        <p:spPr>
          <a:xfrm>
            <a:off x="4743450" y="1680210"/>
            <a:ext cx="342900" cy="342900"/>
          </a:xfrm>
          <a:prstGeom prst="rect">
            <a:avLst/>
          </a:prstGeom>
        </p:spPr>
      </p:pic>
      <p:sp>
        <p:nvSpPr>
          <p:cNvPr id="11" name="judul lingkup 2"/>
          <p:cNvSpPr txBox="1"/>
          <p:nvPr/>
        </p:nvSpPr>
        <p:spPr>
          <a:xfrm>
            <a:off x="544068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Peta terbuka</a:t>
            </a:r>
            <a:endParaRPr lang="en-US" sz="1800" dirty="0"/>
          </a:p>
        </p:txBody>
      </p:sp>
      <p:sp>
        <p:nvSpPr>
          <p:cNvPr id="12" name="isi lingkup 2"/>
          <p:cNvSpPr txBox="1"/>
          <p:nvPr/>
        </p:nvSpPr>
        <p:spPr>
          <a:xfrm>
            <a:off x="457200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dan peta dasar dari OpenStreetMap; kelengkapan jalan kecil dan nama jalan dapat ditingkatkan bersama BPBD dan komunitas.</a:t>
            </a:r>
            <a:endParaRPr lang="en-US" sz="1400" dirty="0"/>
          </a:p>
        </p:txBody>
      </p:sp>
      <p:sp>
        <p:nvSpPr>
          <p:cNvPr id="13" name="kartu lingkup 3"/>
          <p:cNvSpPr/>
          <p:nvPr/>
        </p:nvSpPr>
        <p:spPr>
          <a:xfrm>
            <a:off x="8046720" y="1280160"/>
            <a:ext cx="3566160" cy="2331720"/>
          </a:xfrm>
          <a:prstGeom prst="roundRect">
            <a:avLst>
              <a:gd name="adj" fmla="val 3137"/>
            </a:avLst>
          </a:prstGeom>
          <a:solidFill>
            <a:srgbClr val="EEF2F7"/>
          </a:solidFill>
          <a:ln w="12700">
            <a:solidFill>
              <a:srgbClr val="EEF2F7"/>
            </a:solidFill>
            <a:prstDash val="solid"/>
          </a:ln>
        </p:spPr>
      </p:sp>
      <p:sp>
        <p:nvSpPr>
          <p:cNvPr id="14" name="lingkup 3 lingkaran"/>
          <p:cNvSpPr/>
          <p:nvPr/>
        </p:nvSpPr>
        <p:spPr>
          <a:xfrm>
            <a:off x="8321040" y="1508760"/>
            <a:ext cx="685800" cy="685800"/>
          </a:xfrm>
          <a:prstGeom prst="ellipse">
            <a:avLst/>
          </a:prstGeom>
          <a:solidFill>
            <a:srgbClr val="14365D"/>
          </a:solidFill>
          <a:ln w="12700">
            <a:solidFill>
              <a:srgbClr val="14365D"/>
            </a:solidFill>
            <a:prstDash val="solid"/>
          </a:ln>
        </p:spPr>
      </p:sp>
      <p:pic>
        <p:nvPicPr>
          <p:cNvPr id="15" name="lingkup 3 ikon" descr="preencoded.png">    </p:cNvPr>
          <p:cNvPicPr>
            <a:picLocks noChangeAspect="1"/>
          </p:cNvPicPr>
          <p:nvPr/>
        </p:nvPicPr>
        <p:blipFill>
          <a:blip r:embed="rId3"/>
          <a:stretch>
            <a:fillRect/>
          </a:stretch>
        </p:blipFill>
        <p:spPr>
          <a:xfrm>
            <a:off x="8492490" y="1680210"/>
            <a:ext cx="342900" cy="342900"/>
          </a:xfrm>
          <a:prstGeom prst="rect">
            <a:avLst/>
          </a:prstGeom>
        </p:spPr>
      </p:pic>
      <p:sp>
        <p:nvSpPr>
          <p:cNvPr id="16" name="judul lingkup 3"/>
          <p:cNvSpPr txBox="1"/>
          <p:nvPr/>
        </p:nvSpPr>
        <p:spPr>
          <a:xfrm>
            <a:off x="918972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Kota Padang</a:t>
            </a:r>
            <a:endParaRPr lang="en-US" sz="1800" dirty="0"/>
          </a:p>
        </p:txBody>
      </p:sp>
      <p:sp>
        <p:nvSpPr>
          <p:cNvPr id="17" name="isi lingkup 3"/>
          <p:cNvSpPr txBox="1"/>
          <p:nvPr/>
        </p:nvSpPr>
        <p:spPr>
          <a:xfrm>
            <a:off x="832104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Cakupan berfokus pada Kota Padang; wilayah pesisir lain dapat ditambahkan sebagai paket data baru.</a:t>
            </a:r>
            <a:endParaRPr lang="en-US" sz="1400" dirty="0"/>
          </a:p>
        </p:txBody>
      </p:sp>
      <p:sp>
        <p:nvSpPr>
          <p:cNvPr id="18" name="judul rencana"/>
          <p:cNvSpPr txBox="1"/>
          <p:nvPr/>
        </p:nvSpPr>
        <p:spPr>
          <a:xfrm>
            <a:off x="548640" y="3840480"/>
            <a:ext cx="11094415" cy="411480"/>
          </a:xfrm>
          <a:prstGeom prst="rect">
            <a:avLst/>
          </a:prstGeom>
          <a:noFill/>
          <a:ln/>
        </p:spPr>
        <p:txBody>
          <a:bodyPr wrap="square" lIns="0" tIns="0" rIns="0" bIns="0" rtlCol="0" anchor="t"/>
          <a:lstStyle/>
          <a:p>
            <a:pPr indent="0" marL="0">
              <a:buNone/>
            </a:pPr>
            <a:r>
              <a:rPr lang="en-US" sz="2000" b="1" dirty="0">
                <a:solidFill>
                  <a:srgbClr val="14365D"/>
                </a:solidFill>
                <a:latin typeface="Calibri" pitchFamily="34" charset="0"/>
                <a:ea typeface="Calibri" pitchFamily="34" charset="-122"/>
                <a:cs typeface="Calibri" pitchFamily="34" charset="-120"/>
              </a:rPr>
              <a:t>Rencana pengembangan</a:t>
            </a:r>
            <a:endParaRPr lang="en-US" sz="2000" dirty="0"/>
          </a:p>
        </p:txBody>
      </p:sp>
      <p:sp>
        <p:nvSpPr>
          <p:cNvPr id="19" name="titik rencana 1"/>
          <p:cNvSpPr/>
          <p:nvPr/>
        </p:nvSpPr>
        <p:spPr>
          <a:xfrm>
            <a:off x="548640" y="4462272"/>
            <a:ext cx="365760" cy="365760"/>
          </a:xfrm>
          <a:prstGeom prst="ellipse">
            <a:avLst/>
          </a:prstGeom>
          <a:solidFill>
            <a:srgbClr val="F5B700"/>
          </a:solidFill>
          <a:ln w="12700">
            <a:solidFill>
              <a:srgbClr val="F5B700"/>
            </a:solidFill>
            <a:prstDash val="solid"/>
          </a:ln>
        </p:spPr>
      </p:sp>
      <p:sp>
        <p:nvSpPr>
          <p:cNvPr id="20" name="angka rencana 1"/>
          <p:cNvSpPr txBox="1"/>
          <p:nvPr/>
        </p:nvSpPr>
        <p:spPr>
          <a:xfrm>
            <a:off x="54864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1</a:t>
            </a:r>
            <a:endParaRPr lang="en-US" sz="1300" dirty="0"/>
          </a:p>
        </p:txBody>
      </p:sp>
      <p:sp>
        <p:nvSpPr>
          <p:cNvPr id="21" name="isi rencana 1"/>
          <p:cNvSpPr txBox="1"/>
          <p:nvPr/>
        </p:nvSpPr>
        <p:spPr>
          <a:xfrm>
            <a:off x="105156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Simulasi evakuasi lapangan bersama BPBD</a:t>
            </a:r>
            <a:endParaRPr lang="en-US" sz="1400" dirty="0"/>
          </a:p>
        </p:txBody>
      </p:sp>
      <p:sp>
        <p:nvSpPr>
          <p:cNvPr id="22" name="titik rencana 2"/>
          <p:cNvSpPr/>
          <p:nvPr/>
        </p:nvSpPr>
        <p:spPr>
          <a:xfrm>
            <a:off x="4297680" y="4462272"/>
            <a:ext cx="365760" cy="365760"/>
          </a:xfrm>
          <a:prstGeom prst="ellipse">
            <a:avLst/>
          </a:prstGeom>
          <a:solidFill>
            <a:srgbClr val="F5B700"/>
          </a:solidFill>
          <a:ln w="12700">
            <a:solidFill>
              <a:srgbClr val="F5B700"/>
            </a:solidFill>
            <a:prstDash val="solid"/>
          </a:ln>
        </p:spPr>
      </p:sp>
      <p:sp>
        <p:nvSpPr>
          <p:cNvPr id="23" name="angka rencana 2"/>
          <p:cNvSpPr txBox="1"/>
          <p:nvPr/>
        </p:nvSpPr>
        <p:spPr>
          <a:xfrm>
            <a:off x="429768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2</a:t>
            </a:r>
            <a:endParaRPr lang="en-US" sz="1300" dirty="0"/>
          </a:p>
        </p:txBody>
      </p:sp>
      <p:sp>
        <p:nvSpPr>
          <p:cNvPr id="24" name="isi rencana 2"/>
          <p:cNvSpPr txBox="1"/>
          <p:nvPr/>
        </p:nvSpPr>
        <p:spPr>
          <a:xfrm>
            <a:off x="480060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Uji dengan lansia dan penyandang disabilitas</a:t>
            </a:r>
            <a:endParaRPr lang="en-US" sz="1400" dirty="0"/>
          </a:p>
        </p:txBody>
      </p:sp>
      <p:sp>
        <p:nvSpPr>
          <p:cNvPr id="25" name="titik rencana 3"/>
          <p:cNvSpPr/>
          <p:nvPr/>
        </p:nvSpPr>
        <p:spPr>
          <a:xfrm>
            <a:off x="8046720" y="4462272"/>
            <a:ext cx="365760" cy="365760"/>
          </a:xfrm>
          <a:prstGeom prst="ellipse">
            <a:avLst/>
          </a:prstGeom>
          <a:solidFill>
            <a:srgbClr val="F5B700"/>
          </a:solidFill>
          <a:ln w="12700">
            <a:solidFill>
              <a:srgbClr val="F5B700"/>
            </a:solidFill>
            <a:prstDash val="solid"/>
          </a:ln>
        </p:spPr>
      </p:sp>
      <p:sp>
        <p:nvSpPr>
          <p:cNvPr id="26" name="angka rencana 3"/>
          <p:cNvSpPr txBox="1"/>
          <p:nvPr/>
        </p:nvSpPr>
        <p:spPr>
          <a:xfrm>
            <a:off x="804672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3</a:t>
            </a:r>
            <a:endParaRPr lang="en-US" sz="1300" dirty="0"/>
          </a:p>
        </p:txBody>
      </p:sp>
      <p:sp>
        <p:nvSpPr>
          <p:cNvPr id="27" name="isi rencana 3"/>
          <p:cNvSpPr txBox="1"/>
          <p:nvPr/>
        </p:nvSpPr>
        <p:spPr>
          <a:xfrm>
            <a:off x="854964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Pengukuran GPS di 30 titik lapangan</a:t>
            </a:r>
            <a:endParaRPr lang="en-US" sz="1400" dirty="0"/>
          </a:p>
        </p:txBody>
      </p:sp>
      <p:sp>
        <p:nvSpPr>
          <p:cNvPr id="28" name="titik rencana 4"/>
          <p:cNvSpPr/>
          <p:nvPr/>
        </p:nvSpPr>
        <p:spPr>
          <a:xfrm>
            <a:off x="548640" y="5239512"/>
            <a:ext cx="365760" cy="365760"/>
          </a:xfrm>
          <a:prstGeom prst="ellipse">
            <a:avLst/>
          </a:prstGeom>
          <a:solidFill>
            <a:srgbClr val="F5B700"/>
          </a:solidFill>
          <a:ln w="12700">
            <a:solidFill>
              <a:srgbClr val="F5B700"/>
            </a:solidFill>
            <a:prstDash val="solid"/>
          </a:ln>
        </p:spPr>
      </p:sp>
      <p:sp>
        <p:nvSpPr>
          <p:cNvPr id="29" name="angka rencana 4"/>
          <p:cNvSpPr txBox="1"/>
          <p:nvPr/>
        </p:nvSpPr>
        <p:spPr>
          <a:xfrm>
            <a:off x="54864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4</a:t>
            </a:r>
            <a:endParaRPr lang="en-US" sz="1300" dirty="0"/>
          </a:p>
        </p:txBody>
      </p:sp>
      <p:sp>
        <p:nvSpPr>
          <p:cNvPr id="30" name="isi rencana 4"/>
          <p:cNvSpPr txBox="1"/>
          <p:nvPr/>
        </p:nvSpPr>
        <p:spPr>
          <a:xfrm>
            <a:off x="105156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Uji ponsel RAM 4 GB atau kurang</a:t>
            </a:r>
            <a:endParaRPr lang="en-US" sz="1400" dirty="0"/>
          </a:p>
        </p:txBody>
      </p:sp>
      <p:sp>
        <p:nvSpPr>
          <p:cNvPr id="31" name="titik rencana 5"/>
          <p:cNvSpPr/>
          <p:nvPr/>
        </p:nvSpPr>
        <p:spPr>
          <a:xfrm>
            <a:off x="4297680" y="5239512"/>
            <a:ext cx="365760" cy="365760"/>
          </a:xfrm>
          <a:prstGeom prst="ellipse">
            <a:avLst/>
          </a:prstGeom>
          <a:solidFill>
            <a:srgbClr val="F5B700"/>
          </a:solidFill>
          <a:ln w="12700">
            <a:solidFill>
              <a:srgbClr val="F5B700"/>
            </a:solidFill>
            <a:prstDash val="solid"/>
          </a:ln>
        </p:spPr>
      </p:sp>
      <p:sp>
        <p:nvSpPr>
          <p:cNvPr id="32" name="angka rencana 5"/>
          <p:cNvSpPr txBox="1"/>
          <p:nvPr/>
        </p:nvSpPr>
        <p:spPr>
          <a:xfrm>
            <a:off x="429768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5</a:t>
            </a:r>
            <a:endParaRPr lang="en-US" sz="1300" dirty="0"/>
          </a:p>
        </p:txBody>
      </p:sp>
      <p:sp>
        <p:nvSpPr>
          <p:cNvPr id="33" name="isi rencana 5"/>
          <p:cNvSpPr txBox="1"/>
          <p:nvPr/>
        </p:nvSpPr>
        <p:spPr>
          <a:xfrm>
            <a:off x="480060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Standar luas per orang untuk daya tampung TES</a:t>
            </a:r>
            <a:endParaRPr lang="en-US" sz="1400" dirty="0"/>
          </a:p>
        </p:txBody>
      </p:sp>
      <p:sp>
        <p:nvSpPr>
          <p:cNvPr id="34" name="titik rencana 6"/>
          <p:cNvSpPr/>
          <p:nvPr/>
        </p:nvSpPr>
        <p:spPr>
          <a:xfrm>
            <a:off x="8046720" y="5239512"/>
            <a:ext cx="365760" cy="365760"/>
          </a:xfrm>
          <a:prstGeom prst="ellipse">
            <a:avLst/>
          </a:prstGeom>
          <a:solidFill>
            <a:srgbClr val="F5B700"/>
          </a:solidFill>
          <a:ln w="12700">
            <a:solidFill>
              <a:srgbClr val="F5B700"/>
            </a:solidFill>
            <a:prstDash val="solid"/>
          </a:ln>
        </p:spPr>
      </p:sp>
      <p:sp>
        <p:nvSpPr>
          <p:cNvPr id="35" name="angka rencana 6"/>
          <p:cNvSpPr txBox="1"/>
          <p:nvPr/>
        </p:nvSpPr>
        <p:spPr>
          <a:xfrm>
            <a:off x="804672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6</a:t>
            </a:r>
            <a:endParaRPr lang="en-US" sz="1300" dirty="0"/>
          </a:p>
        </p:txBody>
      </p:sp>
      <p:sp>
        <p:nvSpPr>
          <p:cNvPr id="36" name="isi rencana 6"/>
          <p:cNvSpPr txBox="1"/>
          <p:nvPr/>
        </p:nvSpPr>
        <p:spPr>
          <a:xfrm>
            <a:off x="854964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Perhitungan antrean dengan simulasi berbasis agen</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Tahu arah, sebelum terlambat</a:t>
            </a: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Siaga Padang menyajikan arahan evakuasi dari posisi pengguna dalam kurang dari 1 detik, tanpa sinyal, sesuai aturan BPBD.</a:t>
            </a:r>
            <a:endParaRPr lang="en-US" sz="2000" dirty="0"/>
          </a:p>
        </p:txBody>
      </p:sp>
      <p:sp>
        <p:nvSpPr>
          <p:cNvPr id="4" name="simbol penutup lingkaran"/>
          <p:cNvSpPr/>
          <p:nvPr/>
        </p:nvSpPr>
        <p:spPr>
          <a:xfrm>
            <a:off x="9509760" y="1920240"/>
            <a:ext cx="2011680" cy="2011680"/>
          </a:xfrm>
          <a:prstGeom prst="ellipse">
            <a:avLst/>
          </a:prstGeom>
          <a:solidFill>
            <a:srgbClr val="F5B700"/>
          </a:solidFill>
          <a:ln w="12700">
            <a:solidFill>
              <a:srgbClr val="F5B700"/>
            </a:solidFill>
            <a:prstDash val="solid"/>
          </a:ln>
        </p:spPr>
      </p:sp>
      <p:pic>
        <p:nvPicPr>
          <p:cNvPr id="5" name="simbol penutup ikon" descr="preencoded.png">    </p:cNvPr>
          <p:cNvPicPr>
            <a:picLocks noChangeAspect="1"/>
          </p:cNvPicPr>
          <p:nvPr/>
        </p:nvPicPr>
        <p:blipFill>
          <a:blip r:embed="rId1"/>
          <a:stretch>
            <a:fillRect/>
          </a:stretch>
        </p:blipFill>
        <p:spPr>
          <a:xfrm>
            <a:off x="10012680" y="2423160"/>
            <a:ext cx="1005840" cy="1005840"/>
          </a:xfrm>
          <a:prstGeom prst="rect">
            <a:avLst/>
          </a:prstGeom>
        </p:spPr>
      </p:pic>
      <p:sp>
        <p:nvSpPr>
          <p:cNvPr id="6" name="terima kasih"/>
          <p:cNvSpPr txBox="1"/>
          <p:nvPr/>
        </p:nvSpPr>
        <p:spPr>
          <a:xfrm>
            <a:off x="548640" y="5120640"/>
            <a:ext cx="5486400" cy="548640"/>
          </a:xfrm>
          <a:prstGeom prst="rect">
            <a:avLst/>
          </a:prstGeom>
          <a:noFill/>
          <a:ln/>
        </p:spPr>
        <p:txBody>
          <a:bodyPr wrap="square" lIns="0" tIns="0" rIns="0" bIns="0" rtlCol="0" anchor="t"/>
          <a:lstStyle/>
          <a:p>
            <a:pPr indent="0" marL="0">
              <a:buNone/>
            </a:pPr>
            <a:r>
              <a:rPr lang="en-US" sz="2400" b="1" dirty="0">
                <a:solidFill>
                  <a:srgbClr val="F5B700"/>
                </a:solidFill>
                <a:latin typeface="Calibri" pitchFamily="34" charset="0"/>
                <a:ea typeface="Calibri" pitchFamily="34" charset="-122"/>
                <a:cs typeface="Calibri" pitchFamily="34" charset="-120"/>
              </a:rPr>
              <a:t>Terima kasih</a:t>
            </a:r>
            <a:endParaRPr lang="en-US" sz="2400" dirty="0"/>
          </a:p>
        </p:txBody>
      </p:sp>
    </p:spTree>
  </p:cSld>
  <p:clrMapOvr>
    <a:masterClrMapping/>
  </p:clrMapOvr>
</p:sld>
</file>

<file path=ppt/theme/theme1.xml><?xml version="1.0" encoding="utf-8"?>
<a:theme xmlns:a="http://schemas.openxmlformats.org/drawingml/2006/main" name="Siaga Padang">
  <a:themeElements>
    <a:clrScheme name="Siaga Padang">
      <a:dk1>
        <a:srgbClr val="1B2433"/>
      </a:dk1>
      <a:lt1>
        <a:srgbClr val="FFFFFF"/>
      </a:lt1>
      <a:dk2>
        <a:srgbClr val="14365D"/>
      </a:dk2>
      <a:lt2>
        <a:srgbClr val="EEF2F7"/>
      </a:lt2>
      <a:accent1>
        <a:srgbClr val="14365D"/>
      </a:accent1>
      <a:accent2>
        <a:srgbClr val="F5B700"/>
      </a:accent2>
      <a:accent3>
        <a:srgbClr val="D9472F"/>
      </a:accent3>
      <a:accent4>
        <a:srgbClr val="2E8B57"/>
      </a:accent4>
      <a:accent5>
        <a:srgbClr val="2F7F9C"/>
      </a:accent5>
      <a:accent6>
        <a:srgbClr val="7C8590"/>
      </a:accent6>
      <a:hlink>
        <a:srgbClr val="2F7F9C"/>
      </a:hlink>
      <a:folHlink>
        <a:srgbClr val="14365D"/>
      </a:folHlink>
    </a:clrScheme>
    <a:fontScheme name="Siaga Pada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Siaga Padang</dc:title>
  <dc:subject>PptxGenJS Presentation</dc:subject>
  <dc:creator>Tim Siaga Padang, Universitas Andalas</dc:creator>
  <cp:lastModifiedBy>Tim Siaga Padang, Universitas Andalas</cp:lastModifiedBy>
  <cp:revision>1</cp:revision>
  <dcterms:created xsi:type="dcterms:W3CDTF">2026-10-30T11:24:32Z</dcterms:created>
  <dcterms:modified xsi:type="dcterms:W3CDTF">2026-10-30T11:24:32Z</dcterms:modified>
</cp:coreProperties>
</file>